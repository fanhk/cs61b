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5143500" cx="9144000"/>
  <p:notesSz cx="6858000" cy="9144000"/>
  <p:embeddedFontLst>
    <p:embeddedFont>
      <p:font typeface="Roboto"/>
      <p:regular r:id="rId20"/>
      <p:bold r:id="rId21"/>
      <p:italic r:id="rId22"/>
      <p:boldItalic r:id="rId23"/>
    </p:embeddedFont>
    <p:embeddedFont>
      <p:font typeface="Source Code Pr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22" Type="http://schemas.openxmlformats.org/officeDocument/2006/relationships/font" Target="fonts/Roboto-italic.fntdata"/><Relationship Id="rId21" Type="http://schemas.openxmlformats.org/officeDocument/2006/relationships/font" Target="fonts/Roboto-bold.fntdata"/><Relationship Id="rId24" Type="http://schemas.openxmlformats.org/officeDocument/2006/relationships/font" Target="fonts/SourceCodePro-regular.fntdata"/><Relationship Id="rId23"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SourceCodePro-italic.fntdata"/><Relationship Id="rId25" Type="http://schemas.openxmlformats.org/officeDocument/2006/relationships/font" Target="fonts/SourceCodePro-bold.fntdata"/><Relationship Id="rId27" Type="http://schemas.openxmlformats.org/officeDocument/2006/relationships/font" Target="fonts/SourceCodePro-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ef9334e30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ef9334e30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4dda549ad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4dda549ad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ef9334e30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ef9334e3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ef9334e30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ef9334e30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ef9334e30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ef9334e30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f1d1d4be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f1d1d4be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ef9334e30_0_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ef9334e30_0_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ef9334e30_0_5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ef9334e30_0_5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does Java visualize after running the main block?</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4dda549ad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4dda549ad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ef9334e30_0_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ef9334e30_0_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printed when the main function is run?</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ef9334e30_0_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ef9334e30_0_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ef9334e30_0_6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ef9334e30_0_6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2592950e3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2592950e3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2592950e3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2592950e3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1600"/>
              </a:spcBef>
              <a:spcAft>
                <a:spcPts val="0"/>
              </a:spcAft>
              <a:buClr>
                <a:schemeClr val="lt1"/>
              </a:buClr>
              <a:buSzPts val="1200"/>
              <a:buChar char="○"/>
              <a:defRPr sz="1200">
                <a:solidFill>
                  <a:schemeClr val="lt1"/>
                </a:solidFill>
              </a:defRPr>
            </a:lvl2pPr>
            <a:lvl3pPr indent="-304800" lvl="2" marL="1371600">
              <a:spcBef>
                <a:spcPts val="1600"/>
              </a:spcBef>
              <a:spcAft>
                <a:spcPts val="0"/>
              </a:spcAft>
              <a:buClr>
                <a:schemeClr val="lt1"/>
              </a:buClr>
              <a:buSzPts val="1200"/>
              <a:buChar char="■"/>
              <a:defRPr sz="1200">
                <a:solidFill>
                  <a:schemeClr val="lt1"/>
                </a:solidFill>
              </a:defRPr>
            </a:lvl3pPr>
            <a:lvl4pPr indent="-304800" lvl="3" marL="1828800">
              <a:spcBef>
                <a:spcPts val="1600"/>
              </a:spcBef>
              <a:spcAft>
                <a:spcPts val="0"/>
              </a:spcAft>
              <a:buClr>
                <a:schemeClr val="lt1"/>
              </a:buClr>
              <a:buSzPts val="1200"/>
              <a:buChar char="●"/>
              <a:defRPr sz="1200">
                <a:solidFill>
                  <a:schemeClr val="lt1"/>
                </a:solidFill>
              </a:defRPr>
            </a:lvl4pPr>
            <a:lvl5pPr indent="-304800" lvl="4" marL="2286000">
              <a:spcBef>
                <a:spcPts val="1600"/>
              </a:spcBef>
              <a:spcAft>
                <a:spcPts val="0"/>
              </a:spcAft>
              <a:buClr>
                <a:schemeClr val="lt1"/>
              </a:buClr>
              <a:buSzPts val="1200"/>
              <a:buChar char="○"/>
              <a:defRPr sz="1200">
                <a:solidFill>
                  <a:schemeClr val="lt1"/>
                </a:solidFill>
              </a:defRPr>
            </a:lvl5pPr>
            <a:lvl6pPr indent="-304800" lvl="5" marL="2743200">
              <a:spcBef>
                <a:spcPts val="1600"/>
              </a:spcBef>
              <a:spcAft>
                <a:spcPts val="0"/>
              </a:spcAft>
              <a:buClr>
                <a:schemeClr val="lt1"/>
              </a:buClr>
              <a:buSzPts val="1200"/>
              <a:buChar char="■"/>
              <a:defRPr sz="1200">
                <a:solidFill>
                  <a:schemeClr val="lt1"/>
                </a:solidFill>
              </a:defRPr>
            </a:lvl6pPr>
            <a:lvl7pPr indent="-304800" lvl="6" marL="3200400">
              <a:spcBef>
                <a:spcPts val="1600"/>
              </a:spcBef>
              <a:spcAft>
                <a:spcPts val="0"/>
              </a:spcAft>
              <a:buClr>
                <a:schemeClr val="lt1"/>
              </a:buClr>
              <a:buSzPts val="1200"/>
              <a:buChar char="●"/>
              <a:defRPr sz="1200">
                <a:solidFill>
                  <a:schemeClr val="lt1"/>
                </a:solidFill>
              </a:defRPr>
            </a:lvl7pPr>
            <a:lvl8pPr indent="-304800" lvl="7" marL="3657600">
              <a:spcBef>
                <a:spcPts val="1600"/>
              </a:spcBef>
              <a:spcAft>
                <a:spcPts val="0"/>
              </a:spcAft>
              <a:buClr>
                <a:schemeClr val="lt1"/>
              </a:buClr>
              <a:buSzPts val="1200"/>
              <a:buChar char="○"/>
              <a:defRPr sz="1200">
                <a:solidFill>
                  <a:schemeClr val="lt1"/>
                </a:solidFill>
              </a:defRPr>
            </a:lvl8pPr>
            <a:lvl9pPr indent="-304800" lvl="8" marL="4114800">
              <a:spcBef>
                <a:spcPts val="1600"/>
              </a:spcBef>
              <a:spcAft>
                <a:spcPts val="160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cscircles.cemc.uwaterloo.ca/java_visualize/#code=public+class+Pokemon+%7B%0A++++public+String+name%3B%0A++++public+int+level%3B%0A%0A++++public+Pokemon(String+name,+int+level)+%7B%0A++++++++this.name+%3D+name%3B%0A++++++++this.level+%3D+level%3B%0A++++%7D%0A%0A++++public+static+void+main(String%5B%5D+args)+%7B%0A++++++++Pokemon+p+%3D+new+Pokemon(%22Pikachu%22,+17)%3B%0A++++++++int+level+%3D+100%3B%0A++++++++change(p,+level)%3B%0A++++++++System.out.println(%22Name%3A+%22+%2B+p.name+%2B+%22,+Level%3A+%22+%2B+p.level)%3B%0A++++%7D%0A++++%0A++++public+static+void+change(Pokemon+poke,+int+level)+%7B%0A++++++++poke.level+%3D+level%3B%0A++++++++level+%3D+50%3B%0A++++++++poke+%3D+new+Pokemon(%22Gengar%22,+1)%3B%0A++++%7D%0A%7D&amp;mode=display&amp;curInstr=0&amp;showStringsAsObjects=1"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hyperlink" Target="https://cscircles.cemc.uwaterloo.ca/java_visualize/#code=public+class+Cat+%7B%0A+++public+String+name%3B%0A+++public+static+String+noise%3B%0A%0A+++public+Cat(String+name,+String+noise)+%7B%0A++++++this.name+%3D+name%3B%0A++++++this.noise+%3D+noise%3B%0A+++%7D%0A%0A+++public+void+play()+%7B%0A++++++System.out.println(noise+%2B+%22+I'm+%22+%2B+name+%2B+%22+the+cat!%22)%3B%0A+++%7D%0A%0A+++public+static+void+anger()+%7B%0A++++++noise+%3D+noise.toUpperCase()%3B%0A+++%7D%0A+++public+static+void+calm()+%7B%0A++++++noise+%3D+noise.toLowerCase()%3B%0A+++%7D%0A+++%0A+++public+static+void+main(String%5B%5D+args)+%7B%0A++++++Cat+a+%3D+new+Cat(%22Cream%22,+%22Meow!%22)%3B%0A++++++Cat+b+%3D+new+Cat(%22Tubbs%22,+%22Nyan!%22)%3B%0A++++++a.play()%3B%0A++++++b.play()%3B%0A++++++Cat.anger()%3B%0A++++++a.calm()%3B%0A++++++a.play()%3B%0A++++++b.play()%3B%0A+++%7D%0A%7D&amp;mode=display&amp;showStringsAsObjects=1&amp;curInstr=0"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hyperlink" Target="https://cscircles.cemc.uwaterloo.ca/java_visualize/#code=public+class+StringList+%7B%0A+++String+head%3B%0A+++StringList+tail%3B%0A+++public+StringList(String+head,+StringList+tail)+%7B%0A++++++this.head+%3D+head%3B%0A++++++this.tail%3Dtail%3B%0A+++%7D%0A+++public+static+void+main(String%5B%5D+args)+%7B%0A+++StringList+L+%3D+new+StringList(%22eat%22,+null)%3B%0A%09L+%3D+new+StringList(%22shouldn't%22,+L)%3B%0A%09L+%3D+new+StringList(%22you%22,+L)%3B%0A%09L+%3D+new+StringList(%22sometimes%22,+L)%3B%0A%09StringList+M+%3D+L.tail%3B%0A%09StringList+R+%3D+new+StringList(%22many%22,+null)%3B%0A%09R+%3D+new+StringList(%22potatoes%22,+R)%3B%0A%09R.tail.tail+%3D+R%3B%0A%09M.tail.tail.tail+%3D+R.tail%3B%0A%09L.tail.tail+%3D+L.tail.tail.tail%3B%0A%09L+%3D+M.tail%3B%0A+++%7D%0A%7D%0A&amp;mode=display&amp;showStringsAsObjects=1&amp;curInstr=55"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CS61B Discussion 2</a:t>
            </a:r>
            <a:endParaRPr/>
          </a:p>
        </p:txBody>
      </p:sp>
      <p:sp>
        <p:nvSpPr>
          <p:cNvPr id="68" name="Google Shape;68;p13"/>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Classes, Pass-by-Value, Static</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Administrivia</a:t>
            </a:r>
            <a:endParaRPr/>
          </a:p>
        </p:txBody>
      </p:sp>
      <p:sp>
        <p:nvSpPr>
          <p:cNvPr id="74" name="Google Shape;74;p14"/>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L</a:t>
            </a:r>
            <a:r>
              <a:rPr lang="en"/>
              <a:t>ab 1 and Lab 2 due this Friday 2/1 at midnight.</a:t>
            </a:r>
            <a:endParaRPr/>
          </a:p>
          <a:p>
            <a:pPr indent="-342900" lvl="0" marL="457200" rtl="0" algn="l">
              <a:spcBef>
                <a:spcPts val="0"/>
              </a:spcBef>
              <a:spcAft>
                <a:spcPts val="0"/>
              </a:spcAft>
              <a:buSzPts val="1800"/>
              <a:buChar char="●"/>
            </a:pPr>
            <a:r>
              <a:rPr lang="en"/>
              <a:t>Proj0 NBody also due Friday 2/1 at midnight.</a:t>
            </a:r>
            <a:endParaRPr/>
          </a:p>
          <a:p>
            <a:pPr indent="-342900" lvl="1" marL="914400" rtl="0" algn="l">
              <a:spcBef>
                <a:spcPts val="0"/>
              </a:spcBef>
              <a:spcAft>
                <a:spcPts val="0"/>
              </a:spcAft>
              <a:buSzPts val="1800"/>
              <a:buChar char="○"/>
            </a:pPr>
            <a:r>
              <a:rPr lang="en" sz="1800"/>
              <a:t>If you haven’t started please start ASAP!</a:t>
            </a:r>
            <a:endParaRPr sz="1800"/>
          </a:p>
          <a:p>
            <a:pPr indent="-342900" lvl="0" marL="457200" rtl="0" algn="l">
              <a:spcBef>
                <a:spcPts val="0"/>
              </a:spcBef>
              <a:spcAft>
                <a:spcPts val="0"/>
              </a:spcAft>
              <a:buSzPts val="1800"/>
              <a:buChar char="●"/>
            </a:pPr>
            <a:r>
              <a:rPr lang="en"/>
              <a:t>One-on-one tutoring will be made available the week of </a:t>
            </a:r>
            <a:r>
              <a:rPr b="1" lang="en"/>
              <a:t>Feb. 3rd!</a:t>
            </a:r>
            <a:r>
              <a:rPr lang="en"/>
              <a:t> We’ll announce details soon.</a:t>
            </a:r>
            <a:endParaRPr/>
          </a:p>
          <a:p>
            <a:pPr indent="-342900" lvl="0" marL="457200" rtl="0" algn="l">
              <a:spcBef>
                <a:spcPts val="0"/>
              </a:spcBef>
              <a:spcAft>
                <a:spcPts val="0"/>
              </a:spcAft>
              <a:buSzPts val="1800"/>
              <a:buChar char="●"/>
            </a:pPr>
            <a:r>
              <a:rPr lang="en"/>
              <a:t>We’re sending out weekly announcements! Check out this week’s @346</a:t>
            </a:r>
            <a:endParaRPr/>
          </a:p>
          <a:p>
            <a:pPr indent="-342900" lvl="0" marL="457200" rtl="0" algn="l">
              <a:spcBef>
                <a:spcPts val="0"/>
              </a:spcBef>
              <a:spcAft>
                <a:spcPts val="0"/>
              </a:spcAft>
              <a:buSzPts val="1800"/>
              <a:buChar char="●"/>
            </a:pPr>
            <a:r>
              <a:rPr lang="en"/>
              <a:t>Office hours, LOST and exam prep sections start this week! See Piazza post @346 for more info.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are we doing today?</a:t>
            </a:r>
            <a:endParaRPr/>
          </a:p>
        </p:txBody>
      </p:sp>
      <p:sp>
        <p:nvSpPr>
          <p:cNvPr id="80" name="Google Shape;80;p15"/>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Review</a:t>
            </a:r>
            <a:endParaRPr/>
          </a:p>
          <a:p>
            <a:pPr indent="-317500" lvl="1" marL="914400" rtl="0" algn="l">
              <a:spcBef>
                <a:spcPts val="0"/>
              </a:spcBef>
              <a:spcAft>
                <a:spcPts val="0"/>
              </a:spcAft>
              <a:buSzPts val="1400"/>
              <a:buChar char="-"/>
            </a:pPr>
            <a:r>
              <a:rPr lang="en"/>
              <a:t>Class definition, primitives and reference, box and pointer, static, intlists</a:t>
            </a:r>
            <a:endParaRPr/>
          </a:p>
          <a:p>
            <a:pPr indent="-342900" lvl="0" marL="457200" rtl="0" algn="l">
              <a:spcBef>
                <a:spcPts val="0"/>
              </a:spcBef>
              <a:spcAft>
                <a:spcPts val="0"/>
              </a:spcAft>
              <a:buSzPts val="1800"/>
              <a:buChar char="-"/>
            </a:pPr>
            <a:r>
              <a:rPr lang="en"/>
              <a:t>Questions	</a:t>
            </a:r>
            <a:endParaRPr/>
          </a:p>
          <a:p>
            <a:pPr indent="-317500" lvl="1" marL="914400" rtl="0" algn="l">
              <a:spcBef>
                <a:spcPts val="0"/>
              </a:spcBef>
              <a:spcAft>
                <a:spcPts val="0"/>
              </a:spcAft>
              <a:buSzPts val="1400"/>
              <a:buChar char="-"/>
            </a:pPr>
            <a:r>
              <a:rPr lang="en"/>
              <a:t>Will get through 1, 2, 3</a:t>
            </a:r>
            <a:endParaRPr/>
          </a:p>
          <a:p>
            <a:pPr indent="-317500" lvl="1" marL="914400" rtl="0" algn="l">
              <a:spcBef>
                <a:spcPts val="0"/>
              </a:spcBef>
              <a:spcAft>
                <a:spcPts val="0"/>
              </a:spcAft>
              <a:buSzPts val="1400"/>
              <a:buChar char="-"/>
            </a:pPr>
            <a:r>
              <a:rPr lang="en"/>
              <a:t>Likely won’t get to 4</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Review: Defining classes</a:t>
            </a:r>
            <a:endParaRPr/>
          </a:p>
        </p:txBody>
      </p:sp>
      <p:sp>
        <p:nvSpPr>
          <p:cNvPr id="86" name="Google Shape;86;p16"/>
          <p:cNvSpPr txBox="1"/>
          <p:nvPr>
            <p:ph idx="1" type="body"/>
          </p:nvPr>
        </p:nvSpPr>
        <p:spPr>
          <a:xfrm>
            <a:off x="341025" y="1827450"/>
            <a:ext cx="8222100" cy="2710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00">
                <a:solidFill>
                  <a:srgbClr val="434343"/>
                </a:solidFill>
                <a:latin typeface="Consolas"/>
                <a:ea typeface="Consolas"/>
                <a:cs typeface="Consolas"/>
                <a:sym typeface="Consolas"/>
              </a:rPr>
              <a:t>// class definition</a:t>
            </a:r>
            <a:endParaRPr sz="1200">
              <a:solidFill>
                <a:srgbClr val="434343"/>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434343"/>
                </a:solidFill>
                <a:latin typeface="Consolas"/>
                <a:ea typeface="Consolas"/>
                <a:cs typeface="Consolas"/>
                <a:sym typeface="Consolas"/>
              </a:rPr>
              <a:t>public class IntList {</a:t>
            </a:r>
            <a:endParaRPr sz="1200">
              <a:solidFill>
                <a:srgbClr val="434343"/>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434343"/>
                </a:solidFill>
                <a:latin typeface="Consolas"/>
                <a:ea typeface="Consolas"/>
                <a:cs typeface="Consolas"/>
                <a:sym typeface="Consolas"/>
              </a:rPr>
              <a:t>	</a:t>
            </a:r>
            <a:endParaRPr sz="1200">
              <a:solidFill>
                <a:srgbClr val="434343"/>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434343"/>
                </a:solidFill>
                <a:latin typeface="Consolas"/>
                <a:ea typeface="Consolas"/>
                <a:cs typeface="Consolas"/>
                <a:sym typeface="Consolas"/>
              </a:rPr>
              <a:t>	// instance variables</a:t>
            </a:r>
            <a:endParaRPr sz="1200">
              <a:solidFill>
                <a:srgbClr val="434343"/>
              </a:solidFill>
              <a:latin typeface="Consolas"/>
              <a:ea typeface="Consolas"/>
              <a:cs typeface="Consolas"/>
              <a:sym typeface="Consolas"/>
            </a:endParaRPr>
          </a:p>
          <a:p>
            <a:pPr indent="457200" lvl="0" marL="0" rtl="0" algn="l">
              <a:lnSpc>
                <a:spcPct val="100000"/>
              </a:lnSpc>
              <a:spcBef>
                <a:spcPts val="0"/>
              </a:spcBef>
              <a:spcAft>
                <a:spcPts val="0"/>
              </a:spcAft>
              <a:buNone/>
            </a:pPr>
            <a:r>
              <a:rPr lang="en" sz="1200">
                <a:solidFill>
                  <a:srgbClr val="434343"/>
                </a:solidFill>
                <a:latin typeface="Consolas"/>
                <a:ea typeface="Consolas"/>
                <a:cs typeface="Consolas"/>
                <a:sym typeface="Consolas"/>
              </a:rPr>
              <a:t>int head;</a:t>
            </a:r>
            <a:endParaRPr sz="1200">
              <a:solidFill>
                <a:srgbClr val="434343"/>
              </a:solidFill>
              <a:latin typeface="Consolas"/>
              <a:ea typeface="Consolas"/>
              <a:cs typeface="Consolas"/>
              <a:sym typeface="Consolas"/>
            </a:endParaRPr>
          </a:p>
          <a:p>
            <a:pPr indent="457200" lvl="0" marL="0" rtl="0" algn="l">
              <a:lnSpc>
                <a:spcPct val="100000"/>
              </a:lnSpc>
              <a:spcBef>
                <a:spcPts val="0"/>
              </a:spcBef>
              <a:spcAft>
                <a:spcPts val="0"/>
              </a:spcAft>
              <a:buNone/>
            </a:pPr>
            <a:r>
              <a:rPr lang="en" sz="1200">
                <a:solidFill>
                  <a:srgbClr val="434343"/>
                </a:solidFill>
                <a:latin typeface="Consolas"/>
                <a:ea typeface="Consolas"/>
                <a:cs typeface="Consolas"/>
                <a:sym typeface="Consolas"/>
              </a:rPr>
              <a:t>IntList tail;	</a:t>
            </a:r>
            <a:endParaRPr sz="1200">
              <a:solidFill>
                <a:srgbClr val="434343"/>
              </a:solidFill>
              <a:latin typeface="Consolas"/>
              <a:ea typeface="Consolas"/>
              <a:cs typeface="Consolas"/>
              <a:sym typeface="Consolas"/>
            </a:endParaRPr>
          </a:p>
          <a:p>
            <a:pPr indent="457200" lvl="0" marL="0" rtl="0" algn="l">
              <a:lnSpc>
                <a:spcPct val="100000"/>
              </a:lnSpc>
              <a:spcBef>
                <a:spcPts val="0"/>
              </a:spcBef>
              <a:spcAft>
                <a:spcPts val="0"/>
              </a:spcAft>
              <a:buNone/>
            </a:pPr>
            <a:r>
              <a:t/>
            </a:r>
            <a:endParaRPr sz="1200">
              <a:solidFill>
                <a:srgbClr val="434343"/>
              </a:solidFill>
              <a:latin typeface="Consolas"/>
              <a:ea typeface="Consolas"/>
              <a:cs typeface="Consolas"/>
              <a:sym typeface="Consolas"/>
            </a:endParaRPr>
          </a:p>
          <a:p>
            <a:pPr indent="457200" lvl="0" marL="0" rtl="0" algn="l">
              <a:lnSpc>
                <a:spcPct val="100000"/>
              </a:lnSpc>
              <a:spcBef>
                <a:spcPts val="0"/>
              </a:spcBef>
              <a:spcAft>
                <a:spcPts val="0"/>
              </a:spcAft>
              <a:buNone/>
            </a:pPr>
            <a:r>
              <a:rPr lang="en" sz="1200">
                <a:solidFill>
                  <a:srgbClr val="434343"/>
                </a:solidFill>
                <a:latin typeface="Consolas"/>
                <a:ea typeface="Consolas"/>
                <a:cs typeface="Consolas"/>
                <a:sym typeface="Consolas"/>
              </a:rPr>
              <a:t>// constructors, which will create IntList objects</a:t>
            </a:r>
            <a:endParaRPr sz="1200">
              <a:solidFill>
                <a:srgbClr val="434343"/>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434343"/>
                </a:solidFill>
                <a:latin typeface="Consolas"/>
                <a:ea typeface="Consolas"/>
                <a:cs typeface="Consolas"/>
                <a:sym typeface="Consolas"/>
              </a:rPr>
              <a:t>	public IntList() {...}</a:t>
            </a:r>
            <a:endParaRPr sz="1200">
              <a:solidFill>
                <a:srgbClr val="434343"/>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434343"/>
                </a:solidFill>
                <a:latin typeface="Consolas"/>
                <a:ea typeface="Consolas"/>
                <a:cs typeface="Consolas"/>
                <a:sym typeface="Consolas"/>
              </a:rPr>
              <a:t>	public IntList(int value, IntList tail) {...}</a:t>
            </a:r>
            <a:endParaRPr sz="1200">
              <a:solidFill>
                <a:srgbClr val="434343"/>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200">
              <a:solidFill>
                <a:srgbClr val="434343"/>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434343"/>
                </a:solidFill>
                <a:latin typeface="Consolas"/>
                <a:ea typeface="Consolas"/>
                <a:cs typeface="Consolas"/>
                <a:sym typeface="Consolas"/>
              </a:rPr>
              <a:t>	// you can create methods that use the instance variables!</a:t>
            </a:r>
            <a:endParaRPr sz="1200">
              <a:solidFill>
                <a:srgbClr val="434343"/>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434343"/>
                </a:solidFill>
                <a:latin typeface="Consolas"/>
                <a:ea typeface="Consolas"/>
                <a:cs typeface="Consolas"/>
                <a:sym typeface="Consolas"/>
              </a:rPr>
              <a:t>	public void insert(int val) {...}</a:t>
            </a:r>
            <a:endParaRPr sz="1200">
              <a:solidFill>
                <a:srgbClr val="434343"/>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434343"/>
                </a:solidFill>
                <a:latin typeface="Consolas"/>
                <a:ea typeface="Consolas"/>
                <a:cs typeface="Consolas"/>
                <a:sym typeface="Consolas"/>
              </a:rPr>
              <a:t>	public void removeLast() {...}</a:t>
            </a:r>
            <a:endParaRPr sz="1200">
              <a:solidFill>
                <a:srgbClr val="434343"/>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434343"/>
                </a:solidFill>
                <a:latin typeface="Consolas"/>
                <a:ea typeface="Consolas"/>
                <a:cs typeface="Consolas"/>
                <a:sym typeface="Consolas"/>
              </a:rPr>
              <a:t>}</a:t>
            </a:r>
            <a:endParaRPr sz="1200">
              <a:solidFill>
                <a:srgbClr val="434343"/>
              </a:solidFill>
              <a:latin typeface="Consolas"/>
              <a:ea typeface="Consolas"/>
              <a:cs typeface="Consolas"/>
              <a:sym typeface="Consolas"/>
            </a:endParaRPr>
          </a:p>
          <a:p>
            <a:pPr indent="0" lvl="0" marL="0" rtl="0" algn="l">
              <a:spcBef>
                <a:spcPts val="0"/>
              </a:spcBef>
              <a:spcAft>
                <a:spcPts val="1600"/>
              </a:spcAft>
              <a:buNone/>
            </a:pPr>
            <a:r>
              <a:t/>
            </a:r>
            <a:endParaRPr sz="1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Review: Primitives and Reference</a:t>
            </a:r>
            <a:endParaRPr/>
          </a:p>
        </p:txBody>
      </p:sp>
      <p:sp>
        <p:nvSpPr>
          <p:cNvPr id="92" name="Google Shape;92;p17"/>
          <p:cNvSpPr txBox="1"/>
          <p:nvPr>
            <p:ph idx="1" type="body"/>
          </p:nvPr>
        </p:nvSpPr>
        <p:spPr>
          <a:xfrm>
            <a:off x="406450" y="1696575"/>
            <a:ext cx="4134900" cy="128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Primitives:</a:t>
            </a:r>
            <a:endParaRPr/>
          </a:p>
          <a:p>
            <a:pPr indent="-342900" lvl="0" marL="457200" rtl="0" algn="l">
              <a:spcBef>
                <a:spcPts val="1600"/>
              </a:spcBef>
              <a:spcAft>
                <a:spcPts val="0"/>
              </a:spcAft>
              <a:buSzPts val="1800"/>
              <a:buChar char="●"/>
            </a:pPr>
            <a:r>
              <a:rPr lang="en"/>
              <a:t>byte, short, long, int, double, float, char, boolean</a:t>
            </a:r>
            <a:endParaRPr/>
          </a:p>
        </p:txBody>
      </p:sp>
      <p:sp>
        <p:nvSpPr>
          <p:cNvPr id="93" name="Google Shape;93;p17"/>
          <p:cNvSpPr txBox="1"/>
          <p:nvPr>
            <p:ph idx="1" type="body"/>
          </p:nvPr>
        </p:nvSpPr>
        <p:spPr>
          <a:xfrm>
            <a:off x="4668400" y="1696575"/>
            <a:ext cx="4134900" cy="128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References:</a:t>
            </a:r>
            <a:endParaRPr/>
          </a:p>
          <a:p>
            <a:pPr indent="-342900" lvl="0" marL="457200" rtl="0" algn="l">
              <a:spcBef>
                <a:spcPts val="1600"/>
              </a:spcBef>
              <a:spcAft>
                <a:spcPts val="0"/>
              </a:spcAft>
              <a:buSzPts val="1800"/>
              <a:buChar char="●"/>
            </a:pPr>
            <a:r>
              <a:rPr lang="en"/>
              <a:t>Everything else! </a:t>
            </a:r>
            <a:endParaRPr/>
          </a:p>
          <a:p>
            <a:pPr indent="-342900" lvl="0" marL="457200" rtl="0" algn="l">
              <a:spcBef>
                <a:spcPts val="0"/>
              </a:spcBef>
              <a:spcAft>
                <a:spcPts val="0"/>
              </a:spcAft>
              <a:buSzPts val="1800"/>
              <a:buChar char="●"/>
            </a:pPr>
            <a:r>
              <a:rPr lang="en"/>
              <a:t>Objects, arrays, Strings, etc.</a:t>
            </a:r>
            <a:endParaRPr/>
          </a:p>
        </p:txBody>
      </p:sp>
      <p:sp>
        <p:nvSpPr>
          <p:cNvPr id="94" name="Google Shape;94;p17"/>
          <p:cNvSpPr txBox="1"/>
          <p:nvPr/>
        </p:nvSpPr>
        <p:spPr>
          <a:xfrm>
            <a:off x="285750" y="2983875"/>
            <a:ext cx="8572500" cy="1963200"/>
          </a:xfrm>
          <a:prstGeom prst="rect">
            <a:avLst/>
          </a:prstGeom>
          <a:solidFill>
            <a:srgbClr val="FFF2CC"/>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800">
                <a:solidFill>
                  <a:schemeClr val="lt2"/>
                </a:solidFill>
                <a:latin typeface="Roboto"/>
                <a:ea typeface="Roboto"/>
                <a:cs typeface="Roboto"/>
                <a:sym typeface="Roboto"/>
              </a:rPr>
              <a:t>Golden Rule of Equals </a:t>
            </a:r>
            <a:r>
              <a:rPr lang="en" sz="1800">
                <a:solidFill>
                  <a:schemeClr val="lt2"/>
                </a:solidFill>
                <a:latin typeface="Roboto"/>
                <a:ea typeface="Roboto"/>
                <a:cs typeface="Roboto"/>
                <a:sym typeface="Roboto"/>
              </a:rPr>
              <a:t>AKA pass-by-value</a:t>
            </a:r>
            <a:endParaRPr sz="1800">
              <a:solidFill>
                <a:schemeClr val="lt2"/>
              </a:solidFill>
              <a:latin typeface="Roboto"/>
              <a:ea typeface="Roboto"/>
              <a:cs typeface="Roboto"/>
              <a:sym typeface="Roboto"/>
            </a:endParaRPr>
          </a:p>
          <a:p>
            <a:pPr indent="-342900" lvl="0" marL="457200" rtl="0" algn="l">
              <a:lnSpc>
                <a:spcPct val="115000"/>
              </a:lnSpc>
              <a:spcBef>
                <a:spcPts val="1600"/>
              </a:spcBef>
              <a:spcAft>
                <a:spcPts val="0"/>
              </a:spcAft>
              <a:buClr>
                <a:schemeClr val="lt2"/>
              </a:buClr>
              <a:buSzPts val="1800"/>
              <a:buFont typeface="Roboto"/>
              <a:buChar char="●"/>
            </a:pPr>
            <a:r>
              <a:rPr lang="en" sz="1800">
                <a:solidFill>
                  <a:schemeClr val="lt2"/>
                </a:solidFill>
                <a:latin typeface="Roboto"/>
                <a:ea typeface="Roboto"/>
                <a:cs typeface="Roboto"/>
                <a:sym typeface="Roboto"/>
              </a:rPr>
              <a:t>When you do “a = b”, you always copy the </a:t>
            </a:r>
            <a:r>
              <a:rPr b="1" lang="en" sz="1800">
                <a:solidFill>
                  <a:schemeClr val="lt2"/>
                </a:solidFill>
                <a:latin typeface="Roboto"/>
                <a:ea typeface="Roboto"/>
                <a:cs typeface="Roboto"/>
                <a:sym typeface="Roboto"/>
              </a:rPr>
              <a:t>bits </a:t>
            </a:r>
            <a:r>
              <a:rPr lang="en" sz="1800">
                <a:solidFill>
                  <a:schemeClr val="lt2"/>
                </a:solidFill>
                <a:latin typeface="Roboto"/>
                <a:ea typeface="Roboto"/>
                <a:cs typeface="Roboto"/>
                <a:sym typeface="Roboto"/>
              </a:rPr>
              <a:t>of b into a.</a:t>
            </a:r>
            <a:endParaRPr sz="1800">
              <a:solidFill>
                <a:schemeClr val="lt2"/>
              </a:solidFill>
              <a:latin typeface="Roboto"/>
              <a:ea typeface="Roboto"/>
              <a:cs typeface="Roboto"/>
              <a:sym typeface="Roboto"/>
            </a:endParaRPr>
          </a:p>
          <a:p>
            <a:pPr indent="-342900" lvl="0" marL="457200" rtl="0" algn="l">
              <a:lnSpc>
                <a:spcPct val="115000"/>
              </a:lnSpc>
              <a:spcBef>
                <a:spcPts val="0"/>
              </a:spcBef>
              <a:spcAft>
                <a:spcPts val="0"/>
              </a:spcAft>
              <a:buClr>
                <a:schemeClr val="lt2"/>
              </a:buClr>
              <a:buSzPts val="1800"/>
              <a:buFont typeface="Roboto"/>
              <a:buChar char="●"/>
            </a:pPr>
            <a:r>
              <a:rPr b="1" lang="en" sz="1800">
                <a:solidFill>
                  <a:schemeClr val="lt2"/>
                </a:solidFill>
                <a:latin typeface="Roboto"/>
                <a:ea typeface="Roboto"/>
                <a:cs typeface="Roboto"/>
                <a:sym typeface="Roboto"/>
              </a:rPr>
              <a:t>For primitives: </a:t>
            </a:r>
            <a:r>
              <a:rPr lang="en" sz="1800">
                <a:solidFill>
                  <a:schemeClr val="lt2"/>
                </a:solidFill>
                <a:latin typeface="Roboto"/>
                <a:ea typeface="Roboto"/>
                <a:cs typeface="Roboto"/>
                <a:sym typeface="Roboto"/>
              </a:rPr>
              <a:t>Directly copy the value inside b to a.</a:t>
            </a:r>
            <a:endParaRPr sz="1800">
              <a:solidFill>
                <a:schemeClr val="lt2"/>
              </a:solidFill>
              <a:latin typeface="Roboto"/>
              <a:ea typeface="Roboto"/>
              <a:cs typeface="Roboto"/>
              <a:sym typeface="Roboto"/>
            </a:endParaRPr>
          </a:p>
          <a:p>
            <a:pPr indent="-342900" lvl="0" marL="457200" rtl="0" algn="l">
              <a:lnSpc>
                <a:spcPct val="115000"/>
              </a:lnSpc>
              <a:spcBef>
                <a:spcPts val="0"/>
              </a:spcBef>
              <a:spcAft>
                <a:spcPts val="0"/>
              </a:spcAft>
              <a:buClr>
                <a:schemeClr val="lt2"/>
              </a:buClr>
              <a:buSzPts val="1800"/>
              <a:buFont typeface="Roboto"/>
              <a:buChar char="●"/>
            </a:pPr>
            <a:r>
              <a:rPr b="1" lang="en" sz="1800">
                <a:solidFill>
                  <a:schemeClr val="lt2"/>
                </a:solidFill>
                <a:latin typeface="Roboto"/>
                <a:ea typeface="Roboto"/>
                <a:cs typeface="Roboto"/>
                <a:sym typeface="Roboto"/>
              </a:rPr>
              <a:t>For Reference types: </a:t>
            </a:r>
            <a:r>
              <a:rPr lang="en" sz="1800">
                <a:solidFill>
                  <a:schemeClr val="lt2"/>
                </a:solidFill>
                <a:latin typeface="Roboto"/>
                <a:ea typeface="Roboto"/>
                <a:cs typeface="Roboto"/>
                <a:sym typeface="Roboto"/>
              </a:rPr>
              <a:t>Copy the </a:t>
            </a:r>
            <a:r>
              <a:rPr lang="en" sz="1800" u="sng">
                <a:solidFill>
                  <a:schemeClr val="lt2"/>
                </a:solidFill>
                <a:latin typeface="Roboto"/>
                <a:ea typeface="Roboto"/>
                <a:cs typeface="Roboto"/>
                <a:sym typeface="Roboto"/>
              </a:rPr>
              <a:t>memory address</a:t>
            </a:r>
            <a:r>
              <a:rPr lang="en" sz="1800">
                <a:solidFill>
                  <a:schemeClr val="lt2"/>
                </a:solidFill>
                <a:latin typeface="Roboto"/>
                <a:ea typeface="Roboto"/>
                <a:cs typeface="Roboto"/>
                <a:sym typeface="Roboto"/>
              </a:rPr>
              <a:t> of b into a.</a:t>
            </a:r>
            <a:endParaRPr sz="1800">
              <a:solidFill>
                <a:schemeClr val="lt2"/>
              </a:solidFill>
              <a:latin typeface="Roboto"/>
              <a:ea typeface="Roboto"/>
              <a:cs typeface="Roboto"/>
              <a:sym typeface="Roboto"/>
            </a:endParaRPr>
          </a:p>
          <a:p>
            <a:pPr indent="-342900" lvl="1" marL="914400" rtl="0" algn="l">
              <a:lnSpc>
                <a:spcPct val="115000"/>
              </a:lnSpc>
              <a:spcBef>
                <a:spcPts val="0"/>
              </a:spcBef>
              <a:spcAft>
                <a:spcPts val="0"/>
              </a:spcAft>
              <a:buClr>
                <a:schemeClr val="lt2"/>
              </a:buClr>
              <a:buSzPts val="1800"/>
              <a:buFont typeface="Roboto"/>
              <a:buChar char="○"/>
            </a:pPr>
            <a:r>
              <a:rPr lang="en" sz="1800">
                <a:solidFill>
                  <a:schemeClr val="lt2"/>
                </a:solidFill>
                <a:latin typeface="Roboto"/>
                <a:ea typeface="Roboto"/>
                <a:cs typeface="Roboto"/>
                <a:sym typeface="Roboto"/>
              </a:rPr>
              <a:t>Also can say “copies the pointer in b to 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Review: Box and Pointer Diagrams</a:t>
            </a:r>
            <a:endParaRPr sz="1200"/>
          </a:p>
        </p:txBody>
      </p:sp>
      <p:sp>
        <p:nvSpPr>
          <p:cNvPr id="100" name="Google Shape;100;p18"/>
          <p:cNvSpPr txBox="1"/>
          <p:nvPr>
            <p:ph idx="1" type="body"/>
          </p:nvPr>
        </p:nvSpPr>
        <p:spPr>
          <a:xfrm>
            <a:off x="471900" y="1879825"/>
            <a:ext cx="8222100" cy="11172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lt2"/>
              </a:buClr>
              <a:buSzPts val="1800"/>
              <a:buFont typeface="Roboto"/>
              <a:buChar char="●"/>
            </a:pPr>
            <a:r>
              <a:rPr lang="en"/>
              <a:t>Box and Pointers are the 61B equivalent of 61A’s environment diagram</a:t>
            </a:r>
            <a:endParaRPr/>
          </a:p>
          <a:p>
            <a:pPr indent="-342900" lvl="0" marL="457200" marR="0" rtl="0" algn="l">
              <a:lnSpc>
                <a:spcPct val="115000"/>
              </a:lnSpc>
              <a:spcBef>
                <a:spcPts val="0"/>
              </a:spcBef>
              <a:spcAft>
                <a:spcPts val="0"/>
              </a:spcAft>
              <a:buSzPts val="1800"/>
              <a:buChar char="●"/>
            </a:pPr>
            <a:r>
              <a:rPr lang="en"/>
              <a:t>They are crucial to helping us keep track of what goes on in a program: </a:t>
            </a:r>
            <a:r>
              <a:rPr b="1" lang="en"/>
              <a:t>use them!</a:t>
            </a:r>
            <a:endParaRPr b="1"/>
          </a:p>
          <a:p>
            <a:pPr indent="0" lvl="0" marL="0" marR="0" rtl="0" algn="l">
              <a:lnSpc>
                <a:spcPct val="115000"/>
              </a:lnSpc>
              <a:spcBef>
                <a:spcPts val="1600"/>
              </a:spcBef>
              <a:spcAft>
                <a:spcPts val="1600"/>
              </a:spcAft>
              <a:buNone/>
            </a:pPr>
            <a:r>
              <a:t/>
            </a:r>
            <a:endParaRPr b="1">
              <a:latin typeface="Courier New"/>
              <a:ea typeface="Courier New"/>
              <a:cs typeface="Courier New"/>
              <a:sym typeface="Courier New"/>
            </a:endParaRPr>
          </a:p>
        </p:txBody>
      </p:sp>
      <p:sp>
        <p:nvSpPr>
          <p:cNvPr id="101" name="Google Shape;101;p18"/>
          <p:cNvSpPr/>
          <p:nvPr/>
        </p:nvSpPr>
        <p:spPr>
          <a:xfrm>
            <a:off x="916150" y="3847825"/>
            <a:ext cx="523500" cy="523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29</a:t>
            </a:r>
            <a:endParaRPr/>
          </a:p>
        </p:txBody>
      </p:sp>
      <p:sp>
        <p:nvSpPr>
          <p:cNvPr id="102" name="Google Shape;102;p18"/>
          <p:cNvSpPr txBox="1"/>
          <p:nvPr/>
        </p:nvSpPr>
        <p:spPr>
          <a:xfrm>
            <a:off x="916150" y="3481350"/>
            <a:ext cx="523500" cy="30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Int x</a:t>
            </a:r>
            <a:endParaRPr/>
          </a:p>
        </p:txBody>
      </p:sp>
      <p:sp>
        <p:nvSpPr>
          <p:cNvPr id="103" name="Google Shape;103;p18"/>
          <p:cNvSpPr txBox="1"/>
          <p:nvPr/>
        </p:nvSpPr>
        <p:spPr>
          <a:xfrm>
            <a:off x="536600" y="2997125"/>
            <a:ext cx="2814000" cy="179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en" sz="1800">
                <a:solidFill>
                  <a:schemeClr val="lt2"/>
                </a:solidFill>
                <a:latin typeface="Courier New"/>
                <a:ea typeface="Courier New"/>
                <a:cs typeface="Courier New"/>
                <a:sym typeface="Courier New"/>
              </a:rPr>
              <a:t>int x = 29;</a:t>
            </a:r>
            <a:endParaRPr/>
          </a:p>
        </p:txBody>
      </p:sp>
      <p:sp>
        <p:nvSpPr>
          <p:cNvPr id="104" name="Google Shape;104;p18"/>
          <p:cNvSpPr txBox="1"/>
          <p:nvPr/>
        </p:nvSpPr>
        <p:spPr>
          <a:xfrm>
            <a:off x="3254200" y="2997125"/>
            <a:ext cx="3590700" cy="179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800">
                <a:solidFill>
                  <a:schemeClr val="lt2"/>
                </a:solidFill>
                <a:latin typeface="Courier New"/>
                <a:ea typeface="Courier New"/>
                <a:cs typeface="Courier New"/>
                <a:sym typeface="Courier New"/>
              </a:rPr>
              <a:t>int[] arr = new int[3];</a:t>
            </a:r>
            <a:endParaRPr b="1" sz="1800">
              <a:solidFill>
                <a:schemeClr val="lt2"/>
              </a:solidFill>
              <a:latin typeface="Courier New"/>
              <a:ea typeface="Courier New"/>
              <a:cs typeface="Courier New"/>
              <a:sym typeface="Courier New"/>
            </a:endParaRPr>
          </a:p>
          <a:p>
            <a:pPr indent="0" lvl="0" marL="0" rtl="0" algn="l">
              <a:spcBef>
                <a:spcPts val="1600"/>
              </a:spcBef>
              <a:spcAft>
                <a:spcPts val="0"/>
              </a:spcAft>
              <a:buNone/>
            </a:pPr>
            <a:r>
              <a:t/>
            </a:r>
            <a:endParaRPr/>
          </a:p>
        </p:txBody>
      </p:sp>
      <p:sp>
        <p:nvSpPr>
          <p:cNvPr id="105" name="Google Shape;105;p18"/>
          <p:cNvSpPr txBox="1"/>
          <p:nvPr/>
        </p:nvSpPr>
        <p:spPr>
          <a:xfrm>
            <a:off x="3402825" y="3847800"/>
            <a:ext cx="523500" cy="523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cxnSp>
        <p:nvCxnSpPr>
          <p:cNvPr id="106" name="Google Shape;106;p18"/>
          <p:cNvCxnSpPr/>
          <p:nvPr/>
        </p:nvCxnSpPr>
        <p:spPr>
          <a:xfrm flipH="1" rot="10800000">
            <a:off x="3651425" y="4102950"/>
            <a:ext cx="654300" cy="13200"/>
          </a:xfrm>
          <a:prstGeom prst="straightConnector1">
            <a:avLst/>
          </a:prstGeom>
          <a:noFill/>
          <a:ln cap="flat" cmpd="sng" w="9525">
            <a:solidFill>
              <a:schemeClr val="dk2"/>
            </a:solidFill>
            <a:prstDash val="solid"/>
            <a:round/>
            <a:headEnd len="med" w="med" type="none"/>
            <a:tailEnd len="med" w="med" type="triangle"/>
          </a:ln>
        </p:spPr>
      </p:cxnSp>
      <p:sp>
        <p:nvSpPr>
          <p:cNvPr id="107" name="Google Shape;107;p18"/>
          <p:cNvSpPr/>
          <p:nvPr/>
        </p:nvSpPr>
        <p:spPr>
          <a:xfrm>
            <a:off x="4410575" y="3847800"/>
            <a:ext cx="523500" cy="5235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0</a:t>
            </a:r>
            <a:endParaRPr/>
          </a:p>
        </p:txBody>
      </p:sp>
      <p:sp>
        <p:nvSpPr>
          <p:cNvPr id="108" name="Google Shape;108;p18"/>
          <p:cNvSpPr/>
          <p:nvPr/>
        </p:nvSpPr>
        <p:spPr>
          <a:xfrm>
            <a:off x="4934075" y="3847825"/>
            <a:ext cx="523500" cy="5235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0</a:t>
            </a:r>
            <a:endParaRPr/>
          </a:p>
        </p:txBody>
      </p:sp>
      <p:sp>
        <p:nvSpPr>
          <p:cNvPr id="109" name="Google Shape;109;p18"/>
          <p:cNvSpPr/>
          <p:nvPr/>
        </p:nvSpPr>
        <p:spPr>
          <a:xfrm>
            <a:off x="5457575" y="3847825"/>
            <a:ext cx="523500" cy="5235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0</a:t>
            </a:r>
            <a:endParaRPr/>
          </a:p>
        </p:txBody>
      </p:sp>
      <p:sp>
        <p:nvSpPr>
          <p:cNvPr id="110" name="Google Shape;110;p18"/>
          <p:cNvSpPr txBox="1"/>
          <p:nvPr/>
        </p:nvSpPr>
        <p:spPr>
          <a:xfrm>
            <a:off x="3291525" y="3486175"/>
            <a:ext cx="935700" cy="30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int[ ] arr</a:t>
            </a:r>
            <a:endParaRPr/>
          </a:p>
        </p:txBody>
      </p:sp>
      <p:sp>
        <p:nvSpPr>
          <p:cNvPr id="111" name="Google Shape;111;p18"/>
          <p:cNvSpPr/>
          <p:nvPr/>
        </p:nvSpPr>
        <p:spPr>
          <a:xfrm rot="10800000">
            <a:off x="6190525" y="3638475"/>
            <a:ext cx="1400400" cy="654300"/>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8"/>
          <p:cNvSpPr txBox="1"/>
          <p:nvPr/>
        </p:nvSpPr>
        <p:spPr>
          <a:xfrm>
            <a:off x="6604200" y="2615775"/>
            <a:ext cx="2296500" cy="1022700"/>
          </a:xfrm>
          <a:prstGeom prst="rect">
            <a:avLst/>
          </a:prstGeom>
          <a:solidFill>
            <a:srgbClr val="FCE5CD"/>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We didn’t specify what integers are going in the array, so Java initializes it with the default value 0</a:t>
            </a:r>
            <a:endParaRPr/>
          </a:p>
        </p:txBody>
      </p:sp>
      <p:sp>
        <p:nvSpPr>
          <p:cNvPr id="113" name="Google Shape;113;p18"/>
          <p:cNvSpPr txBox="1"/>
          <p:nvPr/>
        </p:nvSpPr>
        <p:spPr>
          <a:xfrm>
            <a:off x="256150" y="4546250"/>
            <a:ext cx="2070300" cy="36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rPr>
              <a:t>Primitives go in the box</a:t>
            </a:r>
            <a:endParaRPr>
              <a:solidFill>
                <a:srgbClr val="FF0000"/>
              </a:solidFill>
            </a:endParaRPr>
          </a:p>
        </p:txBody>
      </p:sp>
      <p:sp>
        <p:nvSpPr>
          <p:cNvPr id="114" name="Google Shape;114;p18"/>
          <p:cNvSpPr txBox="1"/>
          <p:nvPr/>
        </p:nvSpPr>
        <p:spPr>
          <a:xfrm>
            <a:off x="3402825" y="4546250"/>
            <a:ext cx="4440600" cy="36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rPr>
              <a:t>Reference types are referenced via pointers</a:t>
            </a:r>
            <a:endParaRPr>
              <a:solidFill>
                <a:srgbClr val="FF0000"/>
              </a:solidFill>
            </a:endParaRPr>
          </a:p>
          <a:p>
            <a:pPr indent="0" lvl="0" marL="0" rtl="0" algn="l">
              <a:spcBef>
                <a:spcPts val="0"/>
              </a:spcBef>
              <a:spcAft>
                <a:spcPts val="0"/>
              </a:spcAft>
              <a:buNone/>
            </a:pPr>
            <a:r>
              <a:t/>
            </a:r>
            <a:endParaRPr/>
          </a:p>
        </p:txBody>
      </p:sp>
      <p:sp>
        <p:nvSpPr>
          <p:cNvPr id="115" name="Google Shape;115;p18"/>
          <p:cNvSpPr/>
          <p:nvPr/>
        </p:nvSpPr>
        <p:spPr>
          <a:xfrm>
            <a:off x="711475" y="3486175"/>
            <a:ext cx="1160100" cy="1022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8"/>
          <p:cNvSpPr/>
          <p:nvPr/>
        </p:nvSpPr>
        <p:spPr>
          <a:xfrm>
            <a:off x="1029775" y="3847800"/>
            <a:ext cx="523500" cy="523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8"/>
          <p:cNvSpPr txBox="1"/>
          <p:nvPr/>
        </p:nvSpPr>
        <p:spPr>
          <a:xfrm>
            <a:off x="1029550" y="3501475"/>
            <a:ext cx="523500" cy="42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t>x</a:t>
            </a:r>
            <a:endParaRPr sz="1500"/>
          </a:p>
        </p:txBody>
      </p:sp>
      <p:sp>
        <p:nvSpPr>
          <p:cNvPr id="118" name="Google Shape;118;p18"/>
          <p:cNvSpPr txBox="1"/>
          <p:nvPr/>
        </p:nvSpPr>
        <p:spPr>
          <a:xfrm>
            <a:off x="1103475" y="3957950"/>
            <a:ext cx="449700" cy="36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29</a:t>
            </a:r>
            <a:endParaRPr/>
          </a:p>
        </p:txBody>
      </p:sp>
      <p:sp>
        <p:nvSpPr>
          <p:cNvPr id="119" name="Google Shape;119;p18"/>
          <p:cNvSpPr txBox="1"/>
          <p:nvPr/>
        </p:nvSpPr>
        <p:spPr>
          <a:xfrm>
            <a:off x="3276975" y="3486175"/>
            <a:ext cx="775200" cy="300900"/>
          </a:xfrm>
          <a:prstGeom prst="rect">
            <a:avLst/>
          </a:prstGeom>
          <a:solidFill>
            <a:schemeClr val="accent4"/>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t>arr</a:t>
            </a:r>
            <a:endParaRPr sz="15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9"/>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Review: Static</a:t>
            </a:r>
            <a:endParaRPr/>
          </a:p>
        </p:txBody>
      </p:sp>
      <p:sp>
        <p:nvSpPr>
          <p:cNvPr id="125" name="Google Shape;125;p19"/>
          <p:cNvSpPr txBox="1"/>
          <p:nvPr>
            <p:ph idx="1" type="body"/>
          </p:nvPr>
        </p:nvSpPr>
        <p:spPr>
          <a:xfrm>
            <a:off x="471900" y="1919075"/>
            <a:ext cx="8222100" cy="313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Static variables are shared by all instances of the class and should be accessed via dot notation with the </a:t>
            </a:r>
            <a:r>
              <a:rPr b="1" lang="en"/>
              <a:t>class</a:t>
            </a:r>
            <a:r>
              <a:rPr lang="en"/>
              <a:t>, not the instance.</a:t>
            </a:r>
            <a:endParaRPr/>
          </a:p>
          <a:p>
            <a:pPr indent="-317500" lvl="1" marL="914400" rtl="0" algn="l">
              <a:spcBef>
                <a:spcPts val="0"/>
              </a:spcBef>
              <a:spcAft>
                <a:spcPts val="0"/>
              </a:spcAft>
              <a:buSzPts val="1400"/>
              <a:buFont typeface="Source Code Pro"/>
              <a:buChar char="○"/>
            </a:pPr>
            <a:r>
              <a:rPr lang="en">
                <a:latin typeface="Source Code Pro"/>
                <a:ea typeface="Source Code Pro"/>
                <a:cs typeface="Source Code Pro"/>
                <a:sym typeface="Source Code Pro"/>
              </a:rPr>
              <a:t>Dog.name </a:t>
            </a:r>
            <a:r>
              <a:rPr lang="en"/>
              <a:t>instead of </a:t>
            </a:r>
            <a:r>
              <a:rPr lang="en">
                <a:latin typeface="Source Code Pro"/>
                <a:ea typeface="Source Code Pro"/>
                <a:cs typeface="Source Code Pro"/>
                <a:sym typeface="Source Code Pro"/>
              </a:rPr>
              <a:t>fido.name</a:t>
            </a:r>
            <a:endParaRPr>
              <a:latin typeface="Source Code Pro"/>
              <a:ea typeface="Source Code Pro"/>
              <a:cs typeface="Source Code Pro"/>
              <a:sym typeface="Source Code Pro"/>
            </a:endParaRPr>
          </a:p>
          <a:p>
            <a:pPr indent="-342900" lvl="0" marL="457200" rtl="0" algn="l">
              <a:spcBef>
                <a:spcPts val="0"/>
              </a:spcBef>
              <a:spcAft>
                <a:spcPts val="0"/>
              </a:spcAft>
              <a:buSzPts val="1800"/>
              <a:buChar char="●"/>
            </a:pPr>
            <a:r>
              <a:rPr lang="en"/>
              <a:t>Static methods are methods that do not require an instance to call it, and thus do not access any instance variables.</a:t>
            </a:r>
            <a:endParaRPr/>
          </a:p>
          <a:p>
            <a:pPr indent="-317500" lvl="1" marL="914400" rtl="0" algn="l">
              <a:spcBef>
                <a:spcPts val="0"/>
              </a:spcBef>
              <a:spcAft>
                <a:spcPts val="0"/>
              </a:spcAft>
              <a:buSzPts val="1400"/>
              <a:buFont typeface="Source Code Pro"/>
              <a:buChar char="○"/>
            </a:pPr>
            <a:r>
              <a:rPr lang="en">
                <a:latin typeface="Source Code Pro"/>
                <a:ea typeface="Source Code Pro"/>
                <a:cs typeface="Source Code Pro"/>
                <a:sym typeface="Source Code Pro"/>
              </a:rPr>
              <a:t>Dog.bark();</a:t>
            </a:r>
            <a:endParaRPr>
              <a:latin typeface="Source Code Pro"/>
              <a:ea typeface="Source Code Pro"/>
              <a:cs typeface="Source Code Pro"/>
              <a:sym typeface="Source Code Pro"/>
            </a:endParaRPr>
          </a:p>
          <a:p>
            <a:pPr indent="-342900" lvl="0" marL="457200" rtl="0" algn="l">
              <a:spcBef>
                <a:spcPts val="0"/>
              </a:spcBef>
              <a:spcAft>
                <a:spcPts val="0"/>
              </a:spcAft>
              <a:buSzPts val="1800"/>
              <a:buChar char="●"/>
            </a:pPr>
            <a:r>
              <a:rPr lang="en"/>
              <a:t>You </a:t>
            </a:r>
            <a:r>
              <a:rPr b="1" lang="en"/>
              <a:t>can </a:t>
            </a:r>
            <a:r>
              <a:rPr lang="en"/>
              <a:t>call static methods on an instance, but what will happen is Java will actually look for the static type of the object and run the method from that class.</a:t>
            </a:r>
            <a:endParaRPr/>
          </a:p>
          <a:p>
            <a:pPr indent="0" lvl="0" marL="457200" rtl="0" algn="l">
              <a:spcBef>
                <a:spcPts val="1600"/>
              </a:spcBef>
              <a:spcAft>
                <a:spcPts val="1600"/>
              </a:spcAft>
              <a:buNone/>
            </a:pPr>
            <a:r>
              <a:t/>
            </a:r>
            <a:endParaRPr>
              <a:latin typeface="Source Code Pro"/>
              <a:ea typeface="Source Code Pro"/>
              <a:cs typeface="Source Code Pro"/>
              <a:sym typeface="Source Code Pro"/>
            </a:endParaRPr>
          </a:p>
        </p:txBody>
      </p:sp>
      <p:sp>
        <p:nvSpPr>
          <p:cNvPr id="126" name="Google Shape;126;p19"/>
          <p:cNvSpPr txBox="1"/>
          <p:nvPr/>
        </p:nvSpPr>
        <p:spPr>
          <a:xfrm>
            <a:off x="4023302" y="62800"/>
            <a:ext cx="4508400" cy="1686600"/>
          </a:xfrm>
          <a:prstGeom prst="rect">
            <a:avLst/>
          </a:prstGeom>
          <a:solidFill>
            <a:srgbClr val="FFFFFF"/>
          </a:solidFill>
          <a:ln cap="flat" cmpd="sng" w="38100">
            <a:solidFill>
              <a:srgbClr val="CC4125"/>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Source Code Pro"/>
                <a:ea typeface="Source Code Pro"/>
                <a:cs typeface="Source Code Pro"/>
                <a:sym typeface="Source Code Pro"/>
              </a:rPr>
              <a:t>Public class Dog {</a:t>
            </a:r>
            <a:endParaRPr sz="1100">
              <a:latin typeface="Source Code Pro"/>
              <a:ea typeface="Source Code Pro"/>
              <a:cs typeface="Source Code Pro"/>
              <a:sym typeface="Source Code Pro"/>
            </a:endParaRPr>
          </a:p>
          <a:p>
            <a:pPr indent="0" lvl="0" marL="0" rtl="0" algn="l">
              <a:spcBef>
                <a:spcPts val="0"/>
              </a:spcBef>
              <a:spcAft>
                <a:spcPts val="0"/>
              </a:spcAft>
              <a:buNone/>
            </a:pPr>
            <a:r>
              <a:rPr lang="en" sz="1100">
                <a:latin typeface="Source Code Pro"/>
                <a:ea typeface="Source Code Pro"/>
                <a:cs typeface="Source Code Pro"/>
                <a:sym typeface="Source Code Pro"/>
              </a:rPr>
              <a:t>	public int legs;</a:t>
            </a:r>
            <a:endParaRPr sz="1100">
              <a:latin typeface="Source Code Pro"/>
              <a:ea typeface="Source Code Pro"/>
              <a:cs typeface="Source Code Pro"/>
              <a:sym typeface="Source Code Pro"/>
            </a:endParaRPr>
          </a:p>
          <a:p>
            <a:pPr indent="0" lvl="0" marL="0" rtl="0" algn="l">
              <a:spcBef>
                <a:spcPts val="0"/>
              </a:spcBef>
              <a:spcAft>
                <a:spcPts val="0"/>
              </a:spcAft>
              <a:buNone/>
            </a:pPr>
            <a:r>
              <a:rPr lang="en" sz="1100">
                <a:latin typeface="Source Code Pro"/>
                <a:ea typeface="Source Code Pro"/>
                <a:cs typeface="Source Code Pro"/>
                <a:sym typeface="Source Code Pro"/>
              </a:rPr>
              <a:t>	public static String name = “Doge”; </a:t>
            </a:r>
            <a:endParaRPr sz="1100">
              <a:latin typeface="Source Code Pro"/>
              <a:ea typeface="Source Code Pro"/>
              <a:cs typeface="Source Code Pro"/>
              <a:sym typeface="Source Code Pro"/>
            </a:endParaRPr>
          </a:p>
          <a:p>
            <a:pPr indent="0" lvl="0" marL="0" rtl="0" algn="l">
              <a:spcBef>
                <a:spcPts val="0"/>
              </a:spcBef>
              <a:spcAft>
                <a:spcPts val="0"/>
              </a:spcAft>
              <a:buNone/>
            </a:pPr>
            <a:r>
              <a:rPr lang="en" sz="1100">
                <a:latin typeface="Source Code Pro"/>
                <a:ea typeface="Source Code Pro"/>
                <a:cs typeface="Source Code Pro"/>
                <a:sym typeface="Source Code Pro"/>
              </a:rPr>
              <a:t>	public static void bark() {...}</a:t>
            </a:r>
            <a:endParaRPr sz="1100">
              <a:latin typeface="Source Code Pro"/>
              <a:ea typeface="Source Code Pro"/>
              <a:cs typeface="Source Code Pro"/>
              <a:sym typeface="Source Code Pro"/>
            </a:endParaRPr>
          </a:p>
          <a:p>
            <a:pPr indent="0" lvl="0" marL="0" rtl="0" algn="l">
              <a:spcBef>
                <a:spcPts val="0"/>
              </a:spcBef>
              <a:spcAft>
                <a:spcPts val="0"/>
              </a:spcAft>
              <a:buNone/>
            </a:pPr>
            <a:r>
              <a:t/>
            </a:r>
            <a:endParaRPr sz="1100">
              <a:latin typeface="Source Code Pro"/>
              <a:ea typeface="Source Code Pro"/>
              <a:cs typeface="Source Code Pro"/>
              <a:sym typeface="Source Code Pro"/>
            </a:endParaRPr>
          </a:p>
          <a:p>
            <a:pPr indent="0" lvl="0" marL="0" rtl="0" algn="l">
              <a:spcBef>
                <a:spcPts val="0"/>
              </a:spcBef>
              <a:spcAft>
                <a:spcPts val="0"/>
              </a:spcAft>
              <a:buNone/>
            </a:pPr>
            <a:r>
              <a:rPr lang="en" sz="1100">
                <a:latin typeface="Source Code Pro"/>
                <a:ea typeface="Source Code Pro"/>
                <a:cs typeface="Source Code Pro"/>
                <a:sym typeface="Source Code Pro"/>
              </a:rPr>
              <a:t>	public static void main(String[] args) {</a:t>
            </a:r>
            <a:endParaRPr sz="1100">
              <a:latin typeface="Source Code Pro"/>
              <a:ea typeface="Source Code Pro"/>
              <a:cs typeface="Source Code Pro"/>
              <a:sym typeface="Source Code Pro"/>
            </a:endParaRPr>
          </a:p>
          <a:p>
            <a:pPr indent="0" lvl="0" marL="0" rtl="0" algn="l">
              <a:spcBef>
                <a:spcPts val="0"/>
              </a:spcBef>
              <a:spcAft>
                <a:spcPts val="0"/>
              </a:spcAft>
              <a:buNone/>
            </a:pPr>
            <a:r>
              <a:rPr lang="en" sz="1100">
                <a:latin typeface="Source Code Pro"/>
                <a:ea typeface="Source Code Pro"/>
                <a:cs typeface="Source Code Pro"/>
                <a:sym typeface="Source Code Pro"/>
              </a:rPr>
              <a:t>		Dog fido = new Dog();</a:t>
            </a:r>
            <a:endParaRPr sz="1100">
              <a:latin typeface="Source Code Pro"/>
              <a:ea typeface="Source Code Pro"/>
              <a:cs typeface="Source Code Pro"/>
              <a:sym typeface="Source Code Pro"/>
            </a:endParaRPr>
          </a:p>
          <a:p>
            <a:pPr indent="0" lvl="0" marL="0" rtl="0" algn="l">
              <a:spcBef>
                <a:spcPts val="0"/>
              </a:spcBef>
              <a:spcAft>
                <a:spcPts val="0"/>
              </a:spcAft>
              <a:buNone/>
            </a:pPr>
            <a:r>
              <a:rPr lang="en" sz="1100">
                <a:latin typeface="Source Code Pro"/>
                <a:ea typeface="Source Code Pro"/>
                <a:cs typeface="Source Code Pro"/>
                <a:sym typeface="Source Code Pro"/>
              </a:rPr>
              <a:t>	}</a:t>
            </a:r>
            <a:endParaRPr sz="1100">
              <a:latin typeface="Source Code Pro"/>
              <a:ea typeface="Source Code Pro"/>
              <a:cs typeface="Source Code Pro"/>
              <a:sym typeface="Source Code Pro"/>
            </a:endParaRPr>
          </a:p>
          <a:p>
            <a:pPr indent="0" lvl="0" marL="0" rtl="0" algn="l">
              <a:spcBef>
                <a:spcPts val="0"/>
              </a:spcBef>
              <a:spcAft>
                <a:spcPts val="0"/>
              </a:spcAft>
              <a:buNone/>
            </a:pPr>
            <a:r>
              <a:rPr lang="en" sz="1100">
                <a:latin typeface="Source Code Pro"/>
                <a:ea typeface="Source Code Pro"/>
                <a:cs typeface="Source Code Pro"/>
                <a:sym typeface="Source Code Pro"/>
              </a:rPr>
              <a:t>}</a:t>
            </a:r>
            <a:endParaRPr sz="1100">
              <a:latin typeface="Source Code Pro"/>
              <a:ea typeface="Source Code Pro"/>
              <a:cs typeface="Source Code Pro"/>
              <a:sym typeface="Source Code Pro"/>
            </a:endParaRPr>
          </a:p>
        </p:txBody>
      </p:sp>
      <p:sp>
        <p:nvSpPr>
          <p:cNvPr id="127" name="Google Shape;127;p19"/>
          <p:cNvSpPr txBox="1"/>
          <p:nvPr/>
        </p:nvSpPr>
        <p:spPr>
          <a:xfrm>
            <a:off x="2634300" y="4391075"/>
            <a:ext cx="2207400" cy="6591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Source Code Pro"/>
                <a:ea typeface="Source Code Pro"/>
                <a:cs typeface="Source Code Pro"/>
                <a:sym typeface="Source Code Pro"/>
              </a:rPr>
              <a:t>Dog g = new Dog();</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g.bark();</a:t>
            </a:r>
            <a:endParaRPr>
              <a:latin typeface="Source Code Pro"/>
              <a:ea typeface="Source Code Pro"/>
              <a:cs typeface="Source Code Pro"/>
              <a:sym typeface="Source Code Pro"/>
            </a:endParaRPr>
          </a:p>
        </p:txBody>
      </p:sp>
      <p:sp>
        <p:nvSpPr>
          <p:cNvPr id="128" name="Google Shape;128;p19"/>
          <p:cNvSpPr txBox="1"/>
          <p:nvPr/>
        </p:nvSpPr>
        <p:spPr>
          <a:xfrm>
            <a:off x="5046075" y="4423925"/>
            <a:ext cx="462000" cy="5934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latin typeface="Source Code Pro"/>
                <a:ea typeface="Source Code Pro"/>
                <a:cs typeface="Source Code Pro"/>
                <a:sym typeface="Source Code Pro"/>
              </a:rPr>
              <a:t>=</a:t>
            </a:r>
            <a:endParaRPr sz="3600">
              <a:latin typeface="Source Code Pro"/>
              <a:ea typeface="Source Code Pro"/>
              <a:cs typeface="Source Code Pro"/>
              <a:sym typeface="Source Code Pro"/>
            </a:endParaRPr>
          </a:p>
        </p:txBody>
      </p:sp>
      <p:sp>
        <p:nvSpPr>
          <p:cNvPr id="129" name="Google Shape;129;p19"/>
          <p:cNvSpPr txBox="1"/>
          <p:nvPr/>
        </p:nvSpPr>
        <p:spPr>
          <a:xfrm>
            <a:off x="5712450" y="4391075"/>
            <a:ext cx="2207400" cy="6591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Source Code Pro"/>
                <a:ea typeface="Source Code Pro"/>
                <a:cs typeface="Source Code Pro"/>
                <a:sym typeface="Source Code Pro"/>
              </a:rPr>
              <a:t>Dog g = new Dog();</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Dog.bark();</a:t>
            </a:r>
            <a:endParaRPr>
              <a:latin typeface="Source Code Pro"/>
              <a:ea typeface="Source Code Pro"/>
              <a:cs typeface="Source Code Pro"/>
              <a:sym typeface="Source Code Pr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Review: IntLists</a:t>
            </a:r>
            <a:endParaRPr/>
          </a:p>
        </p:txBody>
      </p:sp>
      <p:sp>
        <p:nvSpPr>
          <p:cNvPr id="135" name="Google Shape;135;p20"/>
          <p:cNvSpPr txBox="1"/>
          <p:nvPr>
            <p:ph idx="1" type="body"/>
          </p:nvPr>
        </p:nvSpPr>
        <p:spPr>
          <a:xfrm>
            <a:off x="471900" y="1919075"/>
            <a:ext cx="8222100" cy="1748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IntLists are the equivalent of 61A’s “Linked List” with one restriction: it can only hold integers.</a:t>
            </a:r>
            <a:endParaRPr/>
          </a:p>
          <a:p>
            <a:pPr indent="-342900" lvl="0" marL="457200" rtl="0" algn="l">
              <a:spcBef>
                <a:spcPts val="0"/>
              </a:spcBef>
              <a:spcAft>
                <a:spcPts val="0"/>
              </a:spcAft>
              <a:buSzPts val="1800"/>
              <a:buChar char="●"/>
            </a:pPr>
            <a:r>
              <a:rPr lang="en"/>
              <a:t>Each IntList consists of 2 elements: </a:t>
            </a:r>
            <a:endParaRPr/>
          </a:p>
          <a:p>
            <a:pPr indent="-317500" lvl="1" marL="914400" rtl="0" algn="l">
              <a:spcBef>
                <a:spcPts val="0"/>
              </a:spcBef>
              <a:spcAft>
                <a:spcPts val="0"/>
              </a:spcAft>
              <a:buSzPts val="1400"/>
              <a:buChar char="○"/>
            </a:pPr>
            <a:r>
              <a:rPr lang="en"/>
              <a:t>an integer </a:t>
            </a:r>
            <a:r>
              <a:rPr lang="en">
                <a:latin typeface="Source Code Pro"/>
                <a:ea typeface="Source Code Pro"/>
                <a:cs typeface="Source Code Pro"/>
                <a:sym typeface="Source Code Pro"/>
              </a:rPr>
              <a:t>first</a:t>
            </a:r>
            <a:endParaRPr>
              <a:latin typeface="Source Code Pro"/>
              <a:ea typeface="Source Code Pro"/>
              <a:cs typeface="Source Code Pro"/>
              <a:sym typeface="Source Code Pro"/>
            </a:endParaRPr>
          </a:p>
          <a:p>
            <a:pPr indent="-317500" lvl="1" marL="914400" rtl="0" algn="l">
              <a:spcBef>
                <a:spcPts val="0"/>
              </a:spcBef>
              <a:spcAft>
                <a:spcPts val="0"/>
              </a:spcAft>
              <a:buSzPts val="1400"/>
              <a:buChar char="○"/>
            </a:pPr>
            <a:r>
              <a:rPr lang="en"/>
              <a:t>an IntList </a:t>
            </a:r>
            <a:r>
              <a:rPr lang="en">
                <a:latin typeface="Source Code Pro"/>
                <a:ea typeface="Source Code Pro"/>
                <a:cs typeface="Source Code Pro"/>
                <a:sym typeface="Source Code Pro"/>
              </a:rPr>
              <a:t>rest</a:t>
            </a:r>
            <a:endParaRPr>
              <a:latin typeface="Source Code Pro"/>
              <a:ea typeface="Source Code Pro"/>
              <a:cs typeface="Source Code Pro"/>
              <a:sym typeface="Source Code Pro"/>
            </a:endParaRPr>
          </a:p>
        </p:txBody>
      </p:sp>
      <p:sp>
        <p:nvSpPr>
          <p:cNvPr id="136" name="Google Shape;136;p20"/>
          <p:cNvSpPr/>
          <p:nvPr/>
        </p:nvSpPr>
        <p:spPr>
          <a:xfrm>
            <a:off x="811450" y="4031050"/>
            <a:ext cx="471000" cy="471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0"/>
          <p:cNvSpPr/>
          <p:nvPr/>
        </p:nvSpPr>
        <p:spPr>
          <a:xfrm>
            <a:off x="1866900" y="4031050"/>
            <a:ext cx="471000" cy="471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138" name="Google Shape;138;p20"/>
          <p:cNvSpPr/>
          <p:nvPr/>
        </p:nvSpPr>
        <p:spPr>
          <a:xfrm>
            <a:off x="2337900" y="4031050"/>
            <a:ext cx="471000" cy="471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0"/>
          <p:cNvSpPr/>
          <p:nvPr/>
        </p:nvSpPr>
        <p:spPr>
          <a:xfrm>
            <a:off x="3327925" y="4031050"/>
            <a:ext cx="471000" cy="471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140" name="Google Shape;140;p20"/>
          <p:cNvSpPr/>
          <p:nvPr/>
        </p:nvSpPr>
        <p:spPr>
          <a:xfrm>
            <a:off x="3798925" y="4031050"/>
            <a:ext cx="471000" cy="471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0"/>
          <p:cNvSpPr/>
          <p:nvPr/>
        </p:nvSpPr>
        <p:spPr>
          <a:xfrm>
            <a:off x="4788950" y="4031050"/>
            <a:ext cx="471000" cy="471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142" name="Google Shape;142;p20"/>
          <p:cNvSpPr/>
          <p:nvPr/>
        </p:nvSpPr>
        <p:spPr>
          <a:xfrm>
            <a:off x="5259950" y="4031050"/>
            <a:ext cx="471000" cy="471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0"/>
          <p:cNvSpPr txBox="1"/>
          <p:nvPr/>
        </p:nvSpPr>
        <p:spPr>
          <a:xfrm>
            <a:off x="706750" y="3667775"/>
            <a:ext cx="5024100" cy="27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IntList 	    first     rest</a:t>
            </a:r>
            <a:endParaRPr/>
          </a:p>
        </p:txBody>
      </p:sp>
      <p:cxnSp>
        <p:nvCxnSpPr>
          <p:cNvPr id="144" name="Google Shape;144;p20"/>
          <p:cNvCxnSpPr/>
          <p:nvPr/>
        </p:nvCxnSpPr>
        <p:spPr>
          <a:xfrm>
            <a:off x="1085975" y="4266550"/>
            <a:ext cx="732900" cy="0"/>
          </a:xfrm>
          <a:prstGeom prst="straightConnector1">
            <a:avLst/>
          </a:prstGeom>
          <a:noFill/>
          <a:ln cap="flat" cmpd="sng" w="9525">
            <a:solidFill>
              <a:schemeClr val="dk2"/>
            </a:solidFill>
            <a:prstDash val="solid"/>
            <a:round/>
            <a:headEnd len="med" w="med" type="none"/>
            <a:tailEnd len="med" w="med" type="triangle"/>
          </a:ln>
        </p:spPr>
      </p:cxnSp>
      <p:cxnSp>
        <p:nvCxnSpPr>
          <p:cNvPr id="145" name="Google Shape;145;p20"/>
          <p:cNvCxnSpPr/>
          <p:nvPr/>
        </p:nvCxnSpPr>
        <p:spPr>
          <a:xfrm>
            <a:off x="2546988" y="4266550"/>
            <a:ext cx="732900" cy="0"/>
          </a:xfrm>
          <a:prstGeom prst="straightConnector1">
            <a:avLst/>
          </a:prstGeom>
          <a:noFill/>
          <a:ln cap="flat" cmpd="sng" w="9525">
            <a:solidFill>
              <a:schemeClr val="dk2"/>
            </a:solidFill>
            <a:prstDash val="solid"/>
            <a:round/>
            <a:headEnd len="med" w="med" type="none"/>
            <a:tailEnd len="med" w="med" type="triangle"/>
          </a:ln>
        </p:spPr>
      </p:cxnSp>
      <p:cxnSp>
        <p:nvCxnSpPr>
          <p:cNvPr id="146" name="Google Shape;146;p20"/>
          <p:cNvCxnSpPr/>
          <p:nvPr/>
        </p:nvCxnSpPr>
        <p:spPr>
          <a:xfrm>
            <a:off x="4056038" y="4266550"/>
            <a:ext cx="732900" cy="0"/>
          </a:xfrm>
          <a:prstGeom prst="straightConnector1">
            <a:avLst/>
          </a:prstGeom>
          <a:noFill/>
          <a:ln cap="flat" cmpd="sng" w="9525">
            <a:solidFill>
              <a:schemeClr val="dk2"/>
            </a:solidFill>
            <a:prstDash val="solid"/>
            <a:round/>
            <a:headEnd len="med" w="med" type="none"/>
            <a:tailEnd len="med" w="med" type="triangle"/>
          </a:ln>
        </p:spPr>
      </p:cxnSp>
      <p:cxnSp>
        <p:nvCxnSpPr>
          <p:cNvPr id="147" name="Google Shape;147;p20"/>
          <p:cNvCxnSpPr/>
          <p:nvPr/>
        </p:nvCxnSpPr>
        <p:spPr>
          <a:xfrm flipH="1">
            <a:off x="5259950" y="4038700"/>
            <a:ext cx="450000" cy="4557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1000"/>
                                        <p:tgtEl>
                                          <p:spTgt spid="145"/>
                                        </p:tgtEl>
                                      </p:cBhvr>
                                    </p:animEffect>
                                  </p:childTnLst>
                                </p:cTn>
                              </p:par>
                              <p:par>
                                <p:cTn fill="hold" nodeType="with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1000"/>
                                        <p:tgtEl>
                                          <p:spTgt spid="146"/>
                                        </p:tgtEl>
                                      </p:cBhvr>
                                    </p:animEffect>
                                  </p:childTnLst>
                                </p:cTn>
                              </p:par>
                              <p:par>
                                <p:cTn fill="hold" nodeType="with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1000"/>
                                        <p:tgtEl>
                                          <p:spTgt spid="1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1"/>
          <p:cNvSpPr txBox="1"/>
          <p:nvPr>
            <p:ph type="title"/>
          </p:nvPr>
        </p:nvSpPr>
        <p:spPr>
          <a:xfrm>
            <a:off x="553000" y="292400"/>
            <a:ext cx="8222100" cy="767700"/>
          </a:xfrm>
          <a:prstGeom prst="rect">
            <a:avLst/>
          </a:prstGeom>
        </p:spPr>
        <p:txBody>
          <a:bodyPr anchorCtr="0" anchor="b" bIns="91425" lIns="91425" spcFirstLastPara="1" rIns="91425" wrap="square" tIns="91425">
            <a:noAutofit/>
          </a:bodyPr>
          <a:lstStyle/>
          <a:p>
            <a:pPr indent="-431800" lvl="0" marL="457200" rtl="0" algn="l">
              <a:spcBef>
                <a:spcPts val="0"/>
              </a:spcBef>
              <a:spcAft>
                <a:spcPts val="0"/>
              </a:spcAft>
              <a:buSzPts val="3200"/>
              <a:buAutoNum type="arabicPeriod"/>
            </a:pPr>
            <a:r>
              <a:rPr lang="en"/>
              <a:t>Pass by What?</a:t>
            </a:r>
            <a:endParaRPr/>
          </a:p>
        </p:txBody>
      </p:sp>
      <p:pic>
        <p:nvPicPr>
          <p:cNvPr id="153" name="Google Shape;153;p21"/>
          <p:cNvPicPr preferRelativeResize="0"/>
          <p:nvPr/>
        </p:nvPicPr>
        <p:blipFill>
          <a:blip r:embed="rId3">
            <a:alphaModFix/>
          </a:blip>
          <a:stretch>
            <a:fillRect/>
          </a:stretch>
        </p:blipFill>
        <p:spPr>
          <a:xfrm>
            <a:off x="222500" y="1060100"/>
            <a:ext cx="6576694" cy="4017949"/>
          </a:xfrm>
          <a:prstGeom prst="rect">
            <a:avLst/>
          </a:prstGeom>
          <a:noFill/>
          <a:ln>
            <a:noFill/>
          </a:ln>
        </p:spPr>
      </p:pic>
      <p:sp>
        <p:nvSpPr>
          <p:cNvPr id="154" name="Google Shape;154;p21"/>
          <p:cNvSpPr/>
          <p:nvPr/>
        </p:nvSpPr>
        <p:spPr>
          <a:xfrm>
            <a:off x="553000" y="2761525"/>
            <a:ext cx="5915700" cy="1151700"/>
          </a:xfrm>
          <a:prstGeom prst="rect">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1"/>
          <p:cNvSpPr/>
          <p:nvPr/>
        </p:nvSpPr>
        <p:spPr>
          <a:xfrm>
            <a:off x="4554550" y="2990475"/>
            <a:ext cx="602100" cy="1572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1"/>
          <p:cNvSpPr txBox="1"/>
          <p:nvPr/>
        </p:nvSpPr>
        <p:spPr>
          <a:xfrm>
            <a:off x="7056125" y="2217500"/>
            <a:ext cx="18651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2"/>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431800" lvl="0" marL="457200" rtl="0" algn="l">
              <a:spcBef>
                <a:spcPts val="0"/>
              </a:spcBef>
              <a:spcAft>
                <a:spcPts val="0"/>
              </a:spcAft>
              <a:buSzPts val="3200"/>
              <a:buAutoNum type="arabicParenR"/>
            </a:pPr>
            <a:r>
              <a:rPr lang="en"/>
              <a:t>Pass by What?</a:t>
            </a:r>
            <a:endParaRPr/>
          </a:p>
        </p:txBody>
      </p:sp>
      <p:sp>
        <p:nvSpPr>
          <p:cNvPr id="162" name="Google Shape;162;p22"/>
          <p:cNvSpPr txBox="1"/>
          <p:nvPr>
            <p:ph idx="1" type="body"/>
          </p:nvPr>
        </p:nvSpPr>
        <p:spPr>
          <a:xfrm>
            <a:off x="471900" y="1745800"/>
            <a:ext cx="8222100" cy="2710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What would Java display?</a:t>
            </a:r>
            <a:endParaRPr/>
          </a:p>
          <a:p>
            <a:pPr indent="-317500" lvl="1" marL="914400" rtl="0" algn="l">
              <a:spcBef>
                <a:spcPts val="0"/>
              </a:spcBef>
              <a:spcAft>
                <a:spcPts val="0"/>
              </a:spcAft>
              <a:buSzPts val="1400"/>
              <a:buChar char="-"/>
            </a:pPr>
            <a:r>
              <a:rPr lang="en"/>
              <a:t>Name: Pikachu, Level: 100</a:t>
            </a:r>
            <a:endParaRPr/>
          </a:p>
          <a:p>
            <a:pPr indent="-342900" lvl="0" marL="457200" rtl="0" algn="l">
              <a:spcBef>
                <a:spcPts val="0"/>
              </a:spcBef>
              <a:spcAft>
                <a:spcPts val="0"/>
              </a:spcAft>
              <a:buSzPts val="1800"/>
              <a:buChar char="-"/>
            </a:pPr>
            <a:r>
              <a:rPr lang="en"/>
              <a:t>What does the Box and Pointer look like after Java evaluates the main method?</a:t>
            </a:r>
            <a:endParaRPr/>
          </a:p>
          <a:p>
            <a:pPr indent="-317500" lvl="1" marL="914400" rtl="0" algn="l">
              <a:lnSpc>
                <a:spcPct val="100000"/>
              </a:lnSpc>
              <a:spcBef>
                <a:spcPts val="0"/>
              </a:spcBef>
              <a:spcAft>
                <a:spcPts val="0"/>
              </a:spcAft>
              <a:buSzPts val="1400"/>
              <a:buChar char="-"/>
            </a:pPr>
            <a:r>
              <a:rPr lang="en" u="sng">
                <a:solidFill>
                  <a:schemeClr val="accent5"/>
                </a:solidFill>
                <a:hlinkClick r:id="rId3">
                  <a:extLst>
                    <a:ext uri="{A12FA001-AC4F-418D-AE19-62706E023703}">
                      <ahyp:hlinkClr val="tx"/>
                    </a:ext>
                  </a:extLst>
                </a:hlinkClick>
              </a:rPr>
              <a:t>Java Visualizer</a:t>
            </a:r>
            <a:endParaRPr/>
          </a:p>
          <a:p>
            <a:pPr indent="-342900" lvl="0" marL="457200" rtl="0" algn="l">
              <a:spcBef>
                <a:spcPts val="0"/>
              </a:spcBef>
              <a:spcAft>
                <a:spcPts val="0"/>
              </a:spcAft>
              <a:buClr>
                <a:srgbClr val="666666"/>
              </a:buClr>
              <a:buSzPts val="1800"/>
              <a:buChar char="-"/>
            </a:pPr>
            <a:r>
              <a:rPr lang="en">
                <a:solidFill>
                  <a:srgbClr val="666666"/>
                </a:solidFill>
              </a:rPr>
              <a:t>On line 19, we set level equal to 50. What level do we mean? An instance variable of the Pokemon class? The local variable containing the parameter to the change method? The local variable in the main method? Something else?</a:t>
            </a:r>
            <a:endParaRPr>
              <a:solidFill>
                <a:srgbClr val="666666"/>
              </a:solidFill>
            </a:endParaRPr>
          </a:p>
          <a:p>
            <a:pPr indent="-317500" lvl="1" marL="914400" rtl="0" algn="l">
              <a:spcBef>
                <a:spcPts val="0"/>
              </a:spcBef>
              <a:spcAft>
                <a:spcPts val="0"/>
              </a:spcAft>
              <a:buClr>
                <a:srgbClr val="666666"/>
              </a:buClr>
              <a:buSzPts val="1400"/>
              <a:buChar char="-"/>
            </a:pPr>
            <a:r>
              <a:rPr lang="en">
                <a:solidFill>
                  <a:srgbClr val="666666"/>
                </a:solidFill>
              </a:rPr>
              <a:t>It is the local variable in the change method and does not have any effect on the other variables of the same name in the Pokemon class or the main method.</a:t>
            </a:r>
            <a:endParaRPr>
              <a:solidFill>
                <a:srgbClr val="666666"/>
              </a:solidFill>
            </a:endParaRPr>
          </a:p>
          <a:p>
            <a:pPr indent="0" lvl="0" marL="457200" rtl="0" algn="l">
              <a:lnSpc>
                <a:spcPct val="100000"/>
              </a:lnSpc>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3"/>
          <p:cNvSpPr txBox="1"/>
          <p:nvPr>
            <p:ph type="title"/>
          </p:nvPr>
        </p:nvSpPr>
        <p:spPr>
          <a:xfrm>
            <a:off x="288675" y="175950"/>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2.) Static Methods and Variables</a:t>
            </a:r>
            <a:endParaRPr/>
          </a:p>
        </p:txBody>
      </p:sp>
      <p:sp>
        <p:nvSpPr>
          <p:cNvPr id="168" name="Google Shape;168;p23"/>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69" name="Google Shape;169;p23"/>
          <p:cNvPicPr preferRelativeResize="0"/>
          <p:nvPr/>
        </p:nvPicPr>
        <p:blipFill>
          <a:blip r:embed="rId3">
            <a:alphaModFix/>
          </a:blip>
          <a:stretch>
            <a:fillRect/>
          </a:stretch>
        </p:blipFill>
        <p:spPr>
          <a:xfrm>
            <a:off x="210125" y="1078550"/>
            <a:ext cx="7367698" cy="3821600"/>
          </a:xfrm>
          <a:prstGeom prst="rect">
            <a:avLst/>
          </a:prstGeom>
          <a:noFill/>
          <a:ln>
            <a:noFill/>
          </a:ln>
        </p:spPr>
      </p:pic>
      <p:pic>
        <p:nvPicPr>
          <p:cNvPr id="170" name="Google Shape;170;p23"/>
          <p:cNvPicPr preferRelativeResize="0"/>
          <p:nvPr/>
        </p:nvPicPr>
        <p:blipFill>
          <a:blip r:embed="rId4">
            <a:alphaModFix/>
          </a:blip>
          <a:stretch>
            <a:fillRect/>
          </a:stretch>
        </p:blipFill>
        <p:spPr>
          <a:xfrm>
            <a:off x="4261100" y="805725"/>
            <a:ext cx="4669799" cy="2063150"/>
          </a:xfrm>
          <a:prstGeom prst="rect">
            <a:avLst/>
          </a:prstGeom>
          <a:noFill/>
          <a:ln cap="flat" cmpd="sng" w="19050">
            <a:solidFill>
              <a:srgbClr val="FF0000"/>
            </a:solidFill>
            <a:prstDash val="solid"/>
            <a:round/>
            <a:headEnd len="sm" w="sm" type="none"/>
            <a:tailEnd len="sm" w="sm" type="none"/>
          </a:ln>
        </p:spPr>
      </p:pic>
      <p:sp>
        <p:nvSpPr>
          <p:cNvPr id="171" name="Google Shape;171;p23"/>
          <p:cNvSpPr txBox="1"/>
          <p:nvPr/>
        </p:nvSpPr>
        <p:spPr>
          <a:xfrm>
            <a:off x="5325925" y="3742700"/>
            <a:ext cx="2635800" cy="48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5"/>
              </a:rPr>
              <a:t>Java Visualizer</a:t>
            </a:r>
            <a:endParaRPr/>
          </a:p>
        </p:txBody>
      </p:sp>
      <p:sp>
        <p:nvSpPr>
          <p:cNvPr id="172" name="Google Shape;172;p23"/>
          <p:cNvSpPr txBox="1"/>
          <p:nvPr/>
        </p:nvSpPr>
        <p:spPr>
          <a:xfrm>
            <a:off x="5325925" y="4103850"/>
            <a:ext cx="1924200" cy="6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Detailed explanation is also on the discussion solution!</a:t>
            </a:r>
            <a:endParaRPr>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4"/>
          <p:cNvSpPr txBox="1"/>
          <p:nvPr>
            <p:ph type="title"/>
          </p:nvPr>
        </p:nvSpPr>
        <p:spPr>
          <a:xfrm>
            <a:off x="341025" y="215200"/>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3.) Practice with Linked Lists</a:t>
            </a:r>
            <a:endParaRPr/>
          </a:p>
        </p:txBody>
      </p:sp>
      <p:pic>
        <p:nvPicPr>
          <p:cNvPr id="178" name="Google Shape;178;p24"/>
          <p:cNvPicPr preferRelativeResize="0"/>
          <p:nvPr/>
        </p:nvPicPr>
        <p:blipFill>
          <a:blip r:embed="rId3">
            <a:alphaModFix/>
          </a:blip>
          <a:stretch>
            <a:fillRect/>
          </a:stretch>
        </p:blipFill>
        <p:spPr>
          <a:xfrm>
            <a:off x="341025" y="1177900"/>
            <a:ext cx="8336149" cy="3808300"/>
          </a:xfrm>
          <a:prstGeom prst="rect">
            <a:avLst/>
          </a:prstGeom>
          <a:noFill/>
          <a:ln>
            <a:noFill/>
          </a:ln>
        </p:spPr>
      </p:pic>
      <p:sp>
        <p:nvSpPr>
          <p:cNvPr id="179" name="Google Shape;179;p24"/>
          <p:cNvSpPr txBox="1"/>
          <p:nvPr/>
        </p:nvSpPr>
        <p:spPr>
          <a:xfrm>
            <a:off x="5079525" y="1601000"/>
            <a:ext cx="2699700" cy="52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4"/>
              </a:rPr>
              <a:t>Java Visualizer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4.) Extra: Squaring a List</a:t>
            </a:r>
            <a:endParaRPr/>
          </a:p>
        </p:txBody>
      </p:sp>
      <p:sp>
        <p:nvSpPr>
          <p:cNvPr id="185" name="Google Shape;185;p25"/>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
        <p:nvSpPr>
          <p:cNvPr id="186" name="Google Shape;186;p25"/>
          <p:cNvSpPr txBox="1"/>
          <p:nvPr/>
        </p:nvSpPr>
        <p:spPr>
          <a:xfrm>
            <a:off x="5485000" y="309800"/>
            <a:ext cx="3105300" cy="14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Components of recursion:</a:t>
            </a:r>
            <a:endParaRPr>
              <a:solidFill>
                <a:srgbClr val="FFFFFF"/>
              </a:solidFill>
            </a:endParaRPr>
          </a:p>
          <a:p>
            <a:pPr indent="-317500" lvl="0" marL="457200" rtl="0" algn="l">
              <a:spcBef>
                <a:spcPts val="0"/>
              </a:spcBef>
              <a:spcAft>
                <a:spcPts val="0"/>
              </a:spcAft>
              <a:buClr>
                <a:srgbClr val="FFFFFF"/>
              </a:buClr>
              <a:buSzPts val="1400"/>
              <a:buAutoNum type="arabicPeriod"/>
            </a:pPr>
            <a:r>
              <a:rPr lang="en">
                <a:solidFill>
                  <a:srgbClr val="FFFFFF"/>
                </a:solidFill>
              </a:rPr>
              <a:t>Base case</a:t>
            </a:r>
            <a:endParaRPr>
              <a:solidFill>
                <a:srgbClr val="FFFFFF"/>
              </a:solidFill>
            </a:endParaRPr>
          </a:p>
          <a:p>
            <a:pPr indent="-317500" lvl="0" marL="457200" rtl="0" algn="l">
              <a:spcBef>
                <a:spcPts val="0"/>
              </a:spcBef>
              <a:spcAft>
                <a:spcPts val="0"/>
              </a:spcAft>
              <a:buClr>
                <a:srgbClr val="FFFFFF"/>
              </a:buClr>
              <a:buSzPts val="1400"/>
              <a:buAutoNum type="arabicPeriod"/>
            </a:pPr>
            <a:r>
              <a:rPr lang="en">
                <a:solidFill>
                  <a:srgbClr val="FFFFFF"/>
                </a:solidFill>
              </a:rPr>
              <a:t>Recursive call</a:t>
            </a:r>
            <a:endParaRPr>
              <a:solidFill>
                <a:srgbClr val="FFFFFF"/>
              </a:solidFill>
            </a:endParaRPr>
          </a:p>
          <a:p>
            <a:pPr indent="-317500" lvl="0" marL="457200" rtl="0" algn="l">
              <a:spcBef>
                <a:spcPts val="0"/>
              </a:spcBef>
              <a:spcAft>
                <a:spcPts val="0"/>
              </a:spcAft>
              <a:buClr>
                <a:srgbClr val="FFFFFF"/>
              </a:buClr>
              <a:buSzPts val="1400"/>
              <a:buAutoNum type="arabicPeriod"/>
            </a:pPr>
            <a:r>
              <a:rPr lang="en">
                <a:solidFill>
                  <a:srgbClr val="FFFFFF"/>
                </a:solidFill>
              </a:rPr>
              <a:t>Assuming the recursive call works, how can we use it?</a:t>
            </a:r>
            <a:endParaRPr>
              <a:solidFill>
                <a:srgbClr val="FFFFFF"/>
              </a:solidFill>
            </a:endParaRPr>
          </a:p>
        </p:txBody>
      </p:sp>
      <p:pic>
        <p:nvPicPr>
          <p:cNvPr id="187" name="Google Shape;187;p25"/>
          <p:cNvPicPr preferRelativeResize="0"/>
          <p:nvPr/>
        </p:nvPicPr>
        <p:blipFill>
          <a:blip r:embed="rId3">
            <a:alphaModFix/>
          </a:blip>
          <a:stretch>
            <a:fillRect/>
          </a:stretch>
        </p:blipFill>
        <p:spPr>
          <a:xfrm>
            <a:off x="471900" y="2008875"/>
            <a:ext cx="7010400" cy="571500"/>
          </a:xfrm>
          <a:prstGeom prst="rect">
            <a:avLst/>
          </a:prstGeom>
          <a:noFill/>
          <a:ln>
            <a:noFill/>
          </a:ln>
        </p:spPr>
      </p:pic>
      <p:pic>
        <p:nvPicPr>
          <p:cNvPr id="188" name="Google Shape;188;p25"/>
          <p:cNvPicPr preferRelativeResize="0"/>
          <p:nvPr/>
        </p:nvPicPr>
        <p:blipFill>
          <a:blip r:embed="rId4">
            <a:alphaModFix/>
          </a:blip>
          <a:stretch>
            <a:fillRect/>
          </a:stretch>
        </p:blipFill>
        <p:spPr>
          <a:xfrm>
            <a:off x="471900" y="3389075"/>
            <a:ext cx="7279012" cy="571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6"/>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4.) Extra: Squaring a List</a:t>
            </a:r>
            <a:endParaRPr/>
          </a:p>
        </p:txBody>
      </p:sp>
      <p:sp>
        <p:nvSpPr>
          <p:cNvPr id="194" name="Google Shape;194;p26"/>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
        <p:nvSpPr>
          <p:cNvPr id="195" name="Google Shape;195;p26"/>
          <p:cNvSpPr txBox="1"/>
          <p:nvPr/>
        </p:nvSpPr>
        <p:spPr>
          <a:xfrm>
            <a:off x="5485000" y="309800"/>
            <a:ext cx="3105300" cy="14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a:solidFill>
                  <a:schemeClr val="lt1"/>
                </a:solidFill>
              </a:rPr>
              <a:t>Components of recursion:</a:t>
            </a:r>
            <a:endParaRPr>
              <a:solidFill>
                <a:schemeClr val="lt1"/>
              </a:solidFill>
            </a:endParaRPr>
          </a:p>
          <a:p>
            <a:pPr indent="-317500" lvl="0" marL="457200" rtl="0" algn="l">
              <a:spcBef>
                <a:spcPts val="0"/>
              </a:spcBef>
              <a:spcAft>
                <a:spcPts val="0"/>
              </a:spcAft>
              <a:buClr>
                <a:schemeClr val="lt1"/>
              </a:buClr>
              <a:buSzPts val="1400"/>
              <a:buAutoNum type="arabicPeriod"/>
            </a:pPr>
            <a:r>
              <a:rPr lang="en">
                <a:solidFill>
                  <a:schemeClr val="lt1"/>
                </a:solidFill>
              </a:rPr>
              <a:t>Base case</a:t>
            </a:r>
            <a:endParaRPr>
              <a:solidFill>
                <a:schemeClr val="lt1"/>
              </a:solidFill>
            </a:endParaRPr>
          </a:p>
          <a:p>
            <a:pPr indent="-317500" lvl="0" marL="457200" rtl="0" algn="l">
              <a:spcBef>
                <a:spcPts val="0"/>
              </a:spcBef>
              <a:spcAft>
                <a:spcPts val="0"/>
              </a:spcAft>
              <a:buClr>
                <a:schemeClr val="lt1"/>
              </a:buClr>
              <a:buSzPts val="1400"/>
              <a:buAutoNum type="arabicPeriod"/>
            </a:pPr>
            <a:r>
              <a:rPr lang="en">
                <a:solidFill>
                  <a:schemeClr val="lt1"/>
                </a:solidFill>
              </a:rPr>
              <a:t>Recursive call</a:t>
            </a:r>
            <a:endParaRPr>
              <a:solidFill>
                <a:schemeClr val="lt1"/>
              </a:solidFill>
            </a:endParaRPr>
          </a:p>
          <a:p>
            <a:pPr indent="-317500" lvl="0" marL="457200" rtl="0" algn="l">
              <a:spcBef>
                <a:spcPts val="0"/>
              </a:spcBef>
              <a:spcAft>
                <a:spcPts val="0"/>
              </a:spcAft>
              <a:buClr>
                <a:schemeClr val="lt1"/>
              </a:buClr>
              <a:buSzPts val="1400"/>
              <a:buAutoNum type="arabicPeriod"/>
            </a:pPr>
            <a:r>
              <a:rPr lang="en">
                <a:solidFill>
                  <a:schemeClr val="lt1"/>
                </a:solidFill>
              </a:rPr>
              <a:t>Assuming the recursive call works, how can we use it?</a:t>
            </a:r>
            <a:endParaRPr>
              <a:solidFill>
                <a:srgbClr val="FFFFFF"/>
              </a:solidFill>
            </a:endParaRPr>
          </a:p>
        </p:txBody>
      </p:sp>
      <p:pic>
        <p:nvPicPr>
          <p:cNvPr id="196" name="Google Shape;196;p26"/>
          <p:cNvPicPr preferRelativeResize="0"/>
          <p:nvPr/>
        </p:nvPicPr>
        <p:blipFill>
          <a:blip r:embed="rId3">
            <a:alphaModFix/>
          </a:blip>
          <a:stretch>
            <a:fillRect/>
          </a:stretch>
        </p:blipFill>
        <p:spPr>
          <a:xfrm>
            <a:off x="578625" y="1919075"/>
            <a:ext cx="5603176" cy="25631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7"/>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4.) Extra: Squaring a List</a:t>
            </a:r>
            <a:endParaRPr/>
          </a:p>
        </p:txBody>
      </p:sp>
      <p:sp>
        <p:nvSpPr>
          <p:cNvPr id="202" name="Google Shape;202;p27"/>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
        <p:nvSpPr>
          <p:cNvPr id="203" name="Google Shape;203;p27"/>
          <p:cNvSpPr txBox="1"/>
          <p:nvPr/>
        </p:nvSpPr>
        <p:spPr>
          <a:xfrm>
            <a:off x="5485000" y="309800"/>
            <a:ext cx="3105300" cy="14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a:solidFill>
                  <a:schemeClr val="lt1"/>
                </a:solidFill>
              </a:rPr>
              <a:t>Components of recursion:</a:t>
            </a:r>
            <a:endParaRPr>
              <a:solidFill>
                <a:schemeClr val="lt1"/>
              </a:solidFill>
            </a:endParaRPr>
          </a:p>
          <a:p>
            <a:pPr indent="-317500" lvl="0" marL="457200" rtl="0" algn="l">
              <a:spcBef>
                <a:spcPts val="0"/>
              </a:spcBef>
              <a:spcAft>
                <a:spcPts val="0"/>
              </a:spcAft>
              <a:buClr>
                <a:schemeClr val="lt1"/>
              </a:buClr>
              <a:buSzPts val="1400"/>
              <a:buAutoNum type="arabicPeriod"/>
            </a:pPr>
            <a:r>
              <a:rPr lang="en">
                <a:solidFill>
                  <a:schemeClr val="lt1"/>
                </a:solidFill>
              </a:rPr>
              <a:t>Base case</a:t>
            </a:r>
            <a:endParaRPr>
              <a:solidFill>
                <a:schemeClr val="lt1"/>
              </a:solidFill>
            </a:endParaRPr>
          </a:p>
          <a:p>
            <a:pPr indent="-317500" lvl="0" marL="457200" rtl="0" algn="l">
              <a:spcBef>
                <a:spcPts val="0"/>
              </a:spcBef>
              <a:spcAft>
                <a:spcPts val="0"/>
              </a:spcAft>
              <a:buClr>
                <a:schemeClr val="lt1"/>
              </a:buClr>
              <a:buSzPts val="1400"/>
              <a:buAutoNum type="arabicPeriod"/>
            </a:pPr>
            <a:r>
              <a:rPr lang="en">
                <a:solidFill>
                  <a:schemeClr val="lt1"/>
                </a:solidFill>
              </a:rPr>
              <a:t>Recursive call</a:t>
            </a:r>
            <a:endParaRPr>
              <a:solidFill>
                <a:schemeClr val="lt1"/>
              </a:solidFill>
            </a:endParaRPr>
          </a:p>
          <a:p>
            <a:pPr indent="-317500" lvl="0" marL="457200" rtl="0" algn="l">
              <a:spcBef>
                <a:spcPts val="0"/>
              </a:spcBef>
              <a:spcAft>
                <a:spcPts val="0"/>
              </a:spcAft>
              <a:buClr>
                <a:schemeClr val="lt1"/>
              </a:buClr>
              <a:buSzPts val="1400"/>
              <a:buAutoNum type="arabicPeriod"/>
            </a:pPr>
            <a:r>
              <a:rPr lang="en">
                <a:solidFill>
                  <a:schemeClr val="lt1"/>
                </a:solidFill>
              </a:rPr>
              <a:t>Assuming the recursive call works, how can we use it?</a:t>
            </a:r>
            <a:endParaRPr>
              <a:solidFill>
                <a:srgbClr val="FFFFFF"/>
              </a:solidFill>
            </a:endParaRPr>
          </a:p>
        </p:txBody>
      </p:sp>
      <p:pic>
        <p:nvPicPr>
          <p:cNvPr id="204" name="Google Shape;204;p27"/>
          <p:cNvPicPr preferRelativeResize="0"/>
          <p:nvPr/>
        </p:nvPicPr>
        <p:blipFill>
          <a:blip r:embed="rId3">
            <a:alphaModFix/>
          </a:blip>
          <a:stretch>
            <a:fillRect/>
          </a:stretch>
        </p:blipFill>
        <p:spPr>
          <a:xfrm>
            <a:off x="471900" y="1919075"/>
            <a:ext cx="5467400" cy="24766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