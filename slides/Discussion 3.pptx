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Lst>
  <p:sldSz cy="5143500" cx="9144000"/>
  <p:notesSz cx="6858000" cy="9144000"/>
  <p:embeddedFontLst>
    <p:embeddedFont>
      <p:font typeface="Raleway"/>
      <p:regular r:id="rId34"/>
      <p:bold r:id="rId35"/>
      <p:italic r:id="rId36"/>
      <p:boldItalic r:id="rId37"/>
    </p:embeddedFont>
    <p:embeddedFont>
      <p:font typeface="Lato"/>
      <p:regular r:id="rId38"/>
      <p:bold r:id="rId39"/>
      <p:italic r:id="rId40"/>
      <p:boldItalic r:id="rId41"/>
    </p:embeddedFont>
    <p:embeddedFont>
      <p:font typeface="Ubuntu Mono"/>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Lato-italic.fntdata"/><Relationship Id="rId20" Type="http://schemas.openxmlformats.org/officeDocument/2006/relationships/slide" Target="slides/slide16.xml"/><Relationship Id="rId42" Type="http://schemas.openxmlformats.org/officeDocument/2006/relationships/font" Target="fonts/UbuntuMono-regular.fntdata"/><Relationship Id="rId41" Type="http://schemas.openxmlformats.org/officeDocument/2006/relationships/font" Target="fonts/Lato-boldItalic.fntdata"/><Relationship Id="rId22" Type="http://schemas.openxmlformats.org/officeDocument/2006/relationships/slide" Target="slides/slide18.xml"/><Relationship Id="rId44" Type="http://schemas.openxmlformats.org/officeDocument/2006/relationships/font" Target="fonts/UbuntuMono-italic.fntdata"/><Relationship Id="rId21" Type="http://schemas.openxmlformats.org/officeDocument/2006/relationships/slide" Target="slides/slide17.xml"/><Relationship Id="rId43" Type="http://schemas.openxmlformats.org/officeDocument/2006/relationships/font" Target="fonts/UbuntuMono-bold.fntdata"/><Relationship Id="rId24" Type="http://schemas.openxmlformats.org/officeDocument/2006/relationships/slide" Target="slides/slide20.xml"/><Relationship Id="rId23" Type="http://schemas.openxmlformats.org/officeDocument/2006/relationships/slide" Target="slides/slide19.xml"/><Relationship Id="rId45" Type="http://schemas.openxmlformats.org/officeDocument/2006/relationships/font" Target="fonts/UbuntuMono-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font" Target="fonts/Raleway-bold.fntdata"/><Relationship Id="rId12" Type="http://schemas.openxmlformats.org/officeDocument/2006/relationships/slide" Target="slides/slide8.xml"/><Relationship Id="rId34" Type="http://schemas.openxmlformats.org/officeDocument/2006/relationships/font" Target="fonts/Raleway-regular.fntdata"/><Relationship Id="rId15" Type="http://schemas.openxmlformats.org/officeDocument/2006/relationships/slide" Target="slides/slide11.xml"/><Relationship Id="rId37" Type="http://schemas.openxmlformats.org/officeDocument/2006/relationships/font" Target="fonts/Raleway-boldItalic.fntdata"/><Relationship Id="rId14" Type="http://schemas.openxmlformats.org/officeDocument/2006/relationships/slide" Target="slides/slide10.xml"/><Relationship Id="rId36" Type="http://schemas.openxmlformats.org/officeDocument/2006/relationships/font" Target="fonts/Raleway-italic.fntdata"/><Relationship Id="rId17" Type="http://schemas.openxmlformats.org/officeDocument/2006/relationships/slide" Target="slides/slide13.xml"/><Relationship Id="rId39" Type="http://schemas.openxmlformats.org/officeDocument/2006/relationships/font" Target="fonts/Lato-bold.fntdata"/><Relationship Id="rId16" Type="http://schemas.openxmlformats.org/officeDocument/2006/relationships/slide" Target="slides/slide12.xml"/><Relationship Id="rId38" Type="http://schemas.openxmlformats.org/officeDocument/2006/relationships/font" Target="fonts/Lato-regular.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f40cf5164_0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2f40cf5164_0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f40cf5164_0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f40cf5164_0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f40cf5164_0_3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f40cf5164_0_3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f40cf5164_0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2f40cf5164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f40cf5164_0_4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2f40cf5164_0_4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2f40cf5164_0_7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2f40cf5164_0_7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Having the extra arrows does increase the amount of memory you use.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2f40cf5164_0_5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2f40cf5164_0_5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Having the extra arrows does increase the amount of memory you use.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2f40cf5164_0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2f40cf5164_0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Having the extra arrows does increase the amount of memory you use.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2f40cf5164_0_6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2f40cf5164_0_6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Having the extra arrows does increase the amount of memory you use.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2f40cf5164_0_6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2f40cf5164_0_6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Having the extra arrows does increase the amount of memory you use.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2f40cf5164_0_6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2f40cf5164_0_6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Having the extra arrows does increase the amount of memory you use.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2f40cf5164_0_6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2f40cf5164_0_6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Having the extra arrows does increase the amount of memory you use.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2f40cf5164_0_6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2f40cf5164_0_6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Having the extra arrows does increase the amount of memory you use.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2f40cf5164_0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2f40cf5164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2f40cf5164_0_7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2f40cf5164_0_7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4e9c376542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4e9c376542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2f40cf5164_0_7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2f40cf5164_0_7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4e9c376542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4e9c376542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2f40cf5164_0_8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2f40cf5164_0_8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4e9c376542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4e9c376542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2f40cf5164_0_7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2f40cf5164_0_7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4e9c376542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4e9c376542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4e9c376542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4e9c376542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4e9c376542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4e9c376542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4e9c376542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4e9c376542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4e9c376542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4e9c376542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2f40cf5164_0_8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2f40cf5164_0_8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4e9c376542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4e9c376542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4200"/>
              <a:buNone/>
              <a:defRPr sz="4200">
                <a:solidFill>
                  <a:schemeClr val="dk2"/>
                </a:solidFill>
              </a:defRPr>
            </a:lvl1pPr>
            <a:lvl2pPr lvl="1" rtl="0">
              <a:spcBef>
                <a:spcPts val="0"/>
              </a:spcBef>
              <a:spcAft>
                <a:spcPts val="0"/>
              </a:spcAft>
              <a:buClr>
                <a:schemeClr val="dk2"/>
              </a:buClr>
              <a:buSzPts val="4200"/>
              <a:buNone/>
              <a:defRPr sz="4200">
                <a:solidFill>
                  <a:schemeClr val="dk2"/>
                </a:solidFill>
              </a:defRPr>
            </a:lvl2pPr>
            <a:lvl3pPr lvl="2" rtl="0">
              <a:spcBef>
                <a:spcPts val="0"/>
              </a:spcBef>
              <a:spcAft>
                <a:spcPts val="0"/>
              </a:spcAft>
              <a:buClr>
                <a:schemeClr val="dk2"/>
              </a:buClr>
              <a:buSzPts val="4200"/>
              <a:buNone/>
              <a:defRPr sz="4200">
                <a:solidFill>
                  <a:schemeClr val="dk2"/>
                </a:solidFill>
              </a:defRPr>
            </a:lvl3pPr>
            <a:lvl4pPr lvl="3" rtl="0">
              <a:spcBef>
                <a:spcPts val="0"/>
              </a:spcBef>
              <a:spcAft>
                <a:spcPts val="0"/>
              </a:spcAft>
              <a:buClr>
                <a:schemeClr val="dk2"/>
              </a:buClr>
              <a:buSzPts val="4200"/>
              <a:buNone/>
              <a:defRPr sz="4200">
                <a:solidFill>
                  <a:schemeClr val="dk2"/>
                </a:solidFill>
              </a:defRPr>
            </a:lvl4pPr>
            <a:lvl5pPr lvl="4" rtl="0">
              <a:spcBef>
                <a:spcPts val="0"/>
              </a:spcBef>
              <a:spcAft>
                <a:spcPts val="0"/>
              </a:spcAft>
              <a:buClr>
                <a:schemeClr val="dk2"/>
              </a:buClr>
              <a:buSzPts val="4200"/>
              <a:buNone/>
              <a:defRPr sz="4200">
                <a:solidFill>
                  <a:schemeClr val="dk2"/>
                </a:solidFill>
              </a:defRPr>
            </a:lvl5pPr>
            <a:lvl6pPr lvl="5" rtl="0">
              <a:spcBef>
                <a:spcPts val="0"/>
              </a:spcBef>
              <a:spcAft>
                <a:spcPts val="0"/>
              </a:spcAft>
              <a:buClr>
                <a:schemeClr val="dk2"/>
              </a:buClr>
              <a:buSzPts val="4200"/>
              <a:buNone/>
              <a:defRPr sz="4200">
                <a:solidFill>
                  <a:schemeClr val="dk2"/>
                </a:solidFill>
              </a:defRPr>
            </a:lvl6pPr>
            <a:lvl7pPr lvl="6" rtl="0">
              <a:spcBef>
                <a:spcPts val="0"/>
              </a:spcBef>
              <a:spcAft>
                <a:spcPts val="0"/>
              </a:spcAft>
              <a:buClr>
                <a:schemeClr val="dk2"/>
              </a:buClr>
              <a:buSzPts val="4200"/>
              <a:buNone/>
              <a:defRPr sz="4200">
                <a:solidFill>
                  <a:schemeClr val="dk2"/>
                </a:solidFill>
              </a:defRPr>
            </a:lvl7pPr>
            <a:lvl8pPr lvl="7" rtl="0">
              <a:spcBef>
                <a:spcPts val="0"/>
              </a:spcBef>
              <a:spcAft>
                <a:spcPts val="0"/>
              </a:spcAft>
              <a:buClr>
                <a:schemeClr val="dk2"/>
              </a:buClr>
              <a:buSzPts val="4200"/>
              <a:buNone/>
              <a:defRPr sz="4200">
                <a:solidFill>
                  <a:schemeClr val="dk2"/>
                </a:solidFill>
              </a:defRPr>
            </a:lvl8pPr>
            <a:lvl9pPr lvl="8" rtl="0">
              <a:spcBef>
                <a:spcPts val="0"/>
              </a:spcBef>
              <a:spcAft>
                <a:spcPts val="0"/>
              </a:spcAft>
              <a:buClr>
                <a:schemeClr val="dk2"/>
              </a:buClr>
              <a:buSzPts val="4200"/>
              <a:buNone/>
              <a:defRPr sz="4200">
                <a:solidFill>
                  <a:schemeClr val="dk2"/>
                </a:solidFill>
              </a:defRPr>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8000"/>
              <a:buNone/>
              <a:defRPr sz="8000">
                <a:solidFill>
                  <a:schemeClr val="lt1"/>
                </a:solidFill>
              </a:defRPr>
            </a:lvl1pPr>
            <a:lvl2pPr lvl="1" rtl="0">
              <a:spcBef>
                <a:spcPts val="0"/>
              </a:spcBef>
              <a:spcAft>
                <a:spcPts val="0"/>
              </a:spcAft>
              <a:buClr>
                <a:schemeClr val="lt1"/>
              </a:buClr>
              <a:buSzPts val="8000"/>
              <a:buNone/>
              <a:defRPr sz="8000">
                <a:solidFill>
                  <a:schemeClr val="lt1"/>
                </a:solidFill>
              </a:defRPr>
            </a:lvl2pPr>
            <a:lvl3pPr lvl="2" rtl="0">
              <a:spcBef>
                <a:spcPts val="0"/>
              </a:spcBef>
              <a:spcAft>
                <a:spcPts val="0"/>
              </a:spcAft>
              <a:buClr>
                <a:schemeClr val="lt1"/>
              </a:buClr>
              <a:buSzPts val="8000"/>
              <a:buNone/>
              <a:defRPr sz="8000">
                <a:solidFill>
                  <a:schemeClr val="lt1"/>
                </a:solidFill>
              </a:defRPr>
            </a:lvl3pPr>
            <a:lvl4pPr lvl="3" rtl="0">
              <a:spcBef>
                <a:spcPts val="0"/>
              </a:spcBef>
              <a:spcAft>
                <a:spcPts val="0"/>
              </a:spcAft>
              <a:buClr>
                <a:schemeClr val="lt1"/>
              </a:buClr>
              <a:buSzPts val="8000"/>
              <a:buNone/>
              <a:defRPr sz="8000">
                <a:solidFill>
                  <a:schemeClr val="lt1"/>
                </a:solidFill>
              </a:defRPr>
            </a:lvl4pPr>
            <a:lvl5pPr lvl="4" rtl="0">
              <a:spcBef>
                <a:spcPts val="0"/>
              </a:spcBef>
              <a:spcAft>
                <a:spcPts val="0"/>
              </a:spcAft>
              <a:buClr>
                <a:schemeClr val="lt1"/>
              </a:buClr>
              <a:buSzPts val="8000"/>
              <a:buNone/>
              <a:defRPr sz="8000">
                <a:solidFill>
                  <a:schemeClr val="lt1"/>
                </a:solidFill>
              </a:defRPr>
            </a:lvl5pPr>
            <a:lvl6pPr lvl="5" rtl="0">
              <a:spcBef>
                <a:spcPts val="0"/>
              </a:spcBef>
              <a:spcAft>
                <a:spcPts val="0"/>
              </a:spcAft>
              <a:buClr>
                <a:schemeClr val="lt1"/>
              </a:buClr>
              <a:buSzPts val="8000"/>
              <a:buNone/>
              <a:defRPr sz="8000">
                <a:solidFill>
                  <a:schemeClr val="lt1"/>
                </a:solidFill>
              </a:defRPr>
            </a:lvl6pPr>
            <a:lvl7pPr lvl="6" rtl="0">
              <a:spcBef>
                <a:spcPts val="0"/>
              </a:spcBef>
              <a:spcAft>
                <a:spcPts val="0"/>
              </a:spcAft>
              <a:buClr>
                <a:schemeClr val="lt1"/>
              </a:buClr>
              <a:buSzPts val="8000"/>
              <a:buNone/>
              <a:defRPr sz="8000">
                <a:solidFill>
                  <a:schemeClr val="lt1"/>
                </a:solidFill>
              </a:defRPr>
            </a:lvl7pPr>
            <a:lvl8pPr lvl="7" rtl="0">
              <a:spcBef>
                <a:spcPts val="0"/>
              </a:spcBef>
              <a:spcAft>
                <a:spcPts val="0"/>
              </a:spcAft>
              <a:buClr>
                <a:schemeClr val="lt1"/>
              </a:buClr>
              <a:buSzPts val="8000"/>
              <a:buNone/>
              <a:defRPr sz="8000">
                <a:solidFill>
                  <a:schemeClr val="lt1"/>
                </a:solidFill>
              </a:defRPr>
            </a:lvl8pPr>
            <a:lvl9pPr lvl="8" rtl="0">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chemeClr val="lt1"/>
              </a:buClr>
              <a:buSzPts val="1300"/>
              <a:buChar char="●"/>
              <a:defRPr>
                <a:solidFill>
                  <a:schemeClr val="lt1"/>
                </a:solidFill>
              </a:defRPr>
            </a:lvl1pPr>
            <a:lvl2pPr indent="-298450" lvl="1" marL="914400" rtl="0">
              <a:spcBef>
                <a:spcPts val="1600"/>
              </a:spcBef>
              <a:spcAft>
                <a:spcPts val="0"/>
              </a:spcAft>
              <a:buClr>
                <a:schemeClr val="lt1"/>
              </a:buClr>
              <a:buSzPts val="1100"/>
              <a:buChar char="○"/>
              <a:defRPr>
                <a:solidFill>
                  <a:schemeClr val="lt1"/>
                </a:solidFill>
              </a:defRPr>
            </a:lvl2pPr>
            <a:lvl3pPr indent="-298450" lvl="2" marL="1371600" rtl="0">
              <a:spcBef>
                <a:spcPts val="1600"/>
              </a:spcBef>
              <a:spcAft>
                <a:spcPts val="0"/>
              </a:spcAft>
              <a:buClr>
                <a:schemeClr val="lt1"/>
              </a:buClr>
              <a:buSzPts val="1100"/>
              <a:buChar char="■"/>
              <a:defRPr>
                <a:solidFill>
                  <a:schemeClr val="lt1"/>
                </a:solidFill>
              </a:defRPr>
            </a:lvl3pPr>
            <a:lvl4pPr indent="-298450" lvl="3" marL="1828800" rtl="0">
              <a:spcBef>
                <a:spcPts val="1600"/>
              </a:spcBef>
              <a:spcAft>
                <a:spcPts val="0"/>
              </a:spcAft>
              <a:buClr>
                <a:schemeClr val="lt1"/>
              </a:buClr>
              <a:buSzPts val="1100"/>
              <a:buChar char="●"/>
              <a:defRPr>
                <a:solidFill>
                  <a:schemeClr val="lt1"/>
                </a:solidFill>
              </a:defRPr>
            </a:lvl4pPr>
            <a:lvl5pPr indent="-298450" lvl="4" marL="2286000" rtl="0">
              <a:spcBef>
                <a:spcPts val="1600"/>
              </a:spcBef>
              <a:spcAft>
                <a:spcPts val="0"/>
              </a:spcAft>
              <a:buClr>
                <a:schemeClr val="lt1"/>
              </a:buClr>
              <a:buSzPts val="1100"/>
              <a:buChar char="○"/>
              <a:defRPr>
                <a:solidFill>
                  <a:schemeClr val="lt1"/>
                </a:solidFill>
              </a:defRPr>
            </a:lvl5pPr>
            <a:lvl6pPr indent="-298450" lvl="5" marL="2743200" rtl="0">
              <a:spcBef>
                <a:spcPts val="1600"/>
              </a:spcBef>
              <a:spcAft>
                <a:spcPts val="0"/>
              </a:spcAft>
              <a:buClr>
                <a:schemeClr val="lt1"/>
              </a:buClr>
              <a:buSzPts val="1100"/>
              <a:buChar char="■"/>
              <a:defRPr>
                <a:solidFill>
                  <a:schemeClr val="lt1"/>
                </a:solidFill>
              </a:defRPr>
            </a:lvl6pPr>
            <a:lvl7pPr indent="-298450" lvl="6" marL="3200400" rtl="0">
              <a:spcBef>
                <a:spcPts val="1600"/>
              </a:spcBef>
              <a:spcAft>
                <a:spcPts val="0"/>
              </a:spcAft>
              <a:buClr>
                <a:schemeClr val="lt1"/>
              </a:buClr>
              <a:buSzPts val="1100"/>
              <a:buChar char="●"/>
              <a:defRPr>
                <a:solidFill>
                  <a:schemeClr val="lt1"/>
                </a:solidFill>
              </a:defRPr>
            </a:lvl7pPr>
            <a:lvl8pPr indent="-298450" lvl="7" marL="3657600" rtl="0">
              <a:spcBef>
                <a:spcPts val="1600"/>
              </a:spcBef>
              <a:spcAft>
                <a:spcPts val="0"/>
              </a:spcAft>
              <a:buClr>
                <a:schemeClr val="lt1"/>
              </a:buClr>
              <a:buSzPts val="1100"/>
              <a:buChar char="○"/>
              <a:defRPr>
                <a:solidFill>
                  <a:schemeClr val="lt1"/>
                </a:solidFill>
              </a:defRPr>
            </a:lvl8pPr>
            <a:lvl9pPr indent="-298450" lvl="8" marL="4114800" rtl="0">
              <a:spcBef>
                <a:spcPts val="1600"/>
              </a:spcBef>
              <a:spcAft>
                <a:spcPts val="160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SzPts val="2800"/>
              <a:buFont typeface="Raleway"/>
              <a:buNone/>
              <a:defRPr b="1" sz="2800">
                <a:latin typeface="Raleway"/>
                <a:ea typeface="Raleway"/>
                <a:cs typeface="Raleway"/>
                <a:sym typeface="Raleway"/>
              </a:defRPr>
            </a:lvl1pPr>
            <a:lvl2pPr lvl="1" rtl="0">
              <a:spcBef>
                <a:spcPts val="0"/>
              </a:spcBef>
              <a:spcAft>
                <a:spcPts val="0"/>
              </a:spcAft>
              <a:buSzPts val="2800"/>
              <a:buFont typeface="Raleway"/>
              <a:buNone/>
              <a:defRPr b="1" sz="2800">
                <a:latin typeface="Raleway"/>
                <a:ea typeface="Raleway"/>
                <a:cs typeface="Raleway"/>
                <a:sym typeface="Raleway"/>
              </a:defRPr>
            </a:lvl2pPr>
            <a:lvl3pPr lvl="2" rtl="0">
              <a:spcBef>
                <a:spcPts val="0"/>
              </a:spcBef>
              <a:spcAft>
                <a:spcPts val="0"/>
              </a:spcAft>
              <a:buSzPts val="2800"/>
              <a:buFont typeface="Raleway"/>
              <a:buNone/>
              <a:defRPr b="1" sz="2800">
                <a:latin typeface="Raleway"/>
                <a:ea typeface="Raleway"/>
                <a:cs typeface="Raleway"/>
                <a:sym typeface="Raleway"/>
              </a:defRPr>
            </a:lvl3pPr>
            <a:lvl4pPr lvl="3" rtl="0">
              <a:spcBef>
                <a:spcPts val="0"/>
              </a:spcBef>
              <a:spcAft>
                <a:spcPts val="0"/>
              </a:spcAft>
              <a:buSzPts val="2800"/>
              <a:buFont typeface="Raleway"/>
              <a:buNone/>
              <a:defRPr b="1" sz="2800">
                <a:latin typeface="Raleway"/>
                <a:ea typeface="Raleway"/>
                <a:cs typeface="Raleway"/>
                <a:sym typeface="Raleway"/>
              </a:defRPr>
            </a:lvl4pPr>
            <a:lvl5pPr lvl="4" rtl="0">
              <a:spcBef>
                <a:spcPts val="0"/>
              </a:spcBef>
              <a:spcAft>
                <a:spcPts val="0"/>
              </a:spcAft>
              <a:buSzPts val="2800"/>
              <a:buFont typeface="Raleway"/>
              <a:buNone/>
              <a:defRPr b="1" sz="2800">
                <a:latin typeface="Raleway"/>
                <a:ea typeface="Raleway"/>
                <a:cs typeface="Raleway"/>
                <a:sym typeface="Raleway"/>
              </a:defRPr>
            </a:lvl5pPr>
            <a:lvl6pPr lvl="5" rtl="0">
              <a:spcBef>
                <a:spcPts val="0"/>
              </a:spcBef>
              <a:spcAft>
                <a:spcPts val="0"/>
              </a:spcAft>
              <a:buSzPts val="2800"/>
              <a:buFont typeface="Raleway"/>
              <a:buNone/>
              <a:defRPr b="1" sz="2800">
                <a:latin typeface="Raleway"/>
                <a:ea typeface="Raleway"/>
                <a:cs typeface="Raleway"/>
                <a:sym typeface="Raleway"/>
              </a:defRPr>
            </a:lvl6pPr>
            <a:lvl7pPr lvl="6" rtl="0">
              <a:spcBef>
                <a:spcPts val="0"/>
              </a:spcBef>
              <a:spcAft>
                <a:spcPts val="0"/>
              </a:spcAft>
              <a:buSzPts val="2800"/>
              <a:buFont typeface="Raleway"/>
              <a:buNone/>
              <a:defRPr b="1" sz="2800">
                <a:latin typeface="Raleway"/>
                <a:ea typeface="Raleway"/>
                <a:cs typeface="Raleway"/>
                <a:sym typeface="Raleway"/>
              </a:defRPr>
            </a:lvl7pPr>
            <a:lvl8pPr lvl="7" rtl="0">
              <a:spcBef>
                <a:spcPts val="0"/>
              </a:spcBef>
              <a:spcAft>
                <a:spcPts val="0"/>
              </a:spcAft>
              <a:buSzPts val="2800"/>
              <a:buFont typeface="Raleway"/>
              <a:buNone/>
              <a:defRPr b="1" sz="2800">
                <a:latin typeface="Raleway"/>
                <a:ea typeface="Raleway"/>
                <a:cs typeface="Raleway"/>
                <a:sym typeface="Raleway"/>
              </a:defRPr>
            </a:lvl8pPr>
            <a:lvl9pPr lvl="8" rtl="0">
              <a:spcBef>
                <a:spcPts val="0"/>
              </a:spcBef>
              <a:spcAft>
                <a:spcPts val="0"/>
              </a:spcAft>
              <a:buSzPts val="2800"/>
              <a:buFont typeface="Raleway"/>
              <a:buNone/>
              <a:defRPr b="1" sz="2800">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rtl="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rtl="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accent1"/>
                </a:solidFill>
                <a:latin typeface="Lato"/>
                <a:ea typeface="Lato"/>
                <a:cs typeface="Lato"/>
                <a:sym typeface="Lato"/>
              </a:defRPr>
            </a:lvl1pPr>
            <a:lvl2pPr lvl="1" rtl="0" algn="r">
              <a:buNone/>
              <a:defRPr sz="1000">
                <a:solidFill>
                  <a:schemeClr val="accent1"/>
                </a:solidFill>
                <a:latin typeface="Lato"/>
                <a:ea typeface="Lato"/>
                <a:cs typeface="Lato"/>
                <a:sym typeface="Lato"/>
              </a:defRPr>
            </a:lvl2pPr>
            <a:lvl3pPr lvl="2" rtl="0" algn="r">
              <a:buNone/>
              <a:defRPr sz="1000">
                <a:solidFill>
                  <a:schemeClr val="accent1"/>
                </a:solidFill>
                <a:latin typeface="Lato"/>
                <a:ea typeface="Lato"/>
                <a:cs typeface="Lato"/>
                <a:sym typeface="Lato"/>
              </a:defRPr>
            </a:lvl3pPr>
            <a:lvl4pPr lvl="3" rtl="0" algn="r">
              <a:buNone/>
              <a:defRPr sz="1000">
                <a:solidFill>
                  <a:schemeClr val="accent1"/>
                </a:solidFill>
                <a:latin typeface="Lato"/>
                <a:ea typeface="Lato"/>
                <a:cs typeface="Lato"/>
                <a:sym typeface="Lato"/>
              </a:defRPr>
            </a:lvl4pPr>
            <a:lvl5pPr lvl="4" rtl="0" algn="r">
              <a:buNone/>
              <a:defRPr sz="1000">
                <a:solidFill>
                  <a:schemeClr val="accent1"/>
                </a:solidFill>
                <a:latin typeface="Lato"/>
                <a:ea typeface="Lato"/>
                <a:cs typeface="Lato"/>
                <a:sym typeface="Lato"/>
              </a:defRPr>
            </a:lvl5pPr>
            <a:lvl6pPr lvl="5" rtl="0" algn="r">
              <a:buNone/>
              <a:defRPr sz="1000">
                <a:solidFill>
                  <a:schemeClr val="accent1"/>
                </a:solidFill>
                <a:latin typeface="Lato"/>
                <a:ea typeface="Lato"/>
                <a:cs typeface="Lato"/>
                <a:sym typeface="Lato"/>
              </a:defRPr>
            </a:lvl6pPr>
            <a:lvl7pPr lvl="6" rtl="0" algn="r">
              <a:buNone/>
              <a:defRPr sz="1000">
                <a:solidFill>
                  <a:schemeClr val="accent1"/>
                </a:solidFill>
                <a:latin typeface="Lato"/>
                <a:ea typeface="Lato"/>
                <a:cs typeface="Lato"/>
                <a:sym typeface="Lato"/>
              </a:defRPr>
            </a:lvl7pPr>
            <a:lvl8pPr lvl="7" rtl="0" algn="r">
              <a:buNone/>
              <a:defRPr sz="1000">
                <a:solidFill>
                  <a:schemeClr val="accent1"/>
                </a:solidFill>
                <a:latin typeface="Lato"/>
                <a:ea typeface="Lato"/>
                <a:cs typeface="Lato"/>
                <a:sym typeface="Lato"/>
              </a:defRPr>
            </a:lvl8pPr>
            <a:lvl9pPr lvl="8" rtl="0"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registration.datastructur.es/auth/login?next=https%3A%2F%2Fregistration.datastructur.es%2F" TargetMode="External"/><Relationship Id="rId4" Type="http://schemas.openxmlformats.org/officeDocument/2006/relationships/hyperlink" Target="https://registration.datastructur.es/auth/login?next=https%3A%2F%2Fregistration.datastructur.es%2Fextensions%2F" TargetMode="External"/><Relationship Id="rId5" Type="http://schemas.openxmlformats.org/officeDocument/2006/relationships/hyperlink" Target="https://piazza.com/class/jqr7hfmf4v74e?cid=574"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0.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1.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4.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5.png"/><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6.png"/><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8.png"/><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4.pn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6300" cy="90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Discussion 3: </a:t>
            </a:r>
            <a:r>
              <a:rPr lang="en" sz="3000"/>
              <a:t>Linked Lists, Arrays</a:t>
            </a:r>
            <a:endParaRPr sz="3000"/>
          </a:p>
        </p:txBody>
      </p:sp>
      <p:pic>
        <p:nvPicPr>
          <p:cNvPr descr="Image result for linked list memes" id="87" name="Google Shape;87;p13"/>
          <p:cNvPicPr preferRelativeResize="0"/>
          <p:nvPr/>
        </p:nvPicPr>
        <p:blipFill>
          <a:blip r:embed="rId3">
            <a:alphaModFix/>
          </a:blip>
          <a:stretch>
            <a:fillRect/>
          </a:stretch>
        </p:blipFill>
        <p:spPr>
          <a:xfrm>
            <a:off x="3123650" y="2405273"/>
            <a:ext cx="3075775" cy="20418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Administrivia</a:t>
            </a:r>
            <a:endParaRPr/>
          </a:p>
        </p:txBody>
      </p:sp>
      <p:sp>
        <p:nvSpPr>
          <p:cNvPr id="93" name="Google Shape;93;p14"/>
          <p:cNvSpPr txBox="1"/>
          <p:nvPr>
            <p:ph idx="1" type="body"/>
          </p:nvPr>
        </p:nvSpPr>
        <p:spPr>
          <a:xfrm>
            <a:off x="634125" y="1853850"/>
            <a:ext cx="8161500" cy="27471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AutoNum type="arabicPeriod"/>
            </a:pPr>
            <a:r>
              <a:rPr lang="en" sz="1200"/>
              <a:t>Project 1A due 2/8 at 11:59!</a:t>
            </a:r>
            <a:endParaRPr sz="1200"/>
          </a:p>
          <a:p>
            <a:pPr indent="-304800" lvl="1" marL="914400" rtl="0" algn="l">
              <a:spcBef>
                <a:spcPts val="0"/>
              </a:spcBef>
              <a:spcAft>
                <a:spcPts val="0"/>
              </a:spcAft>
              <a:buSzPts val="1200"/>
              <a:buAutoNum type="alphaLcPeriod"/>
            </a:pPr>
            <a:r>
              <a:rPr lang="en" sz="1200"/>
              <a:t>You will be implementing a deque interface</a:t>
            </a:r>
            <a:endParaRPr sz="1200"/>
          </a:p>
          <a:p>
            <a:pPr indent="-304800" lvl="1" marL="914400" rtl="0" algn="l">
              <a:spcBef>
                <a:spcPts val="0"/>
              </a:spcBef>
              <a:spcAft>
                <a:spcPts val="0"/>
              </a:spcAft>
              <a:buSzPts val="1200"/>
              <a:buAutoNum type="alphaLcPeriod"/>
            </a:pPr>
            <a:r>
              <a:rPr lang="en" sz="1200"/>
              <a:t>Most common piece of advice from TA’s and past students: START THE PROJECTS EARLY!! So pls start :)</a:t>
            </a:r>
            <a:endParaRPr sz="1200"/>
          </a:p>
          <a:p>
            <a:pPr indent="-304800" lvl="1" marL="914400" rtl="0" algn="l">
              <a:spcBef>
                <a:spcPts val="0"/>
              </a:spcBef>
              <a:spcAft>
                <a:spcPts val="0"/>
              </a:spcAft>
              <a:buSzPts val="1200"/>
              <a:buAutoNum type="alphaLcPeriod"/>
            </a:pPr>
            <a:r>
              <a:rPr lang="en" sz="1200"/>
              <a:t>Highly recommend to use Java Visualizer</a:t>
            </a:r>
            <a:endParaRPr sz="1200"/>
          </a:p>
          <a:p>
            <a:pPr indent="-304800" lvl="0" marL="457200" marR="0" rtl="0" algn="l">
              <a:lnSpc>
                <a:spcPct val="115000"/>
              </a:lnSpc>
              <a:spcBef>
                <a:spcPts val="0"/>
              </a:spcBef>
              <a:spcAft>
                <a:spcPts val="0"/>
              </a:spcAft>
              <a:buClr>
                <a:schemeClr val="accent1"/>
              </a:buClr>
              <a:buSzPts val="1200"/>
              <a:buFont typeface="Lato"/>
              <a:buAutoNum type="arabicPeriod"/>
            </a:pPr>
            <a:r>
              <a:rPr lang="en" sz="1200"/>
              <a:t>Pre-semester advising available @414</a:t>
            </a:r>
            <a:endParaRPr sz="1200"/>
          </a:p>
          <a:p>
            <a:pPr indent="-304800" lvl="0" marL="457200" marR="0" rtl="0" algn="l">
              <a:lnSpc>
                <a:spcPct val="115000"/>
              </a:lnSpc>
              <a:spcBef>
                <a:spcPts val="0"/>
              </a:spcBef>
              <a:spcAft>
                <a:spcPts val="0"/>
              </a:spcAft>
              <a:buSzPts val="1200"/>
              <a:buAutoNum type="arabicPeriod"/>
            </a:pPr>
            <a:r>
              <a:rPr lang="en" sz="1200"/>
              <a:t>Choose your mentor GSI </a:t>
            </a:r>
            <a:r>
              <a:rPr lang="en" sz="1200" u="sng">
                <a:solidFill>
                  <a:schemeClr val="hlink"/>
                </a:solidFill>
                <a:hlinkClick r:id="rId3"/>
              </a:rPr>
              <a:t>here</a:t>
            </a:r>
            <a:endParaRPr sz="1200"/>
          </a:p>
          <a:p>
            <a:pPr indent="-304800" lvl="0" marL="457200" marR="0" rtl="0" algn="l">
              <a:lnSpc>
                <a:spcPct val="115000"/>
              </a:lnSpc>
              <a:spcBef>
                <a:spcPts val="0"/>
              </a:spcBef>
              <a:spcAft>
                <a:spcPts val="0"/>
              </a:spcAft>
              <a:buSzPts val="1200"/>
              <a:buAutoNum type="arabicPeriod"/>
            </a:pPr>
            <a:r>
              <a:rPr lang="en" sz="1200"/>
              <a:t>Automated extension system available </a:t>
            </a:r>
            <a:r>
              <a:rPr lang="en" sz="1200" u="sng">
                <a:solidFill>
                  <a:schemeClr val="hlink"/>
                </a:solidFill>
                <a:hlinkClick r:id="rId4"/>
              </a:rPr>
              <a:t>here</a:t>
            </a:r>
            <a:endParaRPr sz="1200"/>
          </a:p>
          <a:p>
            <a:pPr indent="-304800" lvl="0" marL="457200" rtl="0" algn="l">
              <a:lnSpc>
                <a:spcPct val="150000"/>
              </a:lnSpc>
              <a:spcBef>
                <a:spcPts val="0"/>
              </a:spcBef>
              <a:spcAft>
                <a:spcPts val="0"/>
              </a:spcAft>
              <a:buClr>
                <a:srgbClr val="666666"/>
              </a:buClr>
              <a:buSzPts val="1200"/>
              <a:buAutoNum type="arabicPeriod"/>
            </a:pPr>
            <a:r>
              <a:rPr lang="en" sz="1200">
                <a:solidFill>
                  <a:srgbClr val="666666"/>
                </a:solidFill>
              </a:rPr>
              <a:t>HKN provides past exams, hosts review sessions, and has drop-in tutoring services M-F, 11AM-5PM throughout the semester. See </a:t>
            </a:r>
            <a:r>
              <a:rPr lang="en" sz="1200" u="sng">
                <a:solidFill>
                  <a:srgbClr val="666666"/>
                </a:solidFill>
                <a:hlinkClick r:id="rId5">
                  <a:extLst>
                    <a:ext uri="{A12FA001-AC4F-418D-AE19-62706E023703}">
                      <ahyp:hlinkClr val="tx"/>
                    </a:ext>
                  </a:extLst>
                </a:hlinkClick>
              </a:rPr>
              <a:t>@574</a:t>
            </a:r>
            <a:r>
              <a:rPr lang="en" sz="1200">
                <a:solidFill>
                  <a:srgbClr val="666666"/>
                </a:solidFill>
              </a:rPr>
              <a:t> for more information.</a:t>
            </a:r>
            <a:endParaRPr sz="1200">
              <a:solidFill>
                <a:srgbClr val="666666"/>
              </a:solidFill>
            </a:endParaRPr>
          </a:p>
          <a:p>
            <a:pPr indent="-304800" lvl="0" marL="457200" rtl="0" algn="l">
              <a:lnSpc>
                <a:spcPct val="150000"/>
              </a:lnSpc>
              <a:spcBef>
                <a:spcPts val="0"/>
              </a:spcBef>
              <a:spcAft>
                <a:spcPts val="0"/>
              </a:spcAft>
              <a:buClr>
                <a:srgbClr val="666666"/>
              </a:buClr>
              <a:buSzPts val="1200"/>
              <a:buAutoNum type="arabicPeriod"/>
            </a:pPr>
            <a:r>
              <a:rPr lang="en" sz="1200">
                <a:solidFill>
                  <a:srgbClr val="666666"/>
                </a:solidFill>
              </a:rPr>
              <a:t>Weekly surveys will be announced on Piazza from now on so please check for those!</a:t>
            </a:r>
            <a:endParaRPr sz="1200">
              <a:solidFill>
                <a:srgbClr val="666666"/>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639975" y="137092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Review: SLList</a:t>
            </a:r>
            <a:endParaRPr/>
          </a:p>
        </p:txBody>
      </p:sp>
      <p:sp>
        <p:nvSpPr>
          <p:cNvPr id="99" name="Google Shape;99;p15"/>
          <p:cNvSpPr txBox="1"/>
          <p:nvPr>
            <p:ph idx="1" type="body"/>
          </p:nvPr>
        </p:nvSpPr>
        <p:spPr>
          <a:xfrm>
            <a:off x="768828" y="1963474"/>
            <a:ext cx="7735200" cy="29295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The SLList is a class that hides the internal workings of the Linked List using something called encapsulation. </a:t>
            </a:r>
            <a:endParaRPr sz="1400"/>
          </a:p>
          <a:p>
            <a:pPr indent="-317500" lvl="0" marL="457200" rtl="0" algn="l">
              <a:spcBef>
                <a:spcPts val="0"/>
              </a:spcBef>
              <a:spcAft>
                <a:spcPts val="0"/>
              </a:spcAft>
              <a:buSzPts val="1400"/>
              <a:buChar char="●"/>
            </a:pPr>
            <a:r>
              <a:rPr lang="en" sz="1400"/>
              <a:t>The raw linked list is a “naked structure”: you can see everything inside of it including first and rest. If someone were to use it, they would need to know what these are and also know how to step through the list.</a:t>
            </a:r>
            <a:endParaRPr sz="1400"/>
          </a:p>
          <a:p>
            <a:pPr indent="-317500" lvl="0" marL="457200" rtl="0" algn="l">
              <a:spcBef>
                <a:spcPts val="0"/>
              </a:spcBef>
              <a:spcAft>
                <a:spcPts val="0"/>
              </a:spcAft>
              <a:buSzPts val="1400"/>
              <a:buChar char="●"/>
            </a:pPr>
            <a:r>
              <a:rPr lang="en" sz="1400"/>
              <a:t>The SLList allows us to hide away the inner workings of the linked list and also allows us to store meta-information about the list as a whole such as the size.</a:t>
            </a:r>
            <a:endParaRPr sz="1400"/>
          </a:p>
          <a:p>
            <a:pPr indent="-317500" lvl="0" marL="457200" rtl="0" algn="l">
              <a:spcBef>
                <a:spcPts val="0"/>
              </a:spcBef>
              <a:spcAft>
                <a:spcPts val="0"/>
              </a:spcAft>
              <a:buSzPts val="1400"/>
              <a:buChar char="●"/>
            </a:pPr>
            <a:r>
              <a:rPr lang="en" sz="1400"/>
              <a:t>Analogy: You refer to a train as a whole, not as individual cars. In the same way, instead of just having the raw links with first and next, you refer to it as a whole.</a:t>
            </a:r>
            <a:endParaRPr sz="1400"/>
          </a:p>
        </p:txBody>
      </p:sp>
      <p:grpSp>
        <p:nvGrpSpPr>
          <p:cNvPr id="100" name="Google Shape;100;p15"/>
          <p:cNvGrpSpPr/>
          <p:nvPr/>
        </p:nvGrpSpPr>
        <p:grpSpPr>
          <a:xfrm>
            <a:off x="3136334" y="1135685"/>
            <a:ext cx="4854379" cy="344194"/>
            <a:chOff x="3011220" y="4528314"/>
            <a:chExt cx="5563121" cy="429277"/>
          </a:xfrm>
        </p:grpSpPr>
        <p:grpSp>
          <p:nvGrpSpPr>
            <p:cNvPr id="101" name="Google Shape;101;p15"/>
            <p:cNvGrpSpPr/>
            <p:nvPr/>
          </p:nvGrpSpPr>
          <p:grpSpPr>
            <a:xfrm>
              <a:off x="4067520" y="4528314"/>
              <a:ext cx="1031828" cy="429277"/>
              <a:chOff x="809625" y="3638550"/>
              <a:chExt cx="1190525" cy="495300"/>
            </a:xfrm>
          </p:grpSpPr>
          <p:sp>
            <p:nvSpPr>
              <p:cNvPr id="102" name="Google Shape;102;p15"/>
              <p:cNvSpPr/>
              <p:nvPr/>
            </p:nvSpPr>
            <p:spPr>
              <a:xfrm>
                <a:off x="809625"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103" name="Google Shape;103;p15"/>
              <p:cNvSpPr/>
              <p:nvPr/>
            </p:nvSpPr>
            <p:spPr>
              <a:xfrm>
                <a:off x="1404950"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4" name="Google Shape;104;p15"/>
            <p:cNvGrpSpPr/>
            <p:nvPr/>
          </p:nvGrpSpPr>
          <p:grpSpPr>
            <a:xfrm>
              <a:off x="7542513" y="4528314"/>
              <a:ext cx="1031828" cy="429277"/>
              <a:chOff x="809625" y="3638550"/>
              <a:chExt cx="1190525" cy="495300"/>
            </a:xfrm>
          </p:grpSpPr>
          <p:sp>
            <p:nvSpPr>
              <p:cNvPr id="105" name="Google Shape;105;p15"/>
              <p:cNvSpPr/>
              <p:nvPr/>
            </p:nvSpPr>
            <p:spPr>
              <a:xfrm>
                <a:off x="809625"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15</a:t>
                </a:r>
                <a:endParaRPr/>
              </a:p>
            </p:txBody>
          </p:sp>
          <p:sp>
            <p:nvSpPr>
              <p:cNvPr id="106" name="Google Shape;106;p15"/>
              <p:cNvSpPr/>
              <p:nvPr/>
            </p:nvSpPr>
            <p:spPr>
              <a:xfrm>
                <a:off x="1404950" y="3638550"/>
                <a:ext cx="595200" cy="495300"/>
              </a:xfrm>
              <a:prstGeom prst="rect">
                <a:avLst/>
              </a:prstGeom>
              <a:solidFill>
                <a:srgbClr val="B7B7B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 name="Google Shape;107;p15"/>
            <p:cNvGrpSpPr/>
            <p:nvPr/>
          </p:nvGrpSpPr>
          <p:grpSpPr>
            <a:xfrm>
              <a:off x="5805017" y="4528314"/>
              <a:ext cx="1031828" cy="429277"/>
              <a:chOff x="809625" y="3638550"/>
              <a:chExt cx="1190525" cy="495300"/>
            </a:xfrm>
          </p:grpSpPr>
          <p:sp>
            <p:nvSpPr>
              <p:cNvPr id="108" name="Google Shape;108;p15"/>
              <p:cNvSpPr/>
              <p:nvPr/>
            </p:nvSpPr>
            <p:spPr>
              <a:xfrm>
                <a:off x="809625"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10</a:t>
                </a:r>
                <a:endParaRPr/>
              </a:p>
            </p:txBody>
          </p:sp>
          <p:sp>
            <p:nvSpPr>
              <p:cNvPr id="109" name="Google Shape;109;p15"/>
              <p:cNvSpPr/>
              <p:nvPr/>
            </p:nvSpPr>
            <p:spPr>
              <a:xfrm>
                <a:off x="1404950"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10" name="Google Shape;110;p15"/>
            <p:cNvCxnSpPr>
              <a:endCxn id="102" idx="1"/>
            </p:cNvCxnSpPr>
            <p:nvPr/>
          </p:nvCxnSpPr>
          <p:spPr>
            <a:xfrm>
              <a:off x="3011220" y="4742952"/>
              <a:ext cx="1056300" cy="0"/>
            </a:xfrm>
            <a:prstGeom prst="straightConnector1">
              <a:avLst/>
            </a:prstGeom>
            <a:noFill/>
            <a:ln cap="flat" cmpd="sng" w="19050">
              <a:solidFill>
                <a:srgbClr val="666666"/>
              </a:solidFill>
              <a:prstDash val="solid"/>
              <a:round/>
              <a:headEnd len="med" w="med" type="none"/>
              <a:tailEnd len="med" w="med" type="triangle"/>
            </a:ln>
          </p:spPr>
        </p:cxnSp>
        <p:cxnSp>
          <p:nvCxnSpPr>
            <p:cNvPr id="111" name="Google Shape;111;p15"/>
            <p:cNvCxnSpPr>
              <a:endCxn id="108" idx="1"/>
            </p:cNvCxnSpPr>
            <p:nvPr/>
          </p:nvCxnSpPr>
          <p:spPr>
            <a:xfrm>
              <a:off x="4722617" y="4742952"/>
              <a:ext cx="1082400" cy="0"/>
            </a:xfrm>
            <a:prstGeom prst="straightConnector1">
              <a:avLst/>
            </a:prstGeom>
            <a:noFill/>
            <a:ln cap="flat" cmpd="sng" w="19050">
              <a:solidFill>
                <a:srgbClr val="666666"/>
              </a:solidFill>
              <a:prstDash val="solid"/>
              <a:round/>
              <a:headEnd len="med" w="med" type="none"/>
              <a:tailEnd len="med" w="med" type="triangle"/>
            </a:ln>
          </p:spPr>
        </p:cxnSp>
        <p:cxnSp>
          <p:nvCxnSpPr>
            <p:cNvPr id="112" name="Google Shape;112;p15"/>
            <p:cNvCxnSpPr>
              <a:endCxn id="105" idx="1"/>
            </p:cNvCxnSpPr>
            <p:nvPr/>
          </p:nvCxnSpPr>
          <p:spPr>
            <a:xfrm>
              <a:off x="6419913" y="4742952"/>
              <a:ext cx="1122600" cy="0"/>
            </a:xfrm>
            <a:prstGeom prst="straightConnector1">
              <a:avLst/>
            </a:prstGeom>
            <a:noFill/>
            <a:ln cap="flat" cmpd="sng" w="19050">
              <a:solidFill>
                <a:srgbClr val="666666"/>
              </a:solidFill>
              <a:prstDash val="solid"/>
              <a:round/>
              <a:headEnd len="med" w="med" type="none"/>
              <a:tailEnd len="med" w="med" type="triangle"/>
            </a:ln>
          </p:spPr>
        </p:cxnSp>
      </p:grpSp>
      <p:pic>
        <p:nvPicPr>
          <p:cNvPr descr="Image result for fig leaf" id="113" name="Google Shape;113;p15"/>
          <p:cNvPicPr preferRelativeResize="0"/>
          <p:nvPr/>
        </p:nvPicPr>
        <p:blipFill>
          <a:blip r:embed="rId3">
            <a:alphaModFix/>
          </a:blip>
          <a:stretch>
            <a:fillRect/>
          </a:stretch>
        </p:blipFill>
        <p:spPr>
          <a:xfrm rot="-1251542">
            <a:off x="6539600" y="1040166"/>
            <a:ext cx="496803" cy="535200"/>
          </a:xfrm>
          <a:prstGeom prst="rect">
            <a:avLst/>
          </a:prstGeom>
          <a:noFill/>
          <a:ln>
            <a:noFill/>
          </a:ln>
        </p:spPr>
      </p:pic>
      <p:pic>
        <p:nvPicPr>
          <p:cNvPr descr="Image result for fig leaf" id="114" name="Google Shape;114;p15"/>
          <p:cNvPicPr preferRelativeResize="0"/>
          <p:nvPr/>
        </p:nvPicPr>
        <p:blipFill>
          <a:blip r:embed="rId3">
            <a:alphaModFix/>
          </a:blip>
          <a:stretch>
            <a:fillRect/>
          </a:stretch>
        </p:blipFill>
        <p:spPr>
          <a:xfrm rot="1708880">
            <a:off x="4943200" y="1040179"/>
            <a:ext cx="496803" cy="535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6"/>
          <p:cNvSpPr txBox="1"/>
          <p:nvPr>
            <p:ph type="title"/>
          </p:nvPr>
        </p:nvSpPr>
        <p:spPr>
          <a:xfrm>
            <a:off x="811300" y="1196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Review: SLList Diagram</a:t>
            </a:r>
            <a:endParaRPr/>
          </a:p>
        </p:txBody>
      </p:sp>
      <p:sp>
        <p:nvSpPr>
          <p:cNvPr id="120" name="Google Shape;120;p16"/>
          <p:cNvSpPr/>
          <p:nvPr/>
        </p:nvSpPr>
        <p:spPr>
          <a:xfrm>
            <a:off x="2325118" y="3381079"/>
            <a:ext cx="493200" cy="3699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21" name="Google Shape;121;p16"/>
          <p:cNvGrpSpPr/>
          <p:nvPr/>
        </p:nvGrpSpPr>
        <p:grpSpPr>
          <a:xfrm>
            <a:off x="432552" y="2500778"/>
            <a:ext cx="2055661" cy="609307"/>
            <a:chOff x="56205" y="2119800"/>
            <a:chExt cx="2094195" cy="617020"/>
          </a:xfrm>
        </p:grpSpPr>
        <p:sp>
          <p:nvSpPr>
            <p:cNvPr id="122" name="Google Shape;122;p16"/>
            <p:cNvSpPr/>
            <p:nvPr/>
          </p:nvSpPr>
          <p:spPr>
            <a:xfrm>
              <a:off x="360600" y="2188270"/>
              <a:ext cx="595200" cy="2475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6"/>
            <p:cNvSpPr txBox="1"/>
            <p:nvPr/>
          </p:nvSpPr>
          <p:spPr>
            <a:xfrm>
              <a:off x="56205" y="2119800"/>
              <a:ext cx="336300" cy="1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x</a:t>
              </a:r>
              <a:endParaRPr/>
            </a:p>
          </p:txBody>
        </p:sp>
        <p:cxnSp>
          <p:nvCxnSpPr>
            <p:cNvPr id="124" name="Google Shape;124;p16"/>
            <p:cNvCxnSpPr>
              <a:stCxn id="122" idx="3"/>
              <a:endCxn id="125" idx="0"/>
            </p:cNvCxnSpPr>
            <p:nvPr/>
          </p:nvCxnSpPr>
          <p:spPr>
            <a:xfrm>
              <a:off x="955800" y="2312020"/>
              <a:ext cx="1194600" cy="424800"/>
            </a:xfrm>
            <a:prstGeom prst="curvedConnector2">
              <a:avLst/>
            </a:prstGeom>
            <a:noFill/>
            <a:ln cap="flat" cmpd="sng" w="19050">
              <a:solidFill>
                <a:srgbClr val="666666"/>
              </a:solidFill>
              <a:prstDash val="solid"/>
              <a:round/>
              <a:headEnd len="med" w="med" type="none"/>
              <a:tailEnd len="med" w="med" type="triangle"/>
            </a:ln>
          </p:spPr>
        </p:cxnSp>
      </p:grpSp>
      <p:sp>
        <p:nvSpPr>
          <p:cNvPr id="125" name="Google Shape;125;p16"/>
          <p:cNvSpPr/>
          <p:nvPr/>
        </p:nvSpPr>
        <p:spPr>
          <a:xfrm>
            <a:off x="978991" y="3109962"/>
            <a:ext cx="3018300" cy="8961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6"/>
          <p:cNvSpPr/>
          <p:nvPr/>
        </p:nvSpPr>
        <p:spPr>
          <a:xfrm>
            <a:off x="2956115" y="3387090"/>
            <a:ext cx="493200" cy="3699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27" name="Google Shape;127;p16"/>
          <p:cNvCxnSpPr>
            <a:stCxn id="126" idx="3"/>
            <a:endCxn id="128" idx="0"/>
          </p:cNvCxnSpPr>
          <p:nvPr/>
        </p:nvCxnSpPr>
        <p:spPr>
          <a:xfrm flipH="1">
            <a:off x="2900615" y="3572040"/>
            <a:ext cx="548700" cy="705300"/>
          </a:xfrm>
          <a:prstGeom prst="curvedConnector4">
            <a:avLst>
              <a:gd fmla="val -42583" name="adj1"/>
              <a:gd fmla="val 63124" name="adj2"/>
            </a:avLst>
          </a:prstGeom>
          <a:noFill/>
          <a:ln cap="flat" cmpd="sng" w="19050">
            <a:solidFill>
              <a:srgbClr val="666666"/>
            </a:solidFill>
            <a:prstDash val="solid"/>
            <a:round/>
            <a:headEnd len="med" w="med" type="none"/>
            <a:tailEnd len="med" w="med" type="triangle"/>
          </a:ln>
        </p:spPr>
      </p:cxnSp>
      <p:cxnSp>
        <p:nvCxnSpPr>
          <p:cNvPr id="129" name="Google Shape;129;p16"/>
          <p:cNvCxnSpPr>
            <a:stCxn id="126" idx="3"/>
          </p:cNvCxnSpPr>
          <p:nvPr/>
        </p:nvCxnSpPr>
        <p:spPr>
          <a:xfrm rot="10800000">
            <a:off x="3165515" y="3567540"/>
            <a:ext cx="283800" cy="4500"/>
          </a:xfrm>
          <a:prstGeom prst="straightConnector1">
            <a:avLst/>
          </a:prstGeom>
          <a:noFill/>
          <a:ln cap="flat" cmpd="sng" w="19050">
            <a:solidFill>
              <a:srgbClr val="666666"/>
            </a:solidFill>
            <a:prstDash val="solid"/>
            <a:round/>
            <a:headEnd len="med" w="med" type="none"/>
            <a:tailEnd len="med" w="med" type="none"/>
          </a:ln>
        </p:spPr>
      </p:cxnSp>
      <p:sp>
        <p:nvSpPr>
          <p:cNvPr id="130" name="Google Shape;130;p16"/>
          <p:cNvSpPr txBox="1"/>
          <p:nvPr/>
        </p:nvSpPr>
        <p:spPr>
          <a:xfrm>
            <a:off x="947951" y="3114673"/>
            <a:ext cx="1545300" cy="332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Consolas"/>
                <a:ea typeface="Consolas"/>
                <a:cs typeface="Consolas"/>
                <a:sym typeface="Consolas"/>
              </a:rPr>
              <a:t>addFirst()</a:t>
            </a:r>
            <a:endParaRPr>
              <a:latin typeface="Consolas"/>
              <a:ea typeface="Consolas"/>
              <a:cs typeface="Consolas"/>
              <a:sym typeface="Consolas"/>
            </a:endParaRPr>
          </a:p>
        </p:txBody>
      </p:sp>
      <p:cxnSp>
        <p:nvCxnSpPr>
          <p:cNvPr id="131" name="Google Shape;131;p16"/>
          <p:cNvCxnSpPr/>
          <p:nvPr/>
        </p:nvCxnSpPr>
        <p:spPr>
          <a:xfrm rot="10800000">
            <a:off x="554803" y="3290941"/>
            <a:ext cx="424200" cy="0"/>
          </a:xfrm>
          <a:prstGeom prst="straightConnector1">
            <a:avLst/>
          </a:prstGeom>
          <a:noFill/>
          <a:ln cap="flat" cmpd="sng" w="19050">
            <a:solidFill>
              <a:srgbClr val="666666"/>
            </a:solidFill>
            <a:prstDash val="solid"/>
            <a:round/>
            <a:headEnd len="med" w="med" type="none"/>
            <a:tailEnd len="med" w="med" type="none"/>
          </a:ln>
        </p:spPr>
      </p:cxnSp>
      <p:cxnSp>
        <p:nvCxnSpPr>
          <p:cNvPr id="132" name="Google Shape;132;p16"/>
          <p:cNvCxnSpPr/>
          <p:nvPr/>
        </p:nvCxnSpPr>
        <p:spPr>
          <a:xfrm rot="10800000">
            <a:off x="554803" y="3523451"/>
            <a:ext cx="424200" cy="0"/>
          </a:xfrm>
          <a:prstGeom prst="straightConnector1">
            <a:avLst/>
          </a:prstGeom>
          <a:noFill/>
          <a:ln cap="flat" cmpd="sng" w="19050">
            <a:solidFill>
              <a:srgbClr val="666666"/>
            </a:solidFill>
            <a:prstDash val="solid"/>
            <a:round/>
            <a:headEnd len="med" w="med" type="none"/>
            <a:tailEnd len="med" w="med" type="none"/>
          </a:ln>
        </p:spPr>
      </p:cxnSp>
      <p:sp>
        <p:nvSpPr>
          <p:cNvPr id="133" name="Google Shape;133;p16"/>
          <p:cNvSpPr txBox="1"/>
          <p:nvPr/>
        </p:nvSpPr>
        <p:spPr>
          <a:xfrm>
            <a:off x="2917960" y="3085486"/>
            <a:ext cx="816900" cy="30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onsolas"/>
                <a:ea typeface="Consolas"/>
                <a:cs typeface="Consolas"/>
                <a:sym typeface="Consolas"/>
              </a:rPr>
              <a:t>first</a:t>
            </a:r>
            <a:endParaRPr>
              <a:latin typeface="Consolas"/>
              <a:ea typeface="Consolas"/>
              <a:cs typeface="Consolas"/>
              <a:sym typeface="Consolas"/>
            </a:endParaRPr>
          </a:p>
        </p:txBody>
      </p:sp>
      <p:sp>
        <p:nvSpPr>
          <p:cNvPr id="134" name="Google Shape;134;p16"/>
          <p:cNvSpPr txBox="1"/>
          <p:nvPr/>
        </p:nvSpPr>
        <p:spPr>
          <a:xfrm>
            <a:off x="955776" y="3333811"/>
            <a:ext cx="1545300" cy="332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Consolas"/>
                <a:ea typeface="Consolas"/>
                <a:cs typeface="Consolas"/>
                <a:sym typeface="Consolas"/>
              </a:rPr>
              <a:t>getFirst()</a:t>
            </a:r>
            <a:endParaRPr>
              <a:latin typeface="Consolas"/>
              <a:ea typeface="Consolas"/>
              <a:cs typeface="Consolas"/>
              <a:sym typeface="Consolas"/>
            </a:endParaRPr>
          </a:p>
        </p:txBody>
      </p:sp>
      <p:sp>
        <p:nvSpPr>
          <p:cNvPr id="135" name="Google Shape;135;p16"/>
          <p:cNvSpPr txBox="1"/>
          <p:nvPr/>
        </p:nvSpPr>
        <p:spPr>
          <a:xfrm>
            <a:off x="2087124" y="4615255"/>
            <a:ext cx="648300" cy="14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onsolas"/>
                <a:ea typeface="Consolas"/>
                <a:cs typeface="Consolas"/>
                <a:sym typeface="Consolas"/>
              </a:rPr>
              <a:t>item</a:t>
            </a:r>
            <a:endParaRPr sz="1200">
              <a:latin typeface="Consolas"/>
              <a:ea typeface="Consolas"/>
              <a:cs typeface="Consolas"/>
              <a:sym typeface="Consolas"/>
            </a:endParaRPr>
          </a:p>
        </p:txBody>
      </p:sp>
      <p:sp>
        <p:nvSpPr>
          <p:cNvPr id="136" name="Google Shape;136;p16"/>
          <p:cNvSpPr txBox="1"/>
          <p:nvPr/>
        </p:nvSpPr>
        <p:spPr>
          <a:xfrm>
            <a:off x="2610689" y="4615255"/>
            <a:ext cx="648300" cy="14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onsolas"/>
                <a:ea typeface="Consolas"/>
                <a:cs typeface="Consolas"/>
                <a:sym typeface="Consolas"/>
              </a:rPr>
              <a:t> next</a:t>
            </a:r>
            <a:endParaRPr sz="1200">
              <a:latin typeface="Consolas"/>
              <a:ea typeface="Consolas"/>
              <a:cs typeface="Consolas"/>
              <a:sym typeface="Consolas"/>
            </a:endParaRPr>
          </a:p>
        </p:txBody>
      </p:sp>
      <p:grpSp>
        <p:nvGrpSpPr>
          <p:cNvPr id="137" name="Google Shape;137;p16"/>
          <p:cNvGrpSpPr/>
          <p:nvPr/>
        </p:nvGrpSpPr>
        <p:grpSpPr>
          <a:xfrm>
            <a:off x="2140863" y="4277336"/>
            <a:ext cx="1012780" cy="423927"/>
            <a:chOff x="809625" y="3638550"/>
            <a:chExt cx="1190525" cy="495300"/>
          </a:xfrm>
        </p:grpSpPr>
        <p:sp>
          <p:nvSpPr>
            <p:cNvPr id="138" name="Google Shape;138;p16"/>
            <p:cNvSpPr/>
            <p:nvPr/>
          </p:nvSpPr>
          <p:spPr>
            <a:xfrm>
              <a:off x="809625"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5</a:t>
              </a:r>
              <a:endParaRPr>
                <a:latin typeface="Consolas"/>
                <a:ea typeface="Consolas"/>
                <a:cs typeface="Consolas"/>
                <a:sym typeface="Consolas"/>
              </a:endParaRPr>
            </a:p>
          </p:txBody>
        </p:sp>
        <p:sp>
          <p:nvSpPr>
            <p:cNvPr id="128" name="Google Shape;128;p16"/>
            <p:cNvSpPr/>
            <p:nvPr/>
          </p:nvSpPr>
          <p:spPr>
            <a:xfrm>
              <a:off x="1404950"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onsolas"/>
                <a:ea typeface="Consolas"/>
                <a:cs typeface="Consolas"/>
                <a:sym typeface="Consolas"/>
              </a:endParaRPr>
            </a:p>
          </p:txBody>
        </p:sp>
      </p:grpSp>
      <p:grpSp>
        <p:nvGrpSpPr>
          <p:cNvPr id="139" name="Google Shape;139;p16"/>
          <p:cNvGrpSpPr/>
          <p:nvPr/>
        </p:nvGrpSpPr>
        <p:grpSpPr>
          <a:xfrm>
            <a:off x="3846322" y="4277336"/>
            <a:ext cx="1012780" cy="423927"/>
            <a:chOff x="809625" y="3638550"/>
            <a:chExt cx="1190525" cy="495300"/>
          </a:xfrm>
        </p:grpSpPr>
        <p:sp>
          <p:nvSpPr>
            <p:cNvPr id="140" name="Google Shape;140;p16"/>
            <p:cNvSpPr/>
            <p:nvPr/>
          </p:nvSpPr>
          <p:spPr>
            <a:xfrm>
              <a:off x="809625"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10</a:t>
              </a:r>
              <a:endParaRPr>
                <a:latin typeface="Consolas"/>
                <a:ea typeface="Consolas"/>
                <a:cs typeface="Consolas"/>
                <a:sym typeface="Consolas"/>
              </a:endParaRPr>
            </a:p>
          </p:txBody>
        </p:sp>
        <p:sp>
          <p:nvSpPr>
            <p:cNvPr id="141" name="Google Shape;141;p16"/>
            <p:cNvSpPr/>
            <p:nvPr/>
          </p:nvSpPr>
          <p:spPr>
            <a:xfrm>
              <a:off x="1404950"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onsolas"/>
                <a:ea typeface="Consolas"/>
                <a:cs typeface="Consolas"/>
                <a:sym typeface="Consolas"/>
              </a:endParaRPr>
            </a:p>
          </p:txBody>
        </p:sp>
      </p:grpSp>
      <p:grpSp>
        <p:nvGrpSpPr>
          <p:cNvPr id="142" name="Google Shape;142;p16"/>
          <p:cNvGrpSpPr/>
          <p:nvPr/>
        </p:nvGrpSpPr>
        <p:grpSpPr>
          <a:xfrm>
            <a:off x="5551782" y="4277336"/>
            <a:ext cx="1012780" cy="423927"/>
            <a:chOff x="809625" y="3638550"/>
            <a:chExt cx="1190525" cy="495300"/>
          </a:xfrm>
        </p:grpSpPr>
        <p:sp>
          <p:nvSpPr>
            <p:cNvPr id="143" name="Google Shape;143;p16"/>
            <p:cNvSpPr/>
            <p:nvPr/>
          </p:nvSpPr>
          <p:spPr>
            <a:xfrm>
              <a:off x="809625"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15</a:t>
              </a:r>
              <a:endParaRPr>
                <a:latin typeface="Consolas"/>
                <a:ea typeface="Consolas"/>
                <a:cs typeface="Consolas"/>
                <a:sym typeface="Consolas"/>
              </a:endParaRPr>
            </a:p>
          </p:txBody>
        </p:sp>
        <p:sp>
          <p:nvSpPr>
            <p:cNvPr id="144" name="Google Shape;144;p16"/>
            <p:cNvSpPr/>
            <p:nvPr/>
          </p:nvSpPr>
          <p:spPr>
            <a:xfrm>
              <a:off x="1404950" y="3638550"/>
              <a:ext cx="595200" cy="495300"/>
            </a:xfrm>
            <a:prstGeom prst="rect">
              <a:avLst/>
            </a:prstGeom>
            <a:solidFill>
              <a:srgbClr val="B7B7B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onsolas"/>
                <a:ea typeface="Consolas"/>
                <a:cs typeface="Consolas"/>
                <a:sym typeface="Consolas"/>
              </a:endParaRPr>
            </a:p>
          </p:txBody>
        </p:sp>
      </p:grpSp>
      <p:cxnSp>
        <p:nvCxnSpPr>
          <p:cNvPr id="145" name="Google Shape;145;p16"/>
          <p:cNvCxnSpPr>
            <a:endCxn id="140" idx="1"/>
          </p:cNvCxnSpPr>
          <p:nvPr/>
        </p:nvCxnSpPr>
        <p:spPr>
          <a:xfrm>
            <a:off x="2809522" y="4489300"/>
            <a:ext cx="1036800" cy="0"/>
          </a:xfrm>
          <a:prstGeom prst="straightConnector1">
            <a:avLst/>
          </a:prstGeom>
          <a:noFill/>
          <a:ln cap="flat" cmpd="sng" w="19050">
            <a:solidFill>
              <a:srgbClr val="666666"/>
            </a:solidFill>
            <a:prstDash val="solid"/>
            <a:round/>
            <a:headEnd len="med" w="med" type="none"/>
            <a:tailEnd len="med" w="med" type="triangle"/>
          </a:ln>
        </p:spPr>
      </p:cxnSp>
      <p:cxnSp>
        <p:nvCxnSpPr>
          <p:cNvPr id="146" name="Google Shape;146;p16"/>
          <p:cNvCxnSpPr>
            <a:endCxn id="143" idx="1"/>
          </p:cNvCxnSpPr>
          <p:nvPr/>
        </p:nvCxnSpPr>
        <p:spPr>
          <a:xfrm>
            <a:off x="4489482" y="4489300"/>
            <a:ext cx="1062300" cy="0"/>
          </a:xfrm>
          <a:prstGeom prst="straightConnector1">
            <a:avLst/>
          </a:prstGeom>
          <a:noFill/>
          <a:ln cap="flat" cmpd="sng" w="19050">
            <a:solidFill>
              <a:srgbClr val="666666"/>
            </a:solidFill>
            <a:prstDash val="solid"/>
            <a:round/>
            <a:headEnd len="med" w="med" type="none"/>
            <a:tailEnd len="med" w="med" type="triangle"/>
          </a:ln>
        </p:spPr>
      </p:cxnSp>
      <p:sp>
        <p:nvSpPr>
          <p:cNvPr id="147" name="Google Shape;147;p16"/>
          <p:cNvSpPr txBox="1"/>
          <p:nvPr/>
        </p:nvSpPr>
        <p:spPr>
          <a:xfrm>
            <a:off x="2431787" y="3370902"/>
            <a:ext cx="349500" cy="24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onsolas"/>
                <a:ea typeface="Consolas"/>
                <a:cs typeface="Consolas"/>
                <a:sym typeface="Consolas"/>
              </a:rPr>
              <a:t>3</a:t>
            </a:r>
            <a:endParaRPr>
              <a:latin typeface="Consolas"/>
              <a:ea typeface="Consolas"/>
              <a:cs typeface="Consolas"/>
              <a:sym typeface="Consolas"/>
            </a:endParaRPr>
          </a:p>
        </p:txBody>
      </p:sp>
      <p:sp>
        <p:nvSpPr>
          <p:cNvPr id="148" name="Google Shape;148;p16"/>
          <p:cNvSpPr txBox="1"/>
          <p:nvPr/>
        </p:nvSpPr>
        <p:spPr>
          <a:xfrm>
            <a:off x="2319600" y="3085486"/>
            <a:ext cx="816900" cy="30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Consolas"/>
                <a:ea typeface="Consolas"/>
                <a:cs typeface="Consolas"/>
                <a:sym typeface="Consolas"/>
              </a:rPr>
              <a:t>size</a:t>
            </a:r>
            <a:endParaRPr b="1">
              <a:latin typeface="Consolas"/>
              <a:ea typeface="Consolas"/>
              <a:cs typeface="Consolas"/>
              <a:sym typeface="Consolas"/>
            </a:endParaRPr>
          </a:p>
        </p:txBody>
      </p:sp>
      <p:cxnSp>
        <p:nvCxnSpPr>
          <p:cNvPr id="149" name="Google Shape;149;p16"/>
          <p:cNvCxnSpPr/>
          <p:nvPr/>
        </p:nvCxnSpPr>
        <p:spPr>
          <a:xfrm rot="10800000">
            <a:off x="554803" y="3916532"/>
            <a:ext cx="424200" cy="0"/>
          </a:xfrm>
          <a:prstGeom prst="straightConnector1">
            <a:avLst/>
          </a:prstGeom>
          <a:noFill/>
          <a:ln cap="flat" cmpd="sng" w="19050">
            <a:solidFill>
              <a:srgbClr val="666666"/>
            </a:solidFill>
            <a:prstDash val="solid"/>
            <a:round/>
            <a:headEnd len="med" w="med" type="none"/>
            <a:tailEnd len="med" w="med" type="none"/>
          </a:ln>
        </p:spPr>
      </p:cxnSp>
      <p:sp>
        <p:nvSpPr>
          <p:cNvPr id="150" name="Google Shape;150;p16"/>
          <p:cNvSpPr txBox="1"/>
          <p:nvPr/>
        </p:nvSpPr>
        <p:spPr>
          <a:xfrm>
            <a:off x="955776" y="3732135"/>
            <a:ext cx="1545300" cy="332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Consolas"/>
                <a:ea typeface="Consolas"/>
                <a:cs typeface="Consolas"/>
                <a:sym typeface="Consolas"/>
              </a:rPr>
              <a:t>size()</a:t>
            </a:r>
            <a:endParaRPr>
              <a:latin typeface="Consolas"/>
              <a:ea typeface="Consolas"/>
              <a:cs typeface="Consolas"/>
              <a:sym typeface="Consolas"/>
            </a:endParaRPr>
          </a:p>
        </p:txBody>
      </p:sp>
      <p:sp>
        <p:nvSpPr>
          <p:cNvPr id="151" name="Google Shape;151;p16"/>
          <p:cNvSpPr txBox="1"/>
          <p:nvPr/>
        </p:nvSpPr>
        <p:spPr>
          <a:xfrm>
            <a:off x="955776" y="3541419"/>
            <a:ext cx="1545300" cy="332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Consolas"/>
                <a:ea typeface="Consolas"/>
                <a:cs typeface="Consolas"/>
                <a:sym typeface="Consolas"/>
              </a:rPr>
              <a:t>addLast()</a:t>
            </a:r>
            <a:endParaRPr>
              <a:latin typeface="Consolas"/>
              <a:ea typeface="Consolas"/>
              <a:cs typeface="Consolas"/>
              <a:sym typeface="Consolas"/>
            </a:endParaRPr>
          </a:p>
        </p:txBody>
      </p:sp>
      <p:cxnSp>
        <p:nvCxnSpPr>
          <p:cNvPr id="152" name="Google Shape;152;p16"/>
          <p:cNvCxnSpPr/>
          <p:nvPr/>
        </p:nvCxnSpPr>
        <p:spPr>
          <a:xfrm rot="10800000">
            <a:off x="554803" y="3725817"/>
            <a:ext cx="424200" cy="0"/>
          </a:xfrm>
          <a:prstGeom prst="straightConnector1">
            <a:avLst/>
          </a:prstGeom>
          <a:noFill/>
          <a:ln cap="flat" cmpd="sng" w="19050">
            <a:solidFill>
              <a:srgbClr val="666666"/>
            </a:solidFill>
            <a:prstDash val="solid"/>
            <a:round/>
            <a:headEnd len="med" w="med" type="none"/>
            <a:tailEnd len="med" w="med" type="none"/>
          </a:ln>
        </p:spPr>
      </p:cxnSp>
      <p:cxnSp>
        <p:nvCxnSpPr>
          <p:cNvPr id="153" name="Google Shape;153;p16"/>
          <p:cNvCxnSpPr/>
          <p:nvPr/>
        </p:nvCxnSpPr>
        <p:spPr>
          <a:xfrm>
            <a:off x="6054883" y="4277843"/>
            <a:ext cx="509700" cy="422700"/>
          </a:xfrm>
          <a:prstGeom prst="straightConnector1">
            <a:avLst/>
          </a:prstGeom>
          <a:noFill/>
          <a:ln cap="flat" cmpd="sng" w="19050">
            <a:solidFill>
              <a:srgbClr val="666666"/>
            </a:solidFill>
            <a:prstDash val="solid"/>
            <a:round/>
            <a:headEnd len="med" w="med" type="none"/>
            <a:tailEnd len="med" w="med" type="none"/>
          </a:ln>
        </p:spPr>
      </p:cxnSp>
      <p:sp>
        <p:nvSpPr>
          <p:cNvPr id="154" name="Google Shape;154;p16"/>
          <p:cNvSpPr/>
          <p:nvPr/>
        </p:nvSpPr>
        <p:spPr>
          <a:xfrm rot="2416792">
            <a:off x="2890248" y="2403980"/>
            <a:ext cx="232011" cy="992344"/>
          </a:xfrm>
          <a:prstGeom prst="downArrow">
            <a:avLst>
              <a:gd fmla="val 50000" name="adj1"/>
              <a:gd fmla="val 50000" name="adj2"/>
            </a:avLst>
          </a:prstGeom>
          <a:solidFill>
            <a:srgbClr val="FF0000"/>
          </a:solidFill>
          <a:ln cap="flat" cmpd="sng" w="28575">
            <a:solidFill>
              <a:srgbClr val="85200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6"/>
          <p:cNvSpPr txBox="1"/>
          <p:nvPr/>
        </p:nvSpPr>
        <p:spPr>
          <a:xfrm>
            <a:off x="3519275" y="1732175"/>
            <a:ext cx="3439500" cy="768600"/>
          </a:xfrm>
          <a:prstGeom prst="rect">
            <a:avLst/>
          </a:prstGeom>
          <a:solidFill>
            <a:srgbClr val="FCE5CD"/>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We add a size variable so we don’t have to step through the entire linked list every time we want the size</a:t>
            </a:r>
            <a:endParaRPr/>
          </a:p>
        </p:txBody>
      </p:sp>
      <p:sp>
        <p:nvSpPr>
          <p:cNvPr id="156" name="Google Shape;156;p16"/>
          <p:cNvSpPr/>
          <p:nvPr/>
        </p:nvSpPr>
        <p:spPr>
          <a:xfrm rot="3949171">
            <a:off x="3840581" y="2853264"/>
            <a:ext cx="232171" cy="854940"/>
          </a:xfrm>
          <a:prstGeom prst="downArrow">
            <a:avLst>
              <a:gd fmla="val 50000" name="adj1"/>
              <a:gd fmla="val 50000" name="adj2"/>
            </a:avLst>
          </a:prstGeom>
          <a:solidFill>
            <a:srgbClr val="FF0000"/>
          </a:solidFill>
          <a:ln cap="flat" cmpd="sng" w="28575">
            <a:solidFill>
              <a:srgbClr val="85200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6"/>
          <p:cNvSpPr txBox="1"/>
          <p:nvPr/>
        </p:nvSpPr>
        <p:spPr>
          <a:xfrm>
            <a:off x="4464000" y="2666175"/>
            <a:ext cx="3018300" cy="535200"/>
          </a:xfrm>
          <a:prstGeom prst="rect">
            <a:avLst/>
          </a:prstGeom>
          <a:solidFill>
            <a:srgbClr val="FCE5CD"/>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“First” is a pointer to the first link in the linked list.</a:t>
            </a:r>
            <a:endParaRPr/>
          </a:p>
        </p:txBody>
      </p:sp>
      <p:sp>
        <p:nvSpPr>
          <p:cNvPr id="158" name="Google Shape;158;p16"/>
          <p:cNvSpPr/>
          <p:nvPr/>
        </p:nvSpPr>
        <p:spPr>
          <a:xfrm flipH="1">
            <a:off x="1883075" y="3650700"/>
            <a:ext cx="3439500" cy="422700"/>
          </a:xfrm>
          <a:prstGeom prst="bentUpArrow">
            <a:avLst>
              <a:gd fmla="val 25000" name="adj1"/>
              <a:gd fmla="val 25000" name="adj2"/>
              <a:gd fmla="val 25000" name="adj3"/>
            </a:avLst>
          </a:prstGeom>
          <a:solidFill>
            <a:srgbClr val="FF0000"/>
          </a:solidFill>
          <a:ln cap="flat" cmpd="sng" w="3810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6"/>
          <p:cNvSpPr txBox="1"/>
          <p:nvPr/>
        </p:nvSpPr>
        <p:spPr>
          <a:xfrm>
            <a:off x="5469800" y="3390875"/>
            <a:ext cx="3439500" cy="768600"/>
          </a:xfrm>
          <a:prstGeom prst="rect">
            <a:avLst/>
          </a:prstGeom>
          <a:solidFill>
            <a:srgbClr val="FCE5CD"/>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We add these methods to abstract away the mechanics of adding items to, and getting items from, our list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Review: Sentinel Nodes</a:t>
            </a:r>
            <a:endParaRPr/>
          </a:p>
        </p:txBody>
      </p:sp>
      <p:sp>
        <p:nvSpPr>
          <p:cNvPr id="165" name="Google Shape;165;p17"/>
          <p:cNvSpPr txBox="1"/>
          <p:nvPr>
            <p:ph idx="1" type="body"/>
          </p:nvPr>
        </p:nvSpPr>
        <p:spPr>
          <a:xfrm>
            <a:off x="645800" y="1853850"/>
            <a:ext cx="7863900" cy="28299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Let’s add some </a:t>
            </a:r>
            <a:r>
              <a:rPr lang="en" sz="1400" u="sng"/>
              <a:t>more </a:t>
            </a:r>
            <a:r>
              <a:rPr lang="en" sz="1400"/>
              <a:t>useful stuff to our list class.</a:t>
            </a:r>
            <a:endParaRPr sz="1400"/>
          </a:p>
          <a:p>
            <a:pPr indent="-317500" lvl="0" marL="457200" rtl="0" algn="l">
              <a:spcBef>
                <a:spcPts val="0"/>
              </a:spcBef>
              <a:spcAft>
                <a:spcPts val="0"/>
              </a:spcAft>
              <a:buSzPts val="1400"/>
              <a:buChar char="●"/>
            </a:pPr>
            <a:r>
              <a:rPr b="1" lang="en" sz="1400"/>
              <a:t>Question: </a:t>
            </a:r>
            <a:r>
              <a:rPr lang="en" sz="1400"/>
              <a:t>How do we represent an empty linked list? Set first to null?</a:t>
            </a:r>
            <a:endParaRPr sz="1400"/>
          </a:p>
          <a:p>
            <a:pPr indent="-317500" lvl="0" marL="457200" rtl="0" algn="l">
              <a:spcBef>
                <a:spcPts val="0"/>
              </a:spcBef>
              <a:spcAft>
                <a:spcPts val="0"/>
              </a:spcAft>
              <a:buSzPts val="1400"/>
              <a:buChar char="●"/>
            </a:pPr>
            <a:r>
              <a:rPr lang="en" sz="1400"/>
              <a:t>This leads to ugly code, as we will have to add a bunch of null checks to code that handles the list.</a:t>
            </a:r>
            <a:endParaRPr sz="1400"/>
          </a:p>
          <a:p>
            <a:pPr indent="-317500" lvl="1" marL="914400" rtl="0" algn="l">
              <a:spcBef>
                <a:spcPts val="0"/>
              </a:spcBef>
              <a:spcAft>
                <a:spcPts val="0"/>
              </a:spcAft>
              <a:buSzPts val="1400"/>
              <a:buChar char="○"/>
            </a:pPr>
            <a:r>
              <a:rPr lang="en" sz="1400"/>
              <a:t>For example, addLast would need a special case for if the list is null → finding the old last is different if the list is null vs. if it has at least one item.</a:t>
            </a:r>
            <a:endParaRPr sz="1400"/>
          </a:p>
          <a:p>
            <a:pPr indent="-317500" lvl="0" marL="457200" rtl="0" algn="l">
              <a:spcBef>
                <a:spcPts val="0"/>
              </a:spcBef>
              <a:spcAft>
                <a:spcPts val="0"/>
              </a:spcAft>
              <a:buSzPts val="1400"/>
              <a:buChar char="●"/>
            </a:pPr>
            <a:r>
              <a:rPr lang="en" sz="1400"/>
              <a:t>Goal of sentinel: make code as simple and generic as possible so we don’t have to have any special cases.</a:t>
            </a:r>
            <a:endParaRPr sz="1400"/>
          </a:p>
          <a:p>
            <a:pPr indent="-317500" lvl="0" marL="457200" rtl="0" algn="l">
              <a:spcBef>
                <a:spcPts val="0"/>
              </a:spcBef>
              <a:spcAft>
                <a:spcPts val="0"/>
              </a:spcAft>
              <a:buSzPts val="1400"/>
              <a:buChar char="●"/>
            </a:pPr>
            <a:r>
              <a:rPr lang="en" sz="1400"/>
              <a:t>A sentinel is a “dummy” node that doesn’t actually hold any important information. It’s a placeholder that exists solely so we can avoid those pesky null checks.</a:t>
            </a:r>
            <a:endParaRPr sz="1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8"/>
          <p:cNvSpPr txBox="1"/>
          <p:nvPr>
            <p:ph type="title"/>
          </p:nvPr>
        </p:nvSpPr>
        <p:spPr>
          <a:xfrm>
            <a:off x="727650" y="123690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Review: Sentinel Node Diagram</a:t>
            </a:r>
            <a:endParaRPr/>
          </a:p>
        </p:txBody>
      </p:sp>
      <p:sp>
        <p:nvSpPr>
          <p:cNvPr id="171" name="Google Shape;171;p18"/>
          <p:cNvSpPr/>
          <p:nvPr/>
        </p:nvSpPr>
        <p:spPr>
          <a:xfrm>
            <a:off x="1433748" y="1876895"/>
            <a:ext cx="2683200" cy="7278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8"/>
          <p:cNvSpPr txBox="1"/>
          <p:nvPr/>
        </p:nvSpPr>
        <p:spPr>
          <a:xfrm>
            <a:off x="2711651" y="2058557"/>
            <a:ext cx="310800" cy="19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
        <p:nvSpPr>
          <p:cNvPr id="173" name="Google Shape;173;p18"/>
          <p:cNvSpPr/>
          <p:nvPr/>
        </p:nvSpPr>
        <p:spPr>
          <a:xfrm>
            <a:off x="2616820" y="2066821"/>
            <a:ext cx="438600" cy="300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4" name="Google Shape;174;p18"/>
          <p:cNvSpPr/>
          <p:nvPr/>
        </p:nvSpPr>
        <p:spPr>
          <a:xfrm>
            <a:off x="3177792" y="2071702"/>
            <a:ext cx="438600" cy="300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75" name="Google Shape;175;p18"/>
          <p:cNvCxnSpPr>
            <a:stCxn id="174" idx="3"/>
          </p:cNvCxnSpPr>
          <p:nvPr/>
        </p:nvCxnSpPr>
        <p:spPr>
          <a:xfrm rot="10800000">
            <a:off x="3364092" y="2218252"/>
            <a:ext cx="252300" cy="3600"/>
          </a:xfrm>
          <a:prstGeom prst="straightConnector1">
            <a:avLst/>
          </a:prstGeom>
          <a:noFill/>
          <a:ln cap="flat" cmpd="sng" w="19050">
            <a:solidFill>
              <a:srgbClr val="666666"/>
            </a:solidFill>
            <a:prstDash val="solid"/>
            <a:round/>
            <a:headEnd len="med" w="med" type="none"/>
            <a:tailEnd len="med" w="med" type="none"/>
          </a:ln>
        </p:spPr>
      </p:cxnSp>
      <p:sp>
        <p:nvSpPr>
          <p:cNvPr id="176" name="Google Shape;176;p18"/>
          <p:cNvSpPr txBox="1"/>
          <p:nvPr/>
        </p:nvSpPr>
        <p:spPr>
          <a:xfrm>
            <a:off x="1392483" y="1850504"/>
            <a:ext cx="1374000" cy="269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addFirst()</a:t>
            </a:r>
            <a:endParaRPr>
              <a:latin typeface="Ubuntu Mono"/>
              <a:ea typeface="Ubuntu Mono"/>
              <a:cs typeface="Ubuntu Mono"/>
              <a:sym typeface="Ubuntu Mono"/>
            </a:endParaRPr>
          </a:p>
        </p:txBody>
      </p:sp>
      <p:cxnSp>
        <p:nvCxnSpPr>
          <p:cNvPr id="177" name="Google Shape;177;p18"/>
          <p:cNvCxnSpPr/>
          <p:nvPr/>
        </p:nvCxnSpPr>
        <p:spPr>
          <a:xfrm rot="10800000">
            <a:off x="1042989" y="1993630"/>
            <a:ext cx="377100" cy="0"/>
          </a:xfrm>
          <a:prstGeom prst="straightConnector1">
            <a:avLst/>
          </a:prstGeom>
          <a:noFill/>
          <a:ln cap="flat" cmpd="sng" w="19050">
            <a:solidFill>
              <a:srgbClr val="666666"/>
            </a:solidFill>
            <a:prstDash val="solid"/>
            <a:round/>
            <a:headEnd len="med" w="med" type="none"/>
            <a:tailEnd len="med" w="med" type="none"/>
          </a:ln>
        </p:spPr>
      </p:cxnSp>
      <p:cxnSp>
        <p:nvCxnSpPr>
          <p:cNvPr id="178" name="Google Shape;178;p18"/>
          <p:cNvCxnSpPr/>
          <p:nvPr/>
        </p:nvCxnSpPr>
        <p:spPr>
          <a:xfrm rot="10800000">
            <a:off x="1042989" y="2172965"/>
            <a:ext cx="377100" cy="0"/>
          </a:xfrm>
          <a:prstGeom prst="straightConnector1">
            <a:avLst/>
          </a:prstGeom>
          <a:noFill/>
          <a:ln cap="flat" cmpd="sng" w="19050">
            <a:solidFill>
              <a:srgbClr val="666666"/>
            </a:solidFill>
            <a:prstDash val="solid"/>
            <a:round/>
            <a:headEnd len="med" w="med" type="none"/>
            <a:tailEnd len="med" w="med" type="none"/>
          </a:ln>
        </p:spPr>
      </p:cxnSp>
      <p:sp>
        <p:nvSpPr>
          <p:cNvPr id="179" name="Google Shape;179;p18"/>
          <p:cNvSpPr txBox="1"/>
          <p:nvPr/>
        </p:nvSpPr>
        <p:spPr>
          <a:xfrm>
            <a:off x="3067668" y="1750600"/>
            <a:ext cx="831000" cy="24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first</a:t>
            </a:r>
            <a:endParaRPr>
              <a:latin typeface="Ubuntu Mono"/>
              <a:ea typeface="Ubuntu Mono"/>
              <a:cs typeface="Ubuntu Mono"/>
              <a:sym typeface="Ubuntu Mono"/>
            </a:endParaRPr>
          </a:p>
        </p:txBody>
      </p:sp>
      <p:sp>
        <p:nvSpPr>
          <p:cNvPr id="180" name="Google Shape;180;p18"/>
          <p:cNvSpPr txBox="1"/>
          <p:nvPr/>
        </p:nvSpPr>
        <p:spPr>
          <a:xfrm>
            <a:off x="1399440" y="2018980"/>
            <a:ext cx="1374000" cy="269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getFirst()</a:t>
            </a:r>
            <a:endParaRPr>
              <a:latin typeface="Ubuntu Mono"/>
              <a:ea typeface="Ubuntu Mono"/>
              <a:cs typeface="Ubuntu Mono"/>
              <a:sym typeface="Ubuntu Mono"/>
            </a:endParaRPr>
          </a:p>
        </p:txBody>
      </p:sp>
      <p:sp>
        <p:nvSpPr>
          <p:cNvPr id="181" name="Google Shape;181;p18"/>
          <p:cNvSpPr txBox="1"/>
          <p:nvPr/>
        </p:nvSpPr>
        <p:spPr>
          <a:xfrm>
            <a:off x="2405237" y="3068949"/>
            <a:ext cx="576600" cy="1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Ubuntu Mono"/>
                <a:ea typeface="Ubuntu Mono"/>
                <a:cs typeface="Ubuntu Mono"/>
                <a:sym typeface="Ubuntu Mono"/>
              </a:rPr>
              <a:t>item</a:t>
            </a:r>
            <a:endParaRPr sz="1200">
              <a:latin typeface="Ubuntu Mono"/>
              <a:ea typeface="Ubuntu Mono"/>
              <a:cs typeface="Ubuntu Mono"/>
              <a:sym typeface="Ubuntu Mono"/>
            </a:endParaRPr>
          </a:p>
        </p:txBody>
      </p:sp>
      <p:sp>
        <p:nvSpPr>
          <p:cNvPr id="182" name="Google Shape;182;p18"/>
          <p:cNvSpPr txBox="1"/>
          <p:nvPr/>
        </p:nvSpPr>
        <p:spPr>
          <a:xfrm>
            <a:off x="2870700" y="3068949"/>
            <a:ext cx="576600" cy="1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Ubuntu Mono"/>
                <a:ea typeface="Ubuntu Mono"/>
                <a:cs typeface="Ubuntu Mono"/>
                <a:sym typeface="Ubuntu Mono"/>
              </a:rPr>
              <a:t> next</a:t>
            </a:r>
            <a:endParaRPr sz="1200">
              <a:latin typeface="Ubuntu Mono"/>
              <a:ea typeface="Ubuntu Mono"/>
              <a:cs typeface="Ubuntu Mono"/>
              <a:sym typeface="Ubuntu Mono"/>
            </a:endParaRPr>
          </a:p>
        </p:txBody>
      </p:sp>
      <p:grpSp>
        <p:nvGrpSpPr>
          <p:cNvPr id="183" name="Google Shape;183;p18"/>
          <p:cNvGrpSpPr/>
          <p:nvPr/>
        </p:nvGrpSpPr>
        <p:grpSpPr>
          <a:xfrm>
            <a:off x="2453017" y="2794655"/>
            <a:ext cx="900394" cy="344233"/>
            <a:chOff x="809625" y="3638550"/>
            <a:chExt cx="1190525" cy="495300"/>
          </a:xfrm>
        </p:grpSpPr>
        <p:sp>
          <p:nvSpPr>
            <p:cNvPr id="184" name="Google Shape;184;p18"/>
            <p:cNvSpPr/>
            <p:nvPr/>
          </p:nvSpPr>
          <p:spPr>
            <a:xfrm>
              <a:off x="809625" y="3638550"/>
              <a:ext cx="595200" cy="495300"/>
            </a:xfrm>
            <a:prstGeom prst="rect">
              <a:avLst/>
            </a:prstGeom>
            <a:solidFill>
              <a:srgbClr val="D9D2E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t>
              </a:r>
              <a:endParaRPr/>
            </a:p>
          </p:txBody>
        </p:sp>
        <p:sp>
          <p:nvSpPr>
            <p:cNvPr id="185" name="Google Shape;185;p18"/>
            <p:cNvSpPr/>
            <p:nvPr/>
          </p:nvSpPr>
          <p:spPr>
            <a:xfrm>
              <a:off x="1404950" y="3638550"/>
              <a:ext cx="595200" cy="495300"/>
            </a:xfrm>
            <a:prstGeom prst="rect">
              <a:avLst/>
            </a:prstGeom>
            <a:solidFill>
              <a:srgbClr val="B7B7B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6" name="Google Shape;186;p18"/>
          <p:cNvSpPr txBox="1"/>
          <p:nvPr/>
        </p:nvSpPr>
        <p:spPr>
          <a:xfrm>
            <a:off x="2535714" y="1750604"/>
            <a:ext cx="726300" cy="24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size</a:t>
            </a:r>
            <a:endParaRPr>
              <a:latin typeface="Ubuntu Mono"/>
              <a:ea typeface="Ubuntu Mono"/>
              <a:cs typeface="Ubuntu Mono"/>
              <a:sym typeface="Ubuntu Mono"/>
            </a:endParaRPr>
          </a:p>
        </p:txBody>
      </p:sp>
      <p:cxnSp>
        <p:nvCxnSpPr>
          <p:cNvPr id="187" name="Google Shape;187;p18"/>
          <p:cNvCxnSpPr/>
          <p:nvPr/>
        </p:nvCxnSpPr>
        <p:spPr>
          <a:xfrm rot="10800000">
            <a:off x="1042989" y="2501599"/>
            <a:ext cx="377100" cy="0"/>
          </a:xfrm>
          <a:prstGeom prst="straightConnector1">
            <a:avLst/>
          </a:prstGeom>
          <a:noFill/>
          <a:ln cap="flat" cmpd="sng" w="19050">
            <a:solidFill>
              <a:srgbClr val="666666"/>
            </a:solidFill>
            <a:prstDash val="solid"/>
            <a:round/>
            <a:headEnd len="med" w="med" type="none"/>
            <a:tailEnd len="med" w="med" type="none"/>
          </a:ln>
        </p:spPr>
      </p:cxnSp>
      <p:sp>
        <p:nvSpPr>
          <p:cNvPr id="188" name="Google Shape;188;p18"/>
          <p:cNvSpPr txBox="1"/>
          <p:nvPr/>
        </p:nvSpPr>
        <p:spPr>
          <a:xfrm>
            <a:off x="1399440" y="2351871"/>
            <a:ext cx="1374000" cy="269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size()</a:t>
            </a:r>
            <a:endParaRPr>
              <a:latin typeface="Ubuntu Mono"/>
              <a:ea typeface="Ubuntu Mono"/>
              <a:cs typeface="Ubuntu Mono"/>
              <a:sym typeface="Ubuntu Mono"/>
            </a:endParaRPr>
          </a:p>
        </p:txBody>
      </p:sp>
      <p:sp>
        <p:nvSpPr>
          <p:cNvPr id="189" name="Google Shape;189;p18"/>
          <p:cNvSpPr txBox="1"/>
          <p:nvPr/>
        </p:nvSpPr>
        <p:spPr>
          <a:xfrm>
            <a:off x="1399440" y="2197014"/>
            <a:ext cx="1374000" cy="269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addLast()</a:t>
            </a:r>
            <a:endParaRPr>
              <a:latin typeface="Ubuntu Mono"/>
              <a:ea typeface="Ubuntu Mono"/>
              <a:cs typeface="Ubuntu Mono"/>
              <a:sym typeface="Ubuntu Mono"/>
            </a:endParaRPr>
          </a:p>
        </p:txBody>
      </p:sp>
      <p:cxnSp>
        <p:nvCxnSpPr>
          <p:cNvPr id="190" name="Google Shape;190;p18"/>
          <p:cNvCxnSpPr/>
          <p:nvPr/>
        </p:nvCxnSpPr>
        <p:spPr>
          <a:xfrm rot="10800000">
            <a:off x="1042989" y="2346741"/>
            <a:ext cx="377100" cy="0"/>
          </a:xfrm>
          <a:prstGeom prst="straightConnector1">
            <a:avLst/>
          </a:prstGeom>
          <a:noFill/>
          <a:ln cap="flat" cmpd="sng" w="19050">
            <a:solidFill>
              <a:srgbClr val="666666"/>
            </a:solidFill>
            <a:prstDash val="solid"/>
            <a:round/>
            <a:headEnd len="med" w="med" type="none"/>
            <a:tailEnd len="med" w="med" type="none"/>
          </a:ln>
        </p:spPr>
      </p:cxnSp>
      <p:cxnSp>
        <p:nvCxnSpPr>
          <p:cNvPr id="191" name="Google Shape;191;p18"/>
          <p:cNvCxnSpPr>
            <a:stCxn id="174" idx="3"/>
            <a:endCxn id="185" idx="0"/>
          </p:cNvCxnSpPr>
          <p:nvPr/>
        </p:nvCxnSpPr>
        <p:spPr>
          <a:xfrm flipH="1">
            <a:off x="3128292" y="2221852"/>
            <a:ext cx="488100" cy="572700"/>
          </a:xfrm>
          <a:prstGeom prst="curvedConnector4">
            <a:avLst>
              <a:gd fmla="val -42583" name="adj1"/>
              <a:gd fmla="val 63124" name="adj2"/>
            </a:avLst>
          </a:prstGeom>
          <a:noFill/>
          <a:ln cap="flat" cmpd="sng" w="19050">
            <a:solidFill>
              <a:srgbClr val="666666"/>
            </a:solidFill>
            <a:prstDash val="solid"/>
            <a:round/>
            <a:headEnd len="med" w="med" type="none"/>
            <a:tailEnd len="med" w="med" type="triangle"/>
          </a:ln>
        </p:spPr>
      </p:cxnSp>
      <p:grpSp>
        <p:nvGrpSpPr>
          <p:cNvPr id="192" name="Google Shape;192;p18"/>
          <p:cNvGrpSpPr/>
          <p:nvPr/>
        </p:nvGrpSpPr>
        <p:grpSpPr>
          <a:xfrm>
            <a:off x="1089725" y="3362766"/>
            <a:ext cx="6858913" cy="1437354"/>
            <a:chOff x="714023" y="3226439"/>
            <a:chExt cx="7860318" cy="1792659"/>
          </a:xfrm>
        </p:grpSpPr>
        <p:sp>
          <p:nvSpPr>
            <p:cNvPr id="193" name="Google Shape;193;p18"/>
            <p:cNvSpPr/>
            <p:nvPr/>
          </p:nvSpPr>
          <p:spPr>
            <a:xfrm>
              <a:off x="2517725" y="3620813"/>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4" name="Google Shape;194;p18"/>
            <p:cNvSpPr/>
            <p:nvPr/>
          </p:nvSpPr>
          <p:spPr>
            <a:xfrm>
              <a:off x="1161975" y="3383950"/>
              <a:ext cx="3075000" cy="9075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8"/>
            <p:cNvSpPr/>
            <p:nvPr/>
          </p:nvSpPr>
          <p:spPr>
            <a:xfrm>
              <a:off x="3160575" y="3626900"/>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96" name="Google Shape;196;p18"/>
            <p:cNvCxnSpPr>
              <a:stCxn id="195" idx="3"/>
              <a:endCxn id="197" idx="0"/>
            </p:cNvCxnSpPr>
            <p:nvPr/>
          </p:nvCxnSpPr>
          <p:spPr>
            <a:xfrm flipH="1">
              <a:off x="3103875" y="3814250"/>
              <a:ext cx="559200" cy="714000"/>
            </a:xfrm>
            <a:prstGeom prst="curvedConnector4">
              <a:avLst>
                <a:gd fmla="val -48827" name="adj1"/>
                <a:gd fmla="val 63124" name="adj2"/>
              </a:avLst>
            </a:prstGeom>
            <a:noFill/>
            <a:ln cap="flat" cmpd="sng" w="19050">
              <a:solidFill>
                <a:srgbClr val="666666"/>
              </a:solidFill>
              <a:prstDash val="solid"/>
              <a:round/>
              <a:headEnd len="med" w="med" type="none"/>
              <a:tailEnd len="med" w="med" type="triangle"/>
            </a:ln>
          </p:spPr>
        </p:cxnSp>
        <p:cxnSp>
          <p:nvCxnSpPr>
            <p:cNvPr id="198" name="Google Shape;198;p18"/>
            <p:cNvCxnSpPr>
              <a:stCxn id="195" idx="3"/>
            </p:cNvCxnSpPr>
            <p:nvPr/>
          </p:nvCxnSpPr>
          <p:spPr>
            <a:xfrm rot="10800000">
              <a:off x="3373875" y="3809750"/>
              <a:ext cx="289200" cy="4500"/>
            </a:xfrm>
            <a:prstGeom prst="straightConnector1">
              <a:avLst/>
            </a:prstGeom>
            <a:noFill/>
            <a:ln cap="flat" cmpd="sng" w="19050">
              <a:solidFill>
                <a:srgbClr val="666666"/>
              </a:solidFill>
              <a:prstDash val="solid"/>
              <a:round/>
              <a:headEnd len="med" w="med" type="none"/>
              <a:tailEnd len="med" w="med" type="none"/>
            </a:ln>
          </p:spPr>
        </p:cxnSp>
        <p:sp>
          <p:nvSpPr>
            <p:cNvPr id="199" name="Google Shape;199;p18"/>
            <p:cNvSpPr txBox="1"/>
            <p:nvPr/>
          </p:nvSpPr>
          <p:spPr>
            <a:xfrm>
              <a:off x="1114688" y="3351037"/>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addFirst()</a:t>
              </a:r>
              <a:endParaRPr>
                <a:latin typeface="Ubuntu Mono"/>
                <a:ea typeface="Ubuntu Mono"/>
                <a:cs typeface="Ubuntu Mono"/>
                <a:sym typeface="Ubuntu Mono"/>
              </a:endParaRPr>
            </a:p>
          </p:txBody>
        </p:sp>
        <p:cxnSp>
          <p:nvCxnSpPr>
            <p:cNvPr id="200" name="Google Shape;200;p18"/>
            <p:cNvCxnSpPr/>
            <p:nvPr/>
          </p:nvCxnSpPr>
          <p:spPr>
            <a:xfrm rot="10800000">
              <a:off x="714023" y="3529534"/>
              <a:ext cx="432300" cy="0"/>
            </a:xfrm>
            <a:prstGeom prst="straightConnector1">
              <a:avLst/>
            </a:prstGeom>
            <a:noFill/>
            <a:ln cap="flat" cmpd="sng" w="19050">
              <a:solidFill>
                <a:srgbClr val="666666"/>
              </a:solidFill>
              <a:prstDash val="solid"/>
              <a:round/>
              <a:headEnd len="med" w="med" type="none"/>
              <a:tailEnd len="med" w="med" type="none"/>
            </a:ln>
          </p:spPr>
        </p:cxnSp>
        <p:cxnSp>
          <p:nvCxnSpPr>
            <p:cNvPr id="201" name="Google Shape;201;p18"/>
            <p:cNvCxnSpPr/>
            <p:nvPr/>
          </p:nvCxnSpPr>
          <p:spPr>
            <a:xfrm rot="10800000">
              <a:off x="714023" y="3753188"/>
              <a:ext cx="432300" cy="0"/>
            </a:xfrm>
            <a:prstGeom prst="straightConnector1">
              <a:avLst/>
            </a:prstGeom>
            <a:noFill/>
            <a:ln cap="flat" cmpd="sng" w="19050">
              <a:solidFill>
                <a:srgbClr val="666666"/>
              </a:solidFill>
              <a:prstDash val="solid"/>
              <a:round/>
              <a:headEnd len="med" w="med" type="none"/>
              <a:tailEnd len="med" w="med" type="none"/>
            </a:ln>
          </p:spPr>
        </p:cxnSp>
        <p:sp>
          <p:nvSpPr>
            <p:cNvPr id="202" name="Google Shape;202;p18"/>
            <p:cNvSpPr txBox="1"/>
            <p:nvPr/>
          </p:nvSpPr>
          <p:spPr>
            <a:xfrm>
              <a:off x="3034387" y="3226439"/>
              <a:ext cx="1031700" cy="30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first</a:t>
              </a:r>
              <a:endParaRPr>
                <a:latin typeface="Ubuntu Mono"/>
                <a:ea typeface="Ubuntu Mono"/>
                <a:cs typeface="Ubuntu Mono"/>
                <a:sym typeface="Ubuntu Mono"/>
              </a:endParaRPr>
            </a:p>
          </p:txBody>
        </p:sp>
        <p:sp>
          <p:nvSpPr>
            <p:cNvPr id="203" name="Google Shape;203;p18"/>
            <p:cNvSpPr txBox="1"/>
            <p:nvPr/>
          </p:nvSpPr>
          <p:spPr>
            <a:xfrm>
              <a:off x="1122660" y="3561150"/>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getFirst()</a:t>
              </a:r>
              <a:endParaRPr>
                <a:latin typeface="Ubuntu Mono"/>
                <a:ea typeface="Ubuntu Mono"/>
                <a:cs typeface="Ubuntu Mono"/>
                <a:sym typeface="Ubuntu Mono"/>
              </a:endParaRPr>
            </a:p>
          </p:txBody>
        </p:sp>
        <p:sp>
          <p:nvSpPr>
            <p:cNvPr id="204" name="Google Shape;204;p18"/>
            <p:cNvSpPr txBox="1"/>
            <p:nvPr/>
          </p:nvSpPr>
          <p:spPr>
            <a:xfrm>
              <a:off x="2275261" y="4870598"/>
              <a:ext cx="660600" cy="1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Ubuntu Mono"/>
                  <a:ea typeface="Ubuntu Mono"/>
                  <a:cs typeface="Ubuntu Mono"/>
                  <a:sym typeface="Ubuntu Mono"/>
                </a:rPr>
                <a:t>item</a:t>
              </a:r>
              <a:endParaRPr sz="1200">
                <a:latin typeface="Ubuntu Mono"/>
                <a:ea typeface="Ubuntu Mono"/>
                <a:cs typeface="Ubuntu Mono"/>
                <a:sym typeface="Ubuntu Mono"/>
              </a:endParaRPr>
            </a:p>
          </p:txBody>
        </p:sp>
        <p:sp>
          <p:nvSpPr>
            <p:cNvPr id="205" name="Google Shape;205;p18"/>
            <p:cNvSpPr txBox="1"/>
            <p:nvPr/>
          </p:nvSpPr>
          <p:spPr>
            <a:xfrm>
              <a:off x="2808661" y="4870598"/>
              <a:ext cx="660600" cy="1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Ubuntu Mono"/>
                  <a:ea typeface="Ubuntu Mono"/>
                  <a:cs typeface="Ubuntu Mono"/>
                  <a:sym typeface="Ubuntu Mono"/>
                </a:rPr>
                <a:t> next</a:t>
              </a:r>
              <a:endParaRPr sz="1200">
                <a:latin typeface="Ubuntu Mono"/>
                <a:ea typeface="Ubuntu Mono"/>
                <a:cs typeface="Ubuntu Mono"/>
                <a:sym typeface="Ubuntu Mono"/>
              </a:endParaRPr>
            </a:p>
          </p:txBody>
        </p:sp>
        <p:grpSp>
          <p:nvGrpSpPr>
            <p:cNvPr id="206" name="Google Shape;206;p18"/>
            <p:cNvGrpSpPr/>
            <p:nvPr/>
          </p:nvGrpSpPr>
          <p:grpSpPr>
            <a:xfrm>
              <a:off x="2330024" y="4528314"/>
              <a:ext cx="1031828" cy="429277"/>
              <a:chOff x="809625" y="3638550"/>
              <a:chExt cx="1190525" cy="495300"/>
            </a:xfrm>
          </p:grpSpPr>
          <p:sp>
            <p:nvSpPr>
              <p:cNvPr id="207" name="Google Shape;207;p18"/>
              <p:cNvSpPr/>
              <p:nvPr/>
            </p:nvSpPr>
            <p:spPr>
              <a:xfrm>
                <a:off x="809625" y="3638550"/>
                <a:ext cx="595200" cy="495300"/>
              </a:xfrm>
              <a:prstGeom prst="rect">
                <a:avLst/>
              </a:prstGeom>
              <a:solidFill>
                <a:srgbClr val="D9D2E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t>
                </a:r>
                <a:endParaRPr/>
              </a:p>
            </p:txBody>
          </p:sp>
          <p:sp>
            <p:nvSpPr>
              <p:cNvPr id="197" name="Google Shape;197;p18"/>
              <p:cNvSpPr/>
              <p:nvPr/>
            </p:nvSpPr>
            <p:spPr>
              <a:xfrm>
                <a:off x="1404950"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8"/>
            <p:cNvGrpSpPr/>
            <p:nvPr/>
          </p:nvGrpSpPr>
          <p:grpSpPr>
            <a:xfrm>
              <a:off x="4067520" y="4528314"/>
              <a:ext cx="1031828" cy="429277"/>
              <a:chOff x="809625" y="3638550"/>
              <a:chExt cx="1190525" cy="495300"/>
            </a:xfrm>
          </p:grpSpPr>
          <p:sp>
            <p:nvSpPr>
              <p:cNvPr id="209" name="Google Shape;209;p18"/>
              <p:cNvSpPr/>
              <p:nvPr/>
            </p:nvSpPr>
            <p:spPr>
              <a:xfrm>
                <a:off x="809625"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210" name="Google Shape;210;p18"/>
              <p:cNvSpPr/>
              <p:nvPr/>
            </p:nvSpPr>
            <p:spPr>
              <a:xfrm>
                <a:off x="1404950"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1" name="Google Shape;211;p18"/>
            <p:cNvGrpSpPr/>
            <p:nvPr/>
          </p:nvGrpSpPr>
          <p:grpSpPr>
            <a:xfrm>
              <a:off x="7542513" y="4528314"/>
              <a:ext cx="1031828" cy="429277"/>
              <a:chOff x="809625" y="3638550"/>
              <a:chExt cx="1190525" cy="495300"/>
            </a:xfrm>
          </p:grpSpPr>
          <p:sp>
            <p:nvSpPr>
              <p:cNvPr id="212" name="Google Shape;212;p18"/>
              <p:cNvSpPr/>
              <p:nvPr/>
            </p:nvSpPr>
            <p:spPr>
              <a:xfrm>
                <a:off x="809625"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15</a:t>
                </a:r>
                <a:endParaRPr/>
              </a:p>
            </p:txBody>
          </p:sp>
          <p:sp>
            <p:nvSpPr>
              <p:cNvPr id="213" name="Google Shape;213;p18"/>
              <p:cNvSpPr/>
              <p:nvPr/>
            </p:nvSpPr>
            <p:spPr>
              <a:xfrm>
                <a:off x="1404950" y="3638550"/>
                <a:ext cx="595200" cy="495300"/>
              </a:xfrm>
              <a:prstGeom prst="rect">
                <a:avLst/>
              </a:prstGeom>
              <a:solidFill>
                <a:srgbClr val="B7B7B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8"/>
            <p:cNvGrpSpPr/>
            <p:nvPr/>
          </p:nvGrpSpPr>
          <p:grpSpPr>
            <a:xfrm>
              <a:off x="5805017" y="4528314"/>
              <a:ext cx="1031828" cy="429277"/>
              <a:chOff x="809625" y="3638550"/>
              <a:chExt cx="1190525" cy="495300"/>
            </a:xfrm>
          </p:grpSpPr>
          <p:sp>
            <p:nvSpPr>
              <p:cNvPr id="215" name="Google Shape;215;p18"/>
              <p:cNvSpPr/>
              <p:nvPr/>
            </p:nvSpPr>
            <p:spPr>
              <a:xfrm>
                <a:off x="809625"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10</a:t>
                </a:r>
                <a:endParaRPr/>
              </a:p>
            </p:txBody>
          </p:sp>
          <p:sp>
            <p:nvSpPr>
              <p:cNvPr id="216" name="Google Shape;216;p18"/>
              <p:cNvSpPr/>
              <p:nvPr/>
            </p:nvSpPr>
            <p:spPr>
              <a:xfrm>
                <a:off x="1404950"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17" name="Google Shape;217;p18"/>
            <p:cNvCxnSpPr>
              <a:endCxn id="209" idx="1"/>
            </p:cNvCxnSpPr>
            <p:nvPr/>
          </p:nvCxnSpPr>
          <p:spPr>
            <a:xfrm>
              <a:off x="3011220" y="4742952"/>
              <a:ext cx="1056300" cy="0"/>
            </a:xfrm>
            <a:prstGeom prst="straightConnector1">
              <a:avLst/>
            </a:prstGeom>
            <a:noFill/>
            <a:ln cap="flat" cmpd="sng" w="19050">
              <a:solidFill>
                <a:srgbClr val="666666"/>
              </a:solidFill>
              <a:prstDash val="solid"/>
              <a:round/>
              <a:headEnd len="med" w="med" type="none"/>
              <a:tailEnd len="med" w="med" type="triangle"/>
            </a:ln>
          </p:spPr>
        </p:cxnSp>
        <p:cxnSp>
          <p:nvCxnSpPr>
            <p:cNvPr id="218" name="Google Shape;218;p18"/>
            <p:cNvCxnSpPr>
              <a:endCxn id="215" idx="1"/>
            </p:cNvCxnSpPr>
            <p:nvPr/>
          </p:nvCxnSpPr>
          <p:spPr>
            <a:xfrm>
              <a:off x="4722617" y="4742952"/>
              <a:ext cx="1082400" cy="0"/>
            </a:xfrm>
            <a:prstGeom prst="straightConnector1">
              <a:avLst/>
            </a:prstGeom>
            <a:noFill/>
            <a:ln cap="flat" cmpd="sng" w="19050">
              <a:solidFill>
                <a:srgbClr val="666666"/>
              </a:solidFill>
              <a:prstDash val="solid"/>
              <a:round/>
              <a:headEnd len="med" w="med" type="none"/>
              <a:tailEnd len="med" w="med" type="triangle"/>
            </a:ln>
          </p:spPr>
        </p:cxnSp>
        <p:cxnSp>
          <p:nvCxnSpPr>
            <p:cNvPr id="219" name="Google Shape;219;p18"/>
            <p:cNvCxnSpPr>
              <a:endCxn id="212" idx="1"/>
            </p:cNvCxnSpPr>
            <p:nvPr/>
          </p:nvCxnSpPr>
          <p:spPr>
            <a:xfrm>
              <a:off x="6419913" y="4742952"/>
              <a:ext cx="1122600" cy="0"/>
            </a:xfrm>
            <a:prstGeom prst="straightConnector1">
              <a:avLst/>
            </a:prstGeom>
            <a:noFill/>
            <a:ln cap="flat" cmpd="sng" w="19050">
              <a:solidFill>
                <a:srgbClr val="666666"/>
              </a:solidFill>
              <a:prstDash val="solid"/>
              <a:round/>
              <a:headEnd len="med" w="med" type="none"/>
              <a:tailEnd len="med" w="med" type="triangle"/>
            </a:ln>
          </p:spPr>
        </p:cxnSp>
        <p:sp>
          <p:nvSpPr>
            <p:cNvPr id="220" name="Google Shape;220;p18"/>
            <p:cNvSpPr txBox="1"/>
            <p:nvPr/>
          </p:nvSpPr>
          <p:spPr>
            <a:xfrm>
              <a:off x="2626397" y="3610507"/>
              <a:ext cx="356100" cy="24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3</a:t>
              </a:r>
              <a:endParaRPr/>
            </a:p>
          </p:txBody>
        </p:sp>
        <p:sp>
          <p:nvSpPr>
            <p:cNvPr id="221" name="Google Shape;221;p18"/>
            <p:cNvSpPr txBox="1"/>
            <p:nvPr/>
          </p:nvSpPr>
          <p:spPr>
            <a:xfrm>
              <a:off x="2424778" y="3226445"/>
              <a:ext cx="832200" cy="30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size</a:t>
              </a:r>
              <a:endParaRPr>
                <a:latin typeface="Ubuntu Mono"/>
                <a:ea typeface="Ubuntu Mono"/>
                <a:cs typeface="Ubuntu Mono"/>
                <a:sym typeface="Ubuntu Mono"/>
              </a:endParaRPr>
            </a:p>
          </p:txBody>
        </p:sp>
        <p:cxnSp>
          <p:nvCxnSpPr>
            <p:cNvPr id="222" name="Google Shape;222;p18"/>
            <p:cNvCxnSpPr/>
            <p:nvPr/>
          </p:nvCxnSpPr>
          <p:spPr>
            <a:xfrm rot="10800000">
              <a:off x="714023" y="4163038"/>
              <a:ext cx="432300" cy="0"/>
            </a:xfrm>
            <a:prstGeom prst="straightConnector1">
              <a:avLst/>
            </a:prstGeom>
            <a:noFill/>
            <a:ln cap="flat" cmpd="sng" w="19050">
              <a:solidFill>
                <a:srgbClr val="666666"/>
              </a:solidFill>
              <a:prstDash val="solid"/>
              <a:round/>
              <a:headEnd len="med" w="med" type="none"/>
              <a:tailEnd len="med" w="med" type="none"/>
            </a:ln>
          </p:spPr>
        </p:cxnSp>
        <p:sp>
          <p:nvSpPr>
            <p:cNvPr id="223" name="Google Shape;223;p18"/>
            <p:cNvSpPr txBox="1"/>
            <p:nvPr/>
          </p:nvSpPr>
          <p:spPr>
            <a:xfrm>
              <a:off x="1122660" y="3976308"/>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size()</a:t>
              </a:r>
              <a:endParaRPr>
                <a:latin typeface="Ubuntu Mono"/>
                <a:ea typeface="Ubuntu Mono"/>
                <a:cs typeface="Ubuntu Mono"/>
                <a:sym typeface="Ubuntu Mono"/>
              </a:endParaRPr>
            </a:p>
          </p:txBody>
        </p:sp>
        <p:sp>
          <p:nvSpPr>
            <p:cNvPr id="224" name="Google Shape;224;p18"/>
            <p:cNvSpPr txBox="1"/>
            <p:nvPr/>
          </p:nvSpPr>
          <p:spPr>
            <a:xfrm>
              <a:off x="1122660" y="3783180"/>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addLast()</a:t>
              </a:r>
              <a:endParaRPr>
                <a:latin typeface="Ubuntu Mono"/>
                <a:ea typeface="Ubuntu Mono"/>
                <a:cs typeface="Ubuntu Mono"/>
                <a:sym typeface="Ubuntu Mono"/>
              </a:endParaRPr>
            </a:p>
          </p:txBody>
        </p:sp>
        <p:cxnSp>
          <p:nvCxnSpPr>
            <p:cNvPr id="225" name="Google Shape;225;p18"/>
            <p:cNvCxnSpPr/>
            <p:nvPr/>
          </p:nvCxnSpPr>
          <p:spPr>
            <a:xfrm rot="10800000">
              <a:off x="714023" y="3969910"/>
              <a:ext cx="432300" cy="0"/>
            </a:xfrm>
            <a:prstGeom prst="straightConnector1">
              <a:avLst/>
            </a:prstGeom>
            <a:noFill/>
            <a:ln cap="flat" cmpd="sng" w="19050">
              <a:solidFill>
                <a:srgbClr val="666666"/>
              </a:solidFill>
              <a:prstDash val="solid"/>
              <a:round/>
              <a:headEnd len="med" w="med" type="none"/>
              <a:tailEnd len="med" w="med" type="none"/>
            </a:ln>
          </p:spPr>
        </p:cxnSp>
      </p:grpSp>
      <p:cxnSp>
        <p:nvCxnSpPr>
          <p:cNvPr id="226" name="Google Shape;226;p18"/>
          <p:cNvCxnSpPr/>
          <p:nvPr/>
        </p:nvCxnSpPr>
        <p:spPr>
          <a:xfrm>
            <a:off x="2899097" y="2794977"/>
            <a:ext cx="453300" cy="343200"/>
          </a:xfrm>
          <a:prstGeom prst="straightConnector1">
            <a:avLst/>
          </a:prstGeom>
          <a:noFill/>
          <a:ln cap="flat" cmpd="sng" w="19050">
            <a:solidFill>
              <a:srgbClr val="666666"/>
            </a:solidFill>
            <a:prstDash val="solid"/>
            <a:round/>
            <a:headEnd len="med" w="med" type="none"/>
            <a:tailEnd len="med" w="med" type="none"/>
          </a:ln>
        </p:spPr>
      </p:cxnSp>
      <p:cxnSp>
        <p:nvCxnSpPr>
          <p:cNvPr id="227" name="Google Shape;227;p18"/>
          <p:cNvCxnSpPr/>
          <p:nvPr/>
        </p:nvCxnSpPr>
        <p:spPr>
          <a:xfrm>
            <a:off x="7440562" y="4406496"/>
            <a:ext cx="453300" cy="343200"/>
          </a:xfrm>
          <a:prstGeom prst="straightConnector1">
            <a:avLst/>
          </a:prstGeom>
          <a:noFill/>
          <a:ln cap="flat" cmpd="sng" w="19050">
            <a:solidFill>
              <a:srgbClr val="666666"/>
            </a:solidFill>
            <a:prstDash val="solid"/>
            <a:round/>
            <a:headEnd len="med" w="med" type="none"/>
            <a:tailEnd len="med" w="med" type="none"/>
          </a:ln>
        </p:spPr>
      </p:cxnSp>
      <p:sp>
        <p:nvSpPr>
          <p:cNvPr id="228" name="Google Shape;228;p18"/>
          <p:cNvSpPr/>
          <p:nvPr/>
        </p:nvSpPr>
        <p:spPr>
          <a:xfrm>
            <a:off x="3748475" y="2091175"/>
            <a:ext cx="1541400" cy="248100"/>
          </a:xfrm>
          <a:prstGeom prst="leftArrow">
            <a:avLst>
              <a:gd fmla="val 50000" name="adj1"/>
              <a:gd fmla="val 50000" name="adj2"/>
            </a:avLst>
          </a:prstGeom>
          <a:solidFill>
            <a:srgbClr val="FF0000"/>
          </a:solidFill>
          <a:ln cap="flat" cmpd="sng" w="3810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8"/>
          <p:cNvSpPr txBox="1"/>
          <p:nvPr/>
        </p:nvSpPr>
        <p:spPr>
          <a:xfrm>
            <a:off x="5459150" y="1932700"/>
            <a:ext cx="3439500" cy="610200"/>
          </a:xfrm>
          <a:prstGeom prst="rect">
            <a:avLst/>
          </a:prstGeom>
          <a:solidFill>
            <a:srgbClr val="FCE5CD"/>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Instead of pointing to null, first points to the sentinel node.</a:t>
            </a:r>
            <a:endParaRPr/>
          </a:p>
        </p:txBody>
      </p:sp>
      <p:sp>
        <p:nvSpPr>
          <p:cNvPr id="230" name="Google Shape;230;p18"/>
          <p:cNvSpPr txBox="1"/>
          <p:nvPr/>
        </p:nvSpPr>
        <p:spPr>
          <a:xfrm>
            <a:off x="4702700" y="3036725"/>
            <a:ext cx="3439500" cy="344100"/>
          </a:xfrm>
          <a:prstGeom prst="rect">
            <a:avLst/>
          </a:prstGeom>
          <a:solidFill>
            <a:srgbClr val="FCE5CD"/>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The sentinel is not included in the size</a:t>
            </a:r>
            <a:endParaRPr/>
          </a:p>
        </p:txBody>
      </p:sp>
      <p:sp>
        <p:nvSpPr>
          <p:cNvPr id="231" name="Google Shape;231;p18"/>
          <p:cNvSpPr/>
          <p:nvPr/>
        </p:nvSpPr>
        <p:spPr>
          <a:xfrm rot="-919694">
            <a:off x="3132897" y="3334946"/>
            <a:ext cx="1484404" cy="192865"/>
          </a:xfrm>
          <a:prstGeom prst="leftArrow">
            <a:avLst>
              <a:gd fmla="val 50000" name="adj1"/>
              <a:gd fmla="val 50000" name="adj2"/>
            </a:avLst>
          </a:prstGeom>
          <a:solidFill>
            <a:srgbClr val="FF0000"/>
          </a:solidFill>
          <a:ln cap="flat" cmpd="sng" w="3810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8"/>
          <p:cNvSpPr/>
          <p:nvPr/>
        </p:nvSpPr>
        <p:spPr>
          <a:xfrm rot="1506771">
            <a:off x="2905243" y="2642687"/>
            <a:ext cx="1720536" cy="193126"/>
          </a:xfrm>
          <a:prstGeom prst="leftArrow">
            <a:avLst>
              <a:gd fmla="val 50000" name="adj1"/>
              <a:gd fmla="val 50000" name="adj2"/>
            </a:avLst>
          </a:prstGeom>
          <a:solidFill>
            <a:srgbClr val="FF0000"/>
          </a:solidFill>
          <a:ln cap="flat" cmpd="sng" w="3810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1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Review: DLLists</a:t>
            </a:r>
            <a:endParaRPr/>
          </a:p>
        </p:txBody>
      </p:sp>
      <p:sp>
        <p:nvSpPr>
          <p:cNvPr id="238" name="Google Shape;238;p19"/>
          <p:cNvSpPr txBox="1"/>
          <p:nvPr>
            <p:ph idx="1" type="body"/>
          </p:nvPr>
        </p:nvSpPr>
        <p:spPr>
          <a:xfrm>
            <a:off x="729450" y="2027175"/>
            <a:ext cx="7341300" cy="8127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One thing that a list should support is </a:t>
            </a:r>
            <a:r>
              <a:rPr b="1" lang="en"/>
              <a:t>remove(int i) </a:t>
            </a:r>
            <a:r>
              <a:rPr lang="en"/>
              <a:t>which removes the node whose item is i</a:t>
            </a:r>
            <a:r>
              <a:rPr b="1" lang="en"/>
              <a:t>. </a:t>
            </a:r>
            <a:endParaRPr b="1"/>
          </a:p>
          <a:p>
            <a:pPr indent="-311150" lvl="0" marL="457200" rtl="0" algn="l">
              <a:spcBef>
                <a:spcPts val="0"/>
              </a:spcBef>
              <a:spcAft>
                <a:spcPts val="0"/>
              </a:spcAft>
              <a:buSzPts val="1300"/>
              <a:buChar char="●"/>
            </a:pPr>
            <a:r>
              <a:rPr lang="en"/>
              <a:t>With our brand new SLList with sentinel, what would we have to do to remove a link?</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Review: DLLists</a:t>
            </a:r>
            <a:endParaRPr/>
          </a:p>
        </p:txBody>
      </p:sp>
      <p:sp>
        <p:nvSpPr>
          <p:cNvPr id="244" name="Google Shape;244;p20"/>
          <p:cNvSpPr txBox="1"/>
          <p:nvPr>
            <p:ph idx="1" type="body"/>
          </p:nvPr>
        </p:nvSpPr>
        <p:spPr>
          <a:xfrm>
            <a:off x="729450" y="2027175"/>
            <a:ext cx="7348200" cy="15252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One thing that a list should support is </a:t>
            </a:r>
            <a:r>
              <a:rPr b="1" lang="en"/>
              <a:t>remove(int i) </a:t>
            </a:r>
            <a:r>
              <a:rPr lang="en"/>
              <a:t>which </a:t>
            </a:r>
            <a:r>
              <a:rPr lang="en"/>
              <a:t>removes the node whose item is i</a:t>
            </a:r>
            <a:r>
              <a:rPr b="1" lang="en"/>
              <a:t>. </a:t>
            </a:r>
            <a:endParaRPr b="1"/>
          </a:p>
          <a:p>
            <a:pPr indent="-311150" lvl="0" marL="457200" rtl="0" algn="l">
              <a:spcBef>
                <a:spcPts val="0"/>
              </a:spcBef>
              <a:spcAft>
                <a:spcPts val="0"/>
              </a:spcAft>
              <a:buSzPts val="1300"/>
              <a:buChar char="●"/>
            </a:pPr>
            <a:r>
              <a:rPr lang="en"/>
              <a:t>With our brand new SLList with sentinel, what would we have to do to remove a link?</a:t>
            </a:r>
            <a:endParaRPr/>
          </a:p>
        </p:txBody>
      </p:sp>
      <p:grpSp>
        <p:nvGrpSpPr>
          <p:cNvPr id="245" name="Google Shape;245;p20"/>
          <p:cNvGrpSpPr/>
          <p:nvPr/>
        </p:nvGrpSpPr>
        <p:grpSpPr>
          <a:xfrm>
            <a:off x="1813709" y="3266560"/>
            <a:ext cx="4854379" cy="344194"/>
            <a:chOff x="3011220" y="4528314"/>
            <a:chExt cx="5563121" cy="429277"/>
          </a:xfrm>
        </p:grpSpPr>
        <p:grpSp>
          <p:nvGrpSpPr>
            <p:cNvPr id="246" name="Google Shape;246;p20"/>
            <p:cNvGrpSpPr/>
            <p:nvPr/>
          </p:nvGrpSpPr>
          <p:grpSpPr>
            <a:xfrm>
              <a:off x="4067520" y="4528314"/>
              <a:ext cx="1031828" cy="429277"/>
              <a:chOff x="809625" y="3638550"/>
              <a:chExt cx="1190525" cy="495300"/>
            </a:xfrm>
          </p:grpSpPr>
          <p:sp>
            <p:nvSpPr>
              <p:cNvPr id="247" name="Google Shape;247;p20"/>
              <p:cNvSpPr/>
              <p:nvPr/>
            </p:nvSpPr>
            <p:spPr>
              <a:xfrm>
                <a:off x="809625"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248" name="Google Shape;248;p20"/>
              <p:cNvSpPr/>
              <p:nvPr/>
            </p:nvSpPr>
            <p:spPr>
              <a:xfrm>
                <a:off x="1404950"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20"/>
            <p:cNvGrpSpPr/>
            <p:nvPr/>
          </p:nvGrpSpPr>
          <p:grpSpPr>
            <a:xfrm>
              <a:off x="7542513" y="4528314"/>
              <a:ext cx="1031828" cy="429277"/>
              <a:chOff x="809625" y="3638550"/>
              <a:chExt cx="1190525" cy="495300"/>
            </a:xfrm>
          </p:grpSpPr>
          <p:sp>
            <p:nvSpPr>
              <p:cNvPr id="250" name="Google Shape;250;p20"/>
              <p:cNvSpPr/>
              <p:nvPr/>
            </p:nvSpPr>
            <p:spPr>
              <a:xfrm>
                <a:off x="809625"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15</a:t>
                </a:r>
                <a:endParaRPr/>
              </a:p>
            </p:txBody>
          </p:sp>
          <p:sp>
            <p:nvSpPr>
              <p:cNvPr id="251" name="Google Shape;251;p20"/>
              <p:cNvSpPr/>
              <p:nvPr/>
            </p:nvSpPr>
            <p:spPr>
              <a:xfrm>
                <a:off x="1404950" y="3638550"/>
                <a:ext cx="595200" cy="495300"/>
              </a:xfrm>
              <a:prstGeom prst="rect">
                <a:avLst/>
              </a:prstGeom>
              <a:solidFill>
                <a:srgbClr val="B7B7B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2" name="Google Shape;252;p20"/>
            <p:cNvGrpSpPr/>
            <p:nvPr/>
          </p:nvGrpSpPr>
          <p:grpSpPr>
            <a:xfrm>
              <a:off x="5805017" y="4528314"/>
              <a:ext cx="1031828" cy="429277"/>
              <a:chOff x="809625" y="3638550"/>
              <a:chExt cx="1190525" cy="495300"/>
            </a:xfrm>
          </p:grpSpPr>
          <p:sp>
            <p:nvSpPr>
              <p:cNvPr id="253" name="Google Shape;253;p20"/>
              <p:cNvSpPr/>
              <p:nvPr/>
            </p:nvSpPr>
            <p:spPr>
              <a:xfrm>
                <a:off x="809625"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10</a:t>
                </a:r>
                <a:endParaRPr/>
              </a:p>
            </p:txBody>
          </p:sp>
          <p:sp>
            <p:nvSpPr>
              <p:cNvPr id="254" name="Google Shape;254;p20"/>
              <p:cNvSpPr/>
              <p:nvPr/>
            </p:nvSpPr>
            <p:spPr>
              <a:xfrm>
                <a:off x="1404950"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55" name="Google Shape;255;p20"/>
            <p:cNvCxnSpPr>
              <a:endCxn id="247" idx="1"/>
            </p:cNvCxnSpPr>
            <p:nvPr/>
          </p:nvCxnSpPr>
          <p:spPr>
            <a:xfrm>
              <a:off x="3011220" y="4742952"/>
              <a:ext cx="1056300" cy="0"/>
            </a:xfrm>
            <a:prstGeom prst="straightConnector1">
              <a:avLst/>
            </a:prstGeom>
            <a:noFill/>
            <a:ln cap="flat" cmpd="sng" w="19050">
              <a:solidFill>
                <a:srgbClr val="666666"/>
              </a:solidFill>
              <a:prstDash val="solid"/>
              <a:round/>
              <a:headEnd len="med" w="med" type="none"/>
              <a:tailEnd len="med" w="med" type="triangle"/>
            </a:ln>
          </p:spPr>
        </p:cxnSp>
        <p:cxnSp>
          <p:nvCxnSpPr>
            <p:cNvPr id="256" name="Google Shape;256;p20"/>
            <p:cNvCxnSpPr>
              <a:endCxn id="253" idx="1"/>
            </p:cNvCxnSpPr>
            <p:nvPr/>
          </p:nvCxnSpPr>
          <p:spPr>
            <a:xfrm>
              <a:off x="4722617" y="4742952"/>
              <a:ext cx="1082400" cy="0"/>
            </a:xfrm>
            <a:prstGeom prst="straightConnector1">
              <a:avLst/>
            </a:prstGeom>
            <a:noFill/>
            <a:ln cap="flat" cmpd="sng" w="19050">
              <a:solidFill>
                <a:srgbClr val="666666"/>
              </a:solidFill>
              <a:prstDash val="solid"/>
              <a:round/>
              <a:headEnd len="med" w="med" type="none"/>
              <a:tailEnd len="med" w="med" type="triangle"/>
            </a:ln>
          </p:spPr>
        </p:cxnSp>
        <p:cxnSp>
          <p:nvCxnSpPr>
            <p:cNvPr id="257" name="Google Shape;257;p20"/>
            <p:cNvCxnSpPr>
              <a:endCxn id="250" idx="1"/>
            </p:cNvCxnSpPr>
            <p:nvPr/>
          </p:nvCxnSpPr>
          <p:spPr>
            <a:xfrm>
              <a:off x="6419913" y="4742952"/>
              <a:ext cx="1122600" cy="0"/>
            </a:xfrm>
            <a:prstGeom prst="straightConnector1">
              <a:avLst/>
            </a:prstGeom>
            <a:noFill/>
            <a:ln cap="flat" cmpd="sng" w="19050">
              <a:solidFill>
                <a:srgbClr val="666666"/>
              </a:solidFill>
              <a:prstDash val="solid"/>
              <a:round/>
              <a:headEnd len="med" w="med" type="none"/>
              <a:tailEnd len="med" w="med" type="triangle"/>
            </a:ln>
          </p:spPr>
        </p:cxnSp>
      </p:grpSp>
      <p:cxnSp>
        <p:nvCxnSpPr>
          <p:cNvPr id="258" name="Google Shape;258;p20"/>
          <p:cNvCxnSpPr/>
          <p:nvPr/>
        </p:nvCxnSpPr>
        <p:spPr>
          <a:xfrm>
            <a:off x="6214812" y="3267046"/>
            <a:ext cx="453300" cy="343200"/>
          </a:xfrm>
          <a:prstGeom prst="straightConnector1">
            <a:avLst/>
          </a:prstGeom>
          <a:noFill/>
          <a:ln cap="flat" cmpd="sng" w="19050">
            <a:solidFill>
              <a:srgbClr val="666666"/>
            </a:solidFill>
            <a:prstDash val="solid"/>
            <a:round/>
            <a:headEnd len="med" w="med" type="none"/>
            <a:tailEnd len="med" w="med" type="none"/>
          </a:ln>
        </p:spPr>
      </p:cxnSp>
      <p:sp>
        <p:nvSpPr>
          <p:cNvPr id="259" name="Google Shape;259;p20"/>
          <p:cNvSpPr/>
          <p:nvPr/>
        </p:nvSpPr>
        <p:spPr>
          <a:xfrm>
            <a:off x="4103600" y="3040250"/>
            <a:ext cx="1103100" cy="919200"/>
          </a:xfrm>
          <a:prstGeom prst="ellipse">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0"/>
          <p:cNvSpPr txBox="1"/>
          <p:nvPr/>
        </p:nvSpPr>
        <p:spPr>
          <a:xfrm>
            <a:off x="1152225" y="3218000"/>
            <a:ext cx="502500" cy="44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 . .</a:t>
            </a:r>
            <a:endParaRPr/>
          </a:p>
        </p:txBody>
      </p:sp>
      <p:sp>
        <p:nvSpPr>
          <p:cNvPr id="261" name="Google Shape;261;p20"/>
          <p:cNvSpPr txBox="1"/>
          <p:nvPr/>
        </p:nvSpPr>
        <p:spPr>
          <a:xfrm>
            <a:off x="3220550" y="3959450"/>
            <a:ext cx="2869200" cy="441300"/>
          </a:xfrm>
          <a:prstGeom prst="rect">
            <a:avLst/>
          </a:prstGeom>
          <a:solidFill>
            <a:srgbClr val="FCE5CD"/>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Say we want to remove this node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Review: DLLists</a:t>
            </a:r>
            <a:endParaRPr/>
          </a:p>
        </p:txBody>
      </p:sp>
      <p:sp>
        <p:nvSpPr>
          <p:cNvPr id="267" name="Google Shape;267;p21"/>
          <p:cNvSpPr txBox="1"/>
          <p:nvPr>
            <p:ph idx="1" type="body"/>
          </p:nvPr>
        </p:nvSpPr>
        <p:spPr>
          <a:xfrm>
            <a:off x="729450" y="2103375"/>
            <a:ext cx="7348200" cy="15252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One thing that a list should support is </a:t>
            </a:r>
            <a:r>
              <a:rPr b="1" lang="en"/>
              <a:t>remove(int i) </a:t>
            </a:r>
            <a:r>
              <a:rPr lang="en"/>
              <a:t>which </a:t>
            </a:r>
            <a:r>
              <a:rPr lang="en"/>
              <a:t>removes the node whose item is i</a:t>
            </a:r>
            <a:r>
              <a:rPr b="1" lang="en"/>
              <a:t>. </a:t>
            </a:r>
            <a:endParaRPr b="1"/>
          </a:p>
          <a:p>
            <a:pPr indent="-311150" lvl="0" marL="457200" rtl="0" algn="l">
              <a:spcBef>
                <a:spcPts val="0"/>
              </a:spcBef>
              <a:spcAft>
                <a:spcPts val="0"/>
              </a:spcAft>
              <a:buSzPts val="1300"/>
              <a:buChar char="●"/>
            </a:pPr>
            <a:r>
              <a:rPr lang="en"/>
              <a:t>With our brand new SLList with sentinel, what would we have to do to remove a link?</a:t>
            </a:r>
            <a:endParaRPr/>
          </a:p>
        </p:txBody>
      </p:sp>
      <p:grpSp>
        <p:nvGrpSpPr>
          <p:cNvPr id="268" name="Google Shape;268;p21"/>
          <p:cNvGrpSpPr/>
          <p:nvPr/>
        </p:nvGrpSpPr>
        <p:grpSpPr>
          <a:xfrm>
            <a:off x="1813709" y="3266560"/>
            <a:ext cx="4854379" cy="344194"/>
            <a:chOff x="3011220" y="4528314"/>
            <a:chExt cx="5563121" cy="429277"/>
          </a:xfrm>
        </p:grpSpPr>
        <p:grpSp>
          <p:nvGrpSpPr>
            <p:cNvPr id="269" name="Google Shape;269;p21"/>
            <p:cNvGrpSpPr/>
            <p:nvPr/>
          </p:nvGrpSpPr>
          <p:grpSpPr>
            <a:xfrm>
              <a:off x="4067520" y="4528314"/>
              <a:ext cx="1031828" cy="429277"/>
              <a:chOff x="809625" y="3638550"/>
              <a:chExt cx="1190525" cy="495300"/>
            </a:xfrm>
          </p:grpSpPr>
          <p:sp>
            <p:nvSpPr>
              <p:cNvPr id="270" name="Google Shape;270;p21"/>
              <p:cNvSpPr/>
              <p:nvPr/>
            </p:nvSpPr>
            <p:spPr>
              <a:xfrm>
                <a:off x="809625"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271" name="Google Shape;271;p21"/>
              <p:cNvSpPr/>
              <p:nvPr/>
            </p:nvSpPr>
            <p:spPr>
              <a:xfrm>
                <a:off x="1404950"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2" name="Google Shape;272;p21"/>
            <p:cNvGrpSpPr/>
            <p:nvPr/>
          </p:nvGrpSpPr>
          <p:grpSpPr>
            <a:xfrm>
              <a:off x="7542513" y="4528314"/>
              <a:ext cx="1031828" cy="429277"/>
              <a:chOff x="809625" y="3638550"/>
              <a:chExt cx="1190525" cy="495300"/>
            </a:xfrm>
          </p:grpSpPr>
          <p:sp>
            <p:nvSpPr>
              <p:cNvPr id="273" name="Google Shape;273;p21"/>
              <p:cNvSpPr/>
              <p:nvPr/>
            </p:nvSpPr>
            <p:spPr>
              <a:xfrm>
                <a:off x="809625"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15</a:t>
                </a:r>
                <a:endParaRPr/>
              </a:p>
            </p:txBody>
          </p:sp>
          <p:sp>
            <p:nvSpPr>
              <p:cNvPr id="274" name="Google Shape;274;p21"/>
              <p:cNvSpPr/>
              <p:nvPr/>
            </p:nvSpPr>
            <p:spPr>
              <a:xfrm>
                <a:off x="1404950" y="3638550"/>
                <a:ext cx="595200" cy="495300"/>
              </a:xfrm>
              <a:prstGeom prst="rect">
                <a:avLst/>
              </a:prstGeom>
              <a:solidFill>
                <a:srgbClr val="B7B7B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5" name="Google Shape;275;p21"/>
            <p:cNvGrpSpPr/>
            <p:nvPr/>
          </p:nvGrpSpPr>
          <p:grpSpPr>
            <a:xfrm>
              <a:off x="5805017" y="4528314"/>
              <a:ext cx="1031828" cy="429277"/>
              <a:chOff x="809625" y="3638550"/>
              <a:chExt cx="1190525" cy="495300"/>
            </a:xfrm>
          </p:grpSpPr>
          <p:sp>
            <p:nvSpPr>
              <p:cNvPr id="276" name="Google Shape;276;p21"/>
              <p:cNvSpPr/>
              <p:nvPr/>
            </p:nvSpPr>
            <p:spPr>
              <a:xfrm>
                <a:off x="809625"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10</a:t>
                </a:r>
                <a:endParaRPr/>
              </a:p>
            </p:txBody>
          </p:sp>
          <p:sp>
            <p:nvSpPr>
              <p:cNvPr id="277" name="Google Shape;277;p21"/>
              <p:cNvSpPr/>
              <p:nvPr/>
            </p:nvSpPr>
            <p:spPr>
              <a:xfrm>
                <a:off x="1404950"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78" name="Google Shape;278;p21"/>
            <p:cNvCxnSpPr>
              <a:endCxn id="270" idx="1"/>
            </p:cNvCxnSpPr>
            <p:nvPr/>
          </p:nvCxnSpPr>
          <p:spPr>
            <a:xfrm>
              <a:off x="3011220" y="4742952"/>
              <a:ext cx="1056300" cy="0"/>
            </a:xfrm>
            <a:prstGeom prst="straightConnector1">
              <a:avLst/>
            </a:prstGeom>
            <a:noFill/>
            <a:ln cap="flat" cmpd="sng" w="19050">
              <a:solidFill>
                <a:srgbClr val="666666"/>
              </a:solidFill>
              <a:prstDash val="solid"/>
              <a:round/>
              <a:headEnd len="med" w="med" type="none"/>
              <a:tailEnd len="med" w="med" type="triangle"/>
            </a:ln>
          </p:spPr>
        </p:cxnSp>
        <p:cxnSp>
          <p:nvCxnSpPr>
            <p:cNvPr id="279" name="Google Shape;279;p21"/>
            <p:cNvCxnSpPr>
              <a:endCxn id="276" idx="1"/>
            </p:cNvCxnSpPr>
            <p:nvPr/>
          </p:nvCxnSpPr>
          <p:spPr>
            <a:xfrm>
              <a:off x="4722617" y="4742952"/>
              <a:ext cx="1082400" cy="0"/>
            </a:xfrm>
            <a:prstGeom prst="straightConnector1">
              <a:avLst/>
            </a:prstGeom>
            <a:noFill/>
            <a:ln cap="flat" cmpd="sng" w="19050">
              <a:solidFill>
                <a:srgbClr val="666666"/>
              </a:solidFill>
              <a:prstDash val="solid"/>
              <a:round/>
              <a:headEnd len="med" w="med" type="none"/>
              <a:tailEnd len="med" w="med" type="triangle"/>
            </a:ln>
          </p:spPr>
        </p:cxnSp>
        <p:cxnSp>
          <p:nvCxnSpPr>
            <p:cNvPr id="280" name="Google Shape;280;p21"/>
            <p:cNvCxnSpPr>
              <a:endCxn id="273" idx="1"/>
            </p:cNvCxnSpPr>
            <p:nvPr/>
          </p:nvCxnSpPr>
          <p:spPr>
            <a:xfrm>
              <a:off x="6419913" y="4742952"/>
              <a:ext cx="1122600" cy="0"/>
            </a:xfrm>
            <a:prstGeom prst="straightConnector1">
              <a:avLst/>
            </a:prstGeom>
            <a:noFill/>
            <a:ln cap="flat" cmpd="sng" w="19050">
              <a:solidFill>
                <a:srgbClr val="666666"/>
              </a:solidFill>
              <a:prstDash val="solid"/>
              <a:round/>
              <a:headEnd len="med" w="med" type="none"/>
              <a:tailEnd len="med" w="med" type="triangle"/>
            </a:ln>
          </p:spPr>
        </p:cxnSp>
      </p:grpSp>
      <p:cxnSp>
        <p:nvCxnSpPr>
          <p:cNvPr id="281" name="Google Shape;281;p21"/>
          <p:cNvCxnSpPr/>
          <p:nvPr/>
        </p:nvCxnSpPr>
        <p:spPr>
          <a:xfrm>
            <a:off x="6214812" y="3267046"/>
            <a:ext cx="453300" cy="343200"/>
          </a:xfrm>
          <a:prstGeom prst="straightConnector1">
            <a:avLst/>
          </a:prstGeom>
          <a:noFill/>
          <a:ln cap="flat" cmpd="sng" w="19050">
            <a:solidFill>
              <a:srgbClr val="666666"/>
            </a:solidFill>
            <a:prstDash val="solid"/>
            <a:round/>
            <a:headEnd len="med" w="med" type="none"/>
            <a:tailEnd len="med" w="med" type="none"/>
          </a:ln>
        </p:spPr>
      </p:cxnSp>
      <p:sp>
        <p:nvSpPr>
          <p:cNvPr id="282" name="Google Shape;282;p21"/>
          <p:cNvSpPr/>
          <p:nvPr/>
        </p:nvSpPr>
        <p:spPr>
          <a:xfrm>
            <a:off x="4103600" y="3040250"/>
            <a:ext cx="1103100" cy="919200"/>
          </a:xfrm>
          <a:prstGeom prst="ellipse">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1"/>
          <p:cNvSpPr txBox="1"/>
          <p:nvPr/>
        </p:nvSpPr>
        <p:spPr>
          <a:xfrm>
            <a:off x="1152225" y="3218000"/>
            <a:ext cx="502500" cy="44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 . .</a:t>
            </a:r>
            <a:endParaRPr/>
          </a:p>
        </p:txBody>
      </p:sp>
      <p:sp>
        <p:nvSpPr>
          <p:cNvPr id="284" name="Google Shape;284;p21"/>
          <p:cNvSpPr/>
          <p:nvPr/>
        </p:nvSpPr>
        <p:spPr>
          <a:xfrm flipH="1" rot="-5400000">
            <a:off x="2053650" y="2235775"/>
            <a:ext cx="343200" cy="1485300"/>
          </a:xfrm>
          <a:prstGeom prst="curvedRightArrow">
            <a:avLst>
              <a:gd fmla="val 25000" name="adj1"/>
              <a:gd fmla="val 50000" name="adj2"/>
              <a:gd fmla="val 25000" name="adj3"/>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1"/>
          <p:cNvSpPr/>
          <p:nvPr/>
        </p:nvSpPr>
        <p:spPr>
          <a:xfrm flipH="1" rot="-5400000">
            <a:off x="3848525" y="2235775"/>
            <a:ext cx="343200" cy="1485300"/>
          </a:xfrm>
          <a:prstGeom prst="curvedRightArrow">
            <a:avLst>
              <a:gd fmla="val 25000" name="adj1"/>
              <a:gd fmla="val 50000" name="adj2"/>
              <a:gd fmla="val 25000" name="adj3"/>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1"/>
          <p:cNvSpPr txBox="1"/>
          <p:nvPr/>
        </p:nvSpPr>
        <p:spPr>
          <a:xfrm>
            <a:off x="5396450" y="3835375"/>
            <a:ext cx="2681100" cy="441300"/>
          </a:xfrm>
          <a:prstGeom prst="rect">
            <a:avLst/>
          </a:prstGeom>
          <a:solidFill>
            <a:srgbClr val="FCE5CD"/>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1. </a:t>
            </a:r>
            <a:r>
              <a:rPr lang="en"/>
              <a:t>We need to jump to that link</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Review: DLLists</a:t>
            </a:r>
            <a:endParaRPr/>
          </a:p>
        </p:txBody>
      </p:sp>
      <p:sp>
        <p:nvSpPr>
          <p:cNvPr id="292" name="Google Shape;292;p22"/>
          <p:cNvSpPr txBox="1"/>
          <p:nvPr>
            <p:ph idx="1" type="body"/>
          </p:nvPr>
        </p:nvSpPr>
        <p:spPr>
          <a:xfrm>
            <a:off x="729450" y="2103375"/>
            <a:ext cx="7348200" cy="15252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One thing that a list should support is </a:t>
            </a:r>
            <a:r>
              <a:rPr b="1" lang="en"/>
              <a:t>remove(int i) </a:t>
            </a:r>
            <a:r>
              <a:rPr lang="en"/>
              <a:t>which </a:t>
            </a:r>
            <a:r>
              <a:rPr lang="en"/>
              <a:t>removes the node whose item is i</a:t>
            </a:r>
            <a:r>
              <a:rPr b="1" lang="en"/>
              <a:t>. </a:t>
            </a:r>
            <a:endParaRPr b="1"/>
          </a:p>
          <a:p>
            <a:pPr indent="-311150" lvl="0" marL="457200" rtl="0" algn="l">
              <a:spcBef>
                <a:spcPts val="0"/>
              </a:spcBef>
              <a:spcAft>
                <a:spcPts val="0"/>
              </a:spcAft>
              <a:buSzPts val="1300"/>
              <a:buChar char="●"/>
            </a:pPr>
            <a:r>
              <a:rPr lang="en"/>
              <a:t>With our brand new SLList with sentinel, what would we have to do to remove a link?</a:t>
            </a:r>
            <a:endParaRPr/>
          </a:p>
        </p:txBody>
      </p:sp>
      <p:grpSp>
        <p:nvGrpSpPr>
          <p:cNvPr id="293" name="Google Shape;293;p22"/>
          <p:cNvGrpSpPr/>
          <p:nvPr/>
        </p:nvGrpSpPr>
        <p:grpSpPr>
          <a:xfrm>
            <a:off x="1813709" y="3266560"/>
            <a:ext cx="4854379" cy="344194"/>
            <a:chOff x="3011220" y="4528314"/>
            <a:chExt cx="5563121" cy="429277"/>
          </a:xfrm>
        </p:grpSpPr>
        <p:grpSp>
          <p:nvGrpSpPr>
            <p:cNvPr id="294" name="Google Shape;294;p22"/>
            <p:cNvGrpSpPr/>
            <p:nvPr/>
          </p:nvGrpSpPr>
          <p:grpSpPr>
            <a:xfrm>
              <a:off x="4067520" y="4528314"/>
              <a:ext cx="1031828" cy="429277"/>
              <a:chOff x="809625" y="3638550"/>
              <a:chExt cx="1190525" cy="495300"/>
            </a:xfrm>
          </p:grpSpPr>
          <p:sp>
            <p:nvSpPr>
              <p:cNvPr id="295" name="Google Shape;295;p22"/>
              <p:cNvSpPr/>
              <p:nvPr/>
            </p:nvSpPr>
            <p:spPr>
              <a:xfrm>
                <a:off x="809625"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296" name="Google Shape;296;p22"/>
              <p:cNvSpPr/>
              <p:nvPr/>
            </p:nvSpPr>
            <p:spPr>
              <a:xfrm>
                <a:off x="1404950"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7" name="Google Shape;297;p22"/>
            <p:cNvGrpSpPr/>
            <p:nvPr/>
          </p:nvGrpSpPr>
          <p:grpSpPr>
            <a:xfrm>
              <a:off x="7542513" y="4528314"/>
              <a:ext cx="1031828" cy="429277"/>
              <a:chOff x="809625" y="3638550"/>
              <a:chExt cx="1190525" cy="495300"/>
            </a:xfrm>
          </p:grpSpPr>
          <p:sp>
            <p:nvSpPr>
              <p:cNvPr id="298" name="Google Shape;298;p22"/>
              <p:cNvSpPr/>
              <p:nvPr/>
            </p:nvSpPr>
            <p:spPr>
              <a:xfrm>
                <a:off x="809625"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15</a:t>
                </a:r>
                <a:endParaRPr/>
              </a:p>
            </p:txBody>
          </p:sp>
          <p:sp>
            <p:nvSpPr>
              <p:cNvPr id="299" name="Google Shape;299;p22"/>
              <p:cNvSpPr/>
              <p:nvPr/>
            </p:nvSpPr>
            <p:spPr>
              <a:xfrm>
                <a:off x="1404950" y="3638550"/>
                <a:ext cx="595200" cy="495300"/>
              </a:xfrm>
              <a:prstGeom prst="rect">
                <a:avLst/>
              </a:prstGeom>
              <a:solidFill>
                <a:srgbClr val="B7B7B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0" name="Google Shape;300;p22"/>
            <p:cNvGrpSpPr/>
            <p:nvPr/>
          </p:nvGrpSpPr>
          <p:grpSpPr>
            <a:xfrm>
              <a:off x="5805017" y="4528314"/>
              <a:ext cx="1031828" cy="429277"/>
              <a:chOff x="809625" y="3638550"/>
              <a:chExt cx="1190525" cy="495300"/>
            </a:xfrm>
          </p:grpSpPr>
          <p:sp>
            <p:nvSpPr>
              <p:cNvPr id="301" name="Google Shape;301;p22"/>
              <p:cNvSpPr/>
              <p:nvPr/>
            </p:nvSpPr>
            <p:spPr>
              <a:xfrm>
                <a:off x="809625"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10</a:t>
                </a:r>
                <a:endParaRPr/>
              </a:p>
            </p:txBody>
          </p:sp>
          <p:sp>
            <p:nvSpPr>
              <p:cNvPr id="302" name="Google Shape;302;p22"/>
              <p:cNvSpPr/>
              <p:nvPr/>
            </p:nvSpPr>
            <p:spPr>
              <a:xfrm>
                <a:off x="1404950"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03" name="Google Shape;303;p22"/>
            <p:cNvCxnSpPr>
              <a:endCxn id="295" idx="1"/>
            </p:cNvCxnSpPr>
            <p:nvPr/>
          </p:nvCxnSpPr>
          <p:spPr>
            <a:xfrm>
              <a:off x="3011220" y="4742952"/>
              <a:ext cx="1056300" cy="0"/>
            </a:xfrm>
            <a:prstGeom prst="straightConnector1">
              <a:avLst/>
            </a:prstGeom>
            <a:noFill/>
            <a:ln cap="flat" cmpd="sng" w="19050">
              <a:solidFill>
                <a:srgbClr val="666666"/>
              </a:solidFill>
              <a:prstDash val="solid"/>
              <a:round/>
              <a:headEnd len="med" w="med" type="none"/>
              <a:tailEnd len="med" w="med" type="triangle"/>
            </a:ln>
          </p:spPr>
        </p:cxnSp>
        <p:cxnSp>
          <p:nvCxnSpPr>
            <p:cNvPr id="304" name="Google Shape;304;p22"/>
            <p:cNvCxnSpPr>
              <a:endCxn id="301" idx="1"/>
            </p:cNvCxnSpPr>
            <p:nvPr/>
          </p:nvCxnSpPr>
          <p:spPr>
            <a:xfrm>
              <a:off x="4722617" y="4742952"/>
              <a:ext cx="1082400" cy="0"/>
            </a:xfrm>
            <a:prstGeom prst="straightConnector1">
              <a:avLst/>
            </a:prstGeom>
            <a:noFill/>
            <a:ln cap="flat" cmpd="sng" w="19050">
              <a:solidFill>
                <a:srgbClr val="666666"/>
              </a:solidFill>
              <a:prstDash val="solid"/>
              <a:round/>
              <a:headEnd len="med" w="med" type="none"/>
              <a:tailEnd len="med" w="med" type="triangle"/>
            </a:ln>
          </p:spPr>
        </p:cxnSp>
      </p:grpSp>
      <p:cxnSp>
        <p:nvCxnSpPr>
          <p:cNvPr id="305" name="Google Shape;305;p22"/>
          <p:cNvCxnSpPr/>
          <p:nvPr/>
        </p:nvCxnSpPr>
        <p:spPr>
          <a:xfrm>
            <a:off x="6214812" y="3267046"/>
            <a:ext cx="453300" cy="343200"/>
          </a:xfrm>
          <a:prstGeom prst="straightConnector1">
            <a:avLst/>
          </a:prstGeom>
          <a:noFill/>
          <a:ln cap="flat" cmpd="sng" w="19050">
            <a:solidFill>
              <a:srgbClr val="666666"/>
            </a:solidFill>
            <a:prstDash val="solid"/>
            <a:round/>
            <a:headEnd len="med" w="med" type="none"/>
            <a:tailEnd len="med" w="med" type="none"/>
          </a:ln>
        </p:spPr>
      </p:cxnSp>
      <p:sp>
        <p:nvSpPr>
          <p:cNvPr id="306" name="Google Shape;306;p22"/>
          <p:cNvSpPr/>
          <p:nvPr/>
        </p:nvSpPr>
        <p:spPr>
          <a:xfrm>
            <a:off x="4103600" y="3040250"/>
            <a:ext cx="1103100" cy="919200"/>
          </a:xfrm>
          <a:prstGeom prst="ellipse">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22"/>
          <p:cNvSpPr txBox="1"/>
          <p:nvPr/>
        </p:nvSpPr>
        <p:spPr>
          <a:xfrm>
            <a:off x="1152225" y="3218000"/>
            <a:ext cx="502500" cy="44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 . .</a:t>
            </a:r>
            <a:endParaRPr/>
          </a:p>
        </p:txBody>
      </p:sp>
      <p:sp>
        <p:nvSpPr>
          <p:cNvPr id="308" name="Google Shape;308;p22"/>
          <p:cNvSpPr txBox="1"/>
          <p:nvPr/>
        </p:nvSpPr>
        <p:spPr>
          <a:xfrm>
            <a:off x="5455700" y="4128100"/>
            <a:ext cx="2962500" cy="775200"/>
          </a:xfrm>
          <a:prstGeom prst="rect">
            <a:avLst/>
          </a:prstGeom>
          <a:solidFill>
            <a:srgbClr val="FCE5CD"/>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2.Save a reference to this node (If we don’t, we will lose it forever! We need it later)</a:t>
            </a:r>
            <a:endParaRPr/>
          </a:p>
        </p:txBody>
      </p:sp>
      <p:sp>
        <p:nvSpPr>
          <p:cNvPr id="309" name="Google Shape;309;p22"/>
          <p:cNvSpPr/>
          <p:nvPr/>
        </p:nvSpPr>
        <p:spPr>
          <a:xfrm rot="4970187">
            <a:off x="5824723" y="3765092"/>
            <a:ext cx="442655" cy="168117"/>
          </a:xfrm>
          <a:prstGeom prst="lef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10" name="Google Shape;310;p22"/>
          <p:cNvCxnSpPr/>
          <p:nvPr/>
        </p:nvCxnSpPr>
        <p:spPr>
          <a:xfrm>
            <a:off x="4788134" y="3438657"/>
            <a:ext cx="979500" cy="0"/>
          </a:xfrm>
          <a:prstGeom prst="straightConnector1">
            <a:avLst/>
          </a:prstGeom>
          <a:noFill/>
          <a:ln cap="flat" cmpd="sng" w="19050">
            <a:solidFill>
              <a:srgbClr val="666666"/>
            </a:solidFill>
            <a:prstDash val="solid"/>
            <a:round/>
            <a:headEnd len="med" w="med"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2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Review: DLLists</a:t>
            </a:r>
            <a:endParaRPr/>
          </a:p>
        </p:txBody>
      </p:sp>
      <p:sp>
        <p:nvSpPr>
          <p:cNvPr id="316" name="Google Shape;316;p23"/>
          <p:cNvSpPr txBox="1"/>
          <p:nvPr>
            <p:ph idx="1" type="body"/>
          </p:nvPr>
        </p:nvSpPr>
        <p:spPr>
          <a:xfrm>
            <a:off x="729450" y="2103375"/>
            <a:ext cx="7348200" cy="15252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One thing that a list should support is </a:t>
            </a:r>
            <a:r>
              <a:rPr b="1" lang="en"/>
              <a:t>remove(int i) </a:t>
            </a:r>
            <a:r>
              <a:rPr lang="en"/>
              <a:t>which </a:t>
            </a:r>
            <a:r>
              <a:rPr lang="en"/>
              <a:t>removes the node whose item is i</a:t>
            </a:r>
            <a:r>
              <a:rPr b="1" lang="en"/>
              <a:t>. </a:t>
            </a:r>
            <a:endParaRPr b="1"/>
          </a:p>
          <a:p>
            <a:pPr indent="-311150" lvl="0" marL="457200" rtl="0" algn="l">
              <a:spcBef>
                <a:spcPts val="0"/>
              </a:spcBef>
              <a:spcAft>
                <a:spcPts val="0"/>
              </a:spcAft>
              <a:buSzPts val="1300"/>
              <a:buChar char="●"/>
            </a:pPr>
            <a:r>
              <a:rPr lang="en"/>
              <a:t>With our brand new SLList with sentinel, what would we have to do to remove a link?</a:t>
            </a:r>
            <a:endParaRPr/>
          </a:p>
        </p:txBody>
      </p:sp>
      <p:grpSp>
        <p:nvGrpSpPr>
          <p:cNvPr id="317" name="Google Shape;317;p23"/>
          <p:cNvGrpSpPr/>
          <p:nvPr/>
        </p:nvGrpSpPr>
        <p:grpSpPr>
          <a:xfrm>
            <a:off x="1813709" y="3266560"/>
            <a:ext cx="4854379" cy="344194"/>
            <a:chOff x="3011220" y="4528314"/>
            <a:chExt cx="5563121" cy="429277"/>
          </a:xfrm>
        </p:grpSpPr>
        <p:grpSp>
          <p:nvGrpSpPr>
            <p:cNvPr id="318" name="Google Shape;318;p23"/>
            <p:cNvGrpSpPr/>
            <p:nvPr/>
          </p:nvGrpSpPr>
          <p:grpSpPr>
            <a:xfrm>
              <a:off x="4067520" y="4528314"/>
              <a:ext cx="1031828" cy="429277"/>
              <a:chOff x="809625" y="3638550"/>
              <a:chExt cx="1190525" cy="495300"/>
            </a:xfrm>
          </p:grpSpPr>
          <p:sp>
            <p:nvSpPr>
              <p:cNvPr id="319" name="Google Shape;319;p23"/>
              <p:cNvSpPr/>
              <p:nvPr/>
            </p:nvSpPr>
            <p:spPr>
              <a:xfrm>
                <a:off x="809625"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320" name="Google Shape;320;p23"/>
              <p:cNvSpPr/>
              <p:nvPr/>
            </p:nvSpPr>
            <p:spPr>
              <a:xfrm>
                <a:off x="1404950"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1" name="Google Shape;321;p23"/>
            <p:cNvGrpSpPr/>
            <p:nvPr/>
          </p:nvGrpSpPr>
          <p:grpSpPr>
            <a:xfrm>
              <a:off x="7542513" y="4528314"/>
              <a:ext cx="1031828" cy="429277"/>
              <a:chOff x="809625" y="3638550"/>
              <a:chExt cx="1190525" cy="495300"/>
            </a:xfrm>
          </p:grpSpPr>
          <p:sp>
            <p:nvSpPr>
              <p:cNvPr id="322" name="Google Shape;322;p23"/>
              <p:cNvSpPr/>
              <p:nvPr/>
            </p:nvSpPr>
            <p:spPr>
              <a:xfrm>
                <a:off x="809625"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15</a:t>
                </a:r>
                <a:endParaRPr/>
              </a:p>
            </p:txBody>
          </p:sp>
          <p:sp>
            <p:nvSpPr>
              <p:cNvPr id="323" name="Google Shape;323;p23"/>
              <p:cNvSpPr/>
              <p:nvPr/>
            </p:nvSpPr>
            <p:spPr>
              <a:xfrm>
                <a:off x="1404950" y="3638550"/>
                <a:ext cx="595200" cy="495300"/>
              </a:xfrm>
              <a:prstGeom prst="rect">
                <a:avLst/>
              </a:prstGeom>
              <a:solidFill>
                <a:srgbClr val="B7B7B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4" name="Google Shape;324;p23"/>
            <p:cNvGrpSpPr/>
            <p:nvPr/>
          </p:nvGrpSpPr>
          <p:grpSpPr>
            <a:xfrm>
              <a:off x="5805017" y="4528314"/>
              <a:ext cx="1031828" cy="429277"/>
              <a:chOff x="809625" y="3638550"/>
              <a:chExt cx="1190525" cy="495300"/>
            </a:xfrm>
          </p:grpSpPr>
          <p:sp>
            <p:nvSpPr>
              <p:cNvPr id="325" name="Google Shape;325;p23"/>
              <p:cNvSpPr/>
              <p:nvPr/>
            </p:nvSpPr>
            <p:spPr>
              <a:xfrm>
                <a:off x="809625"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10</a:t>
                </a:r>
                <a:endParaRPr/>
              </a:p>
            </p:txBody>
          </p:sp>
          <p:sp>
            <p:nvSpPr>
              <p:cNvPr id="326" name="Google Shape;326;p23"/>
              <p:cNvSpPr/>
              <p:nvPr/>
            </p:nvSpPr>
            <p:spPr>
              <a:xfrm>
                <a:off x="1404950"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27" name="Google Shape;327;p23"/>
            <p:cNvCxnSpPr>
              <a:endCxn id="319" idx="1"/>
            </p:cNvCxnSpPr>
            <p:nvPr/>
          </p:nvCxnSpPr>
          <p:spPr>
            <a:xfrm>
              <a:off x="3011220" y="4742952"/>
              <a:ext cx="1056300" cy="0"/>
            </a:xfrm>
            <a:prstGeom prst="straightConnector1">
              <a:avLst/>
            </a:prstGeom>
            <a:noFill/>
            <a:ln cap="flat" cmpd="sng" w="19050">
              <a:solidFill>
                <a:srgbClr val="666666"/>
              </a:solidFill>
              <a:prstDash val="solid"/>
              <a:round/>
              <a:headEnd len="med" w="med" type="none"/>
              <a:tailEnd len="med" w="med" type="triangle"/>
            </a:ln>
          </p:spPr>
        </p:cxnSp>
        <p:cxnSp>
          <p:nvCxnSpPr>
            <p:cNvPr id="328" name="Google Shape;328;p23"/>
            <p:cNvCxnSpPr>
              <a:endCxn id="325" idx="1"/>
            </p:cNvCxnSpPr>
            <p:nvPr/>
          </p:nvCxnSpPr>
          <p:spPr>
            <a:xfrm>
              <a:off x="4722617" y="4742952"/>
              <a:ext cx="1082400" cy="0"/>
            </a:xfrm>
            <a:prstGeom prst="straightConnector1">
              <a:avLst/>
            </a:prstGeom>
            <a:noFill/>
            <a:ln cap="flat" cmpd="sng" w="19050">
              <a:solidFill>
                <a:srgbClr val="666666"/>
              </a:solidFill>
              <a:prstDash val="solid"/>
              <a:round/>
              <a:headEnd len="med" w="med" type="none"/>
              <a:tailEnd len="med" w="med" type="triangle"/>
            </a:ln>
          </p:spPr>
        </p:cxnSp>
      </p:grpSp>
      <p:cxnSp>
        <p:nvCxnSpPr>
          <p:cNvPr id="329" name="Google Shape;329;p23"/>
          <p:cNvCxnSpPr/>
          <p:nvPr/>
        </p:nvCxnSpPr>
        <p:spPr>
          <a:xfrm>
            <a:off x="6214812" y="3267046"/>
            <a:ext cx="453300" cy="343200"/>
          </a:xfrm>
          <a:prstGeom prst="straightConnector1">
            <a:avLst/>
          </a:prstGeom>
          <a:noFill/>
          <a:ln cap="flat" cmpd="sng" w="19050">
            <a:solidFill>
              <a:srgbClr val="666666"/>
            </a:solidFill>
            <a:prstDash val="solid"/>
            <a:round/>
            <a:headEnd len="med" w="med" type="none"/>
            <a:tailEnd len="med" w="med" type="none"/>
          </a:ln>
        </p:spPr>
      </p:cxnSp>
      <p:sp>
        <p:nvSpPr>
          <p:cNvPr id="330" name="Google Shape;330;p23"/>
          <p:cNvSpPr/>
          <p:nvPr/>
        </p:nvSpPr>
        <p:spPr>
          <a:xfrm>
            <a:off x="4103600" y="3040250"/>
            <a:ext cx="1103100" cy="919200"/>
          </a:xfrm>
          <a:prstGeom prst="ellipse">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3"/>
          <p:cNvSpPr txBox="1"/>
          <p:nvPr/>
        </p:nvSpPr>
        <p:spPr>
          <a:xfrm>
            <a:off x="1152225" y="3218000"/>
            <a:ext cx="502500" cy="44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 . .</a:t>
            </a:r>
            <a:endParaRPr/>
          </a:p>
        </p:txBody>
      </p:sp>
      <p:sp>
        <p:nvSpPr>
          <p:cNvPr id="332" name="Google Shape;332;p23"/>
          <p:cNvSpPr txBox="1"/>
          <p:nvPr/>
        </p:nvSpPr>
        <p:spPr>
          <a:xfrm>
            <a:off x="5396450" y="3835375"/>
            <a:ext cx="2412900" cy="441300"/>
          </a:xfrm>
          <a:prstGeom prst="rect">
            <a:avLst/>
          </a:prstGeom>
          <a:solidFill>
            <a:srgbClr val="FCE5CD"/>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3.</a:t>
            </a:r>
            <a:r>
              <a:rPr lang="en"/>
              <a:t>Remove its “next” pointer</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2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Review: DLLists</a:t>
            </a:r>
            <a:endParaRPr/>
          </a:p>
        </p:txBody>
      </p:sp>
      <p:sp>
        <p:nvSpPr>
          <p:cNvPr id="338" name="Google Shape;338;p24"/>
          <p:cNvSpPr txBox="1"/>
          <p:nvPr>
            <p:ph idx="1" type="body"/>
          </p:nvPr>
        </p:nvSpPr>
        <p:spPr>
          <a:xfrm>
            <a:off x="729450" y="2103375"/>
            <a:ext cx="7348200" cy="15252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One thing that a list should support is </a:t>
            </a:r>
            <a:r>
              <a:rPr b="1" lang="en"/>
              <a:t>remove(int i) </a:t>
            </a:r>
            <a:r>
              <a:rPr lang="en"/>
              <a:t>which </a:t>
            </a:r>
            <a:r>
              <a:rPr lang="en"/>
              <a:t>removes the node whose item is i</a:t>
            </a:r>
            <a:r>
              <a:rPr b="1" lang="en"/>
              <a:t>. </a:t>
            </a:r>
            <a:endParaRPr b="1"/>
          </a:p>
          <a:p>
            <a:pPr indent="-311150" lvl="0" marL="457200" rtl="0" algn="l">
              <a:spcBef>
                <a:spcPts val="0"/>
              </a:spcBef>
              <a:spcAft>
                <a:spcPts val="0"/>
              </a:spcAft>
              <a:buSzPts val="1300"/>
              <a:buChar char="●"/>
            </a:pPr>
            <a:r>
              <a:rPr lang="en"/>
              <a:t>With our brand new SLList with sentinel, what would we have to do to remove a link?</a:t>
            </a:r>
            <a:endParaRPr/>
          </a:p>
        </p:txBody>
      </p:sp>
      <p:grpSp>
        <p:nvGrpSpPr>
          <p:cNvPr id="339" name="Google Shape;339;p24"/>
          <p:cNvGrpSpPr/>
          <p:nvPr/>
        </p:nvGrpSpPr>
        <p:grpSpPr>
          <a:xfrm>
            <a:off x="1813709" y="3266560"/>
            <a:ext cx="4854379" cy="344194"/>
            <a:chOff x="3011220" y="4528314"/>
            <a:chExt cx="5563121" cy="429277"/>
          </a:xfrm>
        </p:grpSpPr>
        <p:grpSp>
          <p:nvGrpSpPr>
            <p:cNvPr id="340" name="Google Shape;340;p24"/>
            <p:cNvGrpSpPr/>
            <p:nvPr/>
          </p:nvGrpSpPr>
          <p:grpSpPr>
            <a:xfrm>
              <a:off x="4067520" y="4528314"/>
              <a:ext cx="1031828" cy="429277"/>
              <a:chOff x="809625" y="3638550"/>
              <a:chExt cx="1190525" cy="495300"/>
            </a:xfrm>
          </p:grpSpPr>
          <p:sp>
            <p:nvSpPr>
              <p:cNvPr id="341" name="Google Shape;341;p24"/>
              <p:cNvSpPr/>
              <p:nvPr/>
            </p:nvSpPr>
            <p:spPr>
              <a:xfrm>
                <a:off x="809625"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342" name="Google Shape;342;p24"/>
              <p:cNvSpPr/>
              <p:nvPr/>
            </p:nvSpPr>
            <p:spPr>
              <a:xfrm>
                <a:off x="1404950"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3" name="Google Shape;343;p24"/>
            <p:cNvGrpSpPr/>
            <p:nvPr/>
          </p:nvGrpSpPr>
          <p:grpSpPr>
            <a:xfrm>
              <a:off x="7542513" y="4528314"/>
              <a:ext cx="1031828" cy="429277"/>
              <a:chOff x="809625" y="3638550"/>
              <a:chExt cx="1190525" cy="495300"/>
            </a:xfrm>
          </p:grpSpPr>
          <p:sp>
            <p:nvSpPr>
              <p:cNvPr id="344" name="Google Shape;344;p24"/>
              <p:cNvSpPr/>
              <p:nvPr/>
            </p:nvSpPr>
            <p:spPr>
              <a:xfrm>
                <a:off x="809625"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15</a:t>
                </a:r>
                <a:endParaRPr/>
              </a:p>
            </p:txBody>
          </p:sp>
          <p:sp>
            <p:nvSpPr>
              <p:cNvPr id="345" name="Google Shape;345;p24"/>
              <p:cNvSpPr/>
              <p:nvPr/>
            </p:nvSpPr>
            <p:spPr>
              <a:xfrm>
                <a:off x="1404950" y="3638550"/>
                <a:ext cx="595200" cy="495300"/>
              </a:xfrm>
              <a:prstGeom prst="rect">
                <a:avLst/>
              </a:prstGeom>
              <a:solidFill>
                <a:srgbClr val="B7B7B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6" name="Google Shape;346;p24"/>
            <p:cNvGrpSpPr/>
            <p:nvPr/>
          </p:nvGrpSpPr>
          <p:grpSpPr>
            <a:xfrm>
              <a:off x="5805017" y="4528314"/>
              <a:ext cx="1031828" cy="429277"/>
              <a:chOff x="809625" y="3638550"/>
              <a:chExt cx="1190525" cy="495300"/>
            </a:xfrm>
          </p:grpSpPr>
          <p:sp>
            <p:nvSpPr>
              <p:cNvPr id="347" name="Google Shape;347;p24"/>
              <p:cNvSpPr/>
              <p:nvPr/>
            </p:nvSpPr>
            <p:spPr>
              <a:xfrm>
                <a:off x="809625"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10</a:t>
                </a:r>
                <a:endParaRPr/>
              </a:p>
            </p:txBody>
          </p:sp>
          <p:sp>
            <p:nvSpPr>
              <p:cNvPr id="348" name="Google Shape;348;p24"/>
              <p:cNvSpPr/>
              <p:nvPr/>
            </p:nvSpPr>
            <p:spPr>
              <a:xfrm>
                <a:off x="1404950"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49" name="Google Shape;349;p24"/>
            <p:cNvCxnSpPr>
              <a:endCxn id="341" idx="1"/>
            </p:cNvCxnSpPr>
            <p:nvPr/>
          </p:nvCxnSpPr>
          <p:spPr>
            <a:xfrm>
              <a:off x="3011220" y="4742952"/>
              <a:ext cx="1056300" cy="0"/>
            </a:xfrm>
            <a:prstGeom prst="straightConnector1">
              <a:avLst/>
            </a:prstGeom>
            <a:noFill/>
            <a:ln cap="flat" cmpd="sng" w="19050">
              <a:solidFill>
                <a:srgbClr val="666666"/>
              </a:solidFill>
              <a:prstDash val="solid"/>
              <a:round/>
              <a:headEnd len="med" w="med" type="none"/>
              <a:tailEnd len="med" w="med" type="triangle"/>
            </a:ln>
          </p:spPr>
        </p:cxnSp>
        <p:cxnSp>
          <p:nvCxnSpPr>
            <p:cNvPr id="350" name="Google Shape;350;p24"/>
            <p:cNvCxnSpPr>
              <a:endCxn id="347" idx="1"/>
            </p:cNvCxnSpPr>
            <p:nvPr/>
          </p:nvCxnSpPr>
          <p:spPr>
            <a:xfrm>
              <a:off x="4722617" y="4742952"/>
              <a:ext cx="1082400" cy="0"/>
            </a:xfrm>
            <a:prstGeom prst="straightConnector1">
              <a:avLst/>
            </a:prstGeom>
            <a:noFill/>
            <a:ln cap="flat" cmpd="sng" w="19050">
              <a:solidFill>
                <a:srgbClr val="666666"/>
              </a:solidFill>
              <a:prstDash val="solid"/>
              <a:round/>
              <a:headEnd len="med" w="med" type="none"/>
              <a:tailEnd len="med" w="med" type="triangle"/>
            </a:ln>
          </p:spPr>
        </p:cxnSp>
      </p:grpSp>
      <p:cxnSp>
        <p:nvCxnSpPr>
          <p:cNvPr id="351" name="Google Shape;351;p24"/>
          <p:cNvCxnSpPr/>
          <p:nvPr/>
        </p:nvCxnSpPr>
        <p:spPr>
          <a:xfrm>
            <a:off x="6214812" y="3267046"/>
            <a:ext cx="453300" cy="343200"/>
          </a:xfrm>
          <a:prstGeom prst="straightConnector1">
            <a:avLst/>
          </a:prstGeom>
          <a:noFill/>
          <a:ln cap="flat" cmpd="sng" w="19050">
            <a:solidFill>
              <a:srgbClr val="666666"/>
            </a:solidFill>
            <a:prstDash val="solid"/>
            <a:round/>
            <a:headEnd len="med" w="med" type="none"/>
            <a:tailEnd len="med" w="med" type="none"/>
          </a:ln>
        </p:spPr>
      </p:cxnSp>
      <p:sp>
        <p:nvSpPr>
          <p:cNvPr id="352" name="Google Shape;352;p24"/>
          <p:cNvSpPr/>
          <p:nvPr/>
        </p:nvSpPr>
        <p:spPr>
          <a:xfrm>
            <a:off x="4103600" y="3040250"/>
            <a:ext cx="1103100" cy="919200"/>
          </a:xfrm>
          <a:prstGeom prst="ellipse">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4"/>
          <p:cNvSpPr txBox="1"/>
          <p:nvPr/>
        </p:nvSpPr>
        <p:spPr>
          <a:xfrm>
            <a:off x="1152225" y="3218000"/>
            <a:ext cx="502500" cy="44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 . .</a:t>
            </a:r>
            <a:endParaRPr/>
          </a:p>
        </p:txBody>
      </p:sp>
      <p:sp>
        <p:nvSpPr>
          <p:cNvPr id="354" name="Google Shape;354;p24"/>
          <p:cNvSpPr/>
          <p:nvPr/>
        </p:nvSpPr>
        <p:spPr>
          <a:xfrm flipH="1" rot="-5400000">
            <a:off x="2053650" y="2235775"/>
            <a:ext cx="343200" cy="1485300"/>
          </a:xfrm>
          <a:prstGeom prst="curvedRightArrow">
            <a:avLst>
              <a:gd fmla="val 25000" name="adj1"/>
              <a:gd fmla="val 50000" name="adj2"/>
              <a:gd fmla="val 25000" name="adj3"/>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4"/>
          <p:cNvSpPr txBox="1"/>
          <p:nvPr/>
        </p:nvSpPr>
        <p:spPr>
          <a:xfrm>
            <a:off x="2720175" y="3959450"/>
            <a:ext cx="2412900" cy="441300"/>
          </a:xfrm>
          <a:prstGeom prst="rect">
            <a:avLst/>
          </a:prstGeom>
          <a:solidFill>
            <a:srgbClr val="FCE5CD"/>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4.Jump to the node before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2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Review: DLLists</a:t>
            </a:r>
            <a:endParaRPr/>
          </a:p>
        </p:txBody>
      </p:sp>
      <p:sp>
        <p:nvSpPr>
          <p:cNvPr id="361" name="Google Shape;361;p25"/>
          <p:cNvSpPr txBox="1"/>
          <p:nvPr>
            <p:ph idx="1" type="body"/>
          </p:nvPr>
        </p:nvSpPr>
        <p:spPr>
          <a:xfrm>
            <a:off x="729450" y="2103375"/>
            <a:ext cx="7348200" cy="15252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One thing that a list should support is </a:t>
            </a:r>
            <a:r>
              <a:rPr b="1" lang="en"/>
              <a:t>remove(int i) </a:t>
            </a:r>
            <a:r>
              <a:rPr lang="en"/>
              <a:t>which </a:t>
            </a:r>
            <a:r>
              <a:rPr lang="en"/>
              <a:t>removes the node whose item is i</a:t>
            </a:r>
            <a:r>
              <a:rPr b="1" lang="en"/>
              <a:t>. </a:t>
            </a:r>
            <a:endParaRPr b="1"/>
          </a:p>
          <a:p>
            <a:pPr indent="-311150" lvl="0" marL="457200" rtl="0" algn="l">
              <a:spcBef>
                <a:spcPts val="0"/>
              </a:spcBef>
              <a:spcAft>
                <a:spcPts val="0"/>
              </a:spcAft>
              <a:buSzPts val="1300"/>
              <a:buChar char="●"/>
            </a:pPr>
            <a:r>
              <a:rPr lang="en"/>
              <a:t>With our brand new SLList with sentinel, what would we have to do to remove a link?</a:t>
            </a:r>
            <a:endParaRPr/>
          </a:p>
        </p:txBody>
      </p:sp>
      <p:grpSp>
        <p:nvGrpSpPr>
          <p:cNvPr id="362" name="Google Shape;362;p25"/>
          <p:cNvGrpSpPr/>
          <p:nvPr/>
        </p:nvGrpSpPr>
        <p:grpSpPr>
          <a:xfrm>
            <a:off x="1813709" y="3266560"/>
            <a:ext cx="4854379" cy="344194"/>
            <a:chOff x="3011220" y="4528314"/>
            <a:chExt cx="5563121" cy="429277"/>
          </a:xfrm>
        </p:grpSpPr>
        <p:grpSp>
          <p:nvGrpSpPr>
            <p:cNvPr id="363" name="Google Shape;363;p25"/>
            <p:cNvGrpSpPr/>
            <p:nvPr/>
          </p:nvGrpSpPr>
          <p:grpSpPr>
            <a:xfrm>
              <a:off x="4067520" y="4528314"/>
              <a:ext cx="1031828" cy="429277"/>
              <a:chOff x="809625" y="3638550"/>
              <a:chExt cx="1190525" cy="495300"/>
            </a:xfrm>
          </p:grpSpPr>
          <p:sp>
            <p:nvSpPr>
              <p:cNvPr id="364" name="Google Shape;364;p25"/>
              <p:cNvSpPr/>
              <p:nvPr/>
            </p:nvSpPr>
            <p:spPr>
              <a:xfrm>
                <a:off x="809625"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365" name="Google Shape;365;p25"/>
              <p:cNvSpPr/>
              <p:nvPr/>
            </p:nvSpPr>
            <p:spPr>
              <a:xfrm>
                <a:off x="1404950"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6" name="Google Shape;366;p25"/>
            <p:cNvGrpSpPr/>
            <p:nvPr/>
          </p:nvGrpSpPr>
          <p:grpSpPr>
            <a:xfrm>
              <a:off x="7542513" y="4528314"/>
              <a:ext cx="1031828" cy="429277"/>
              <a:chOff x="809625" y="3638550"/>
              <a:chExt cx="1190525" cy="495300"/>
            </a:xfrm>
          </p:grpSpPr>
          <p:sp>
            <p:nvSpPr>
              <p:cNvPr id="367" name="Google Shape;367;p25"/>
              <p:cNvSpPr/>
              <p:nvPr/>
            </p:nvSpPr>
            <p:spPr>
              <a:xfrm>
                <a:off x="809625"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15</a:t>
                </a:r>
                <a:endParaRPr/>
              </a:p>
            </p:txBody>
          </p:sp>
          <p:sp>
            <p:nvSpPr>
              <p:cNvPr id="368" name="Google Shape;368;p25"/>
              <p:cNvSpPr/>
              <p:nvPr/>
            </p:nvSpPr>
            <p:spPr>
              <a:xfrm>
                <a:off x="1404950" y="3638550"/>
                <a:ext cx="595200" cy="495300"/>
              </a:xfrm>
              <a:prstGeom prst="rect">
                <a:avLst/>
              </a:prstGeom>
              <a:solidFill>
                <a:srgbClr val="B7B7B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9" name="Google Shape;369;p25"/>
            <p:cNvGrpSpPr/>
            <p:nvPr/>
          </p:nvGrpSpPr>
          <p:grpSpPr>
            <a:xfrm>
              <a:off x="5805017" y="4528314"/>
              <a:ext cx="1031828" cy="429277"/>
              <a:chOff x="809625" y="3638550"/>
              <a:chExt cx="1190525" cy="495300"/>
            </a:xfrm>
          </p:grpSpPr>
          <p:sp>
            <p:nvSpPr>
              <p:cNvPr id="370" name="Google Shape;370;p25"/>
              <p:cNvSpPr/>
              <p:nvPr/>
            </p:nvSpPr>
            <p:spPr>
              <a:xfrm>
                <a:off x="809625"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10</a:t>
                </a:r>
                <a:endParaRPr/>
              </a:p>
            </p:txBody>
          </p:sp>
          <p:sp>
            <p:nvSpPr>
              <p:cNvPr id="371" name="Google Shape;371;p25"/>
              <p:cNvSpPr/>
              <p:nvPr/>
            </p:nvSpPr>
            <p:spPr>
              <a:xfrm>
                <a:off x="1404950"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72" name="Google Shape;372;p25"/>
            <p:cNvCxnSpPr>
              <a:endCxn id="364" idx="1"/>
            </p:cNvCxnSpPr>
            <p:nvPr/>
          </p:nvCxnSpPr>
          <p:spPr>
            <a:xfrm>
              <a:off x="3011220" y="4742952"/>
              <a:ext cx="1056300" cy="0"/>
            </a:xfrm>
            <a:prstGeom prst="straightConnector1">
              <a:avLst/>
            </a:prstGeom>
            <a:noFill/>
            <a:ln cap="flat" cmpd="sng" w="19050">
              <a:solidFill>
                <a:srgbClr val="666666"/>
              </a:solidFill>
              <a:prstDash val="solid"/>
              <a:round/>
              <a:headEnd len="med" w="med" type="none"/>
              <a:tailEnd len="med" w="med" type="triangle"/>
            </a:ln>
          </p:spPr>
        </p:cxnSp>
      </p:grpSp>
      <p:cxnSp>
        <p:nvCxnSpPr>
          <p:cNvPr id="373" name="Google Shape;373;p25"/>
          <p:cNvCxnSpPr/>
          <p:nvPr/>
        </p:nvCxnSpPr>
        <p:spPr>
          <a:xfrm>
            <a:off x="6214812" y="3267046"/>
            <a:ext cx="453300" cy="343200"/>
          </a:xfrm>
          <a:prstGeom prst="straightConnector1">
            <a:avLst/>
          </a:prstGeom>
          <a:noFill/>
          <a:ln cap="flat" cmpd="sng" w="19050">
            <a:solidFill>
              <a:srgbClr val="666666"/>
            </a:solidFill>
            <a:prstDash val="solid"/>
            <a:round/>
            <a:headEnd len="med" w="med" type="none"/>
            <a:tailEnd len="med" w="med" type="none"/>
          </a:ln>
        </p:spPr>
      </p:cxnSp>
      <p:sp>
        <p:nvSpPr>
          <p:cNvPr id="374" name="Google Shape;374;p25"/>
          <p:cNvSpPr/>
          <p:nvPr/>
        </p:nvSpPr>
        <p:spPr>
          <a:xfrm>
            <a:off x="4103600" y="3040250"/>
            <a:ext cx="1103100" cy="919200"/>
          </a:xfrm>
          <a:prstGeom prst="ellipse">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5"/>
          <p:cNvSpPr txBox="1"/>
          <p:nvPr/>
        </p:nvSpPr>
        <p:spPr>
          <a:xfrm>
            <a:off x="1152225" y="3218000"/>
            <a:ext cx="502500" cy="44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 . .</a:t>
            </a:r>
            <a:endParaRPr/>
          </a:p>
        </p:txBody>
      </p:sp>
      <p:sp>
        <p:nvSpPr>
          <p:cNvPr id="376" name="Google Shape;376;p25"/>
          <p:cNvSpPr txBox="1"/>
          <p:nvPr/>
        </p:nvSpPr>
        <p:spPr>
          <a:xfrm>
            <a:off x="2720175" y="3959450"/>
            <a:ext cx="3238800" cy="441300"/>
          </a:xfrm>
          <a:prstGeom prst="rect">
            <a:avLst/>
          </a:prstGeom>
          <a:solidFill>
            <a:srgbClr val="FCE5CD"/>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5.Reassign next to the node after</a:t>
            </a:r>
            <a:endParaRPr/>
          </a:p>
        </p:txBody>
      </p:sp>
      <p:cxnSp>
        <p:nvCxnSpPr>
          <p:cNvPr id="377" name="Google Shape;377;p25"/>
          <p:cNvCxnSpPr>
            <a:stCxn id="367" idx="1"/>
            <a:endCxn id="367" idx="1"/>
          </p:cNvCxnSpPr>
          <p:nvPr/>
        </p:nvCxnSpPr>
        <p:spPr>
          <a:xfrm>
            <a:off x="5767715" y="3438657"/>
            <a:ext cx="0" cy="0"/>
          </a:xfrm>
          <a:prstGeom prst="straightConnector1">
            <a:avLst/>
          </a:prstGeom>
          <a:noFill/>
          <a:ln cap="flat" cmpd="sng" w="9525">
            <a:solidFill>
              <a:schemeClr val="dk2"/>
            </a:solidFill>
            <a:prstDash val="solid"/>
            <a:round/>
            <a:headEnd len="med" w="med" type="none"/>
            <a:tailEnd len="med" w="med" type="none"/>
          </a:ln>
        </p:spPr>
      </p:cxnSp>
      <p:sp>
        <p:nvSpPr>
          <p:cNvPr id="378" name="Google Shape;378;p25"/>
          <p:cNvSpPr/>
          <p:nvPr/>
        </p:nvSpPr>
        <p:spPr>
          <a:xfrm>
            <a:off x="3644525" y="2880350"/>
            <a:ext cx="2130900" cy="558450"/>
          </a:xfrm>
          <a:custGeom>
            <a:rect b="b" l="l" r="r" t="t"/>
            <a:pathLst>
              <a:path extrusionOk="0" h="22338" w="85236">
                <a:moveTo>
                  <a:pt x="0" y="22338"/>
                </a:moveTo>
                <a:cubicBezTo>
                  <a:pt x="3527" y="19595"/>
                  <a:pt x="14500" y="9602"/>
                  <a:pt x="21162" y="5879"/>
                </a:cubicBezTo>
                <a:cubicBezTo>
                  <a:pt x="27824" y="2156"/>
                  <a:pt x="32527" y="0"/>
                  <a:pt x="39973" y="0"/>
                </a:cubicBezTo>
                <a:cubicBezTo>
                  <a:pt x="47419" y="0"/>
                  <a:pt x="58293" y="2254"/>
                  <a:pt x="65837" y="5879"/>
                </a:cubicBezTo>
                <a:cubicBezTo>
                  <a:pt x="73381" y="9504"/>
                  <a:pt x="82003" y="19105"/>
                  <a:pt x="85236" y="21750"/>
                </a:cubicBezTo>
              </a:path>
            </a:pathLst>
          </a:custGeom>
          <a:noFill/>
          <a:ln cap="flat" cmpd="sng" w="9525">
            <a:solidFill>
              <a:schemeClr val="dk2"/>
            </a:solidFill>
            <a:prstDash val="solid"/>
            <a:round/>
            <a:headEnd len="med" w="med" type="none"/>
            <a:tailEnd len="med" w="med" type="none"/>
          </a:ln>
        </p:spPr>
      </p:sp>
      <p:cxnSp>
        <p:nvCxnSpPr>
          <p:cNvPr id="379" name="Google Shape;379;p25"/>
          <p:cNvCxnSpPr>
            <a:stCxn id="367" idx="1"/>
            <a:endCxn id="367" idx="1"/>
          </p:cNvCxnSpPr>
          <p:nvPr/>
        </p:nvCxnSpPr>
        <p:spPr>
          <a:xfrm>
            <a:off x="5767715" y="3438657"/>
            <a:ext cx="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2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Review: DLLists</a:t>
            </a:r>
            <a:endParaRPr/>
          </a:p>
        </p:txBody>
      </p:sp>
      <p:sp>
        <p:nvSpPr>
          <p:cNvPr id="385" name="Google Shape;385;p26"/>
          <p:cNvSpPr txBox="1"/>
          <p:nvPr>
            <p:ph idx="1" type="body"/>
          </p:nvPr>
        </p:nvSpPr>
        <p:spPr>
          <a:xfrm>
            <a:off x="729450" y="2103375"/>
            <a:ext cx="7348200" cy="15252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We had to traverse the list </a:t>
            </a:r>
            <a:r>
              <a:rPr b="1" lang="en" sz="1400"/>
              <a:t>TWICE </a:t>
            </a:r>
            <a:r>
              <a:rPr lang="en" sz="1400"/>
              <a:t>in order to do the job. That’s pretty inefficient.</a:t>
            </a:r>
            <a:endParaRPr sz="1400"/>
          </a:p>
          <a:p>
            <a:pPr indent="-317500" lvl="0" marL="457200" rtl="0" algn="l">
              <a:spcBef>
                <a:spcPts val="0"/>
              </a:spcBef>
              <a:spcAft>
                <a:spcPts val="0"/>
              </a:spcAft>
              <a:buSzPts val="1400"/>
              <a:buChar char="●"/>
            </a:pPr>
            <a:r>
              <a:rPr lang="en" sz="1400"/>
              <a:t>To remedy this, we simply add some more pointers!</a:t>
            </a:r>
            <a:endParaRPr sz="1400"/>
          </a:p>
          <a:p>
            <a:pPr indent="-317500" lvl="0" marL="457200" rtl="0" algn="l">
              <a:spcBef>
                <a:spcPts val="0"/>
              </a:spcBef>
              <a:spcAft>
                <a:spcPts val="0"/>
              </a:spcAft>
              <a:buSzPts val="1400"/>
              <a:buChar char="●"/>
            </a:pPr>
            <a:r>
              <a:rPr lang="en" sz="1400"/>
              <a:t>Instead of just having pointers that point to the “next” link, we add pointers that point to the “previous” link as well.</a:t>
            </a:r>
            <a:endParaRPr sz="1400"/>
          </a:p>
          <a:p>
            <a:pPr indent="-317500" lvl="1" marL="914400" rtl="0" algn="l">
              <a:spcBef>
                <a:spcPts val="0"/>
              </a:spcBef>
              <a:spcAft>
                <a:spcPts val="0"/>
              </a:spcAft>
              <a:buSzPts val="1400"/>
              <a:buChar char="○"/>
            </a:pPr>
            <a:r>
              <a:rPr lang="en" sz="1400"/>
              <a:t>This allows you to traverse the list both forwards and backwards!</a:t>
            </a:r>
            <a:endParaRPr sz="1400"/>
          </a:p>
        </p:txBody>
      </p:sp>
      <p:grpSp>
        <p:nvGrpSpPr>
          <p:cNvPr id="386" name="Google Shape;386;p26"/>
          <p:cNvGrpSpPr/>
          <p:nvPr/>
        </p:nvGrpSpPr>
        <p:grpSpPr>
          <a:xfrm>
            <a:off x="1202034" y="3795585"/>
            <a:ext cx="6087329" cy="344194"/>
            <a:chOff x="2495491" y="4528314"/>
            <a:chExt cx="6976082" cy="429277"/>
          </a:xfrm>
        </p:grpSpPr>
        <p:grpSp>
          <p:nvGrpSpPr>
            <p:cNvPr id="387" name="Google Shape;387;p26"/>
            <p:cNvGrpSpPr/>
            <p:nvPr/>
          </p:nvGrpSpPr>
          <p:grpSpPr>
            <a:xfrm>
              <a:off x="3551791" y="4528314"/>
              <a:ext cx="1547557" cy="429277"/>
              <a:chOff x="214576" y="3638550"/>
              <a:chExt cx="1785574" cy="495300"/>
            </a:xfrm>
          </p:grpSpPr>
          <p:sp>
            <p:nvSpPr>
              <p:cNvPr id="388" name="Google Shape;388;p26"/>
              <p:cNvSpPr/>
              <p:nvPr/>
            </p:nvSpPr>
            <p:spPr>
              <a:xfrm>
                <a:off x="214576"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9" name="Google Shape;389;p26"/>
              <p:cNvSpPr/>
              <p:nvPr/>
            </p:nvSpPr>
            <p:spPr>
              <a:xfrm>
                <a:off x="1404950"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0" name="Google Shape;390;p26"/>
            <p:cNvGrpSpPr/>
            <p:nvPr/>
          </p:nvGrpSpPr>
          <p:grpSpPr>
            <a:xfrm>
              <a:off x="7905480" y="4528314"/>
              <a:ext cx="1566093" cy="429277"/>
              <a:chOff x="1228417" y="3638550"/>
              <a:chExt cx="1806961" cy="495300"/>
            </a:xfrm>
          </p:grpSpPr>
          <p:sp>
            <p:nvSpPr>
              <p:cNvPr id="391" name="Google Shape;391;p26"/>
              <p:cNvSpPr/>
              <p:nvPr/>
            </p:nvSpPr>
            <p:spPr>
              <a:xfrm>
                <a:off x="1228417"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2" name="Google Shape;392;p26"/>
              <p:cNvSpPr/>
              <p:nvPr/>
            </p:nvSpPr>
            <p:spPr>
              <a:xfrm>
                <a:off x="2440178" y="3638550"/>
                <a:ext cx="595200" cy="495300"/>
              </a:xfrm>
              <a:prstGeom prst="rect">
                <a:avLst/>
              </a:prstGeom>
              <a:solidFill>
                <a:srgbClr val="B7B7B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3" name="Google Shape;393;p26"/>
            <p:cNvGrpSpPr/>
            <p:nvPr/>
          </p:nvGrpSpPr>
          <p:grpSpPr>
            <a:xfrm>
              <a:off x="5805017" y="4528314"/>
              <a:ext cx="1566108" cy="429277"/>
              <a:chOff x="809625" y="3638550"/>
              <a:chExt cx="1806978" cy="495300"/>
            </a:xfrm>
          </p:grpSpPr>
          <p:sp>
            <p:nvSpPr>
              <p:cNvPr id="394" name="Google Shape;394;p26"/>
              <p:cNvSpPr/>
              <p:nvPr/>
            </p:nvSpPr>
            <p:spPr>
              <a:xfrm>
                <a:off x="809625"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5" name="Google Shape;395;p26"/>
              <p:cNvSpPr/>
              <p:nvPr/>
            </p:nvSpPr>
            <p:spPr>
              <a:xfrm>
                <a:off x="2021403"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96" name="Google Shape;396;p26"/>
            <p:cNvCxnSpPr/>
            <p:nvPr/>
          </p:nvCxnSpPr>
          <p:spPr>
            <a:xfrm>
              <a:off x="2495491" y="4834621"/>
              <a:ext cx="1056300" cy="0"/>
            </a:xfrm>
            <a:prstGeom prst="straightConnector1">
              <a:avLst/>
            </a:prstGeom>
            <a:noFill/>
            <a:ln cap="flat" cmpd="sng" w="19050">
              <a:solidFill>
                <a:srgbClr val="666666"/>
              </a:solidFill>
              <a:prstDash val="solid"/>
              <a:round/>
              <a:headEnd len="med" w="med" type="none"/>
              <a:tailEnd len="med" w="med" type="triangle"/>
            </a:ln>
          </p:spPr>
        </p:cxnSp>
      </p:grpSp>
      <p:cxnSp>
        <p:nvCxnSpPr>
          <p:cNvPr id="397" name="Google Shape;397;p26"/>
          <p:cNvCxnSpPr>
            <a:endCxn id="394" idx="1"/>
          </p:cNvCxnSpPr>
          <p:nvPr/>
        </p:nvCxnSpPr>
        <p:spPr>
          <a:xfrm flipH="1" rot="10800000">
            <a:off x="3209726" y="3967682"/>
            <a:ext cx="880200" cy="73500"/>
          </a:xfrm>
          <a:prstGeom prst="straightConnector1">
            <a:avLst/>
          </a:prstGeom>
          <a:noFill/>
          <a:ln cap="flat" cmpd="sng" w="9525">
            <a:solidFill>
              <a:schemeClr val="dk2"/>
            </a:solidFill>
            <a:prstDash val="solid"/>
            <a:round/>
            <a:headEnd len="med" w="med" type="none"/>
            <a:tailEnd len="med" w="med" type="triangle"/>
          </a:ln>
        </p:spPr>
      </p:cxnSp>
      <p:cxnSp>
        <p:nvCxnSpPr>
          <p:cNvPr id="398" name="Google Shape;398;p26"/>
          <p:cNvCxnSpPr>
            <a:endCxn id="391" idx="1"/>
          </p:cNvCxnSpPr>
          <p:nvPr/>
        </p:nvCxnSpPr>
        <p:spPr>
          <a:xfrm flipH="1" rot="10800000">
            <a:off x="5206690" y="3967682"/>
            <a:ext cx="716100" cy="73500"/>
          </a:xfrm>
          <a:prstGeom prst="straightConnector1">
            <a:avLst/>
          </a:prstGeom>
          <a:noFill/>
          <a:ln cap="flat" cmpd="sng" w="9525">
            <a:solidFill>
              <a:schemeClr val="dk2"/>
            </a:solidFill>
            <a:prstDash val="solid"/>
            <a:round/>
            <a:headEnd len="med" w="med" type="none"/>
            <a:tailEnd len="med" w="med" type="triangle"/>
          </a:ln>
        </p:spPr>
      </p:cxnSp>
      <p:sp>
        <p:nvSpPr>
          <p:cNvPr id="399" name="Google Shape;399;p26"/>
          <p:cNvSpPr/>
          <p:nvPr/>
        </p:nvSpPr>
        <p:spPr>
          <a:xfrm>
            <a:off x="2573896" y="3795635"/>
            <a:ext cx="450000" cy="3441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400" name="Google Shape;400;p26"/>
          <p:cNvSpPr/>
          <p:nvPr/>
        </p:nvSpPr>
        <p:spPr>
          <a:xfrm>
            <a:off x="4548276" y="3795635"/>
            <a:ext cx="450000" cy="3441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10</a:t>
            </a:r>
            <a:endParaRPr/>
          </a:p>
        </p:txBody>
      </p:sp>
      <p:sp>
        <p:nvSpPr>
          <p:cNvPr id="401" name="Google Shape;401;p26"/>
          <p:cNvSpPr/>
          <p:nvPr/>
        </p:nvSpPr>
        <p:spPr>
          <a:xfrm>
            <a:off x="6380922" y="3795635"/>
            <a:ext cx="450000" cy="3441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15</a:t>
            </a:r>
            <a:endParaRPr/>
          </a:p>
        </p:txBody>
      </p:sp>
      <p:cxnSp>
        <p:nvCxnSpPr>
          <p:cNvPr id="402" name="Google Shape;402;p26"/>
          <p:cNvCxnSpPr>
            <a:endCxn id="389" idx="3"/>
          </p:cNvCxnSpPr>
          <p:nvPr/>
        </p:nvCxnSpPr>
        <p:spPr>
          <a:xfrm flipH="1">
            <a:off x="3474160" y="3879482"/>
            <a:ext cx="850800" cy="88200"/>
          </a:xfrm>
          <a:prstGeom prst="straightConnector1">
            <a:avLst/>
          </a:prstGeom>
          <a:noFill/>
          <a:ln cap="flat" cmpd="sng" w="9525">
            <a:solidFill>
              <a:schemeClr val="dk2"/>
            </a:solidFill>
            <a:prstDash val="solid"/>
            <a:round/>
            <a:headEnd len="med" w="med" type="none"/>
            <a:tailEnd len="med" w="med" type="triangle"/>
          </a:ln>
        </p:spPr>
      </p:cxnSp>
      <p:cxnSp>
        <p:nvCxnSpPr>
          <p:cNvPr id="403" name="Google Shape;403;p26"/>
          <p:cNvCxnSpPr>
            <a:endCxn id="395" idx="3"/>
          </p:cNvCxnSpPr>
          <p:nvPr/>
        </p:nvCxnSpPr>
        <p:spPr>
          <a:xfrm flipH="1">
            <a:off x="5456512" y="3923582"/>
            <a:ext cx="716100" cy="44100"/>
          </a:xfrm>
          <a:prstGeom prst="straightConnector1">
            <a:avLst/>
          </a:prstGeom>
          <a:noFill/>
          <a:ln cap="flat" cmpd="sng" w="9525">
            <a:solidFill>
              <a:schemeClr val="dk2"/>
            </a:solidFill>
            <a:prstDash val="solid"/>
            <a:round/>
            <a:headEnd len="med" w="med" type="none"/>
            <a:tailEnd len="med" w="med" type="triangle"/>
          </a:ln>
        </p:spPr>
      </p:cxnSp>
      <p:cxnSp>
        <p:nvCxnSpPr>
          <p:cNvPr id="404" name="Google Shape;404;p26"/>
          <p:cNvCxnSpPr/>
          <p:nvPr/>
        </p:nvCxnSpPr>
        <p:spPr>
          <a:xfrm flipH="1">
            <a:off x="1513712" y="3907207"/>
            <a:ext cx="828900" cy="45900"/>
          </a:xfrm>
          <a:prstGeom prst="straightConnector1">
            <a:avLst/>
          </a:prstGeom>
          <a:noFill/>
          <a:ln cap="flat" cmpd="sng" w="19050">
            <a:solidFill>
              <a:srgbClr val="666666"/>
            </a:solidFill>
            <a:prstDash val="solid"/>
            <a:round/>
            <a:headEnd len="med" w="med" type="none"/>
            <a:tailEnd len="med" w="med" type="triangle"/>
          </a:ln>
        </p:spPr>
      </p:cxnSp>
      <p:cxnSp>
        <p:nvCxnSpPr>
          <p:cNvPr id="405" name="Google Shape;405;p26"/>
          <p:cNvCxnSpPr/>
          <p:nvPr/>
        </p:nvCxnSpPr>
        <p:spPr>
          <a:xfrm>
            <a:off x="6836087" y="3796071"/>
            <a:ext cx="453300" cy="343200"/>
          </a:xfrm>
          <a:prstGeom prst="straightConnector1">
            <a:avLst/>
          </a:prstGeom>
          <a:noFill/>
          <a:ln cap="flat" cmpd="sng" w="19050">
            <a:solidFill>
              <a:srgbClr val="666666"/>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5">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2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Review: ALists</a:t>
            </a:r>
            <a:endParaRPr/>
          </a:p>
        </p:txBody>
      </p:sp>
      <p:sp>
        <p:nvSpPr>
          <p:cNvPr id="411" name="Google Shape;411;p2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Even with the super sophisticated Doubly linked list, it’ll still take a long time to traverse through the list.</a:t>
            </a:r>
            <a:endParaRPr/>
          </a:p>
          <a:p>
            <a:pPr indent="-311150" lvl="0" marL="457200" rtl="0" algn="l">
              <a:spcBef>
                <a:spcPts val="0"/>
              </a:spcBef>
              <a:spcAft>
                <a:spcPts val="0"/>
              </a:spcAft>
              <a:buSzPts val="1300"/>
              <a:buChar char="●"/>
            </a:pPr>
            <a:r>
              <a:rPr lang="en"/>
              <a:t>This makes us wish we could go back to arrays.. which have that sweeeet constant access time.</a:t>
            </a:r>
            <a:endParaRPr/>
          </a:p>
          <a:p>
            <a:pPr indent="-311150" lvl="0" marL="457200" rtl="0" algn="l">
              <a:spcBef>
                <a:spcPts val="0"/>
              </a:spcBef>
              <a:spcAft>
                <a:spcPts val="0"/>
              </a:spcAft>
              <a:buSzPts val="1300"/>
              <a:buChar char="●"/>
            </a:pPr>
            <a:r>
              <a:rPr lang="en"/>
              <a:t>But the bad thing about arrays is that you can’t add or remove items.</a:t>
            </a:r>
            <a:endParaRPr/>
          </a:p>
          <a:p>
            <a:pPr indent="-311150" lvl="0" marL="457200" rtl="0" algn="l">
              <a:spcBef>
                <a:spcPts val="0"/>
              </a:spcBef>
              <a:spcAft>
                <a:spcPts val="0"/>
              </a:spcAft>
              <a:buSzPts val="1300"/>
              <a:buChar char="●"/>
            </a:pPr>
            <a:r>
              <a:rPr lang="en"/>
              <a:t>Let’s write a list class that takes advantage of </a:t>
            </a:r>
            <a:r>
              <a:rPr b="1" lang="en"/>
              <a:t>both </a:t>
            </a:r>
            <a:r>
              <a:rPr lang="en"/>
              <a:t>an </a:t>
            </a:r>
            <a:r>
              <a:rPr lang="en">
                <a:solidFill>
                  <a:srgbClr val="E69138"/>
                </a:solidFill>
              </a:rPr>
              <a:t>array’s constant access time</a:t>
            </a:r>
            <a:r>
              <a:rPr lang="en"/>
              <a:t> and a </a:t>
            </a:r>
            <a:r>
              <a:rPr lang="en">
                <a:solidFill>
                  <a:srgbClr val="3D85C6"/>
                </a:solidFill>
              </a:rPr>
              <a:t>linked lists adding and removing feature</a:t>
            </a:r>
            <a:r>
              <a:rPr lang="en"/>
              <a:t>.</a:t>
            </a:r>
            <a:endParaRPr/>
          </a:p>
          <a:p>
            <a:pPr indent="-311150" lvl="0" marL="457200" rtl="0" algn="l">
              <a:spcBef>
                <a:spcPts val="0"/>
              </a:spcBef>
              <a:spcAft>
                <a:spcPts val="0"/>
              </a:spcAft>
              <a:buSzPts val="1300"/>
              <a:buChar char="●"/>
            </a:pPr>
            <a:r>
              <a:rPr lang="en"/>
              <a:t>AList is a list whose underlying structure is an array. To support add and remove, we choose to </a:t>
            </a:r>
            <a:r>
              <a:rPr b="1" lang="en"/>
              <a:t>resize</a:t>
            </a:r>
            <a:r>
              <a:rPr lang="en"/>
              <a:t> the array when the array is too full which consists of:</a:t>
            </a:r>
            <a:endParaRPr/>
          </a:p>
          <a:p>
            <a:pPr indent="-298450" lvl="1" marL="914400" rtl="0" algn="l">
              <a:spcBef>
                <a:spcPts val="0"/>
              </a:spcBef>
              <a:spcAft>
                <a:spcPts val="0"/>
              </a:spcAft>
              <a:buSzPts val="1100"/>
              <a:buChar char="○"/>
            </a:pPr>
            <a:r>
              <a:rPr lang="en"/>
              <a:t>Making a new array that has twice as much space (this is called geometric resizing)</a:t>
            </a:r>
            <a:endParaRPr/>
          </a:p>
          <a:p>
            <a:pPr indent="-298450" lvl="1" marL="914400" rtl="0" algn="l">
              <a:spcBef>
                <a:spcPts val="0"/>
              </a:spcBef>
              <a:spcAft>
                <a:spcPts val="0"/>
              </a:spcAft>
              <a:buSzPts val="1100"/>
              <a:buChar char="○"/>
            </a:pPr>
            <a:r>
              <a:rPr lang="en"/>
              <a:t>Copying all the items from the old array into the new array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1">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28"/>
          <p:cNvSpPr txBox="1"/>
          <p:nvPr>
            <p:ph type="title"/>
          </p:nvPr>
        </p:nvSpPr>
        <p:spPr>
          <a:xfrm>
            <a:off x="729450" y="1140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Exercise 1: insert </a:t>
            </a:r>
            <a:endParaRPr/>
          </a:p>
        </p:txBody>
      </p:sp>
      <p:sp>
        <p:nvSpPr>
          <p:cNvPr id="417" name="Google Shape;417;p28"/>
          <p:cNvSpPr txBox="1"/>
          <p:nvPr>
            <p:ph idx="1" type="body"/>
          </p:nvPr>
        </p:nvSpPr>
        <p:spPr>
          <a:xfrm>
            <a:off x="729450" y="2078875"/>
            <a:ext cx="7688700" cy="22611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1600"/>
              </a:spcBef>
              <a:spcAft>
                <a:spcPts val="0"/>
              </a:spcAft>
              <a:buNone/>
            </a:pPr>
            <a:r>
              <a:t/>
            </a:r>
            <a:endParaRPr/>
          </a:p>
          <a:p>
            <a:pPr indent="-311150" lvl="0" marL="457200" rtl="0" algn="l">
              <a:spcBef>
                <a:spcPts val="1600"/>
              </a:spcBef>
              <a:spcAft>
                <a:spcPts val="0"/>
              </a:spcAft>
              <a:buClr>
                <a:srgbClr val="FF0000"/>
              </a:buClr>
              <a:buSzPts val="1300"/>
              <a:buChar char="●"/>
            </a:pPr>
            <a:r>
              <a:rPr lang="en">
                <a:solidFill>
                  <a:srgbClr val="FF0000"/>
                </a:solidFill>
              </a:rPr>
              <a:t>First, think about what types of things we need to check for (special cases).</a:t>
            </a:r>
            <a:endParaRPr>
              <a:solidFill>
                <a:srgbClr val="FF0000"/>
              </a:solidFill>
            </a:endParaRPr>
          </a:p>
          <a:p>
            <a:pPr indent="-311150" lvl="0" marL="457200" rtl="0" algn="l">
              <a:spcBef>
                <a:spcPts val="0"/>
              </a:spcBef>
              <a:spcAft>
                <a:spcPts val="0"/>
              </a:spcAft>
              <a:buClr>
                <a:srgbClr val="FF0000"/>
              </a:buClr>
              <a:buSzPts val="1300"/>
              <a:buChar char="●"/>
            </a:pPr>
            <a:r>
              <a:rPr lang="en">
                <a:solidFill>
                  <a:srgbClr val="FF0000"/>
                </a:solidFill>
              </a:rPr>
              <a:t>How do we get to the specified position?</a:t>
            </a:r>
            <a:endParaRPr>
              <a:solidFill>
                <a:srgbClr val="FF0000"/>
              </a:solidFill>
            </a:endParaRPr>
          </a:p>
          <a:p>
            <a:pPr indent="-311150" lvl="0" marL="457200" rtl="0" algn="l">
              <a:spcBef>
                <a:spcPts val="0"/>
              </a:spcBef>
              <a:spcAft>
                <a:spcPts val="0"/>
              </a:spcAft>
              <a:buClr>
                <a:srgbClr val="FF0000"/>
              </a:buClr>
              <a:buSzPts val="1300"/>
              <a:buChar char="●"/>
            </a:pPr>
            <a:r>
              <a:rPr lang="en">
                <a:solidFill>
                  <a:srgbClr val="FF0000"/>
                </a:solidFill>
              </a:rPr>
              <a:t>After we get there, how can we re-assign pointers such that we add the new node?</a:t>
            </a:r>
            <a:endParaRPr>
              <a:solidFill>
                <a:srgbClr val="FF0000"/>
              </a:solidFill>
            </a:endParaRPr>
          </a:p>
        </p:txBody>
      </p:sp>
      <p:pic>
        <p:nvPicPr>
          <p:cNvPr id="418" name="Google Shape;418;p28"/>
          <p:cNvPicPr preferRelativeResize="0"/>
          <p:nvPr/>
        </p:nvPicPr>
        <p:blipFill>
          <a:blip r:embed="rId3">
            <a:alphaModFix/>
          </a:blip>
          <a:stretch>
            <a:fillRect/>
          </a:stretch>
        </p:blipFill>
        <p:spPr>
          <a:xfrm>
            <a:off x="795525" y="1676050"/>
            <a:ext cx="4074001" cy="12426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7">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29"/>
          <p:cNvSpPr txBox="1"/>
          <p:nvPr>
            <p:ph type="title"/>
          </p:nvPr>
        </p:nvSpPr>
        <p:spPr>
          <a:xfrm>
            <a:off x="729450" y="1140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Exercise 1: insert </a:t>
            </a:r>
            <a:endParaRPr/>
          </a:p>
        </p:txBody>
      </p:sp>
      <p:pic>
        <p:nvPicPr>
          <p:cNvPr id="424" name="Google Shape;424;p29"/>
          <p:cNvPicPr preferRelativeResize="0"/>
          <p:nvPr/>
        </p:nvPicPr>
        <p:blipFill>
          <a:blip r:embed="rId3">
            <a:alphaModFix/>
          </a:blip>
          <a:stretch>
            <a:fillRect/>
          </a:stretch>
        </p:blipFill>
        <p:spPr>
          <a:xfrm>
            <a:off x="795525" y="1676050"/>
            <a:ext cx="4074001" cy="1242675"/>
          </a:xfrm>
          <a:prstGeom prst="rect">
            <a:avLst/>
          </a:prstGeom>
          <a:noFill/>
          <a:ln>
            <a:noFill/>
          </a:ln>
        </p:spPr>
      </p:pic>
      <p:pic>
        <p:nvPicPr>
          <p:cNvPr id="425" name="Google Shape;425;p29"/>
          <p:cNvPicPr preferRelativeResize="0"/>
          <p:nvPr/>
        </p:nvPicPr>
        <p:blipFill>
          <a:blip r:embed="rId4">
            <a:alphaModFix/>
          </a:blip>
          <a:stretch>
            <a:fillRect/>
          </a:stretch>
        </p:blipFill>
        <p:spPr>
          <a:xfrm>
            <a:off x="941825" y="2918725"/>
            <a:ext cx="3159476" cy="18224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3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Exercise 2: reverse </a:t>
            </a:r>
            <a:endParaRPr/>
          </a:p>
        </p:txBody>
      </p:sp>
      <p:sp>
        <p:nvSpPr>
          <p:cNvPr id="431" name="Google Shape;431;p3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1600"/>
              </a:spcBef>
              <a:spcAft>
                <a:spcPts val="1600"/>
              </a:spcAft>
              <a:buNone/>
            </a:pPr>
            <a:r>
              <a:t/>
            </a:r>
            <a:endParaRPr>
              <a:solidFill>
                <a:srgbClr val="FF0000"/>
              </a:solidFill>
            </a:endParaRPr>
          </a:p>
        </p:txBody>
      </p:sp>
      <p:pic>
        <p:nvPicPr>
          <p:cNvPr id="432" name="Google Shape;432;p30"/>
          <p:cNvPicPr preferRelativeResize="0"/>
          <p:nvPr/>
        </p:nvPicPr>
        <p:blipFill>
          <a:blip r:embed="rId3">
            <a:alphaModFix/>
          </a:blip>
          <a:stretch>
            <a:fillRect/>
          </a:stretch>
        </p:blipFill>
        <p:spPr>
          <a:xfrm>
            <a:off x="685650" y="1971473"/>
            <a:ext cx="5331874" cy="9499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3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Exercise 2: reverse </a:t>
            </a:r>
            <a:endParaRPr/>
          </a:p>
        </p:txBody>
      </p:sp>
      <p:sp>
        <p:nvSpPr>
          <p:cNvPr id="438" name="Google Shape;438;p3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1600"/>
              </a:spcBef>
              <a:spcAft>
                <a:spcPts val="1600"/>
              </a:spcAft>
              <a:buNone/>
            </a:pPr>
            <a:r>
              <a:t/>
            </a:r>
            <a:endParaRPr>
              <a:solidFill>
                <a:srgbClr val="FF0000"/>
              </a:solidFill>
            </a:endParaRPr>
          </a:p>
        </p:txBody>
      </p:sp>
      <p:pic>
        <p:nvPicPr>
          <p:cNvPr id="439" name="Google Shape;439;p31"/>
          <p:cNvPicPr preferRelativeResize="0"/>
          <p:nvPr/>
        </p:nvPicPr>
        <p:blipFill>
          <a:blip r:embed="rId3">
            <a:alphaModFix/>
          </a:blip>
          <a:stretch>
            <a:fillRect/>
          </a:stretch>
        </p:blipFill>
        <p:spPr>
          <a:xfrm>
            <a:off x="685650" y="1971473"/>
            <a:ext cx="5331874" cy="949975"/>
          </a:xfrm>
          <a:prstGeom prst="rect">
            <a:avLst/>
          </a:prstGeom>
          <a:noFill/>
          <a:ln>
            <a:noFill/>
          </a:ln>
        </p:spPr>
      </p:pic>
      <p:pic>
        <p:nvPicPr>
          <p:cNvPr id="440" name="Google Shape;440;p31"/>
          <p:cNvPicPr preferRelativeResize="0"/>
          <p:nvPr/>
        </p:nvPicPr>
        <p:blipFill>
          <a:blip r:embed="rId4">
            <a:alphaModFix/>
          </a:blip>
          <a:stretch>
            <a:fillRect/>
          </a:stretch>
        </p:blipFill>
        <p:spPr>
          <a:xfrm>
            <a:off x="1133876" y="2824300"/>
            <a:ext cx="2372625" cy="191752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32"/>
          <p:cNvSpPr txBox="1"/>
          <p:nvPr>
            <p:ph type="title"/>
          </p:nvPr>
        </p:nvSpPr>
        <p:spPr>
          <a:xfrm>
            <a:off x="7276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Exercise 2.5: reverse </a:t>
            </a:r>
            <a:r>
              <a:rPr lang="en">
                <a:highlight>
                  <a:srgbClr val="FF0000"/>
                </a:highlight>
              </a:rPr>
              <a:t>Extra</a:t>
            </a:r>
            <a:endParaRPr>
              <a:highlight>
                <a:srgbClr val="FF0000"/>
              </a:highlight>
            </a:endParaRPr>
          </a:p>
        </p:txBody>
      </p:sp>
      <p:pic>
        <p:nvPicPr>
          <p:cNvPr id="446" name="Google Shape;446;p32"/>
          <p:cNvPicPr preferRelativeResize="0"/>
          <p:nvPr/>
        </p:nvPicPr>
        <p:blipFill>
          <a:blip r:embed="rId3">
            <a:alphaModFix/>
          </a:blip>
          <a:stretch>
            <a:fillRect/>
          </a:stretch>
        </p:blipFill>
        <p:spPr>
          <a:xfrm>
            <a:off x="684775" y="1998000"/>
            <a:ext cx="6221792" cy="5352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33"/>
          <p:cNvSpPr txBox="1"/>
          <p:nvPr>
            <p:ph type="title"/>
          </p:nvPr>
        </p:nvSpPr>
        <p:spPr>
          <a:xfrm>
            <a:off x="7276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Exercise 2.5: reverse </a:t>
            </a:r>
            <a:r>
              <a:rPr lang="en">
                <a:highlight>
                  <a:srgbClr val="FF0000"/>
                </a:highlight>
              </a:rPr>
              <a:t>Extra</a:t>
            </a:r>
            <a:endParaRPr>
              <a:highlight>
                <a:srgbClr val="FF0000"/>
              </a:highlight>
            </a:endParaRPr>
          </a:p>
        </p:txBody>
      </p:sp>
      <p:pic>
        <p:nvPicPr>
          <p:cNvPr id="452" name="Google Shape;452;p33"/>
          <p:cNvPicPr preferRelativeResize="0"/>
          <p:nvPr/>
        </p:nvPicPr>
        <p:blipFill>
          <a:blip r:embed="rId3">
            <a:alphaModFix/>
          </a:blip>
          <a:stretch>
            <a:fillRect/>
          </a:stretch>
        </p:blipFill>
        <p:spPr>
          <a:xfrm>
            <a:off x="684775" y="1998000"/>
            <a:ext cx="6221792" cy="535200"/>
          </a:xfrm>
          <a:prstGeom prst="rect">
            <a:avLst/>
          </a:prstGeom>
          <a:noFill/>
          <a:ln>
            <a:noFill/>
          </a:ln>
        </p:spPr>
      </p:pic>
      <p:pic>
        <p:nvPicPr>
          <p:cNvPr id="453" name="Google Shape;453;p33"/>
          <p:cNvPicPr preferRelativeResize="0"/>
          <p:nvPr/>
        </p:nvPicPr>
        <p:blipFill>
          <a:blip r:embed="rId4">
            <a:alphaModFix/>
          </a:blip>
          <a:stretch>
            <a:fillRect/>
          </a:stretch>
        </p:blipFill>
        <p:spPr>
          <a:xfrm>
            <a:off x="854525" y="2533200"/>
            <a:ext cx="2977937" cy="230549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3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Exercise 3: Array insert</a:t>
            </a:r>
            <a:endParaRPr/>
          </a:p>
        </p:txBody>
      </p:sp>
      <p:pic>
        <p:nvPicPr>
          <p:cNvPr id="459" name="Google Shape;459;p34"/>
          <p:cNvPicPr preferRelativeResize="0"/>
          <p:nvPr/>
        </p:nvPicPr>
        <p:blipFill>
          <a:blip r:embed="rId3">
            <a:alphaModFix/>
          </a:blip>
          <a:stretch>
            <a:fillRect/>
          </a:stretch>
        </p:blipFill>
        <p:spPr>
          <a:xfrm>
            <a:off x="796675" y="1853850"/>
            <a:ext cx="5903049" cy="17443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3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Exercise 3: Array insert</a:t>
            </a:r>
            <a:endParaRPr/>
          </a:p>
        </p:txBody>
      </p:sp>
      <p:pic>
        <p:nvPicPr>
          <p:cNvPr id="465" name="Google Shape;465;p35"/>
          <p:cNvPicPr preferRelativeResize="0"/>
          <p:nvPr/>
        </p:nvPicPr>
        <p:blipFill>
          <a:blip r:embed="rId3">
            <a:alphaModFix/>
          </a:blip>
          <a:stretch>
            <a:fillRect/>
          </a:stretch>
        </p:blipFill>
        <p:spPr>
          <a:xfrm>
            <a:off x="796675" y="1853850"/>
            <a:ext cx="5903049" cy="1744325"/>
          </a:xfrm>
          <a:prstGeom prst="rect">
            <a:avLst/>
          </a:prstGeom>
          <a:noFill/>
          <a:ln>
            <a:noFill/>
          </a:ln>
        </p:spPr>
      </p:pic>
      <p:pic>
        <p:nvPicPr>
          <p:cNvPr id="466" name="Google Shape;466;p35"/>
          <p:cNvPicPr preferRelativeResize="0"/>
          <p:nvPr/>
        </p:nvPicPr>
        <p:blipFill>
          <a:blip r:embed="rId4">
            <a:alphaModFix/>
          </a:blip>
          <a:stretch>
            <a:fillRect/>
          </a:stretch>
        </p:blipFill>
        <p:spPr>
          <a:xfrm>
            <a:off x="796675" y="3750575"/>
            <a:ext cx="7103325" cy="7516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3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a:t>Exercise 3: Array insert </a:t>
            </a:r>
            <a:r>
              <a:rPr lang="en">
                <a:highlight>
                  <a:srgbClr val="FF0000"/>
                </a:highlight>
              </a:rPr>
              <a:t>Extra</a:t>
            </a:r>
            <a:endParaRPr>
              <a:highlight>
                <a:srgbClr val="FF0000"/>
              </a:highlight>
            </a:endParaRPr>
          </a:p>
          <a:p>
            <a:pPr indent="0" lvl="0" marL="0" rtl="0" algn="l">
              <a:spcBef>
                <a:spcPts val="0"/>
              </a:spcBef>
              <a:spcAft>
                <a:spcPts val="0"/>
              </a:spcAft>
              <a:buNone/>
            </a:pPr>
            <a:r>
              <a:t/>
            </a:r>
            <a:endParaRPr/>
          </a:p>
        </p:txBody>
      </p:sp>
      <p:sp>
        <p:nvSpPr>
          <p:cNvPr id="472" name="Google Shape;472;p3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473" name="Google Shape;473;p36"/>
          <p:cNvPicPr preferRelativeResize="0"/>
          <p:nvPr/>
        </p:nvPicPr>
        <p:blipFill>
          <a:blip r:embed="rId3">
            <a:alphaModFix/>
          </a:blip>
          <a:stretch>
            <a:fillRect/>
          </a:stretch>
        </p:blipFill>
        <p:spPr>
          <a:xfrm>
            <a:off x="729450" y="2146775"/>
            <a:ext cx="4726449" cy="6465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3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Exercise 3: Array insert </a:t>
            </a:r>
            <a:r>
              <a:rPr lang="en">
                <a:highlight>
                  <a:srgbClr val="FF0000"/>
                </a:highlight>
              </a:rPr>
              <a:t>Extra</a:t>
            </a:r>
            <a:endParaRPr>
              <a:highlight>
                <a:srgbClr val="FF0000"/>
              </a:highlight>
            </a:endParaRPr>
          </a:p>
          <a:p>
            <a:pPr indent="0" lvl="0" marL="0" rtl="0" algn="l">
              <a:spcBef>
                <a:spcPts val="0"/>
              </a:spcBef>
              <a:spcAft>
                <a:spcPts val="0"/>
              </a:spcAft>
              <a:buNone/>
            </a:pPr>
            <a:r>
              <a:t/>
            </a:r>
            <a:endParaRPr/>
          </a:p>
        </p:txBody>
      </p:sp>
      <p:sp>
        <p:nvSpPr>
          <p:cNvPr id="479" name="Google Shape;479;p3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480" name="Google Shape;480;p37"/>
          <p:cNvPicPr preferRelativeResize="0"/>
          <p:nvPr/>
        </p:nvPicPr>
        <p:blipFill>
          <a:blip r:embed="rId3">
            <a:alphaModFix/>
          </a:blip>
          <a:stretch>
            <a:fillRect/>
          </a:stretch>
        </p:blipFill>
        <p:spPr>
          <a:xfrm>
            <a:off x="729450" y="2146775"/>
            <a:ext cx="4726449" cy="646500"/>
          </a:xfrm>
          <a:prstGeom prst="rect">
            <a:avLst/>
          </a:prstGeom>
          <a:noFill/>
          <a:ln>
            <a:noFill/>
          </a:ln>
        </p:spPr>
      </p:pic>
      <p:pic>
        <p:nvPicPr>
          <p:cNvPr id="481" name="Google Shape;481;p37"/>
          <p:cNvPicPr preferRelativeResize="0"/>
          <p:nvPr/>
        </p:nvPicPr>
        <p:blipFill>
          <a:blip r:embed="rId4">
            <a:alphaModFix/>
          </a:blip>
          <a:stretch>
            <a:fillRect/>
          </a:stretch>
        </p:blipFill>
        <p:spPr>
          <a:xfrm>
            <a:off x="1051600" y="2793275"/>
            <a:ext cx="3396574" cy="182449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38"/>
          <p:cNvSpPr txBox="1"/>
          <p:nvPr>
            <p:ph type="title"/>
          </p:nvPr>
        </p:nvSpPr>
        <p:spPr>
          <a:xfrm>
            <a:off x="7276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Exercise 4: Array reverse</a:t>
            </a:r>
            <a:endParaRPr/>
          </a:p>
        </p:txBody>
      </p:sp>
      <p:pic>
        <p:nvPicPr>
          <p:cNvPr id="487" name="Google Shape;487;p38"/>
          <p:cNvPicPr preferRelativeResize="0"/>
          <p:nvPr/>
        </p:nvPicPr>
        <p:blipFill>
          <a:blip r:embed="rId3">
            <a:alphaModFix/>
          </a:blip>
          <a:stretch>
            <a:fillRect/>
          </a:stretch>
        </p:blipFill>
        <p:spPr>
          <a:xfrm>
            <a:off x="639750" y="1907125"/>
            <a:ext cx="6482376" cy="11744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39"/>
          <p:cNvSpPr txBox="1"/>
          <p:nvPr>
            <p:ph type="title"/>
          </p:nvPr>
        </p:nvSpPr>
        <p:spPr>
          <a:xfrm>
            <a:off x="7276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Exercise 4: Array reverse</a:t>
            </a:r>
            <a:endParaRPr/>
          </a:p>
        </p:txBody>
      </p:sp>
      <p:pic>
        <p:nvPicPr>
          <p:cNvPr id="493" name="Google Shape;493;p39"/>
          <p:cNvPicPr preferRelativeResize="0"/>
          <p:nvPr/>
        </p:nvPicPr>
        <p:blipFill>
          <a:blip r:embed="rId3">
            <a:alphaModFix/>
          </a:blip>
          <a:stretch>
            <a:fillRect/>
          </a:stretch>
        </p:blipFill>
        <p:spPr>
          <a:xfrm>
            <a:off x="639750" y="1907125"/>
            <a:ext cx="6482376" cy="1174425"/>
          </a:xfrm>
          <a:prstGeom prst="rect">
            <a:avLst/>
          </a:prstGeom>
          <a:noFill/>
          <a:ln>
            <a:noFill/>
          </a:ln>
        </p:spPr>
      </p:pic>
      <p:pic>
        <p:nvPicPr>
          <p:cNvPr id="494" name="Google Shape;494;p39"/>
          <p:cNvPicPr preferRelativeResize="0"/>
          <p:nvPr/>
        </p:nvPicPr>
        <p:blipFill>
          <a:blip r:embed="rId4">
            <a:alphaModFix/>
          </a:blip>
          <a:stretch>
            <a:fillRect/>
          </a:stretch>
        </p:blipFill>
        <p:spPr>
          <a:xfrm>
            <a:off x="499325" y="3081550"/>
            <a:ext cx="4170585" cy="17571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40"/>
          <p:cNvSpPr txBox="1"/>
          <p:nvPr>
            <p:ph type="title"/>
          </p:nvPr>
        </p:nvSpPr>
        <p:spPr>
          <a:xfrm>
            <a:off x="7276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Exercise 5: Replicate </a:t>
            </a:r>
            <a:r>
              <a:rPr lang="en">
                <a:highlight>
                  <a:srgbClr val="FF0000"/>
                </a:highlight>
              </a:rPr>
              <a:t>Extra</a:t>
            </a:r>
            <a:endParaRPr>
              <a:highlight>
                <a:srgbClr val="FF0000"/>
              </a:highlight>
            </a:endParaRPr>
          </a:p>
        </p:txBody>
      </p:sp>
      <p:pic>
        <p:nvPicPr>
          <p:cNvPr id="500" name="Google Shape;500;p40"/>
          <p:cNvPicPr preferRelativeResize="0"/>
          <p:nvPr/>
        </p:nvPicPr>
        <p:blipFill>
          <a:blip r:embed="rId3">
            <a:alphaModFix/>
          </a:blip>
          <a:stretch>
            <a:fillRect/>
          </a:stretch>
        </p:blipFill>
        <p:spPr>
          <a:xfrm>
            <a:off x="763650" y="1898875"/>
            <a:ext cx="5807375" cy="13749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41"/>
          <p:cNvSpPr txBox="1"/>
          <p:nvPr>
            <p:ph type="title"/>
          </p:nvPr>
        </p:nvSpPr>
        <p:spPr>
          <a:xfrm>
            <a:off x="7276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Exercise 5: Replicate </a:t>
            </a:r>
            <a:r>
              <a:rPr lang="en">
                <a:highlight>
                  <a:srgbClr val="FF0000"/>
                </a:highlight>
              </a:rPr>
              <a:t>Extra</a:t>
            </a:r>
            <a:endParaRPr>
              <a:highlight>
                <a:srgbClr val="FF0000"/>
              </a:highlight>
            </a:endParaRPr>
          </a:p>
        </p:txBody>
      </p:sp>
      <p:pic>
        <p:nvPicPr>
          <p:cNvPr id="506" name="Google Shape;506;p41"/>
          <p:cNvPicPr preferRelativeResize="0"/>
          <p:nvPr/>
        </p:nvPicPr>
        <p:blipFill>
          <a:blip r:embed="rId3">
            <a:alphaModFix/>
          </a:blip>
          <a:stretch>
            <a:fillRect/>
          </a:stretch>
        </p:blipFill>
        <p:spPr>
          <a:xfrm>
            <a:off x="780175" y="1884300"/>
            <a:ext cx="4609651" cy="1091350"/>
          </a:xfrm>
          <a:prstGeom prst="rect">
            <a:avLst/>
          </a:prstGeom>
          <a:noFill/>
          <a:ln>
            <a:noFill/>
          </a:ln>
        </p:spPr>
      </p:pic>
      <p:pic>
        <p:nvPicPr>
          <p:cNvPr id="507" name="Google Shape;507;p41"/>
          <p:cNvPicPr preferRelativeResize="0"/>
          <p:nvPr/>
        </p:nvPicPr>
        <p:blipFill>
          <a:blip r:embed="rId4">
            <a:alphaModFix/>
          </a:blip>
          <a:stretch>
            <a:fillRect/>
          </a:stretch>
        </p:blipFill>
        <p:spPr>
          <a:xfrm>
            <a:off x="846725" y="2975650"/>
            <a:ext cx="2981925" cy="19628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