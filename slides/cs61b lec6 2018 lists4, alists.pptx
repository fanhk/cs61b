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</p:sldIdLst>
  <p:sldSz cy="5143500" cx="9144000"/>
  <p:notesSz cx="6858000" cy="9144000"/>
  <p:embeddedFontLst>
    <p:embeddedFont>
      <p:font typeface="Ubuntu Mono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UbuntuMono-regular.fntdata"/><Relationship Id="rId50" Type="http://schemas.openxmlformats.org/officeDocument/2006/relationships/slide" Target="slides/slide46.xml"/><Relationship Id="rId53" Type="http://schemas.openxmlformats.org/officeDocument/2006/relationships/font" Target="fonts/UbuntuMono-italic.fntdata"/><Relationship Id="rId52" Type="http://schemas.openxmlformats.org/officeDocument/2006/relationships/font" Target="fonts/UbuntuMono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54" Type="http://schemas.openxmlformats.org/officeDocument/2006/relationships/font" Target="fonts/UbuntuMon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learning-mind.com/plato-allegory-of-the-cave/" TargetMode="External"/><Relationship Id="rId3" Type="http://schemas.openxmlformats.org/officeDocument/2006/relationships/hyperlink" Target="https://en.wikipedia.org/wiki/Red_pill_and_blue_pill" TargetMode="Externa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learning-mind.com/plato-allegory-of-the-cave/" TargetMode="External"/><Relationship Id="rId3" Type="http://schemas.openxmlformats.org/officeDocument/2006/relationships/hyperlink" Target="https://en.wikipedia.org/wiki/Red_pill_and_blue_pill" TargetMode="Externa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053c58238_0_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Google Shape;27;g3053c5823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625dc7e36_0106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g625dc7e36_01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08d20ae8c_0_45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108d20ae8c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625dc7e36_0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625dc7e36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625dc7e36_010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625dc7e36_0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625dc7e36_0109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625dc7e36_01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625dc7e36_015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625dc7e36_0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08d20ae8c_0_45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08d20ae8c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625dc7e36_010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625dc7e36_0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625dc7e36_021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625dc7e36_0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08d20ae8c_0_46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108d20ae8c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c42a46f23_4_21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c42a46f23_4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http://www.learning-mind.com/plato-allegory-of-the-cave/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08eb66e98_0_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08eb66e9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08eb66e98_0_3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08eb66e9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625dc7e36_05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625dc7e36_0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625dc7e36_060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625dc7e36_0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08d20ae8c_0_46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08d20ae8c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8eb66e98_0_13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8eb66e98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625dc7e36_07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625dc7e36_0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625dc7e36_083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625dc7e36_0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108eb66e98_0_5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108eb66e9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625dc7e36_063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625dc7e36_0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108eb66e98_0_18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108eb66e98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625dc7e36_088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625dc7e36_0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108d20ae8c_0_47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108d20ae8c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1c42a46f23_4_30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1c42a46f23_4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1c42a46f23_4_30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1c42a46f23_4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1c42a46f23_4_39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1c42a46f23_4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625dc7e36_090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625dc7e36_0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625dc7e36_092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625dc7e36_0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625dc7e36_093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625dc7e36_0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625dc7e36_094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625dc7e36_0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625dc7e36_0105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625dc7e36_0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625dc7e36_0106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625dc7e36_01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108eb66e98_0_25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108eb66e98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108eb66e98_0_25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108eb66e98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108eb66e98_0_37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108eb66e98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108eb66e98_0_26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108eb66e98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108eb66e98_0_40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108eb66e98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108eb66e98_0_44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108eb66e98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108eb66e98_0_46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108eb66e98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2f4bf529ef_1_17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2f4bf529ef_1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f4bf529ef_1_4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f4bf529ef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http://www.learning-mind.com/plato-allegory-of-the-cave/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https://en.wikipedia.org/wiki/Red_pill_and_blue_pill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2f4bf529ef_1_9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2f4bf529ef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http://www.learning-mind.com/plato-allegory-of-the-cave/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https://en.wikipedia.org/wiki/Red_pill_and_blue_pill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625dc7e36_0108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625dc7e36_01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11425" y="1941275"/>
            <a:ext cx="52062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3200"/>
              <a:buFont typeface="Calibri"/>
              <a:buNone/>
              <a:defRPr b="1" i="0" sz="3200" u="none" cap="none" strike="noStrike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61925" y="2612325"/>
            <a:ext cx="53808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290700" y="2669200"/>
            <a:ext cx="8443800" cy="0"/>
          </a:xfrm>
          <a:prstGeom prst="straightConnector1">
            <a:avLst/>
          </a:prstGeom>
          <a:noFill/>
          <a:ln cap="flat" cmpd="sng" w="19050">
            <a:solidFill>
              <a:srgbClr val="1072BD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2400"/>
              <a:buFont typeface="Calibri"/>
              <a:buNone/>
              <a:defRPr b="1" sz="24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4" name="Google Shape;14;p3"/>
          <p:cNvCxnSpPr/>
          <p:nvPr/>
        </p:nvCxnSpPr>
        <p:spPr>
          <a:xfrm>
            <a:off x="243000" y="587800"/>
            <a:ext cx="8443800" cy="0"/>
          </a:xfrm>
          <a:prstGeom prst="straightConnector1">
            <a:avLst/>
          </a:prstGeom>
          <a:noFill/>
          <a:ln cap="flat" cmpd="sng" w="19050">
            <a:solidFill>
              <a:srgbClr val="1072BD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●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○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928950" y="2143050"/>
            <a:ext cx="728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2400"/>
              <a:buFont typeface="Calibri"/>
              <a:buNone/>
              <a:defRPr b="1" sz="24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mathandmultimedia.com/2010/09/15/sum-first-n-positive-integers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://www.portcalls.com/wp-content/uploads/2012/04/hanging_containers1.jpg" TargetMode="External"/><Relationship Id="rId4" Type="http://schemas.openxmlformats.org/officeDocument/2006/relationships/hyperlink" Target="http://i.istockimg.com/file_thumbview_approve/19711163/6/stock-photo-19711163-red-loitering-prohibited-sign.jpg" TargetMode="External"/><Relationship Id="rId5" Type="http://schemas.openxmlformats.org/officeDocument/2006/relationships/hyperlink" Target="http://images.mysecuritysign.com/img/lg/K/No-Loitering-Sign-K-5418.gif" TargetMode="External"/><Relationship Id="rId6" Type="http://schemas.openxmlformats.org/officeDocument/2006/relationships/hyperlink" Target="http://3.bp.blogspot.com/-NV3y2NQDFy0/UAAXB5gINoI/AAAAAAAALi8/F_bM4-dmsm4/s1600/DVC00575.JPG" TargetMode="External"/><Relationship Id="rId7" Type="http://schemas.openxmlformats.org/officeDocument/2006/relationships/hyperlink" Target="https://en.wikipedia.org/wiki/Red_pill_and_blue_pi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Pre-Announcements (BEAM)</a:t>
            </a:r>
            <a:endParaRPr/>
          </a:p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61B TAs Kevin and Alex and Nicole are here to say in their freetime that they participate in a group called Berkeley Engineering and Mentoring.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Mentoring for elementary/middle school kids.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Infosession at 8:00 PM in 145 Dwinelle.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Also, PIZZA.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243000" y="556500"/>
            <a:ext cx="8443800" cy="45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Project 1A is out.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Very strongly encouraged to work on this project in IntelliJ.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Having the ability to visually debug your code is incredibly useful.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Having your IDE yell at you about compilation errors while you are writing code is really nice to avoid issues with, for example, generics.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Autograder is up, but we still want you to write your own tests.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Tests not graded.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On part 1B there will be graded tests, so might be worthwhile to write tests just to save yourself some work next week.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LOST section starts tomorrow.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Tuesdays 5-6 Dwinelle 187 section. Will cover previous week’s material.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ctrTitle"/>
          </p:nvPr>
        </p:nvSpPr>
        <p:spPr>
          <a:xfrm>
            <a:off x="211425" y="1941275"/>
            <a:ext cx="5206200" cy="7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CS61B, 2018</a:t>
            </a:r>
            <a:endParaRPr/>
          </a:p>
        </p:txBody>
      </p:sp>
      <p:sp>
        <p:nvSpPr>
          <p:cNvPr id="42" name="Google Shape;42;p10"/>
          <p:cNvSpPr txBox="1"/>
          <p:nvPr>
            <p:ph idx="1" type="subTitle"/>
          </p:nvPr>
        </p:nvSpPr>
        <p:spPr>
          <a:xfrm>
            <a:off x="161925" y="2612325"/>
            <a:ext cx="5765700" cy="20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6: Arrays and Lists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 Last Look at Linked Lists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Naive Array Lists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Resizing Arrays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Generic ALists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Obscurantism in Java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" name="Google Shape;4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7125" y="690300"/>
            <a:ext cx="4095750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type="title"/>
          </p:nvPr>
        </p:nvSpPr>
        <p:spPr>
          <a:xfrm>
            <a:off x="928950" y="2143050"/>
            <a:ext cx="7286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A Last Look at Linked Lists</a:t>
            </a:r>
            <a:endParaRPr sz="4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12"/>
          <p:cNvGrpSpPr/>
          <p:nvPr/>
        </p:nvGrpSpPr>
        <p:grpSpPr>
          <a:xfrm>
            <a:off x="1034637" y="4106589"/>
            <a:ext cx="1031828" cy="429276"/>
            <a:chOff x="809625" y="3638550"/>
            <a:chExt cx="1190525" cy="495300"/>
          </a:xfrm>
        </p:grpSpPr>
        <p:sp>
          <p:nvSpPr>
            <p:cNvPr id="54" name="Google Shape;54;p12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D9D2E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??</a:t>
              </a:r>
              <a:endParaRPr/>
            </a:p>
          </p:txBody>
        </p:sp>
        <p:sp>
          <p:nvSpPr>
            <p:cNvPr id="55" name="Google Shape;55;p12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p12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Doubly Linked Lists</a:t>
            </a:r>
            <a:endParaRPr/>
          </a:p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243000" y="556500"/>
            <a:ext cx="8443800" cy="21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Behold. The state of the art as we arrived at in last week’s lecture. Through various improvements, we made all of the following operations fast: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addFirst</a:t>
            </a:r>
            <a:r>
              <a:rPr lang="en"/>
              <a:t>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addLast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getFirst</a:t>
            </a:r>
            <a:r>
              <a:rPr lang="en"/>
              <a:t>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getLast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removeFirst</a:t>
            </a:r>
            <a:r>
              <a:rPr lang="en"/>
              <a:t>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removeLast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You will build this in project 1A.</a:t>
            </a:r>
            <a:endParaRPr/>
          </a:p>
        </p:txBody>
      </p:sp>
      <p:sp>
        <p:nvSpPr>
          <p:cNvPr id="58" name="Google Shape;58;p12"/>
          <p:cNvSpPr/>
          <p:nvPr/>
        </p:nvSpPr>
        <p:spPr>
          <a:xfrm>
            <a:off x="1162001" y="2962225"/>
            <a:ext cx="32487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2"/>
          <p:cNvSpPr txBox="1"/>
          <p:nvPr/>
        </p:nvSpPr>
        <p:spPr>
          <a:xfrm>
            <a:off x="2626410" y="3188782"/>
            <a:ext cx="356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0" name="Google Shape;60;p12"/>
          <p:cNvSpPr/>
          <p:nvPr/>
        </p:nvSpPr>
        <p:spPr>
          <a:xfrm>
            <a:off x="2512497" y="3204964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2"/>
          <p:cNvSpPr/>
          <p:nvPr/>
        </p:nvSpPr>
        <p:spPr>
          <a:xfrm>
            <a:off x="2517738" y="3199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2"/>
          <p:cNvSpPr/>
          <p:nvPr/>
        </p:nvSpPr>
        <p:spPr>
          <a:xfrm>
            <a:off x="3160588" y="3205175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" name="Google Shape;63;p12"/>
          <p:cNvCxnSpPr>
            <a:stCxn id="62" idx="3"/>
            <a:endCxn id="55" idx="0"/>
          </p:cNvCxnSpPr>
          <p:nvPr/>
        </p:nvCxnSpPr>
        <p:spPr>
          <a:xfrm flipH="1">
            <a:off x="1808488" y="3392525"/>
            <a:ext cx="1854600" cy="714000"/>
          </a:xfrm>
          <a:prstGeom prst="curvedConnector4">
            <a:avLst>
              <a:gd fmla="val -12840" name="adj1"/>
              <a:gd fmla="val 63124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" name="Google Shape;64;p12"/>
          <p:cNvCxnSpPr>
            <a:stCxn id="62" idx="3"/>
          </p:cNvCxnSpPr>
          <p:nvPr/>
        </p:nvCxnSpPr>
        <p:spPr>
          <a:xfrm rot="10800000">
            <a:off x="3373888" y="3388025"/>
            <a:ext cx="289200" cy="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p12"/>
          <p:cNvCxnSpPr/>
          <p:nvPr/>
        </p:nvCxnSpPr>
        <p:spPr>
          <a:xfrm rot="10800000">
            <a:off x="714036" y="3107809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2"/>
          <p:cNvCxnSpPr/>
          <p:nvPr/>
        </p:nvCxnSpPr>
        <p:spPr>
          <a:xfrm rot="10800000">
            <a:off x="714036" y="3355057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" name="Google Shape;67;p12"/>
          <p:cNvGrpSpPr/>
          <p:nvPr/>
        </p:nvGrpSpPr>
        <p:grpSpPr>
          <a:xfrm>
            <a:off x="3153133" y="4106589"/>
            <a:ext cx="1031828" cy="429276"/>
            <a:chOff x="809625" y="3638550"/>
            <a:chExt cx="1190525" cy="495300"/>
          </a:xfrm>
        </p:grpSpPr>
        <p:sp>
          <p:nvSpPr>
            <p:cNvPr id="68" name="Google Shape;68;p12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  <p:sp>
          <p:nvSpPr>
            <p:cNvPr id="69" name="Google Shape;69;p12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0" name="Google Shape;70;p12"/>
          <p:cNvCxnSpPr/>
          <p:nvPr/>
        </p:nvCxnSpPr>
        <p:spPr>
          <a:xfrm>
            <a:off x="1799650" y="4415825"/>
            <a:ext cx="8922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" name="Google Shape;71;p12"/>
          <p:cNvSpPr txBox="1"/>
          <p:nvPr/>
        </p:nvSpPr>
        <p:spPr>
          <a:xfrm>
            <a:off x="2512116" y="2899756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72" name="Google Shape;72;p12"/>
          <p:cNvCxnSpPr/>
          <p:nvPr/>
        </p:nvCxnSpPr>
        <p:spPr>
          <a:xfrm rot="10800000">
            <a:off x="714036" y="3741313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2"/>
          <p:cNvCxnSpPr/>
          <p:nvPr/>
        </p:nvCxnSpPr>
        <p:spPr>
          <a:xfrm rot="10800000">
            <a:off x="714036" y="3548185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2"/>
          <p:cNvSpPr/>
          <p:nvPr/>
        </p:nvSpPr>
        <p:spPr>
          <a:xfrm>
            <a:off x="2679351" y="4106564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2"/>
          <p:cNvSpPr/>
          <p:nvPr/>
        </p:nvSpPr>
        <p:spPr>
          <a:xfrm>
            <a:off x="518626" y="4106564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" name="Google Shape;76;p12"/>
          <p:cNvCxnSpPr/>
          <p:nvPr/>
        </p:nvCxnSpPr>
        <p:spPr>
          <a:xfrm rot="10800000">
            <a:off x="2066350" y="4191150"/>
            <a:ext cx="8421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7" name="Google Shape;77;p12"/>
          <p:cNvGrpSpPr/>
          <p:nvPr/>
        </p:nvGrpSpPr>
        <p:grpSpPr>
          <a:xfrm>
            <a:off x="5271633" y="4106601"/>
            <a:ext cx="1031828" cy="429276"/>
            <a:chOff x="809625" y="3638550"/>
            <a:chExt cx="1190525" cy="495300"/>
          </a:xfrm>
        </p:grpSpPr>
        <p:sp>
          <p:nvSpPr>
            <p:cNvPr id="78" name="Google Shape;78;p12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17</a:t>
              </a:r>
              <a:endParaRPr/>
            </a:p>
          </p:txBody>
        </p:sp>
        <p:sp>
          <p:nvSpPr>
            <p:cNvPr id="79" name="Google Shape;79;p12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0" name="Google Shape;80;p12"/>
          <p:cNvCxnSpPr/>
          <p:nvPr/>
        </p:nvCxnSpPr>
        <p:spPr>
          <a:xfrm>
            <a:off x="4011475" y="4415825"/>
            <a:ext cx="798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12"/>
          <p:cNvSpPr/>
          <p:nvPr/>
        </p:nvSpPr>
        <p:spPr>
          <a:xfrm>
            <a:off x="4797851" y="4106577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12"/>
          <p:cNvCxnSpPr/>
          <p:nvPr/>
        </p:nvCxnSpPr>
        <p:spPr>
          <a:xfrm rot="10800000">
            <a:off x="4184925" y="4191150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2"/>
          <p:cNvCxnSpPr>
            <a:stCxn id="84" idx="2"/>
            <a:endCxn id="55" idx="2"/>
          </p:cNvCxnSpPr>
          <p:nvPr/>
        </p:nvCxnSpPr>
        <p:spPr>
          <a:xfrm flipH="1" rot="5400000">
            <a:off x="4989585" y="1354794"/>
            <a:ext cx="5400" cy="6367800"/>
          </a:xfrm>
          <a:prstGeom prst="curvedConnector3">
            <a:avLst>
              <a:gd fmla="val -4409722" name="adj1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2"/>
          <p:cNvSpPr txBox="1"/>
          <p:nvPr/>
        </p:nvSpPr>
        <p:spPr>
          <a:xfrm>
            <a:off x="3636348" y="4440109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 next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86" name="Google Shape;86;p12"/>
          <p:cNvSpPr txBox="1"/>
          <p:nvPr/>
        </p:nvSpPr>
        <p:spPr>
          <a:xfrm>
            <a:off x="3155561" y="4437913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value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87" name="Google Shape;87;p12"/>
          <p:cNvSpPr txBox="1"/>
          <p:nvPr/>
        </p:nvSpPr>
        <p:spPr>
          <a:xfrm>
            <a:off x="2607044" y="4436104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 prev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grpSp>
        <p:nvGrpSpPr>
          <p:cNvPr id="88" name="Google Shape;88;p12"/>
          <p:cNvGrpSpPr/>
          <p:nvPr/>
        </p:nvGrpSpPr>
        <p:grpSpPr>
          <a:xfrm>
            <a:off x="1102876" y="2905664"/>
            <a:ext cx="1582372" cy="961571"/>
            <a:chOff x="1114701" y="3234112"/>
            <a:chExt cx="1582372" cy="961571"/>
          </a:xfrm>
        </p:grpSpPr>
        <p:sp>
          <p:nvSpPr>
            <p:cNvPr id="89" name="Google Shape;89;p12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Last()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90" name="Google Shape;90;p12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getLast()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91" name="Google Shape;91;p12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92" name="Google Shape;92;p12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remove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Last()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grpSp>
        <p:nvGrpSpPr>
          <p:cNvPr id="93" name="Google Shape;93;p12"/>
          <p:cNvGrpSpPr/>
          <p:nvPr/>
        </p:nvGrpSpPr>
        <p:grpSpPr>
          <a:xfrm>
            <a:off x="7402287" y="4112118"/>
            <a:ext cx="1031828" cy="429276"/>
            <a:chOff x="809625" y="3638550"/>
            <a:chExt cx="1190525" cy="495300"/>
          </a:xfrm>
        </p:grpSpPr>
        <p:sp>
          <p:nvSpPr>
            <p:cNvPr id="94" name="Google Shape;94;p12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38</a:t>
              </a:r>
              <a:endParaRPr/>
            </a:p>
          </p:txBody>
        </p:sp>
        <p:sp>
          <p:nvSpPr>
            <p:cNvPr id="84" name="Google Shape;84;p12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2"/>
          <p:cNvSpPr/>
          <p:nvPr/>
        </p:nvSpPr>
        <p:spPr>
          <a:xfrm>
            <a:off x="6928505" y="4112093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12"/>
          <p:cNvCxnSpPr/>
          <p:nvPr/>
        </p:nvCxnSpPr>
        <p:spPr>
          <a:xfrm>
            <a:off x="6083950" y="4433575"/>
            <a:ext cx="8451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2"/>
          <p:cNvCxnSpPr/>
          <p:nvPr/>
        </p:nvCxnSpPr>
        <p:spPr>
          <a:xfrm rot="10800000">
            <a:off x="6303350" y="4208900"/>
            <a:ext cx="860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2"/>
          <p:cNvCxnSpPr>
            <a:stCxn id="84" idx="3"/>
            <a:endCxn id="75" idx="2"/>
          </p:cNvCxnSpPr>
          <p:nvPr/>
        </p:nvCxnSpPr>
        <p:spPr>
          <a:xfrm flipH="1">
            <a:off x="776615" y="4326756"/>
            <a:ext cx="7657500" cy="209100"/>
          </a:xfrm>
          <a:prstGeom prst="curvedConnector4">
            <a:avLst>
              <a:gd fmla="val -3110" name="adj1"/>
              <a:gd fmla="val 300296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9" name="Google Shape;99;p12"/>
          <p:cNvSpPr txBox="1"/>
          <p:nvPr/>
        </p:nvSpPr>
        <p:spPr>
          <a:xfrm>
            <a:off x="3121730" y="2899750"/>
            <a:ext cx="12891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sentinel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100" name="Google Shape;10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7300" y="1771923"/>
            <a:ext cx="3839500" cy="1588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Arbitrary Retrieval</a:t>
            </a:r>
            <a:endParaRPr/>
          </a:p>
        </p:txBody>
      </p:sp>
      <p:sp>
        <p:nvSpPr>
          <p:cNvPr id="106" name="Google Shape;106;p13"/>
          <p:cNvSpPr txBox="1"/>
          <p:nvPr>
            <p:ph idx="1" type="body"/>
          </p:nvPr>
        </p:nvSpPr>
        <p:spPr>
          <a:xfrm>
            <a:off x="243000" y="556500"/>
            <a:ext cx="8749800" cy="21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</a:t>
            </a:r>
            <a:r>
              <a:rPr lang="en"/>
              <a:t>added</a:t>
            </a:r>
            <a:r>
              <a:rPr lang="en"/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get(int i)</a:t>
            </a:r>
            <a:r>
              <a:rPr lang="en"/>
              <a:t>, which returns the ith item from the list.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would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"/>
              <a:t> be slow for</a:t>
            </a:r>
            <a:r>
              <a:rPr lang="en"/>
              <a:t> long lists compared to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getLast()</a:t>
            </a:r>
            <a:r>
              <a:rPr lang="en"/>
              <a:t>? For what inputs?</a:t>
            </a:r>
            <a:endParaRPr/>
          </a:p>
        </p:txBody>
      </p:sp>
      <p:grpSp>
        <p:nvGrpSpPr>
          <p:cNvPr id="107" name="Google Shape;107;p13"/>
          <p:cNvGrpSpPr/>
          <p:nvPr/>
        </p:nvGrpSpPr>
        <p:grpSpPr>
          <a:xfrm>
            <a:off x="1034637" y="4106589"/>
            <a:ext cx="1031828" cy="429277"/>
            <a:chOff x="809625" y="3638550"/>
            <a:chExt cx="1190525" cy="495300"/>
          </a:xfrm>
        </p:grpSpPr>
        <p:sp>
          <p:nvSpPr>
            <p:cNvPr id="108" name="Google Shape;108;p13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B4A7D6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??</a:t>
              </a: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3"/>
          <p:cNvSpPr/>
          <p:nvPr/>
        </p:nvSpPr>
        <p:spPr>
          <a:xfrm>
            <a:off x="1162001" y="2962225"/>
            <a:ext cx="32487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2626410" y="3188782"/>
            <a:ext cx="356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2512497" y="3204964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2517738" y="3199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3160588" y="3205175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" name="Google Shape;115;p13"/>
          <p:cNvCxnSpPr>
            <a:stCxn id="114" idx="3"/>
            <a:endCxn id="109" idx="0"/>
          </p:cNvCxnSpPr>
          <p:nvPr/>
        </p:nvCxnSpPr>
        <p:spPr>
          <a:xfrm flipH="1">
            <a:off x="1808488" y="3392525"/>
            <a:ext cx="1854600" cy="714000"/>
          </a:xfrm>
          <a:prstGeom prst="curvedConnector4">
            <a:avLst>
              <a:gd fmla="val -12840" name="adj1"/>
              <a:gd fmla="val 63124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3"/>
          <p:cNvCxnSpPr>
            <a:stCxn id="114" idx="3"/>
          </p:cNvCxnSpPr>
          <p:nvPr/>
        </p:nvCxnSpPr>
        <p:spPr>
          <a:xfrm rot="10800000">
            <a:off x="3373888" y="3388025"/>
            <a:ext cx="289200" cy="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3"/>
          <p:cNvCxnSpPr/>
          <p:nvPr/>
        </p:nvCxnSpPr>
        <p:spPr>
          <a:xfrm rot="10800000">
            <a:off x="714036" y="3107809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3"/>
          <p:cNvCxnSpPr/>
          <p:nvPr/>
        </p:nvCxnSpPr>
        <p:spPr>
          <a:xfrm rot="10800000">
            <a:off x="714036" y="3355057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9" name="Google Shape;119;p13"/>
          <p:cNvGrpSpPr/>
          <p:nvPr/>
        </p:nvGrpSpPr>
        <p:grpSpPr>
          <a:xfrm>
            <a:off x="3153133" y="4106589"/>
            <a:ext cx="1031828" cy="429277"/>
            <a:chOff x="809625" y="3638550"/>
            <a:chExt cx="1190525" cy="495300"/>
          </a:xfrm>
        </p:grpSpPr>
        <p:sp>
          <p:nvSpPr>
            <p:cNvPr id="120" name="Google Shape;120;p13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2" name="Google Shape;122;p13"/>
          <p:cNvCxnSpPr/>
          <p:nvPr/>
        </p:nvCxnSpPr>
        <p:spPr>
          <a:xfrm>
            <a:off x="1799650" y="4415825"/>
            <a:ext cx="8922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13"/>
          <p:cNvSpPr txBox="1"/>
          <p:nvPr/>
        </p:nvSpPr>
        <p:spPr>
          <a:xfrm>
            <a:off x="2512116" y="2899756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124" name="Google Shape;124;p13"/>
          <p:cNvCxnSpPr/>
          <p:nvPr/>
        </p:nvCxnSpPr>
        <p:spPr>
          <a:xfrm rot="10800000">
            <a:off x="714036" y="3741313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3"/>
          <p:cNvCxnSpPr/>
          <p:nvPr/>
        </p:nvCxnSpPr>
        <p:spPr>
          <a:xfrm rot="10800000">
            <a:off x="714036" y="3548185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3"/>
          <p:cNvSpPr/>
          <p:nvPr/>
        </p:nvSpPr>
        <p:spPr>
          <a:xfrm>
            <a:off x="2679351" y="4106564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518626" y="4106564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" name="Google Shape;128;p13"/>
          <p:cNvCxnSpPr/>
          <p:nvPr/>
        </p:nvCxnSpPr>
        <p:spPr>
          <a:xfrm rot="10800000">
            <a:off x="2066350" y="4191150"/>
            <a:ext cx="8421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29" name="Google Shape;129;p13"/>
          <p:cNvGrpSpPr/>
          <p:nvPr/>
        </p:nvGrpSpPr>
        <p:grpSpPr>
          <a:xfrm>
            <a:off x="5271633" y="4106602"/>
            <a:ext cx="1031828" cy="429277"/>
            <a:chOff x="809625" y="3638550"/>
            <a:chExt cx="1190525" cy="495300"/>
          </a:xfrm>
        </p:grpSpPr>
        <p:sp>
          <p:nvSpPr>
            <p:cNvPr id="130" name="Google Shape;130;p13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17</a:t>
              </a: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2" name="Google Shape;132;p13"/>
          <p:cNvCxnSpPr/>
          <p:nvPr/>
        </p:nvCxnSpPr>
        <p:spPr>
          <a:xfrm>
            <a:off x="4011475" y="4415825"/>
            <a:ext cx="798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13"/>
          <p:cNvSpPr/>
          <p:nvPr/>
        </p:nvSpPr>
        <p:spPr>
          <a:xfrm>
            <a:off x="4797851" y="4106577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" name="Google Shape;134;p13"/>
          <p:cNvCxnSpPr/>
          <p:nvPr/>
        </p:nvCxnSpPr>
        <p:spPr>
          <a:xfrm rot="10800000">
            <a:off x="4184925" y="4191150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13"/>
          <p:cNvCxnSpPr>
            <a:stCxn id="136" idx="2"/>
            <a:endCxn id="109" idx="2"/>
          </p:cNvCxnSpPr>
          <p:nvPr/>
        </p:nvCxnSpPr>
        <p:spPr>
          <a:xfrm flipH="1" rot="5400000">
            <a:off x="4989585" y="1354794"/>
            <a:ext cx="5400" cy="6367800"/>
          </a:xfrm>
          <a:prstGeom prst="curvedConnector3">
            <a:avLst>
              <a:gd fmla="val -4409722" name="adj1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p13"/>
          <p:cNvSpPr txBox="1"/>
          <p:nvPr/>
        </p:nvSpPr>
        <p:spPr>
          <a:xfrm>
            <a:off x="3636348" y="4440109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 next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3155561" y="4437913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value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2607044" y="4436104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 prev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grpSp>
        <p:nvGrpSpPr>
          <p:cNvPr id="140" name="Google Shape;140;p13"/>
          <p:cNvGrpSpPr/>
          <p:nvPr/>
        </p:nvGrpSpPr>
        <p:grpSpPr>
          <a:xfrm>
            <a:off x="1102876" y="2905664"/>
            <a:ext cx="1582372" cy="961571"/>
            <a:chOff x="1114701" y="3234112"/>
            <a:chExt cx="1582372" cy="961571"/>
          </a:xfrm>
        </p:grpSpPr>
        <p:sp>
          <p:nvSpPr>
            <p:cNvPr id="141" name="Google Shape;141;p13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Last()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142" name="Google Shape;142;p13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getLast()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143" name="Google Shape;143;p13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144" name="Google Shape;144;p13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removeLast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grpSp>
        <p:nvGrpSpPr>
          <p:cNvPr id="145" name="Google Shape;145;p13"/>
          <p:cNvGrpSpPr/>
          <p:nvPr/>
        </p:nvGrpSpPr>
        <p:grpSpPr>
          <a:xfrm>
            <a:off x="7402287" y="4112118"/>
            <a:ext cx="1031828" cy="429277"/>
            <a:chOff x="809625" y="3638550"/>
            <a:chExt cx="1190525" cy="495300"/>
          </a:xfrm>
        </p:grpSpPr>
        <p:sp>
          <p:nvSpPr>
            <p:cNvPr id="146" name="Google Shape;146;p13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38</a:t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13"/>
          <p:cNvSpPr/>
          <p:nvPr/>
        </p:nvSpPr>
        <p:spPr>
          <a:xfrm>
            <a:off x="6928505" y="4112093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8" name="Google Shape;148;p13"/>
          <p:cNvCxnSpPr/>
          <p:nvPr/>
        </p:nvCxnSpPr>
        <p:spPr>
          <a:xfrm>
            <a:off x="6083950" y="4433575"/>
            <a:ext cx="8451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13"/>
          <p:cNvCxnSpPr/>
          <p:nvPr/>
        </p:nvCxnSpPr>
        <p:spPr>
          <a:xfrm rot="10800000">
            <a:off x="6303350" y="4208900"/>
            <a:ext cx="860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13"/>
          <p:cNvCxnSpPr>
            <a:stCxn id="136" idx="3"/>
            <a:endCxn id="127" idx="2"/>
          </p:cNvCxnSpPr>
          <p:nvPr/>
        </p:nvCxnSpPr>
        <p:spPr>
          <a:xfrm flipH="1">
            <a:off x="776615" y="4326756"/>
            <a:ext cx="7657500" cy="209100"/>
          </a:xfrm>
          <a:prstGeom prst="curvedConnector4">
            <a:avLst>
              <a:gd fmla="val -3110" name="adj1"/>
              <a:gd fmla="val 300296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1" name="Google Shape;151;p13"/>
          <p:cNvSpPr txBox="1"/>
          <p:nvPr/>
        </p:nvSpPr>
        <p:spPr>
          <a:xfrm>
            <a:off x="3121730" y="2899750"/>
            <a:ext cx="12891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sentinel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Arbitrary Retrieval</a:t>
            </a:r>
            <a:endParaRPr/>
          </a:p>
        </p:txBody>
      </p:sp>
      <p:sp>
        <p:nvSpPr>
          <p:cNvPr id="157" name="Google Shape;157;p14"/>
          <p:cNvSpPr txBox="1"/>
          <p:nvPr>
            <p:ph idx="1" type="body"/>
          </p:nvPr>
        </p:nvSpPr>
        <p:spPr>
          <a:xfrm>
            <a:off x="243000" y="556500"/>
            <a:ext cx="8749800" cy="24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added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get(int i)</a:t>
            </a:r>
            <a:r>
              <a:rPr lang="en"/>
              <a:t>, which returns the ith item from the list.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Why would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"/>
              <a:t> be slow for long lists compared to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getLast()</a:t>
            </a:r>
            <a:r>
              <a:rPr lang="en"/>
              <a:t>? For what inputs?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Have to scan to desired position. Slow for any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/>
              <a:t> not near the sentinel node.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How do we fix this?</a:t>
            </a:r>
            <a:endParaRPr/>
          </a:p>
        </p:txBody>
      </p:sp>
      <p:grpSp>
        <p:nvGrpSpPr>
          <p:cNvPr id="158" name="Google Shape;158;p14"/>
          <p:cNvGrpSpPr/>
          <p:nvPr/>
        </p:nvGrpSpPr>
        <p:grpSpPr>
          <a:xfrm>
            <a:off x="1034637" y="4106589"/>
            <a:ext cx="1031828" cy="429277"/>
            <a:chOff x="809625" y="3638550"/>
            <a:chExt cx="1190525" cy="495300"/>
          </a:xfrm>
        </p:grpSpPr>
        <p:sp>
          <p:nvSpPr>
            <p:cNvPr id="159" name="Google Shape;159;p14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D9D2E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??</a:t>
              </a: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" name="Google Shape;161;p14"/>
          <p:cNvSpPr/>
          <p:nvPr/>
        </p:nvSpPr>
        <p:spPr>
          <a:xfrm>
            <a:off x="1162001" y="2962225"/>
            <a:ext cx="32487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"/>
          <p:cNvSpPr txBox="1"/>
          <p:nvPr/>
        </p:nvSpPr>
        <p:spPr>
          <a:xfrm>
            <a:off x="2626410" y="3188782"/>
            <a:ext cx="356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63" name="Google Shape;163;p14"/>
          <p:cNvSpPr/>
          <p:nvPr/>
        </p:nvSpPr>
        <p:spPr>
          <a:xfrm>
            <a:off x="2512497" y="3204964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"/>
          <p:cNvSpPr/>
          <p:nvPr/>
        </p:nvSpPr>
        <p:spPr>
          <a:xfrm>
            <a:off x="2517738" y="3199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"/>
          <p:cNvSpPr/>
          <p:nvPr/>
        </p:nvSpPr>
        <p:spPr>
          <a:xfrm>
            <a:off x="3160588" y="3205175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" name="Google Shape;166;p14"/>
          <p:cNvCxnSpPr>
            <a:stCxn id="165" idx="3"/>
            <a:endCxn id="160" idx="0"/>
          </p:cNvCxnSpPr>
          <p:nvPr/>
        </p:nvCxnSpPr>
        <p:spPr>
          <a:xfrm flipH="1">
            <a:off x="1808488" y="3392525"/>
            <a:ext cx="1854600" cy="714000"/>
          </a:xfrm>
          <a:prstGeom prst="curvedConnector4">
            <a:avLst>
              <a:gd fmla="val -12840" name="adj1"/>
              <a:gd fmla="val 63124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14"/>
          <p:cNvCxnSpPr>
            <a:stCxn id="165" idx="3"/>
          </p:cNvCxnSpPr>
          <p:nvPr/>
        </p:nvCxnSpPr>
        <p:spPr>
          <a:xfrm rot="10800000">
            <a:off x="3373888" y="3388025"/>
            <a:ext cx="289200" cy="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4"/>
          <p:cNvCxnSpPr/>
          <p:nvPr/>
        </p:nvCxnSpPr>
        <p:spPr>
          <a:xfrm rot="10800000">
            <a:off x="714036" y="3107809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4"/>
          <p:cNvCxnSpPr/>
          <p:nvPr/>
        </p:nvCxnSpPr>
        <p:spPr>
          <a:xfrm rot="10800000">
            <a:off x="714036" y="3355057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0" name="Google Shape;170;p14"/>
          <p:cNvGrpSpPr/>
          <p:nvPr/>
        </p:nvGrpSpPr>
        <p:grpSpPr>
          <a:xfrm>
            <a:off x="3153133" y="4106589"/>
            <a:ext cx="1031828" cy="429277"/>
            <a:chOff x="809625" y="3638550"/>
            <a:chExt cx="1190525" cy="495300"/>
          </a:xfrm>
        </p:grpSpPr>
        <p:sp>
          <p:nvSpPr>
            <p:cNvPr id="171" name="Google Shape;171;p14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73" name="Google Shape;173;p14"/>
          <p:cNvCxnSpPr/>
          <p:nvPr/>
        </p:nvCxnSpPr>
        <p:spPr>
          <a:xfrm>
            <a:off x="1799650" y="4415825"/>
            <a:ext cx="8922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" name="Google Shape;174;p14"/>
          <p:cNvSpPr txBox="1"/>
          <p:nvPr/>
        </p:nvSpPr>
        <p:spPr>
          <a:xfrm>
            <a:off x="2512116" y="2899756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175" name="Google Shape;175;p14"/>
          <p:cNvCxnSpPr/>
          <p:nvPr/>
        </p:nvCxnSpPr>
        <p:spPr>
          <a:xfrm rot="10800000">
            <a:off x="714036" y="3741313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4"/>
          <p:cNvCxnSpPr/>
          <p:nvPr/>
        </p:nvCxnSpPr>
        <p:spPr>
          <a:xfrm rot="10800000">
            <a:off x="714036" y="3548185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14"/>
          <p:cNvSpPr/>
          <p:nvPr/>
        </p:nvSpPr>
        <p:spPr>
          <a:xfrm>
            <a:off x="2679351" y="4106564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"/>
          <p:cNvSpPr/>
          <p:nvPr/>
        </p:nvSpPr>
        <p:spPr>
          <a:xfrm>
            <a:off x="518626" y="4106564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14"/>
          <p:cNvCxnSpPr/>
          <p:nvPr/>
        </p:nvCxnSpPr>
        <p:spPr>
          <a:xfrm rot="10800000">
            <a:off x="2066350" y="4191150"/>
            <a:ext cx="8421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80" name="Google Shape;180;p14"/>
          <p:cNvGrpSpPr/>
          <p:nvPr/>
        </p:nvGrpSpPr>
        <p:grpSpPr>
          <a:xfrm>
            <a:off x="5271633" y="4106602"/>
            <a:ext cx="1031828" cy="429277"/>
            <a:chOff x="809625" y="3638550"/>
            <a:chExt cx="1190525" cy="495300"/>
          </a:xfrm>
        </p:grpSpPr>
        <p:sp>
          <p:nvSpPr>
            <p:cNvPr id="181" name="Google Shape;181;p14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17</a:t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83" name="Google Shape;183;p14"/>
          <p:cNvCxnSpPr/>
          <p:nvPr/>
        </p:nvCxnSpPr>
        <p:spPr>
          <a:xfrm>
            <a:off x="4011475" y="4415825"/>
            <a:ext cx="798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" name="Google Shape;184;p14"/>
          <p:cNvSpPr/>
          <p:nvPr/>
        </p:nvSpPr>
        <p:spPr>
          <a:xfrm>
            <a:off x="4797851" y="4106577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14"/>
          <p:cNvCxnSpPr/>
          <p:nvPr/>
        </p:nvCxnSpPr>
        <p:spPr>
          <a:xfrm rot="10800000">
            <a:off x="4184925" y="4191150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14"/>
          <p:cNvCxnSpPr>
            <a:stCxn id="187" idx="2"/>
            <a:endCxn id="160" idx="2"/>
          </p:cNvCxnSpPr>
          <p:nvPr/>
        </p:nvCxnSpPr>
        <p:spPr>
          <a:xfrm flipH="1" rot="5400000">
            <a:off x="4989585" y="1354794"/>
            <a:ext cx="5400" cy="6367800"/>
          </a:xfrm>
          <a:prstGeom prst="curvedConnector3">
            <a:avLst>
              <a:gd fmla="val -4409722" name="adj1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p14"/>
          <p:cNvSpPr txBox="1"/>
          <p:nvPr/>
        </p:nvSpPr>
        <p:spPr>
          <a:xfrm>
            <a:off x="3636348" y="4440109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 next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89" name="Google Shape;189;p14"/>
          <p:cNvSpPr txBox="1"/>
          <p:nvPr/>
        </p:nvSpPr>
        <p:spPr>
          <a:xfrm>
            <a:off x="3155561" y="4437913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value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90" name="Google Shape;190;p14"/>
          <p:cNvSpPr txBox="1"/>
          <p:nvPr/>
        </p:nvSpPr>
        <p:spPr>
          <a:xfrm>
            <a:off x="2607044" y="4436104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 prev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grpSp>
        <p:nvGrpSpPr>
          <p:cNvPr id="191" name="Google Shape;191;p14"/>
          <p:cNvGrpSpPr/>
          <p:nvPr/>
        </p:nvGrpSpPr>
        <p:grpSpPr>
          <a:xfrm>
            <a:off x="1102876" y="2905664"/>
            <a:ext cx="1582372" cy="961571"/>
            <a:chOff x="1114701" y="3234112"/>
            <a:chExt cx="1582372" cy="961571"/>
          </a:xfrm>
        </p:grpSpPr>
        <p:sp>
          <p:nvSpPr>
            <p:cNvPr id="192" name="Google Shape;192;p14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addLast()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193" name="Google Shape;193;p14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getLast()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194" name="Google Shape;194;p14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195" name="Google Shape;195;p14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removeLast()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grpSp>
        <p:nvGrpSpPr>
          <p:cNvPr id="196" name="Google Shape;196;p14"/>
          <p:cNvGrpSpPr/>
          <p:nvPr/>
        </p:nvGrpSpPr>
        <p:grpSpPr>
          <a:xfrm>
            <a:off x="7402287" y="4112118"/>
            <a:ext cx="1031828" cy="429277"/>
            <a:chOff x="809625" y="3638550"/>
            <a:chExt cx="1190525" cy="495300"/>
          </a:xfrm>
        </p:grpSpPr>
        <p:sp>
          <p:nvSpPr>
            <p:cNvPr id="197" name="Google Shape;197;p14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38</a:t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" name="Google Shape;198;p14"/>
          <p:cNvSpPr/>
          <p:nvPr/>
        </p:nvSpPr>
        <p:spPr>
          <a:xfrm>
            <a:off x="6928505" y="4112093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9" name="Google Shape;199;p14"/>
          <p:cNvCxnSpPr/>
          <p:nvPr/>
        </p:nvCxnSpPr>
        <p:spPr>
          <a:xfrm>
            <a:off x="6083950" y="4433575"/>
            <a:ext cx="8451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14"/>
          <p:cNvCxnSpPr/>
          <p:nvPr/>
        </p:nvCxnSpPr>
        <p:spPr>
          <a:xfrm rot="10800000">
            <a:off x="6303350" y="4208900"/>
            <a:ext cx="860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14"/>
          <p:cNvCxnSpPr>
            <a:stCxn id="187" idx="3"/>
            <a:endCxn id="178" idx="2"/>
          </p:cNvCxnSpPr>
          <p:nvPr/>
        </p:nvCxnSpPr>
        <p:spPr>
          <a:xfrm flipH="1">
            <a:off x="776615" y="4326756"/>
            <a:ext cx="7657500" cy="209100"/>
          </a:xfrm>
          <a:prstGeom prst="curvedConnector4">
            <a:avLst>
              <a:gd fmla="val -3110" name="adj1"/>
              <a:gd fmla="val 300296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02" name="Google Shape;202;p14"/>
          <p:cNvSpPr txBox="1"/>
          <p:nvPr/>
        </p:nvSpPr>
        <p:spPr>
          <a:xfrm>
            <a:off x="3121730" y="2899750"/>
            <a:ext cx="12891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sentinel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Arbitrary Retrieval</a:t>
            </a:r>
            <a:endParaRPr/>
          </a:p>
        </p:txBody>
      </p:sp>
      <p:sp>
        <p:nvSpPr>
          <p:cNvPr id="208" name="Google Shape;208;p15"/>
          <p:cNvSpPr txBox="1"/>
          <p:nvPr>
            <p:ph idx="1" type="body"/>
          </p:nvPr>
        </p:nvSpPr>
        <p:spPr>
          <a:xfrm>
            <a:off x="243000" y="556500"/>
            <a:ext cx="8749800" cy="24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added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get(int i)</a:t>
            </a:r>
            <a:r>
              <a:rPr lang="en"/>
              <a:t>, which returns the ith item from the list.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would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"/>
              <a:t> be slow for long lists compared to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getLast()</a:t>
            </a:r>
            <a:r>
              <a:rPr lang="en"/>
              <a:t>? For what inputs?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Have to scan to desired position. Slow for any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/>
              <a:t> not near the sentinel node.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Will discuss (much later) sophisticated changes that can speed up lists.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For now: We’ll take a different tack: Using an array instead (no links!).</a:t>
            </a:r>
            <a:endParaRPr/>
          </a:p>
        </p:txBody>
      </p:sp>
      <p:grpSp>
        <p:nvGrpSpPr>
          <p:cNvPr id="209" name="Google Shape;209;p15"/>
          <p:cNvGrpSpPr/>
          <p:nvPr/>
        </p:nvGrpSpPr>
        <p:grpSpPr>
          <a:xfrm>
            <a:off x="1034637" y="4106589"/>
            <a:ext cx="1031828" cy="429277"/>
            <a:chOff x="809625" y="3638550"/>
            <a:chExt cx="1190525" cy="495300"/>
          </a:xfrm>
        </p:grpSpPr>
        <p:sp>
          <p:nvSpPr>
            <p:cNvPr id="210" name="Google Shape;210;p15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D9D2E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??</a:t>
              </a:r>
              <a:endParaRPr/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15"/>
          <p:cNvSpPr/>
          <p:nvPr/>
        </p:nvSpPr>
        <p:spPr>
          <a:xfrm>
            <a:off x="1162001" y="2962225"/>
            <a:ext cx="32487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5"/>
          <p:cNvSpPr txBox="1"/>
          <p:nvPr/>
        </p:nvSpPr>
        <p:spPr>
          <a:xfrm>
            <a:off x="2626410" y="3188782"/>
            <a:ext cx="356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14" name="Google Shape;214;p15"/>
          <p:cNvSpPr/>
          <p:nvPr/>
        </p:nvSpPr>
        <p:spPr>
          <a:xfrm>
            <a:off x="2512497" y="3204964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"/>
          <p:cNvSpPr/>
          <p:nvPr/>
        </p:nvSpPr>
        <p:spPr>
          <a:xfrm>
            <a:off x="2517738" y="3199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5"/>
          <p:cNvSpPr/>
          <p:nvPr/>
        </p:nvSpPr>
        <p:spPr>
          <a:xfrm>
            <a:off x="3160588" y="3205175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15"/>
          <p:cNvCxnSpPr>
            <a:stCxn id="216" idx="3"/>
            <a:endCxn id="211" idx="0"/>
          </p:cNvCxnSpPr>
          <p:nvPr/>
        </p:nvCxnSpPr>
        <p:spPr>
          <a:xfrm flipH="1">
            <a:off x="1808488" y="3392525"/>
            <a:ext cx="1854600" cy="714000"/>
          </a:xfrm>
          <a:prstGeom prst="curvedConnector4">
            <a:avLst>
              <a:gd fmla="val -12840" name="adj1"/>
              <a:gd fmla="val 63124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15"/>
          <p:cNvCxnSpPr>
            <a:stCxn id="216" idx="3"/>
          </p:cNvCxnSpPr>
          <p:nvPr/>
        </p:nvCxnSpPr>
        <p:spPr>
          <a:xfrm rot="10800000">
            <a:off x="3373888" y="3388025"/>
            <a:ext cx="289200" cy="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15"/>
          <p:cNvCxnSpPr/>
          <p:nvPr/>
        </p:nvCxnSpPr>
        <p:spPr>
          <a:xfrm rot="10800000">
            <a:off x="714036" y="3107809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15"/>
          <p:cNvCxnSpPr/>
          <p:nvPr/>
        </p:nvCxnSpPr>
        <p:spPr>
          <a:xfrm rot="10800000">
            <a:off x="714036" y="3355057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1" name="Google Shape;221;p15"/>
          <p:cNvGrpSpPr/>
          <p:nvPr/>
        </p:nvGrpSpPr>
        <p:grpSpPr>
          <a:xfrm>
            <a:off x="3153133" y="4106589"/>
            <a:ext cx="1031828" cy="429277"/>
            <a:chOff x="809625" y="3638550"/>
            <a:chExt cx="1190525" cy="495300"/>
          </a:xfrm>
        </p:grpSpPr>
        <p:sp>
          <p:nvSpPr>
            <p:cNvPr id="222" name="Google Shape;222;p15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24" name="Google Shape;224;p15"/>
          <p:cNvCxnSpPr/>
          <p:nvPr/>
        </p:nvCxnSpPr>
        <p:spPr>
          <a:xfrm>
            <a:off x="1799650" y="4415825"/>
            <a:ext cx="8922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" name="Google Shape;225;p15"/>
          <p:cNvSpPr txBox="1"/>
          <p:nvPr/>
        </p:nvSpPr>
        <p:spPr>
          <a:xfrm>
            <a:off x="2512116" y="2899756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226" name="Google Shape;226;p15"/>
          <p:cNvCxnSpPr/>
          <p:nvPr/>
        </p:nvCxnSpPr>
        <p:spPr>
          <a:xfrm rot="10800000">
            <a:off x="714036" y="3741313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15"/>
          <p:cNvCxnSpPr/>
          <p:nvPr/>
        </p:nvCxnSpPr>
        <p:spPr>
          <a:xfrm rot="10800000">
            <a:off x="714036" y="3548185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15"/>
          <p:cNvSpPr/>
          <p:nvPr/>
        </p:nvSpPr>
        <p:spPr>
          <a:xfrm>
            <a:off x="2679351" y="4106564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518626" y="4106564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0" name="Google Shape;230;p15"/>
          <p:cNvCxnSpPr/>
          <p:nvPr/>
        </p:nvCxnSpPr>
        <p:spPr>
          <a:xfrm rot="10800000">
            <a:off x="2066350" y="4191150"/>
            <a:ext cx="8421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31" name="Google Shape;231;p15"/>
          <p:cNvGrpSpPr/>
          <p:nvPr/>
        </p:nvGrpSpPr>
        <p:grpSpPr>
          <a:xfrm>
            <a:off x="5271633" y="4106602"/>
            <a:ext cx="1031828" cy="429277"/>
            <a:chOff x="809625" y="3638550"/>
            <a:chExt cx="1190525" cy="495300"/>
          </a:xfrm>
        </p:grpSpPr>
        <p:sp>
          <p:nvSpPr>
            <p:cNvPr id="232" name="Google Shape;232;p15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17</a:t>
              </a:r>
              <a:endParaRPr/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34" name="Google Shape;234;p15"/>
          <p:cNvCxnSpPr/>
          <p:nvPr/>
        </p:nvCxnSpPr>
        <p:spPr>
          <a:xfrm>
            <a:off x="4011475" y="4415825"/>
            <a:ext cx="798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5" name="Google Shape;235;p15"/>
          <p:cNvSpPr/>
          <p:nvPr/>
        </p:nvSpPr>
        <p:spPr>
          <a:xfrm>
            <a:off x="4797851" y="4106577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6" name="Google Shape;236;p15"/>
          <p:cNvCxnSpPr/>
          <p:nvPr/>
        </p:nvCxnSpPr>
        <p:spPr>
          <a:xfrm rot="10800000">
            <a:off x="4184925" y="4191150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15"/>
          <p:cNvCxnSpPr>
            <a:stCxn id="238" idx="2"/>
            <a:endCxn id="211" idx="2"/>
          </p:cNvCxnSpPr>
          <p:nvPr/>
        </p:nvCxnSpPr>
        <p:spPr>
          <a:xfrm flipH="1" rot="5400000">
            <a:off x="4989585" y="1354794"/>
            <a:ext cx="5400" cy="6367800"/>
          </a:xfrm>
          <a:prstGeom prst="curvedConnector3">
            <a:avLst>
              <a:gd fmla="val -4409722" name="adj1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9" name="Google Shape;239;p15"/>
          <p:cNvSpPr txBox="1"/>
          <p:nvPr/>
        </p:nvSpPr>
        <p:spPr>
          <a:xfrm>
            <a:off x="3636348" y="4440109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 next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3155561" y="4437913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value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2607044" y="4436104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 prev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grpSp>
        <p:nvGrpSpPr>
          <p:cNvPr id="242" name="Google Shape;242;p15"/>
          <p:cNvGrpSpPr/>
          <p:nvPr/>
        </p:nvGrpSpPr>
        <p:grpSpPr>
          <a:xfrm>
            <a:off x="1102876" y="2905664"/>
            <a:ext cx="1582372" cy="961571"/>
            <a:chOff x="1114701" y="3234112"/>
            <a:chExt cx="1582372" cy="961571"/>
          </a:xfrm>
        </p:grpSpPr>
        <p:sp>
          <p:nvSpPr>
            <p:cNvPr id="243" name="Google Shape;243;p15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addLast()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44" name="Google Shape;244;p15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getLast()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45" name="Google Shape;245;p15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46" name="Google Shape;246;p15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removeLast()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grpSp>
        <p:nvGrpSpPr>
          <p:cNvPr id="247" name="Google Shape;247;p15"/>
          <p:cNvGrpSpPr/>
          <p:nvPr/>
        </p:nvGrpSpPr>
        <p:grpSpPr>
          <a:xfrm>
            <a:off x="7402287" y="4112118"/>
            <a:ext cx="1031828" cy="429277"/>
            <a:chOff x="809625" y="3638550"/>
            <a:chExt cx="1190525" cy="495300"/>
          </a:xfrm>
        </p:grpSpPr>
        <p:sp>
          <p:nvSpPr>
            <p:cNvPr id="248" name="Google Shape;248;p15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38</a:t>
              </a:r>
              <a:endParaRPr/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" name="Google Shape;249;p15"/>
          <p:cNvSpPr/>
          <p:nvPr/>
        </p:nvSpPr>
        <p:spPr>
          <a:xfrm>
            <a:off x="6928505" y="4112093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0" name="Google Shape;250;p15"/>
          <p:cNvCxnSpPr/>
          <p:nvPr/>
        </p:nvCxnSpPr>
        <p:spPr>
          <a:xfrm>
            <a:off x="6083950" y="4433575"/>
            <a:ext cx="8451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15"/>
          <p:cNvCxnSpPr/>
          <p:nvPr/>
        </p:nvCxnSpPr>
        <p:spPr>
          <a:xfrm rot="10800000">
            <a:off x="6303350" y="4208900"/>
            <a:ext cx="860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" name="Google Shape;252;p15"/>
          <p:cNvCxnSpPr>
            <a:stCxn id="238" idx="3"/>
            <a:endCxn id="229" idx="2"/>
          </p:cNvCxnSpPr>
          <p:nvPr/>
        </p:nvCxnSpPr>
        <p:spPr>
          <a:xfrm flipH="1">
            <a:off x="776615" y="4326756"/>
            <a:ext cx="7657500" cy="209100"/>
          </a:xfrm>
          <a:prstGeom prst="curvedConnector4">
            <a:avLst>
              <a:gd fmla="val -3110" name="adj1"/>
              <a:gd fmla="val 300296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53" name="Google Shape;253;p15"/>
          <p:cNvSpPr txBox="1"/>
          <p:nvPr/>
        </p:nvSpPr>
        <p:spPr>
          <a:xfrm>
            <a:off x="3121730" y="2899750"/>
            <a:ext cx="12891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sentinel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"/>
          <p:cNvSpPr txBox="1"/>
          <p:nvPr>
            <p:ph type="title"/>
          </p:nvPr>
        </p:nvSpPr>
        <p:spPr>
          <a:xfrm>
            <a:off x="928950" y="2143050"/>
            <a:ext cx="7286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Naive Array Lists</a:t>
            </a:r>
            <a:endParaRPr sz="4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Access in Arrays</a:t>
            </a:r>
            <a:endParaRPr/>
          </a:p>
        </p:txBody>
      </p:sp>
      <p:sp>
        <p:nvSpPr>
          <p:cNvPr id="264" name="Google Shape;264;p17"/>
          <p:cNvSpPr txBox="1"/>
          <p:nvPr>
            <p:ph idx="1" type="body"/>
          </p:nvPr>
        </p:nvSpPr>
        <p:spPr>
          <a:xfrm>
            <a:off x="243000" y="556500"/>
            <a:ext cx="85791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Retrieval from any position of an array is very fast.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Independent</a:t>
            </a:r>
            <a:r>
              <a:rPr baseline="30000" lang="en"/>
              <a:t>*</a:t>
            </a:r>
            <a:r>
              <a:rPr lang="en"/>
              <a:t> of array size.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61C Preview: Ultra fast random access results from the fact that memory boxes are the same size (in bits).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5" name="Google Shape;26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851" y="1714950"/>
            <a:ext cx="4653576" cy="330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Goal: AList.java</a:t>
            </a:r>
            <a:endParaRPr/>
          </a:p>
        </p:txBody>
      </p:sp>
      <p:sp>
        <p:nvSpPr>
          <p:cNvPr id="271" name="Google Shape;271;p18"/>
          <p:cNvSpPr txBox="1"/>
          <p:nvPr>
            <p:ph idx="1" type="body"/>
          </p:nvPr>
        </p:nvSpPr>
        <p:spPr>
          <a:xfrm>
            <a:off x="243000" y="556500"/>
            <a:ext cx="84438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Want to figure out how to build an array version of a list: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In lecture we’ll only do back operations. Project 1A is the front operations.</a:t>
            </a:r>
            <a:endParaRPr/>
          </a:p>
        </p:txBody>
      </p:sp>
      <p:sp>
        <p:nvSpPr>
          <p:cNvPr id="272" name="Google Shape;272;p18"/>
          <p:cNvSpPr/>
          <p:nvPr/>
        </p:nvSpPr>
        <p:spPr>
          <a:xfrm>
            <a:off x="2881239" y="3792625"/>
            <a:ext cx="32487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3" name="Google Shape;273;p18"/>
          <p:cNvCxnSpPr/>
          <p:nvPr/>
        </p:nvCxnSpPr>
        <p:spPr>
          <a:xfrm rot="10800000">
            <a:off x="2433273" y="3938209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18"/>
          <p:cNvCxnSpPr/>
          <p:nvPr/>
        </p:nvCxnSpPr>
        <p:spPr>
          <a:xfrm rot="10800000">
            <a:off x="2433273" y="4185457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18"/>
          <p:cNvCxnSpPr/>
          <p:nvPr/>
        </p:nvCxnSpPr>
        <p:spPr>
          <a:xfrm rot="10800000">
            <a:off x="2433273" y="4571713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18"/>
          <p:cNvCxnSpPr/>
          <p:nvPr/>
        </p:nvCxnSpPr>
        <p:spPr>
          <a:xfrm rot="10800000">
            <a:off x="2433273" y="4378585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7" name="Google Shape;277;p18"/>
          <p:cNvGrpSpPr/>
          <p:nvPr/>
        </p:nvGrpSpPr>
        <p:grpSpPr>
          <a:xfrm>
            <a:off x="2822114" y="3736064"/>
            <a:ext cx="1582372" cy="961571"/>
            <a:chOff x="1114701" y="3234112"/>
            <a:chExt cx="1582372" cy="961571"/>
          </a:xfrm>
        </p:grpSpPr>
        <p:sp>
          <p:nvSpPr>
            <p:cNvPr id="278" name="Google Shape;278;p18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79" name="Google Shape;279;p18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getLast()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80" name="Google Shape;280;p18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81" name="Google Shape;281;p18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remove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Last()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sp>
        <p:nvSpPr>
          <p:cNvPr id="282" name="Google Shape;282;p18"/>
          <p:cNvSpPr txBox="1"/>
          <p:nvPr/>
        </p:nvSpPr>
        <p:spPr>
          <a:xfrm>
            <a:off x="4930888" y="3957050"/>
            <a:ext cx="8946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Ubuntu Mono"/>
                <a:ea typeface="Ubuntu Mono"/>
                <a:cs typeface="Ubuntu Mono"/>
                <a:sym typeface="Ubuntu Mono"/>
              </a:rPr>
              <a:t>???</a:t>
            </a:r>
            <a:endParaRPr b="1" sz="24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83" name="Google Shape;283;p18"/>
          <p:cNvSpPr txBox="1"/>
          <p:nvPr/>
        </p:nvSpPr>
        <p:spPr>
          <a:xfrm>
            <a:off x="7140525" y="4214525"/>
            <a:ext cx="139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it out...</a:t>
            </a:r>
            <a:endParaRPr/>
          </a:p>
        </p:txBody>
      </p:sp>
      <p:grpSp>
        <p:nvGrpSpPr>
          <p:cNvPr id="284" name="Google Shape;284;p18"/>
          <p:cNvGrpSpPr/>
          <p:nvPr/>
        </p:nvGrpSpPr>
        <p:grpSpPr>
          <a:xfrm>
            <a:off x="916199" y="2750127"/>
            <a:ext cx="1031828" cy="429277"/>
            <a:chOff x="809625" y="3638550"/>
            <a:chExt cx="1190525" cy="495300"/>
          </a:xfrm>
        </p:grpSpPr>
        <p:sp>
          <p:nvSpPr>
            <p:cNvPr id="285" name="Google Shape;285;p18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D9D2E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??</a:t>
              </a:r>
              <a:endParaRPr/>
            </a:p>
          </p:txBody>
        </p:sp>
        <p:sp>
          <p:nvSpPr>
            <p:cNvPr id="286" name="Google Shape;286;p18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8"/>
          <p:cNvSpPr/>
          <p:nvPr/>
        </p:nvSpPr>
        <p:spPr>
          <a:xfrm>
            <a:off x="1043564" y="1605763"/>
            <a:ext cx="32487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8"/>
          <p:cNvSpPr txBox="1"/>
          <p:nvPr/>
        </p:nvSpPr>
        <p:spPr>
          <a:xfrm>
            <a:off x="2507972" y="1832319"/>
            <a:ext cx="356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89" name="Google Shape;289;p18"/>
          <p:cNvSpPr/>
          <p:nvPr/>
        </p:nvSpPr>
        <p:spPr>
          <a:xfrm>
            <a:off x="2394060" y="1848502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8"/>
          <p:cNvSpPr/>
          <p:nvPr/>
        </p:nvSpPr>
        <p:spPr>
          <a:xfrm>
            <a:off x="2399300" y="1842625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8"/>
          <p:cNvSpPr/>
          <p:nvPr/>
        </p:nvSpPr>
        <p:spPr>
          <a:xfrm>
            <a:off x="3042150" y="1848713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2" name="Google Shape;292;p18"/>
          <p:cNvCxnSpPr>
            <a:stCxn id="291" idx="3"/>
            <a:endCxn id="286" idx="0"/>
          </p:cNvCxnSpPr>
          <p:nvPr/>
        </p:nvCxnSpPr>
        <p:spPr>
          <a:xfrm flipH="1">
            <a:off x="1690050" y="2036063"/>
            <a:ext cx="1854600" cy="714000"/>
          </a:xfrm>
          <a:prstGeom prst="curvedConnector4">
            <a:avLst>
              <a:gd fmla="val -12840" name="adj1"/>
              <a:gd fmla="val 63124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" name="Google Shape;293;p18"/>
          <p:cNvCxnSpPr>
            <a:stCxn id="291" idx="3"/>
          </p:cNvCxnSpPr>
          <p:nvPr/>
        </p:nvCxnSpPr>
        <p:spPr>
          <a:xfrm rot="10800000">
            <a:off x="3255450" y="2031563"/>
            <a:ext cx="289200" cy="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18"/>
          <p:cNvCxnSpPr/>
          <p:nvPr/>
        </p:nvCxnSpPr>
        <p:spPr>
          <a:xfrm rot="10800000">
            <a:off x="595598" y="1751346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18"/>
          <p:cNvCxnSpPr/>
          <p:nvPr/>
        </p:nvCxnSpPr>
        <p:spPr>
          <a:xfrm rot="10800000">
            <a:off x="595598" y="1998595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6" name="Google Shape;296;p18"/>
          <p:cNvGrpSpPr/>
          <p:nvPr/>
        </p:nvGrpSpPr>
        <p:grpSpPr>
          <a:xfrm>
            <a:off x="3034695" y="2750127"/>
            <a:ext cx="1031828" cy="429277"/>
            <a:chOff x="809625" y="3638550"/>
            <a:chExt cx="1190525" cy="495300"/>
          </a:xfrm>
        </p:grpSpPr>
        <p:sp>
          <p:nvSpPr>
            <p:cNvPr id="297" name="Google Shape;297;p18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  <p:sp>
          <p:nvSpPr>
            <p:cNvPr id="298" name="Google Shape;298;p18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99" name="Google Shape;299;p18"/>
          <p:cNvCxnSpPr/>
          <p:nvPr/>
        </p:nvCxnSpPr>
        <p:spPr>
          <a:xfrm>
            <a:off x="1681213" y="3059363"/>
            <a:ext cx="8922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0" name="Google Shape;300;p18"/>
          <p:cNvSpPr txBox="1"/>
          <p:nvPr/>
        </p:nvSpPr>
        <p:spPr>
          <a:xfrm>
            <a:off x="2393679" y="1543294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301" name="Google Shape;301;p18"/>
          <p:cNvCxnSpPr/>
          <p:nvPr/>
        </p:nvCxnSpPr>
        <p:spPr>
          <a:xfrm rot="10800000">
            <a:off x="595598" y="2384850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18"/>
          <p:cNvCxnSpPr/>
          <p:nvPr/>
        </p:nvCxnSpPr>
        <p:spPr>
          <a:xfrm rot="10800000">
            <a:off x="595598" y="2191723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18"/>
          <p:cNvSpPr/>
          <p:nvPr/>
        </p:nvSpPr>
        <p:spPr>
          <a:xfrm>
            <a:off x="2560914" y="2750102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8"/>
          <p:cNvSpPr/>
          <p:nvPr/>
        </p:nvSpPr>
        <p:spPr>
          <a:xfrm>
            <a:off x="400188" y="2750102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5" name="Google Shape;305;p18"/>
          <p:cNvCxnSpPr/>
          <p:nvPr/>
        </p:nvCxnSpPr>
        <p:spPr>
          <a:xfrm rot="10800000">
            <a:off x="1947913" y="2834688"/>
            <a:ext cx="8421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06" name="Google Shape;306;p18"/>
          <p:cNvGrpSpPr/>
          <p:nvPr/>
        </p:nvGrpSpPr>
        <p:grpSpPr>
          <a:xfrm>
            <a:off x="5153195" y="2750139"/>
            <a:ext cx="1031828" cy="429277"/>
            <a:chOff x="809625" y="3638550"/>
            <a:chExt cx="1190525" cy="495300"/>
          </a:xfrm>
        </p:grpSpPr>
        <p:sp>
          <p:nvSpPr>
            <p:cNvPr id="307" name="Google Shape;307;p18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17</a:t>
              </a:r>
              <a:endParaRPr/>
            </a:p>
          </p:txBody>
        </p:sp>
        <p:sp>
          <p:nvSpPr>
            <p:cNvPr id="308" name="Google Shape;308;p18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09" name="Google Shape;309;p18"/>
          <p:cNvCxnSpPr/>
          <p:nvPr/>
        </p:nvCxnSpPr>
        <p:spPr>
          <a:xfrm>
            <a:off x="3893038" y="3059363"/>
            <a:ext cx="798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0" name="Google Shape;310;p18"/>
          <p:cNvSpPr/>
          <p:nvPr/>
        </p:nvSpPr>
        <p:spPr>
          <a:xfrm>
            <a:off x="4679414" y="2750114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1" name="Google Shape;311;p18"/>
          <p:cNvCxnSpPr/>
          <p:nvPr/>
        </p:nvCxnSpPr>
        <p:spPr>
          <a:xfrm rot="10800000">
            <a:off x="4066488" y="2834688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" name="Google Shape;312;p18"/>
          <p:cNvCxnSpPr>
            <a:stCxn id="313" idx="2"/>
            <a:endCxn id="286" idx="2"/>
          </p:cNvCxnSpPr>
          <p:nvPr/>
        </p:nvCxnSpPr>
        <p:spPr>
          <a:xfrm flipH="1" rot="5400000">
            <a:off x="4871148" y="-1668"/>
            <a:ext cx="5400" cy="6367800"/>
          </a:xfrm>
          <a:prstGeom prst="curvedConnector3">
            <a:avLst>
              <a:gd fmla="val -4409722" name="adj1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4" name="Google Shape;314;p18"/>
          <p:cNvSpPr txBox="1"/>
          <p:nvPr/>
        </p:nvSpPr>
        <p:spPr>
          <a:xfrm>
            <a:off x="3517911" y="3083647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 next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15" name="Google Shape;315;p18"/>
          <p:cNvSpPr txBox="1"/>
          <p:nvPr/>
        </p:nvSpPr>
        <p:spPr>
          <a:xfrm>
            <a:off x="3037123" y="3081450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value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2488606" y="3079641"/>
            <a:ext cx="660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 Mono"/>
                <a:ea typeface="Ubuntu Mono"/>
                <a:cs typeface="Ubuntu Mono"/>
                <a:sym typeface="Ubuntu Mono"/>
              </a:rPr>
              <a:t> prev</a:t>
            </a:r>
            <a:endParaRPr sz="1200">
              <a:latin typeface="Ubuntu Mono"/>
              <a:ea typeface="Ubuntu Mono"/>
              <a:cs typeface="Ubuntu Mono"/>
              <a:sym typeface="Ubuntu Mono"/>
            </a:endParaRPr>
          </a:p>
        </p:txBody>
      </p:sp>
      <p:grpSp>
        <p:nvGrpSpPr>
          <p:cNvPr id="317" name="Google Shape;317;p18"/>
          <p:cNvGrpSpPr/>
          <p:nvPr/>
        </p:nvGrpSpPr>
        <p:grpSpPr>
          <a:xfrm>
            <a:off x="984439" y="1549201"/>
            <a:ext cx="1582372" cy="961571"/>
            <a:chOff x="1114701" y="3234112"/>
            <a:chExt cx="1582372" cy="961571"/>
          </a:xfrm>
        </p:grpSpPr>
        <p:sp>
          <p:nvSpPr>
            <p:cNvPr id="318" name="Google Shape;318;p18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addLast()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319" name="Google Shape;319;p18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getLast()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320" name="Google Shape;320;p18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321" name="Google Shape;321;p18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removeLast()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grpSp>
        <p:nvGrpSpPr>
          <p:cNvPr id="322" name="Google Shape;322;p18"/>
          <p:cNvGrpSpPr/>
          <p:nvPr/>
        </p:nvGrpSpPr>
        <p:grpSpPr>
          <a:xfrm>
            <a:off x="7283850" y="2755655"/>
            <a:ext cx="1031828" cy="429277"/>
            <a:chOff x="809625" y="3638550"/>
            <a:chExt cx="1190525" cy="495300"/>
          </a:xfrm>
        </p:grpSpPr>
        <p:sp>
          <p:nvSpPr>
            <p:cNvPr id="323" name="Google Shape;323;p18"/>
            <p:cNvSpPr/>
            <p:nvPr/>
          </p:nvSpPr>
          <p:spPr>
            <a:xfrm>
              <a:off x="809625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38</a:t>
              </a:r>
              <a:endParaRPr/>
            </a:p>
          </p:txBody>
        </p:sp>
        <p:sp>
          <p:nvSpPr>
            <p:cNvPr id="313" name="Google Shape;313;p18"/>
            <p:cNvSpPr/>
            <p:nvPr/>
          </p:nvSpPr>
          <p:spPr>
            <a:xfrm>
              <a:off x="1404950" y="3638550"/>
              <a:ext cx="595200" cy="495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4" name="Google Shape;324;p18"/>
          <p:cNvSpPr/>
          <p:nvPr/>
        </p:nvSpPr>
        <p:spPr>
          <a:xfrm>
            <a:off x="6810068" y="2755630"/>
            <a:ext cx="516000" cy="429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5" name="Google Shape;325;p18"/>
          <p:cNvCxnSpPr/>
          <p:nvPr/>
        </p:nvCxnSpPr>
        <p:spPr>
          <a:xfrm>
            <a:off x="5965513" y="3077113"/>
            <a:ext cx="8451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p18"/>
          <p:cNvCxnSpPr/>
          <p:nvPr/>
        </p:nvCxnSpPr>
        <p:spPr>
          <a:xfrm rot="10800000">
            <a:off x="6184913" y="2852438"/>
            <a:ext cx="860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" name="Google Shape;327;p18"/>
          <p:cNvCxnSpPr>
            <a:stCxn id="313" idx="3"/>
            <a:endCxn id="304" idx="2"/>
          </p:cNvCxnSpPr>
          <p:nvPr/>
        </p:nvCxnSpPr>
        <p:spPr>
          <a:xfrm flipH="1">
            <a:off x="658178" y="2970293"/>
            <a:ext cx="7657500" cy="209100"/>
          </a:xfrm>
          <a:prstGeom prst="curvedConnector4">
            <a:avLst>
              <a:gd fmla="val -3110" name="adj1"/>
              <a:gd fmla="val 305575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28" name="Google Shape;328;p18"/>
          <p:cNvSpPr txBox="1"/>
          <p:nvPr/>
        </p:nvSpPr>
        <p:spPr>
          <a:xfrm>
            <a:off x="3003292" y="1543288"/>
            <a:ext cx="12891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sentinel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AList Code </a:t>
            </a:r>
            <a:endParaRPr/>
          </a:p>
        </p:txBody>
      </p:sp>
      <p:sp>
        <p:nvSpPr>
          <p:cNvPr id="334" name="Google Shape;334;p19"/>
          <p:cNvSpPr txBox="1"/>
          <p:nvPr/>
        </p:nvSpPr>
        <p:spPr>
          <a:xfrm>
            <a:off x="269825" y="647250"/>
            <a:ext cx="3653700" cy="4447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AList {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items; </a:t>
            </a:r>
            <a:r>
              <a:rPr b="1" i="1" lang="en" sz="12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size;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i="1" sz="12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AList() {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items =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[100];  size = 0;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items[size] = x;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size += 1;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i="1" sz="8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getLast() {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items[size - 1];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i="1" sz="8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get(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i) {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items[i];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8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size() {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size;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5" name="Google Shape;335;p19"/>
          <p:cNvSpPr txBox="1"/>
          <p:nvPr>
            <p:ph idx="1" type="body"/>
          </p:nvPr>
        </p:nvSpPr>
        <p:spPr>
          <a:xfrm>
            <a:off x="4337475" y="556500"/>
            <a:ext cx="43494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AList </a:t>
            </a:r>
            <a:r>
              <a:rPr b="1" lang="en"/>
              <a:t>Invariants</a:t>
            </a:r>
            <a:r>
              <a:rPr lang="en"/>
              <a:t>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The position of the next item to be inserted is always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size is always the number of items in the AList.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The last item in the list is always in position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size - 1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Let’s now discuss delete operations.</a:t>
            </a:r>
            <a:endParaRPr/>
          </a:p>
        </p:txBody>
      </p:sp>
      <p:cxnSp>
        <p:nvCxnSpPr>
          <p:cNvPr id="336" name="Google Shape;336;p19"/>
          <p:cNvCxnSpPr/>
          <p:nvPr/>
        </p:nvCxnSpPr>
        <p:spPr>
          <a:xfrm>
            <a:off x="5226050" y="412800"/>
            <a:ext cx="453900" cy="3384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7" name="Google Shape;337;p19"/>
          <p:cNvSpPr txBox="1"/>
          <p:nvPr/>
        </p:nvSpPr>
        <p:spPr>
          <a:xfrm>
            <a:off x="3603275" y="0"/>
            <a:ext cx="2182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From last lecture, “things that must be true”. </a:t>
            </a:r>
            <a:endParaRPr>
              <a:solidFill>
                <a:srgbClr val="BE071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0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Abstract vs. the Concrete</a:t>
            </a:r>
            <a:endParaRPr/>
          </a:p>
        </p:txBody>
      </p:sp>
      <p:sp>
        <p:nvSpPr>
          <p:cNvPr id="343" name="Google Shape;343;p20"/>
          <p:cNvSpPr txBox="1"/>
          <p:nvPr>
            <p:ph idx="1" type="body"/>
          </p:nvPr>
        </p:nvSpPr>
        <p:spPr>
          <a:xfrm>
            <a:off x="143928" y="556500"/>
            <a:ext cx="8443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we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removeLast()</a:t>
            </a:r>
            <a:r>
              <a:rPr lang="en"/>
              <a:t>,</a:t>
            </a:r>
            <a:r>
              <a:rPr lang="en"/>
              <a:t> which memory boxes need to change? </a:t>
            </a:r>
            <a:r>
              <a:rPr lang="en"/>
              <a:t>To what</a:t>
            </a:r>
            <a:r>
              <a:rPr lang="en"/>
              <a:t>?</a:t>
            </a:r>
            <a:endParaRPr/>
          </a:p>
        </p:txBody>
      </p:sp>
      <p:sp>
        <p:nvSpPr>
          <p:cNvPr id="344" name="Google Shape;344;p20"/>
          <p:cNvSpPr txBox="1"/>
          <p:nvPr/>
        </p:nvSpPr>
        <p:spPr>
          <a:xfrm>
            <a:off x="148650" y="1244875"/>
            <a:ext cx="8082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rPr>
              <a:t>User’s </a:t>
            </a:r>
            <a:r>
              <a:rPr lang="en" sz="20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rPr>
              <a:t>mental </a:t>
            </a:r>
            <a:r>
              <a:rPr lang="en" sz="20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2000"/>
              <a:t>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{5, 3, 1, 7, 22, -1} →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{5, 3, 1, 7, 22}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45" name="Google Shape;345;p20"/>
          <p:cNvGrpSpPr/>
          <p:nvPr/>
        </p:nvGrpSpPr>
        <p:grpSpPr>
          <a:xfrm>
            <a:off x="193495" y="1939000"/>
            <a:ext cx="6614360" cy="2695223"/>
            <a:chOff x="193495" y="1939000"/>
            <a:chExt cx="6614360" cy="2695223"/>
          </a:xfrm>
        </p:grpSpPr>
        <p:sp>
          <p:nvSpPr>
            <p:cNvPr id="346" name="Google Shape;346;p20"/>
            <p:cNvSpPr/>
            <p:nvPr/>
          </p:nvSpPr>
          <p:spPr>
            <a:xfrm>
              <a:off x="5193171" y="4123477"/>
              <a:ext cx="502500" cy="374700"/>
            </a:xfrm>
            <a:prstGeom prst="rect">
              <a:avLst/>
            </a:prstGeom>
            <a:solidFill>
              <a:srgbClr val="CCCC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5695671" y="4123477"/>
              <a:ext cx="502500" cy="374700"/>
            </a:xfrm>
            <a:prstGeom prst="rect">
              <a:avLst/>
            </a:prstGeom>
            <a:solidFill>
              <a:srgbClr val="CCCC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6198171" y="4123477"/>
              <a:ext cx="502500" cy="374700"/>
            </a:xfrm>
            <a:prstGeom prst="rect">
              <a:avLst/>
            </a:prstGeom>
            <a:solidFill>
              <a:srgbClr val="CCCC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4697816" y="4123477"/>
              <a:ext cx="502500" cy="374700"/>
            </a:xfrm>
            <a:prstGeom prst="rect">
              <a:avLst/>
            </a:prstGeom>
            <a:solidFill>
              <a:srgbClr val="CCCC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...</a:t>
              </a:r>
              <a:endParaRPr sz="1800"/>
            </a:p>
          </p:txBody>
        </p:sp>
        <p:sp>
          <p:nvSpPr>
            <p:cNvPr id="350" name="Google Shape;350;p20"/>
            <p:cNvSpPr/>
            <p:nvPr/>
          </p:nvSpPr>
          <p:spPr>
            <a:xfrm>
              <a:off x="890600" y="2487550"/>
              <a:ext cx="3636000" cy="907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1" name="Google Shape;351;p20"/>
            <p:cNvCxnSpPr/>
            <p:nvPr/>
          </p:nvCxnSpPr>
          <p:spPr>
            <a:xfrm rot="10800000">
              <a:off x="442636" y="2633134"/>
              <a:ext cx="4323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20"/>
            <p:cNvCxnSpPr/>
            <p:nvPr/>
          </p:nvCxnSpPr>
          <p:spPr>
            <a:xfrm rot="10800000">
              <a:off x="442636" y="2880382"/>
              <a:ext cx="4323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20"/>
            <p:cNvCxnSpPr/>
            <p:nvPr/>
          </p:nvCxnSpPr>
          <p:spPr>
            <a:xfrm rot="10800000">
              <a:off x="442636" y="3266638"/>
              <a:ext cx="4323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20"/>
            <p:cNvCxnSpPr/>
            <p:nvPr/>
          </p:nvCxnSpPr>
          <p:spPr>
            <a:xfrm rot="10800000">
              <a:off x="442636" y="3073510"/>
              <a:ext cx="4323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55" name="Google Shape;355;p20"/>
            <p:cNvGrpSpPr/>
            <p:nvPr/>
          </p:nvGrpSpPr>
          <p:grpSpPr>
            <a:xfrm>
              <a:off x="831477" y="2430989"/>
              <a:ext cx="1582372" cy="961571"/>
              <a:chOff x="1114701" y="3234112"/>
              <a:chExt cx="1582372" cy="961571"/>
            </a:xfrm>
          </p:grpSpPr>
          <p:sp>
            <p:nvSpPr>
              <p:cNvPr id="356" name="Google Shape;356;p20"/>
              <p:cNvSpPr txBox="1"/>
              <p:nvPr/>
            </p:nvSpPr>
            <p:spPr>
              <a:xfrm>
                <a:off x="1114701" y="3234112"/>
                <a:ext cx="1574400" cy="3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Ubuntu Mono"/>
                    <a:ea typeface="Ubuntu Mono"/>
                    <a:cs typeface="Ubuntu Mono"/>
                    <a:sym typeface="Ubuntu Mono"/>
                  </a:rPr>
                  <a:t>addLast()</a:t>
                </a:r>
                <a:endParaRPr>
                  <a:latin typeface="Ubuntu Mono"/>
                  <a:ea typeface="Ubuntu Mono"/>
                  <a:cs typeface="Ubuntu Mono"/>
                  <a:sym typeface="Ubuntu Mono"/>
                </a:endParaRPr>
              </a:p>
            </p:txBody>
          </p:sp>
          <p:sp>
            <p:nvSpPr>
              <p:cNvPr id="357" name="Google Shape;357;p20"/>
              <p:cNvSpPr txBox="1"/>
              <p:nvPr/>
            </p:nvSpPr>
            <p:spPr>
              <a:xfrm>
                <a:off x="1122672" y="3444225"/>
                <a:ext cx="1574400" cy="3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Ubuntu Mono"/>
                    <a:ea typeface="Ubuntu Mono"/>
                    <a:cs typeface="Ubuntu Mono"/>
                    <a:sym typeface="Ubuntu Mono"/>
                  </a:rPr>
                  <a:t>getLast()</a:t>
                </a:r>
                <a:endParaRPr>
                  <a:latin typeface="Ubuntu Mono"/>
                  <a:ea typeface="Ubuntu Mono"/>
                  <a:cs typeface="Ubuntu Mono"/>
                  <a:sym typeface="Ubuntu Mono"/>
                </a:endParaRPr>
              </a:p>
            </p:txBody>
          </p:sp>
          <p:sp>
            <p:nvSpPr>
              <p:cNvPr id="358" name="Google Shape;358;p20"/>
              <p:cNvSpPr txBox="1"/>
              <p:nvPr/>
            </p:nvSpPr>
            <p:spPr>
              <a:xfrm>
                <a:off x="1122672" y="3859383"/>
                <a:ext cx="1574400" cy="3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Ubuntu Mono"/>
                    <a:ea typeface="Ubuntu Mono"/>
                    <a:cs typeface="Ubuntu Mono"/>
                    <a:sym typeface="Ubuntu Mono"/>
                  </a:rPr>
                  <a:t>get(int i)</a:t>
                </a:r>
                <a:endParaRPr>
                  <a:latin typeface="Ubuntu Mono"/>
                  <a:ea typeface="Ubuntu Mono"/>
                  <a:cs typeface="Ubuntu Mono"/>
                  <a:sym typeface="Ubuntu Mono"/>
                </a:endParaRPr>
              </a:p>
            </p:txBody>
          </p:sp>
          <p:sp>
            <p:nvSpPr>
              <p:cNvPr id="359" name="Google Shape;359;p20"/>
              <p:cNvSpPr txBox="1"/>
              <p:nvPr/>
            </p:nvSpPr>
            <p:spPr>
              <a:xfrm>
                <a:off x="1122672" y="3666255"/>
                <a:ext cx="1574400" cy="3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Ubuntu Mono"/>
                    <a:ea typeface="Ubuntu Mono"/>
                    <a:cs typeface="Ubuntu Mono"/>
                    <a:sym typeface="Ubuntu Mono"/>
                  </a:rPr>
                  <a:t>removeLast()</a:t>
                </a:r>
                <a:endParaRPr>
                  <a:latin typeface="Ubuntu Mono"/>
                  <a:ea typeface="Ubuntu Mono"/>
                  <a:cs typeface="Ubuntu Mono"/>
                  <a:sym typeface="Ubuntu Mono"/>
                </a:endParaRPr>
              </a:p>
            </p:txBody>
          </p:sp>
        </p:grpSp>
        <p:sp>
          <p:nvSpPr>
            <p:cNvPr id="360" name="Google Shape;360;p20"/>
            <p:cNvSpPr txBox="1"/>
            <p:nvPr/>
          </p:nvSpPr>
          <p:spPr>
            <a:xfrm>
              <a:off x="3526621" y="2571719"/>
              <a:ext cx="832200" cy="3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items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3608075" y="2877138"/>
              <a:ext cx="502500" cy="3747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0"/>
            <p:cNvSpPr/>
            <p:nvPr/>
          </p:nvSpPr>
          <p:spPr>
            <a:xfrm>
              <a:off x="674875" y="4121086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363" name="Google Shape;363;p20"/>
            <p:cNvSpPr/>
            <p:nvPr/>
          </p:nvSpPr>
          <p:spPr>
            <a:xfrm>
              <a:off x="1177375" y="4121086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sp>
          <p:nvSpPr>
            <p:cNvPr id="364" name="Google Shape;364;p20"/>
            <p:cNvSpPr/>
            <p:nvPr/>
          </p:nvSpPr>
          <p:spPr>
            <a:xfrm>
              <a:off x="1679875" y="4121086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365" name="Google Shape;365;p20"/>
            <p:cNvSpPr/>
            <p:nvPr/>
          </p:nvSpPr>
          <p:spPr>
            <a:xfrm>
              <a:off x="2182375" y="4121086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366" name="Google Shape;366;p20"/>
            <p:cNvSpPr/>
            <p:nvPr/>
          </p:nvSpPr>
          <p:spPr>
            <a:xfrm>
              <a:off x="2684875" y="4123477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22</a:t>
              </a:r>
              <a:endParaRPr sz="1800"/>
            </a:p>
          </p:txBody>
        </p:sp>
        <p:sp>
          <p:nvSpPr>
            <p:cNvPr id="367" name="Google Shape;367;p20"/>
            <p:cNvSpPr/>
            <p:nvPr/>
          </p:nvSpPr>
          <p:spPr>
            <a:xfrm>
              <a:off x="3187375" y="4123477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-1</a:t>
              </a:r>
              <a:endParaRPr sz="1800"/>
            </a:p>
          </p:txBody>
        </p:sp>
        <p:sp>
          <p:nvSpPr>
            <p:cNvPr id="368" name="Google Shape;368;p20"/>
            <p:cNvSpPr/>
            <p:nvPr/>
          </p:nvSpPr>
          <p:spPr>
            <a:xfrm>
              <a:off x="3689875" y="4123477"/>
              <a:ext cx="502500" cy="374700"/>
            </a:xfrm>
            <a:prstGeom prst="rect">
              <a:avLst/>
            </a:prstGeom>
            <a:solidFill>
              <a:srgbClr val="CCCC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369" name="Google Shape;369;p20"/>
            <p:cNvSpPr/>
            <p:nvPr/>
          </p:nvSpPr>
          <p:spPr>
            <a:xfrm>
              <a:off x="4192375" y="4123477"/>
              <a:ext cx="502500" cy="374700"/>
            </a:xfrm>
            <a:prstGeom prst="rect">
              <a:avLst/>
            </a:prstGeom>
            <a:solidFill>
              <a:srgbClr val="CCCC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370" name="Google Shape;370;p20"/>
            <p:cNvSpPr/>
            <p:nvPr/>
          </p:nvSpPr>
          <p:spPr>
            <a:xfrm>
              <a:off x="2759713" y="2886138"/>
              <a:ext cx="502500" cy="3747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6</a:t>
              </a:r>
              <a:endParaRPr sz="1800"/>
            </a:p>
          </p:txBody>
        </p:sp>
        <p:sp>
          <p:nvSpPr>
            <p:cNvPr id="371" name="Google Shape;371;p20"/>
            <p:cNvSpPr txBox="1"/>
            <p:nvPr/>
          </p:nvSpPr>
          <p:spPr>
            <a:xfrm>
              <a:off x="2730450" y="2571719"/>
              <a:ext cx="832200" cy="3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size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cxnSp>
          <p:nvCxnSpPr>
            <p:cNvPr id="372" name="Google Shape;372;p20"/>
            <p:cNvCxnSpPr>
              <a:stCxn id="361" idx="3"/>
            </p:cNvCxnSpPr>
            <p:nvPr/>
          </p:nvCxnSpPr>
          <p:spPr>
            <a:xfrm rot="10800000">
              <a:off x="3899075" y="3055488"/>
              <a:ext cx="211500" cy="9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20"/>
            <p:cNvCxnSpPr>
              <a:stCxn id="361" idx="3"/>
              <a:endCxn id="365" idx="0"/>
            </p:cNvCxnSpPr>
            <p:nvPr/>
          </p:nvCxnSpPr>
          <p:spPr>
            <a:xfrm flipH="1">
              <a:off x="2433575" y="3064488"/>
              <a:ext cx="1677000" cy="1056600"/>
            </a:xfrm>
            <a:prstGeom prst="curvedConnector4">
              <a:avLst>
                <a:gd fmla="val -14199" name="adj1"/>
                <a:gd fmla="val 58866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74" name="Google Shape;374;p20"/>
            <p:cNvSpPr txBox="1"/>
            <p:nvPr/>
          </p:nvSpPr>
          <p:spPr>
            <a:xfrm>
              <a:off x="782355" y="4413423"/>
              <a:ext cx="6025500" cy="22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0    1    2    3    4    5    6    7         97   98   99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5" name="Google Shape;375;p20"/>
            <p:cNvSpPr txBox="1"/>
            <p:nvPr/>
          </p:nvSpPr>
          <p:spPr>
            <a:xfrm>
              <a:off x="193495" y="1939000"/>
              <a:ext cx="53085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BE0712"/>
                  </a:solidFill>
                  <a:latin typeface="Calibri"/>
                  <a:ea typeface="Calibri"/>
                  <a:cs typeface="Calibri"/>
                  <a:sym typeface="Calibri"/>
                </a:rPr>
                <a:t>Actual truth</a:t>
              </a:r>
              <a:r>
                <a:rPr lang="en" sz="2000"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 sz="20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376" name="Google Shape;3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0200" y="1798458"/>
            <a:ext cx="3644251" cy="2056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Deletion: yellkey.com</a:t>
            </a:r>
            <a:r>
              <a:rPr lang="en">
                <a:solidFill>
                  <a:srgbClr val="208920"/>
                </a:solidFill>
              </a:rPr>
              <a:t>/dark</a:t>
            </a:r>
            <a:endParaRPr>
              <a:solidFill>
                <a:srgbClr val="208920"/>
              </a:solidFill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890600" y="1420750"/>
            <a:ext cx="36360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3" name="Google Shape;383;p21"/>
          <p:cNvCxnSpPr/>
          <p:nvPr/>
        </p:nvCxnSpPr>
        <p:spPr>
          <a:xfrm rot="10800000">
            <a:off x="442636" y="1566334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21"/>
          <p:cNvCxnSpPr/>
          <p:nvPr/>
        </p:nvCxnSpPr>
        <p:spPr>
          <a:xfrm rot="10800000">
            <a:off x="442636" y="1813582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21"/>
          <p:cNvCxnSpPr/>
          <p:nvPr/>
        </p:nvCxnSpPr>
        <p:spPr>
          <a:xfrm rot="10800000">
            <a:off x="442636" y="219983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21"/>
          <p:cNvCxnSpPr/>
          <p:nvPr/>
        </p:nvCxnSpPr>
        <p:spPr>
          <a:xfrm rot="10800000">
            <a:off x="442636" y="2006710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7" name="Google Shape;387;p21"/>
          <p:cNvGrpSpPr/>
          <p:nvPr/>
        </p:nvGrpSpPr>
        <p:grpSpPr>
          <a:xfrm>
            <a:off x="831477" y="1364189"/>
            <a:ext cx="1582372" cy="961571"/>
            <a:chOff x="1114701" y="3234112"/>
            <a:chExt cx="1582372" cy="961571"/>
          </a:xfrm>
        </p:grpSpPr>
        <p:sp>
          <p:nvSpPr>
            <p:cNvPr id="388" name="Google Shape;388;p21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389" name="Google Shape;389;p21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390" name="Google Shape;390;p21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391" name="Google Shape;391;p21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removeLast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sp>
        <p:nvSpPr>
          <p:cNvPr id="392" name="Google Shape;392;p21"/>
          <p:cNvSpPr txBox="1"/>
          <p:nvPr/>
        </p:nvSpPr>
        <p:spPr>
          <a:xfrm>
            <a:off x="3526621" y="1504919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items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93" name="Google Shape;393;p21"/>
          <p:cNvSpPr/>
          <p:nvPr/>
        </p:nvSpPr>
        <p:spPr>
          <a:xfrm>
            <a:off x="3608075" y="181033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1"/>
          <p:cNvSpPr/>
          <p:nvPr/>
        </p:nvSpPr>
        <p:spPr>
          <a:xfrm>
            <a:off x="674875" y="33016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395" name="Google Shape;395;p21"/>
          <p:cNvSpPr/>
          <p:nvPr/>
        </p:nvSpPr>
        <p:spPr>
          <a:xfrm>
            <a:off x="1177375" y="33016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96" name="Google Shape;396;p21"/>
          <p:cNvSpPr/>
          <p:nvPr/>
        </p:nvSpPr>
        <p:spPr>
          <a:xfrm>
            <a:off x="1679875" y="33016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97" name="Google Shape;397;p21"/>
          <p:cNvSpPr/>
          <p:nvPr/>
        </p:nvSpPr>
        <p:spPr>
          <a:xfrm>
            <a:off x="2182375" y="33016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398" name="Google Shape;398;p21"/>
          <p:cNvSpPr/>
          <p:nvPr/>
        </p:nvSpPr>
        <p:spPr>
          <a:xfrm>
            <a:off x="2684875" y="33040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22</a:t>
            </a:r>
            <a:endParaRPr sz="1800"/>
          </a:p>
        </p:txBody>
      </p:sp>
      <p:sp>
        <p:nvSpPr>
          <p:cNvPr id="399" name="Google Shape;399;p21"/>
          <p:cNvSpPr/>
          <p:nvPr/>
        </p:nvSpPr>
        <p:spPr>
          <a:xfrm>
            <a:off x="3187375" y="33040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-1</a:t>
            </a:r>
            <a:endParaRPr sz="1800"/>
          </a:p>
        </p:txBody>
      </p:sp>
      <p:sp>
        <p:nvSpPr>
          <p:cNvPr id="400" name="Google Shape;400;p21"/>
          <p:cNvSpPr/>
          <p:nvPr/>
        </p:nvSpPr>
        <p:spPr>
          <a:xfrm>
            <a:off x="3689875" y="33040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401" name="Google Shape;401;p21"/>
          <p:cNvSpPr/>
          <p:nvPr/>
        </p:nvSpPr>
        <p:spPr>
          <a:xfrm>
            <a:off x="4192375" y="33040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402" name="Google Shape;402;p21"/>
          <p:cNvSpPr/>
          <p:nvPr/>
        </p:nvSpPr>
        <p:spPr>
          <a:xfrm>
            <a:off x="5193171" y="33040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403" name="Google Shape;403;p21"/>
          <p:cNvSpPr/>
          <p:nvPr/>
        </p:nvSpPr>
        <p:spPr>
          <a:xfrm>
            <a:off x="5695671" y="33040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404" name="Google Shape;404;p21"/>
          <p:cNvSpPr/>
          <p:nvPr/>
        </p:nvSpPr>
        <p:spPr>
          <a:xfrm>
            <a:off x="6198171" y="33040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405" name="Google Shape;405;p21"/>
          <p:cNvSpPr/>
          <p:nvPr/>
        </p:nvSpPr>
        <p:spPr>
          <a:xfrm>
            <a:off x="4697816" y="33040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...</a:t>
            </a:r>
            <a:endParaRPr sz="1800"/>
          </a:p>
        </p:txBody>
      </p:sp>
      <p:sp>
        <p:nvSpPr>
          <p:cNvPr id="406" name="Google Shape;406;p21"/>
          <p:cNvSpPr/>
          <p:nvPr/>
        </p:nvSpPr>
        <p:spPr>
          <a:xfrm>
            <a:off x="2759713" y="181933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407" name="Google Shape;407;p21"/>
          <p:cNvSpPr txBox="1"/>
          <p:nvPr/>
        </p:nvSpPr>
        <p:spPr>
          <a:xfrm>
            <a:off x="2730450" y="1504919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408" name="Google Shape;408;p21"/>
          <p:cNvCxnSpPr>
            <a:stCxn id="393" idx="3"/>
          </p:cNvCxnSpPr>
          <p:nvPr/>
        </p:nvCxnSpPr>
        <p:spPr>
          <a:xfrm rot="10800000">
            <a:off x="3899075" y="1988687"/>
            <a:ext cx="211500" cy="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21"/>
          <p:cNvCxnSpPr>
            <a:stCxn id="393" idx="3"/>
            <a:endCxn id="397" idx="0"/>
          </p:cNvCxnSpPr>
          <p:nvPr/>
        </p:nvCxnSpPr>
        <p:spPr>
          <a:xfrm flipH="1">
            <a:off x="2433575" y="1997687"/>
            <a:ext cx="1677000" cy="1304100"/>
          </a:xfrm>
          <a:prstGeom prst="curvedConnector4">
            <a:avLst>
              <a:gd fmla="val -14199" name="adj1"/>
              <a:gd fmla="val 57179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0" name="Google Shape;410;p21"/>
          <p:cNvSpPr txBox="1"/>
          <p:nvPr/>
        </p:nvSpPr>
        <p:spPr>
          <a:xfrm>
            <a:off x="782355" y="3594025"/>
            <a:ext cx="60255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0    1    2    3    4    5    6    7         97   98   99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1" name="Google Shape;411;p21"/>
          <p:cNvSpPr txBox="1"/>
          <p:nvPr/>
        </p:nvSpPr>
        <p:spPr>
          <a:xfrm>
            <a:off x="4912125" y="1202175"/>
            <a:ext cx="4231800" cy="20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lphaLcParenR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lphaLcParenR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items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lphaLcParenR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items[i]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for some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lphaLcParenR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items[i]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for some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lphaLcParenR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items[i]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for many different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2" name="Google Shape;412;p21"/>
          <p:cNvSpPr txBox="1"/>
          <p:nvPr>
            <p:ph idx="1" type="body"/>
          </p:nvPr>
        </p:nvSpPr>
        <p:spPr>
          <a:xfrm>
            <a:off x="143928" y="556500"/>
            <a:ext cx="8443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we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removeLast()</a:t>
            </a:r>
            <a:r>
              <a:rPr lang="en"/>
              <a:t>, which memory boxes need to change? To what?</a:t>
            </a:r>
            <a:endParaRPr/>
          </a:p>
        </p:txBody>
      </p:sp>
      <p:sp>
        <p:nvSpPr>
          <p:cNvPr id="413" name="Google Shape;413;p21"/>
          <p:cNvSpPr txBox="1"/>
          <p:nvPr/>
        </p:nvSpPr>
        <p:spPr>
          <a:xfrm>
            <a:off x="93000" y="3808274"/>
            <a:ext cx="90510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position of the next item to be inserted is always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 is always the number of items in the AList.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last item in the list is always in position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 - 1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414" name="Google Shape;414;p21"/>
          <p:cNvSpPr/>
          <p:nvPr/>
        </p:nvSpPr>
        <p:spPr>
          <a:xfrm>
            <a:off x="7002825" y="4044450"/>
            <a:ext cx="382800" cy="9075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1"/>
          <p:cNvSpPr txBox="1"/>
          <p:nvPr/>
        </p:nvSpPr>
        <p:spPr>
          <a:xfrm>
            <a:off x="7447600" y="4267156"/>
            <a:ext cx="158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AList invariants.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2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AList Code </a:t>
            </a:r>
            <a:endParaRPr/>
          </a:p>
        </p:txBody>
      </p:sp>
      <p:sp>
        <p:nvSpPr>
          <p:cNvPr id="421" name="Google Shape;421;p22"/>
          <p:cNvSpPr txBox="1"/>
          <p:nvPr/>
        </p:nvSpPr>
        <p:spPr>
          <a:xfrm>
            <a:off x="269825" y="647250"/>
            <a:ext cx="3653700" cy="4447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AList {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items; </a:t>
            </a:r>
            <a:r>
              <a:rPr b="1" i="1" lang="en" sz="12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size;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i="1" sz="12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AList() {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items =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[100];  size = 0;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items[size] = x;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size += 1;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i="1" sz="8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getLast() {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items[size - 1];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i="1" sz="8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get(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i) {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items[i];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8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size() {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size;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2" name="Google Shape;422;p22"/>
          <p:cNvSpPr txBox="1"/>
          <p:nvPr>
            <p:ph idx="1" type="body"/>
          </p:nvPr>
        </p:nvSpPr>
        <p:spPr>
          <a:xfrm>
            <a:off x="4337475" y="556500"/>
            <a:ext cx="43494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AList Invariants: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The position of the next item to be inserted is always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size is always the number of items in the AList.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The last item in the list is always in position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size - 1</a:t>
            </a:r>
            <a:r>
              <a:rPr lang="en"/>
              <a:t>.</a:t>
            </a:r>
            <a:endParaRPr/>
          </a:p>
        </p:txBody>
      </p:sp>
      <p:sp>
        <p:nvSpPr>
          <p:cNvPr id="423" name="Google Shape;423;p22"/>
          <p:cNvSpPr txBox="1"/>
          <p:nvPr/>
        </p:nvSpPr>
        <p:spPr>
          <a:xfrm>
            <a:off x="4304325" y="3439675"/>
            <a:ext cx="3182700" cy="1350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removeLast() {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returnItem = items[size - 1];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items[size - 1] = 0;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size -= 1;  	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returnItem;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    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24" name="Google Shape;424;p22"/>
          <p:cNvCxnSpPr/>
          <p:nvPr/>
        </p:nvCxnSpPr>
        <p:spPr>
          <a:xfrm rot="10800000">
            <a:off x="6342025" y="4012825"/>
            <a:ext cx="1297200" cy="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5" name="Google Shape;425;p22"/>
          <p:cNvSpPr txBox="1"/>
          <p:nvPr/>
        </p:nvSpPr>
        <p:spPr>
          <a:xfrm>
            <a:off x="7701825" y="3158125"/>
            <a:ext cx="1511700" cy="16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Setting deleted item to zero is not necessary to preserve invariants, and thus not necessary for correctness.</a:t>
            </a:r>
            <a:endParaRPr>
              <a:solidFill>
                <a:srgbClr val="BE071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3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Mighty AList</a:t>
            </a:r>
            <a:endParaRPr/>
          </a:p>
        </p:txBody>
      </p:sp>
      <p:sp>
        <p:nvSpPr>
          <p:cNvPr id="431" name="Google Shape;431;p23"/>
          <p:cNvSpPr txBox="1"/>
          <p:nvPr>
            <p:ph idx="1" type="body"/>
          </p:nvPr>
        </p:nvSpPr>
        <p:spPr>
          <a:xfrm>
            <a:off x="243000" y="556500"/>
            <a:ext cx="8443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Key Idea: Use some subset of the entries of an array.</a:t>
            </a:r>
            <a:endParaRPr/>
          </a:p>
        </p:txBody>
      </p:sp>
      <p:sp>
        <p:nvSpPr>
          <p:cNvPr id="432" name="Google Shape;432;p23"/>
          <p:cNvSpPr/>
          <p:nvPr/>
        </p:nvSpPr>
        <p:spPr>
          <a:xfrm>
            <a:off x="3171625" y="1241850"/>
            <a:ext cx="36360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3" name="Google Shape;433;p23"/>
          <p:cNvCxnSpPr/>
          <p:nvPr/>
        </p:nvCxnSpPr>
        <p:spPr>
          <a:xfrm rot="10800000">
            <a:off x="2723661" y="1387434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23"/>
          <p:cNvCxnSpPr/>
          <p:nvPr/>
        </p:nvCxnSpPr>
        <p:spPr>
          <a:xfrm rot="10800000">
            <a:off x="2723661" y="1634682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23"/>
          <p:cNvCxnSpPr/>
          <p:nvPr/>
        </p:nvCxnSpPr>
        <p:spPr>
          <a:xfrm rot="10800000">
            <a:off x="2723661" y="202093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23"/>
          <p:cNvCxnSpPr/>
          <p:nvPr/>
        </p:nvCxnSpPr>
        <p:spPr>
          <a:xfrm rot="10800000">
            <a:off x="2723661" y="1827810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7" name="Google Shape;437;p23"/>
          <p:cNvGrpSpPr/>
          <p:nvPr/>
        </p:nvGrpSpPr>
        <p:grpSpPr>
          <a:xfrm>
            <a:off x="3112502" y="1185289"/>
            <a:ext cx="1582372" cy="961571"/>
            <a:chOff x="1114701" y="3234112"/>
            <a:chExt cx="1582372" cy="961571"/>
          </a:xfrm>
        </p:grpSpPr>
        <p:sp>
          <p:nvSpPr>
            <p:cNvPr id="438" name="Google Shape;438;p23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439" name="Google Shape;439;p23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440" name="Google Shape;440;p23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441" name="Google Shape;441;p23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removeLast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sp>
        <p:nvSpPr>
          <p:cNvPr id="442" name="Google Shape;442;p23"/>
          <p:cNvSpPr txBox="1"/>
          <p:nvPr/>
        </p:nvSpPr>
        <p:spPr>
          <a:xfrm>
            <a:off x="5807646" y="1326019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items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443" name="Google Shape;443;p23"/>
          <p:cNvSpPr/>
          <p:nvPr/>
        </p:nvSpPr>
        <p:spPr>
          <a:xfrm>
            <a:off x="5889100" y="163143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3"/>
          <p:cNvSpPr/>
          <p:nvPr/>
        </p:nvSpPr>
        <p:spPr>
          <a:xfrm>
            <a:off x="674875" y="3454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445" name="Google Shape;445;p23"/>
          <p:cNvSpPr/>
          <p:nvPr/>
        </p:nvSpPr>
        <p:spPr>
          <a:xfrm>
            <a:off x="1177375" y="3454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446" name="Google Shape;446;p23"/>
          <p:cNvSpPr/>
          <p:nvPr/>
        </p:nvSpPr>
        <p:spPr>
          <a:xfrm>
            <a:off x="1679875" y="3454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447" name="Google Shape;447;p23"/>
          <p:cNvSpPr/>
          <p:nvPr/>
        </p:nvSpPr>
        <p:spPr>
          <a:xfrm>
            <a:off x="2182375" y="3454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448" name="Google Shape;448;p23"/>
          <p:cNvSpPr/>
          <p:nvPr/>
        </p:nvSpPr>
        <p:spPr>
          <a:xfrm>
            <a:off x="2684875" y="3456479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22</a:t>
            </a:r>
            <a:endParaRPr sz="1800"/>
          </a:p>
        </p:txBody>
      </p:sp>
      <p:sp>
        <p:nvSpPr>
          <p:cNvPr id="449" name="Google Shape;449;p23"/>
          <p:cNvSpPr/>
          <p:nvPr/>
        </p:nvSpPr>
        <p:spPr>
          <a:xfrm>
            <a:off x="3187375" y="3456479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-1</a:t>
            </a:r>
            <a:endParaRPr sz="1800"/>
          </a:p>
        </p:txBody>
      </p:sp>
      <p:sp>
        <p:nvSpPr>
          <p:cNvPr id="450" name="Google Shape;450;p23"/>
          <p:cNvSpPr/>
          <p:nvPr/>
        </p:nvSpPr>
        <p:spPr>
          <a:xfrm>
            <a:off x="3689875" y="34564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451" name="Google Shape;451;p23"/>
          <p:cNvSpPr/>
          <p:nvPr/>
        </p:nvSpPr>
        <p:spPr>
          <a:xfrm>
            <a:off x="4192375" y="34564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452" name="Google Shape;452;p23"/>
          <p:cNvSpPr/>
          <p:nvPr/>
        </p:nvSpPr>
        <p:spPr>
          <a:xfrm>
            <a:off x="5193171" y="34564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453" name="Google Shape;453;p23"/>
          <p:cNvSpPr/>
          <p:nvPr/>
        </p:nvSpPr>
        <p:spPr>
          <a:xfrm>
            <a:off x="5695671" y="34564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12</a:t>
            </a:r>
            <a:endParaRPr sz="1800"/>
          </a:p>
        </p:txBody>
      </p:sp>
      <p:sp>
        <p:nvSpPr>
          <p:cNvPr id="454" name="Google Shape;454;p23"/>
          <p:cNvSpPr/>
          <p:nvPr/>
        </p:nvSpPr>
        <p:spPr>
          <a:xfrm>
            <a:off x="6198171" y="34564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455" name="Google Shape;455;p23"/>
          <p:cNvSpPr/>
          <p:nvPr/>
        </p:nvSpPr>
        <p:spPr>
          <a:xfrm>
            <a:off x="4697816" y="34564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...</a:t>
            </a:r>
            <a:endParaRPr sz="1800"/>
          </a:p>
        </p:txBody>
      </p:sp>
      <p:sp>
        <p:nvSpPr>
          <p:cNvPr id="456" name="Google Shape;456;p23"/>
          <p:cNvSpPr/>
          <p:nvPr/>
        </p:nvSpPr>
        <p:spPr>
          <a:xfrm>
            <a:off x="5040738" y="164043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457" name="Google Shape;457;p23"/>
          <p:cNvSpPr txBox="1"/>
          <p:nvPr/>
        </p:nvSpPr>
        <p:spPr>
          <a:xfrm>
            <a:off x="5011475" y="1326019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458" name="Google Shape;458;p23"/>
          <p:cNvCxnSpPr>
            <a:stCxn id="443" idx="3"/>
          </p:cNvCxnSpPr>
          <p:nvPr/>
        </p:nvCxnSpPr>
        <p:spPr>
          <a:xfrm rot="10800000">
            <a:off x="6180100" y="1809787"/>
            <a:ext cx="211500" cy="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23"/>
          <p:cNvCxnSpPr>
            <a:stCxn id="443" idx="3"/>
            <a:endCxn id="447" idx="0"/>
          </p:cNvCxnSpPr>
          <p:nvPr/>
        </p:nvCxnSpPr>
        <p:spPr>
          <a:xfrm flipH="1">
            <a:off x="2433700" y="1818787"/>
            <a:ext cx="3957900" cy="1635300"/>
          </a:xfrm>
          <a:prstGeom prst="curvedConnector4">
            <a:avLst>
              <a:gd fmla="val -6016" name="adj1"/>
              <a:gd fmla="val 55728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0" name="Google Shape;460;p23"/>
          <p:cNvSpPr txBox="1"/>
          <p:nvPr/>
        </p:nvSpPr>
        <p:spPr>
          <a:xfrm>
            <a:off x="782355" y="3746425"/>
            <a:ext cx="60255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0    1    2    3    4    5    6    7         97   98   99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4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Mighty (?) AList</a:t>
            </a:r>
            <a:endParaRPr/>
          </a:p>
        </p:txBody>
      </p:sp>
      <p:sp>
        <p:nvSpPr>
          <p:cNvPr id="466" name="Google Shape;466;p24"/>
          <p:cNvSpPr txBox="1"/>
          <p:nvPr>
            <p:ph idx="1" type="body"/>
          </p:nvPr>
        </p:nvSpPr>
        <p:spPr>
          <a:xfrm>
            <a:off x="243000" y="556500"/>
            <a:ext cx="8443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Key Idea: Use some subset of the entries of an array.</a:t>
            </a:r>
            <a:endParaRPr/>
          </a:p>
        </p:txBody>
      </p:sp>
      <p:sp>
        <p:nvSpPr>
          <p:cNvPr id="467" name="Google Shape;467;p24"/>
          <p:cNvSpPr/>
          <p:nvPr/>
        </p:nvSpPr>
        <p:spPr>
          <a:xfrm>
            <a:off x="3171625" y="1241850"/>
            <a:ext cx="36360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8" name="Google Shape;468;p24"/>
          <p:cNvCxnSpPr/>
          <p:nvPr/>
        </p:nvCxnSpPr>
        <p:spPr>
          <a:xfrm rot="10800000">
            <a:off x="2723661" y="1387434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24"/>
          <p:cNvCxnSpPr/>
          <p:nvPr/>
        </p:nvCxnSpPr>
        <p:spPr>
          <a:xfrm rot="10800000">
            <a:off x="2723661" y="1634682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" name="Google Shape;470;p24"/>
          <p:cNvCxnSpPr/>
          <p:nvPr/>
        </p:nvCxnSpPr>
        <p:spPr>
          <a:xfrm rot="10800000">
            <a:off x="2723661" y="202093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24"/>
          <p:cNvCxnSpPr/>
          <p:nvPr/>
        </p:nvCxnSpPr>
        <p:spPr>
          <a:xfrm rot="10800000">
            <a:off x="2723661" y="1827810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2" name="Google Shape;472;p24"/>
          <p:cNvGrpSpPr/>
          <p:nvPr/>
        </p:nvGrpSpPr>
        <p:grpSpPr>
          <a:xfrm>
            <a:off x="3112502" y="1185289"/>
            <a:ext cx="1582372" cy="961571"/>
            <a:chOff x="1114701" y="3234112"/>
            <a:chExt cx="1582372" cy="961571"/>
          </a:xfrm>
        </p:grpSpPr>
        <p:sp>
          <p:nvSpPr>
            <p:cNvPr id="473" name="Google Shape;473;p24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474" name="Google Shape;474;p24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475" name="Google Shape;475;p24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476" name="Google Shape;476;p24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removeLast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sp>
        <p:nvSpPr>
          <p:cNvPr id="477" name="Google Shape;477;p24"/>
          <p:cNvSpPr txBox="1"/>
          <p:nvPr/>
        </p:nvSpPr>
        <p:spPr>
          <a:xfrm>
            <a:off x="5807646" y="1326019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items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478" name="Google Shape;478;p24"/>
          <p:cNvSpPr/>
          <p:nvPr/>
        </p:nvSpPr>
        <p:spPr>
          <a:xfrm>
            <a:off x="5889100" y="163143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4"/>
          <p:cNvSpPr/>
          <p:nvPr/>
        </p:nvSpPr>
        <p:spPr>
          <a:xfrm>
            <a:off x="6748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480" name="Google Shape;480;p24"/>
          <p:cNvSpPr/>
          <p:nvPr/>
        </p:nvSpPr>
        <p:spPr>
          <a:xfrm>
            <a:off x="11773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481" name="Google Shape;481;p24"/>
          <p:cNvSpPr/>
          <p:nvPr/>
        </p:nvSpPr>
        <p:spPr>
          <a:xfrm>
            <a:off x="16798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482" name="Google Shape;482;p24"/>
          <p:cNvSpPr/>
          <p:nvPr/>
        </p:nvSpPr>
        <p:spPr>
          <a:xfrm>
            <a:off x="21823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483" name="Google Shape;483;p24"/>
          <p:cNvSpPr/>
          <p:nvPr/>
        </p:nvSpPr>
        <p:spPr>
          <a:xfrm>
            <a:off x="26848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22</a:t>
            </a:r>
            <a:endParaRPr sz="1800"/>
          </a:p>
        </p:txBody>
      </p:sp>
      <p:sp>
        <p:nvSpPr>
          <p:cNvPr id="484" name="Google Shape;484;p24"/>
          <p:cNvSpPr/>
          <p:nvPr/>
        </p:nvSpPr>
        <p:spPr>
          <a:xfrm>
            <a:off x="31873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-1</a:t>
            </a:r>
            <a:endParaRPr sz="1800"/>
          </a:p>
        </p:txBody>
      </p:sp>
      <p:sp>
        <p:nvSpPr>
          <p:cNvPr id="485" name="Google Shape;485;p24"/>
          <p:cNvSpPr/>
          <p:nvPr/>
        </p:nvSpPr>
        <p:spPr>
          <a:xfrm>
            <a:off x="36898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486" name="Google Shape;486;p24"/>
          <p:cNvSpPr/>
          <p:nvPr/>
        </p:nvSpPr>
        <p:spPr>
          <a:xfrm>
            <a:off x="41923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487" name="Google Shape;487;p24"/>
          <p:cNvSpPr/>
          <p:nvPr/>
        </p:nvSpPr>
        <p:spPr>
          <a:xfrm>
            <a:off x="5193171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-1</a:t>
            </a:r>
            <a:endParaRPr sz="1800"/>
          </a:p>
        </p:txBody>
      </p:sp>
      <p:sp>
        <p:nvSpPr>
          <p:cNvPr id="488" name="Google Shape;488;p24"/>
          <p:cNvSpPr/>
          <p:nvPr/>
        </p:nvSpPr>
        <p:spPr>
          <a:xfrm>
            <a:off x="5695671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489" name="Google Shape;489;p24"/>
          <p:cNvSpPr/>
          <p:nvPr/>
        </p:nvSpPr>
        <p:spPr>
          <a:xfrm>
            <a:off x="6198171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490" name="Google Shape;490;p24"/>
          <p:cNvSpPr/>
          <p:nvPr/>
        </p:nvSpPr>
        <p:spPr>
          <a:xfrm>
            <a:off x="4697816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...</a:t>
            </a:r>
            <a:endParaRPr sz="1800"/>
          </a:p>
        </p:txBody>
      </p:sp>
      <p:sp>
        <p:nvSpPr>
          <p:cNvPr id="491" name="Google Shape;491;p24"/>
          <p:cNvSpPr/>
          <p:nvPr/>
        </p:nvSpPr>
        <p:spPr>
          <a:xfrm>
            <a:off x="4974478" y="1640450"/>
            <a:ext cx="5688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100</a:t>
            </a:r>
            <a:endParaRPr sz="1800"/>
          </a:p>
        </p:txBody>
      </p:sp>
      <p:sp>
        <p:nvSpPr>
          <p:cNvPr id="492" name="Google Shape;492;p24"/>
          <p:cNvSpPr txBox="1"/>
          <p:nvPr/>
        </p:nvSpPr>
        <p:spPr>
          <a:xfrm>
            <a:off x="4977857" y="1326019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493" name="Google Shape;493;p24"/>
          <p:cNvCxnSpPr>
            <a:stCxn id="478" idx="3"/>
          </p:cNvCxnSpPr>
          <p:nvPr/>
        </p:nvCxnSpPr>
        <p:spPr>
          <a:xfrm rot="10800000">
            <a:off x="6180100" y="1809787"/>
            <a:ext cx="211500" cy="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24"/>
          <p:cNvCxnSpPr>
            <a:stCxn id="478" idx="3"/>
            <a:endCxn id="482" idx="0"/>
          </p:cNvCxnSpPr>
          <p:nvPr/>
        </p:nvCxnSpPr>
        <p:spPr>
          <a:xfrm flipH="1">
            <a:off x="2433700" y="1818787"/>
            <a:ext cx="3957900" cy="1635300"/>
          </a:xfrm>
          <a:prstGeom prst="curvedConnector4">
            <a:avLst>
              <a:gd fmla="val -6016" name="adj1"/>
              <a:gd fmla="val 55728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5" name="Google Shape;495;p24"/>
          <p:cNvSpPr txBox="1"/>
          <p:nvPr/>
        </p:nvSpPr>
        <p:spPr>
          <a:xfrm>
            <a:off x="782355" y="3746425"/>
            <a:ext cx="60255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0    1    2    3    4    5    6    7         97   98   99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6" name="Google Shape;496;p24"/>
          <p:cNvSpPr txBox="1"/>
          <p:nvPr>
            <p:ph idx="1" type="body"/>
          </p:nvPr>
        </p:nvSpPr>
        <p:spPr>
          <a:xfrm>
            <a:off x="243000" y="4272025"/>
            <a:ext cx="8579100" cy="7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happens if we insert into the AList above? What should we do about it?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5"/>
          <p:cNvSpPr txBox="1"/>
          <p:nvPr>
            <p:ph type="title"/>
          </p:nvPr>
        </p:nvSpPr>
        <p:spPr>
          <a:xfrm>
            <a:off x="928950" y="2143050"/>
            <a:ext cx="7286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Resizing Arrays</a:t>
            </a:r>
            <a:endParaRPr sz="4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6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Resizing</a:t>
            </a:r>
            <a:endParaRPr/>
          </a:p>
        </p:txBody>
      </p:sp>
      <p:sp>
        <p:nvSpPr>
          <p:cNvPr id="507" name="Google Shape;507;p26"/>
          <p:cNvSpPr txBox="1"/>
          <p:nvPr>
            <p:ph idx="1" type="body"/>
          </p:nvPr>
        </p:nvSpPr>
        <p:spPr>
          <a:xfrm>
            <a:off x="243000" y="556500"/>
            <a:ext cx="8443800" cy="21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the array gets too full, e.g. addLast(11), just make a new array:</a:t>
            </a:r>
            <a:endParaRPr/>
          </a:p>
        </p:txBody>
      </p:sp>
      <p:sp>
        <p:nvSpPr>
          <p:cNvPr id="508" name="Google Shape;508;p26"/>
          <p:cNvSpPr/>
          <p:nvPr/>
        </p:nvSpPr>
        <p:spPr>
          <a:xfrm>
            <a:off x="3857425" y="1241850"/>
            <a:ext cx="36360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9" name="Google Shape;509;p26"/>
          <p:cNvCxnSpPr/>
          <p:nvPr/>
        </p:nvCxnSpPr>
        <p:spPr>
          <a:xfrm rot="10800000">
            <a:off x="3409461" y="1387434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26"/>
          <p:cNvCxnSpPr/>
          <p:nvPr/>
        </p:nvCxnSpPr>
        <p:spPr>
          <a:xfrm rot="10800000">
            <a:off x="3409461" y="1634682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26"/>
          <p:cNvCxnSpPr/>
          <p:nvPr/>
        </p:nvCxnSpPr>
        <p:spPr>
          <a:xfrm rot="10800000">
            <a:off x="3409461" y="202093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26"/>
          <p:cNvCxnSpPr/>
          <p:nvPr/>
        </p:nvCxnSpPr>
        <p:spPr>
          <a:xfrm rot="10800000">
            <a:off x="3409461" y="1827810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3" name="Google Shape;513;p26"/>
          <p:cNvGrpSpPr/>
          <p:nvPr/>
        </p:nvGrpSpPr>
        <p:grpSpPr>
          <a:xfrm>
            <a:off x="3798302" y="1185289"/>
            <a:ext cx="1582372" cy="961571"/>
            <a:chOff x="1114701" y="3234112"/>
            <a:chExt cx="1582372" cy="961571"/>
          </a:xfrm>
        </p:grpSpPr>
        <p:sp>
          <p:nvSpPr>
            <p:cNvPr id="514" name="Google Shape;514;p26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515" name="Google Shape;515;p26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516" name="Google Shape;516;p26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517" name="Google Shape;517;p26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removeLast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sp>
        <p:nvSpPr>
          <p:cNvPr id="518" name="Google Shape;518;p26"/>
          <p:cNvSpPr txBox="1"/>
          <p:nvPr/>
        </p:nvSpPr>
        <p:spPr>
          <a:xfrm>
            <a:off x="6493446" y="1326019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items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519" name="Google Shape;519;p26"/>
          <p:cNvSpPr/>
          <p:nvPr/>
        </p:nvSpPr>
        <p:spPr>
          <a:xfrm>
            <a:off x="6574900" y="163143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6"/>
          <p:cNvSpPr/>
          <p:nvPr/>
        </p:nvSpPr>
        <p:spPr>
          <a:xfrm>
            <a:off x="13606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521" name="Google Shape;521;p26"/>
          <p:cNvSpPr/>
          <p:nvPr/>
        </p:nvSpPr>
        <p:spPr>
          <a:xfrm>
            <a:off x="18631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522" name="Google Shape;522;p26"/>
          <p:cNvSpPr/>
          <p:nvPr/>
        </p:nvSpPr>
        <p:spPr>
          <a:xfrm>
            <a:off x="23656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23" name="Google Shape;523;p26"/>
          <p:cNvSpPr/>
          <p:nvPr/>
        </p:nvSpPr>
        <p:spPr>
          <a:xfrm>
            <a:off x="28681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524" name="Google Shape;524;p26"/>
          <p:cNvSpPr/>
          <p:nvPr/>
        </p:nvSpPr>
        <p:spPr>
          <a:xfrm>
            <a:off x="33706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22</a:t>
            </a:r>
            <a:endParaRPr sz="1800"/>
          </a:p>
        </p:txBody>
      </p:sp>
      <p:sp>
        <p:nvSpPr>
          <p:cNvPr id="525" name="Google Shape;525;p26"/>
          <p:cNvSpPr/>
          <p:nvPr/>
        </p:nvSpPr>
        <p:spPr>
          <a:xfrm>
            <a:off x="38731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-1</a:t>
            </a:r>
            <a:endParaRPr sz="1800"/>
          </a:p>
        </p:txBody>
      </p:sp>
      <p:sp>
        <p:nvSpPr>
          <p:cNvPr id="526" name="Google Shape;526;p26"/>
          <p:cNvSpPr/>
          <p:nvPr/>
        </p:nvSpPr>
        <p:spPr>
          <a:xfrm>
            <a:off x="43756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527" name="Google Shape;527;p26"/>
          <p:cNvSpPr/>
          <p:nvPr/>
        </p:nvSpPr>
        <p:spPr>
          <a:xfrm>
            <a:off x="48781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528" name="Google Shape;528;p26"/>
          <p:cNvSpPr/>
          <p:nvPr/>
        </p:nvSpPr>
        <p:spPr>
          <a:xfrm>
            <a:off x="5878971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-1</a:t>
            </a:r>
            <a:endParaRPr sz="1800"/>
          </a:p>
        </p:txBody>
      </p:sp>
      <p:sp>
        <p:nvSpPr>
          <p:cNvPr id="529" name="Google Shape;529;p26"/>
          <p:cNvSpPr/>
          <p:nvPr/>
        </p:nvSpPr>
        <p:spPr>
          <a:xfrm>
            <a:off x="6381471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530" name="Google Shape;530;p26"/>
          <p:cNvSpPr/>
          <p:nvPr/>
        </p:nvSpPr>
        <p:spPr>
          <a:xfrm>
            <a:off x="6883970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531" name="Google Shape;531;p26"/>
          <p:cNvSpPr/>
          <p:nvPr/>
        </p:nvSpPr>
        <p:spPr>
          <a:xfrm>
            <a:off x="5383616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...</a:t>
            </a:r>
            <a:endParaRPr sz="1800"/>
          </a:p>
        </p:txBody>
      </p:sp>
      <p:sp>
        <p:nvSpPr>
          <p:cNvPr id="532" name="Google Shape;532;p26"/>
          <p:cNvSpPr/>
          <p:nvPr/>
        </p:nvSpPr>
        <p:spPr>
          <a:xfrm>
            <a:off x="5660278" y="1640450"/>
            <a:ext cx="5688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100</a:t>
            </a:r>
            <a:endParaRPr sz="1800"/>
          </a:p>
        </p:txBody>
      </p:sp>
      <p:sp>
        <p:nvSpPr>
          <p:cNvPr id="533" name="Google Shape;533;p26"/>
          <p:cNvSpPr txBox="1"/>
          <p:nvPr/>
        </p:nvSpPr>
        <p:spPr>
          <a:xfrm>
            <a:off x="5663657" y="1326019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534" name="Google Shape;534;p26"/>
          <p:cNvCxnSpPr>
            <a:stCxn id="519" idx="3"/>
          </p:cNvCxnSpPr>
          <p:nvPr/>
        </p:nvCxnSpPr>
        <p:spPr>
          <a:xfrm rot="10800000">
            <a:off x="6865900" y="1809787"/>
            <a:ext cx="211500" cy="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26"/>
          <p:cNvCxnSpPr>
            <a:stCxn id="519" idx="3"/>
            <a:endCxn id="523" idx="0"/>
          </p:cNvCxnSpPr>
          <p:nvPr/>
        </p:nvCxnSpPr>
        <p:spPr>
          <a:xfrm flipH="1">
            <a:off x="3119500" y="1818787"/>
            <a:ext cx="3957900" cy="1635300"/>
          </a:xfrm>
          <a:prstGeom prst="curvedConnector4">
            <a:avLst>
              <a:gd fmla="val -6016" name="adj1"/>
              <a:gd fmla="val 55728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6" name="Google Shape;536;p26"/>
          <p:cNvSpPr txBox="1"/>
          <p:nvPr/>
        </p:nvSpPr>
        <p:spPr>
          <a:xfrm>
            <a:off x="1468155" y="3746425"/>
            <a:ext cx="60255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0    1    2    3    4    5    6    7         97   98   99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7" name="Google Shape;537;p26"/>
          <p:cNvSpPr txBox="1"/>
          <p:nvPr/>
        </p:nvSpPr>
        <p:spPr>
          <a:xfrm>
            <a:off x="3426000" y="97625"/>
            <a:ext cx="1711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size==items.length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538" name="Google Shape;538;p26"/>
          <p:cNvCxnSpPr/>
          <p:nvPr/>
        </p:nvCxnSpPr>
        <p:spPr>
          <a:xfrm flipH="1">
            <a:off x="3040950" y="477525"/>
            <a:ext cx="360900" cy="2082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7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Resizing</a:t>
            </a:r>
            <a:endParaRPr/>
          </a:p>
        </p:txBody>
      </p:sp>
      <p:sp>
        <p:nvSpPr>
          <p:cNvPr id="544" name="Google Shape;544;p27"/>
          <p:cNvSpPr txBox="1"/>
          <p:nvPr>
            <p:ph idx="1" type="body"/>
          </p:nvPr>
        </p:nvSpPr>
        <p:spPr>
          <a:xfrm>
            <a:off x="243000" y="556500"/>
            <a:ext cx="8443800" cy="21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the array gets too full, e.g. </a:t>
            </a:r>
            <a:r>
              <a:rPr lang="en"/>
              <a:t>addLast</a:t>
            </a:r>
            <a:r>
              <a:rPr lang="en"/>
              <a:t>(11), just make a new array: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int[] a = new int[size+1];</a:t>
            </a:r>
            <a:endParaRPr/>
          </a:p>
        </p:txBody>
      </p:sp>
      <p:sp>
        <p:nvSpPr>
          <p:cNvPr id="545" name="Google Shape;545;p27"/>
          <p:cNvSpPr/>
          <p:nvPr/>
        </p:nvSpPr>
        <p:spPr>
          <a:xfrm>
            <a:off x="3857425" y="1241850"/>
            <a:ext cx="36360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6" name="Google Shape;546;p27"/>
          <p:cNvCxnSpPr/>
          <p:nvPr/>
        </p:nvCxnSpPr>
        <p:spPr>
          <a:xfrm rot="10800000">
            <a:off x="3409461" y="1387434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27"/>
          <p:cNvCxnSpPr/>
          <p:nvPr/>
        </p:nvCxnSpPr>
        <p:spPr>
          <a:xfrm rot="10800000">
            <a:off x="3409461" y="1634682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27"/>
          <p:cNvCxnSpPr/>
          <p:nvPr/>
        </p:nvCxnSpPr>
        <p:spPr>
          <a:xfrm rot="10800000">
            <a:off x="3409461" y="202093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27"/>
          <p:cNvCxnSpPr/>
          <p:nvPr/>
        </p:nvCxnSpPr>
        <p:spPr>
          <a:xfrm rot="10800000">
            <a:off x="3409461" y="1827810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0" name="Google Shape;550;p27"/>
          <p:cNvGrpSpPr/>
          <p:nvPr/>
        </p:nvGrpSpPr>
        <p:grpSpPr>
          <a:xfrm>
            <a:off x="3798302" y="1185289"/>
            <a:ext cx="1582372" cy="961571"/>
            <a:chOff x="1114701" y="3234112"/>
            <a:chExt cx="1582372" cy="961571"/>
          </a:xfrm>
        </p:grpSpPr>
        <p:sp>
          <p:nvSpPr>
            <p:cNvPr id="551" name="Google Shape;551;p27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552" name="Google Shape;552;p27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553" name="Google Shape;553;p27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554" name="Google Shape;554;p27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removeLast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sp>
        <p:nvSpPr>
          <p:cNvPr id="555" name="Google Shape;555;p27"/>
          <p:cNvSpPr txBox="1"/>
          <p:nvPr/>
        </p:nvSpPr>
        <p:spPr>
          <a:xfrm>
            <a:off x="6493446" y="1326019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items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556" name="Google Shape;556;p27"/>
          <p:cNvSpPr/>
          <p:nvPr/>
        </p:nvSpPr>
        <p:spPr>
          <a:xfrm>
            <a:off x="6574900" y="163143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7"/>
          <p:cNvSpPr/>
          <p:nvPr/>
        </p:nvSpPr>
        <p:spPr>
          <a:xfrm>
            <a:off x="13606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558" name="Google Shape;558;p27"/>
          <p:cNvSpPr/>
          <p:nvPr/>
        </p:nvSpPr>
        <p:spPr>
          <a:xfrm>
            <a:off x="18631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559" name="Google Shape;559;p27"/>
          <p:cNvSpPr/>
          <p:nvPr/>
        </p:nvSpPr>
        <p:spPr>
          <a:xfrm>
            <a:off x="23656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60" name="Google Shape;560;p27"/>
          <p:cNvSpPr/>
          <p:nvPr/>
        </p:nvSpPr>
        <p:spPr>
          <a:xfrm>
            <a:off x="28681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561" name="Google Shape;561;p27"/>
          <p:cNvSpPr/>
          <p:nvPr/>
        </p:nvSpPr>
        <p:spPr>
          <a:xfrm>
            <a:off x="33706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22</a:t>
            </a:r>
            <a:endParaRPr sz="1800"/>
          </a:p>
        </p:txBody>
      </p:sp>
      <p:sp>
        <p:nvSpPr>
          <p:cNvPr id="562" name="Google Shape;562;p27"/>
          <p:cNvSpPr/>
          <p:nvPr/>
        </p:nvSpPr>
        <p:spPr>
          <a:xfrm>
            <a:off x="38731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-1</a:t>
            </a:r>
            <a:endParaRPr sz="1800"/>
          </a:p>
        </p:txBody>
      </p:sp>
      <p:sp>
        <p:nvSpPr>
          <p:cNvPr id="563" name="Google Shape;563;p27"/>
          <p:cNvSpPr/>
          <p:nvPr/>
        </p:nvSpPr>
        <p:spPr>
          <a:xfrm>
            <a:off x="43756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564" name="Google Shape;564;p27"/>
          <p:cNvSpPr/>
          <p:nvPr/>
        </p:nvSpPr>
        <p:spPr>
          <a:xfrm>
            <a:off x="48781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565" name="Google Shape;565;p27"/>
          <p:cNvSpPr/>
          <p:nvPr/>
        </p:nvSpPr>
        <p:spPr>
          <a:xfrm>
            <a:off x="5878971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-1</a:t>
            </a:r>
            <a:endParaRPr sz="1800"/>
          </a:p>
        </p:txBody>
      </p:sp>
      <p:sp>
        <p:nvSpPr>
          <p:cNvPr id="566" name="Google Shape;566;p27"/>
          <p:cNvSpPr/>
          <p:nvPr/>
        </p:nvSpPr>
        <p:spPr>
          <a:xfrm>
            <a:off x="6381471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567" name="Google Shape;567;p27"/>
          <p:cNvSpPr/>
          <p:nvPr/>
        </p:nvSpPr>
        <p:spPr>
          <a:xfrm>
            <a:off x="6883970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568" name="Google Shape;568;p27"/>
          <p:cNvSpPr/>
          <p:nvPr/>
        </p:nvSpPr>
        <p:spPr>
          <a:xfrm>
            <a:off x="5383616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...</a:t>
            </a:r>
            <a:endParaRPr sz="1800"/>
          </a:p>
        </p:txBody>
      </p:sp>
      <p:sp>
        <p:nvSpPr>
          <p:cNvPr id="569" name="Google Shape;569;p27"/>
          <p:cNvSpPr/>
          <p:nvPr/>
        </p:nvSpPr>
        <p:spPr>
          <a:xfrm>
            <a:off x="5660278" y="1640450"/>
            <a:ext cx="5688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100</a:t>
            </a:r>
            <a:endParaRPr sz="1800"/>
          </a:p>
        </p:txBody>
      </p:sp>
      <p:sp>
        <p:nvSpPr>
          <p:cNvPr id="570" name="Google Shape;570;p27"/>
          <p:cNvSpPr txBox="1"/>
          <p:nvPr/>
        </p:nvSpPr>
        <p:spPr>
          <a:xfrm>
            <a:off x="5663657" y="1326019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571" name="Google Shape;571;p27"/>
          <p:cNvCxnSpPr>
            <a:stCxn id="556" idx="3"/>
          </p:cNvCxnSpPr>
          <p:nvPr/>
        </p:nvCxnSpPr>
        <p:spPr>
          <a:xfrm rot="10800000">
            <a:off x="6865900" y="1809787"/>
            <a:ext cx="211500" cy="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27"/>
          <p:cNvCxnSpPr>
            <a:stCxn id="556" idx="3"/>
            <a:endCxn id="560" idx="0"/>
          </p:cNvCxnSpPr>
          <p:nvPr/>
        </p:nvCxnSpPr>
        <p:spPr>
          <a:xfrm flipH="1">
            <a:off x="3119500" y="1818787"/>
            <a:ext cx="3957900" cy="1635300"/>
          </a:xfrm>
          <a:prstGeom prst="curvedConnector4">
            <a:avLst>
              <a:gd fmla="val -6016" name="adj1"/>
              <a:gd fmla="val 55728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3" name="Google Shape;573;p27"/>
          <p:cNvSpPr txBox="1"/>
          <p:nvPr/>
        </p:nvSpPr>
        <p:spPr>
          <a:xfrm>
            <a:off x="1468155" y="3746425"/>
            <a:ext cx="60255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0    1    2    3    4    5    6    7         97   98   99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574" name="Google Shape;574;p27"/>
          <p:cNvGrpSpPr/>
          <p:nvPr/>
        </p:nvGrpSpPr>
        <p:grpSpPr>
          <a:xfrm>
            <a:off x="184950" y="3739384"/>
            <a:ext cx="8017900" cy="1033291"/>
            <a:chOff x="184950" y="3739384"/>
            <a:chExt cx="8017900" cy="1033291"/>
          </a:xfrm>
        </p:grpSpPr>
        <p:grpSp>
          <p:nvGrpSpPr>
            <p:cNvPr id="575" name="Google Shape;575;p27"/>
            <p:cNvGrpSpPr/>
            <p:nvPr/>
          </p:nvGrpSpPr>
          <p:grpSpPr>
            <a:xfrm>
              <a:off x="1360675" y="4259538"/>
              <a:ext cx="6842175" cy="513138"/>
              <a:chOff x="1360675" y="4259538"/>
              <a:chExt cx="6842175" cy="513138"/>
            </a:xfrm>
          </p:grpSpPr>
          <p:sp>
            <p:nvSpPr>
              <p:cNvPr id="576" name="Google Shape;576;p27"/>
              <p:cNvSpPr/>
              <p:nvPr/>
            </p:nvSpPr>
            <p:spPr>
              <a:xfrm>
                <a:off x="1360675" y="4259538"/>
                <a:ext cx="502500" cy="3747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0</a:t>
                </a:r>
                <a:endParaRPr sz="1800"/>
              </a:p>
            </p:txBody>
          </p:sp>
          <p:sp>
            <p:nvSpPr>
              <p:cNvPr id="577" name="Google Shape;577;p27"/>
              <p:cNvSpPr/>
              <p:nvPr/>
            </p:nvSpPr>
            <p:spPr>
              <a:xfrm>
                <a:off x="1863175" y="4259538"/>
                <a:ext cx="502500" cy="3747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0</a:t>
                </a:r>
                <a:endParaRPr sz="1800"/>
              </a:p>
            </p:txBody>
          </p:sp>
          <p:sp>
            <p:nvSpPr>
              <p:cNvPr id="578" name="Google Shape;578;p27"/>
              <p:cNvSpPr/>
              <p:nvPr/>
            </p:nvSpPr>
            <p:spPr>
              <a:xfrm>
                <a:off x="2365675" y="4259538"/>
                <a:ext cx="502500" cy="3747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0</a:t>
                </a:r>
                <a:endParaRPr sz="1800"/>
              </a:p>
            </p:txBody>
          </p:sp>
          <p:sp>
            <p:nvSpPr>
              <p:cNvPr id="579" name="Google Shape;579;p27"/>
              <p:cNvSpPr/>
              <p:nvPr/>
            </p:nvSpPr>
            <p:spPr>
              <a:xfrm>
                <a:off x="2868175" y="4259538"/>
                <a:ext cx="502500" cy="3747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0</a:t>
                </a:r>
                <a:endParaRPr sz="1800"/>
              </a:p>
            </p:txBody>
          </p:sp>
          <p:sp>
            <p:nvSpPr>
              <p:cNvPr id="580" name="Google Shape;580;p27"/>
              <p:cNvSpPr/>
              <p:nvPr/>
            </p:nvSpPr>
            <p:spPr>
              <a:xfrm>
                <a:off x="3370675" y="4261929"/>
                <a:ext cx="502500" cy="3747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0</a:t>
                </a:r>
                <a:endParaRPr sz="1800"/>
              </a:p>
            </p:txBody>
          </p:sp>
          <p:sp>
            <p:nvSpPr>
              <p:cNvPr id="581" name="Google Shape;581;p27"/>
              <p:cNvSpPr/>
              <p:nvPr/>
            </p:nvSpPr>
            <p:spPr>
              <a:xfrm>
                <a:off x="3873175" y="4261929"/>
                <a:ext cx="502500" cy="3747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0</a:t>
                </a:r>
                <a:endParaRPr sz="1800"/>
              </a:p>
            </p:txBody>
          </p:sp>
          <p:sp>
            <p:nvSpPr>
              <p:cNvPr id="582" name="Google Shape;582;p27"/>
              <p:cNvSpPr/>
              <p:nvPr/>
            </p:nvSpPr>
            <p:spPr>
              <a:xfrm>
                <a:off x="4375675" y="4261929"/>
                <a:ext cx="502500" cy="3747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0</a:t>
                </a:r>
                <a:endParaRPr sz="1800"/>
              </a:p>
            </p:txBody>
          </p:sp>
          <p:sp>
            <p:nvSpPr>
              <p:cNvPr id="583" name="Google Shape;583;p27"/>
              <p:cNvSpPr/>
              <p:nvPr/>
            </p:nvSpPr>
            <p:spPr>
              <a:xfrm>
                <a:off x="4878175" y="4261929"/>
                <a:ext cx="502500" cy="3747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0</a:t>
                </a:r>
                <a:endParaRPr sz="1800"/>
              </a:p>
            </p:txBody>
          </p:sp>
          <p:sp>
            <p:nvSpPr>
              <p:cNvPr id="584" name="Google Shape;584;p27"/>
              <p:cNvSpPr/>
              <p:nvPr/>
            </p:nvSpPr>
            <p:spPr>
              <a:xfrm>
                <a:off x="5878971" y="4261929"/>
                <a:ext cx="502500" cy="3747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0</a:t>
                </a:r>
                <a:endParaRPr sz="1800"/>
              </a:p>
            </p:txBody>
          </p:sp>
          <p:sp>
            <p:nvSpPr>
              <p:cNvPr id="585" name="Google Shape;585;p27"/>
              <p:cNvSpPr/>
              <p:nvPr/>
            </p:nvSpPr>
            <p:spPr>
              <a:xfrm>
                <a:off x="6381471" y="4261929"/>
                <a:ext cx="502500" cy="3747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0</a:t>
                </a:r>
                <a:endParaRPr sz="1800"/>
              </a:p>
            </p:txBody>
          </p:sp>
          <p:sp>
            <p:nvSpPr>
              <p:cNvPr id="586" name="Google Shape;586;p27"/>
              <p:cNvSpPr/>
              <p:nvPr/>
            </p:nvSpPr>
            <p:spPr>
              <a:xfrm>
                <a:off x="6883970" y="4261929"/>
                <a:ext cx="502500" cy="3747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0</a:t>
                </a:r>
                <a:endParaRPr sz="1800"/>
              </a:p>
            </p:txBody>
          </p:sp>
          <p:sp>
            <p:nvSpPr>
              <p:cNvPr id="587" name="Google Shape;587;p27"/>
              <p:cNvSpPr/>
              <p:nvPr/>
            </p:nvSpPr>
            <p:spPr>
              <a:xfrm>
                <a:off x="5383616" y="4261929"/>
                <a:ext cx="502500" cy="3747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...</a:t>
                </a:r>
                <a:endParaRPr sz="1800"/>
              </a:p>
            </p:txBody>
          </p:sp>
          <p:sp>
            <p:nvSpPr>
              <p:cNvPr id="588" name="Google Shape;588;p27"/>
              <p:cNvSpPr txBox="1"/>
              <p:nvPr/>
            </p:nvSpPr>
            <p:spPr>
              <a:xfrm>
                <a:off x="1468150" y="4551875"/>
                <a:ext cx="6734700" cy="22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Consolas"/>
                    <a:ea typeface="Consolas"/>
                    <a:cs typeface="Consolas"/>
                    <a:sym typeface="Consolas"/>
                  </a:rPr>
                  <a:t>0    1    2    3    4    5    6    7         97   98   99   100 </a:t>
                </a:r>
                <a:endParaRPr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589" name="Google Shape;589;p27"/>
              <p:cNvSpPr/>
              <p:nvPr/>
            </p:nvSpPr>
            <p:spPr>
              <a:xfrm>
                <a:off x="7379320" y="4259554"/>
                <a:ext cx="502500" cy="3747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0</a:t>
                </a:r>
                <a:endParaRPr sz="1800"/>
              </a:p>
            </p:txBody>
          </p:sp>
        </p:grpSp>
        <p:sp>
          <p:nvSpPr>
            <p:cNvPr id="590" name="Google Shape;590;p27"/>
            <p:cNvSpPr/>
            <p:nvPr/>
          </p:nvSpPr>
          <p:spPr>
            <a:xfrm>
              <a:off x="184950" y="4068025"/>
              <a:ext cx="502500" cy="2208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91" name="Google Shape;591;p27"/>
            <p:cNvCxnSpPr>
              <a:stCxn id="590" idx="3"/>
              <a:endCxn id="576" idx="1"/>
            </p:cNvCxnSpPr>
            <p:nvPr/>
          </p:nvCxnSpPr>
          <p:spPr>
            <a:xfrm>
              <a:off x="687450" y="4178425"/>
              <a:ext cx="673200" cy="268500"/>
            </a:xfrm>
            <a:prstGeom prst="curvedConnector3">
              <a:avLst>
                <a:gd fmla="val 50002" name="adj1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2" name="Google Shape;592;p27"/>
            <p:cNvSpPr txBox="1"/>
            <p:nvPr/>
          </p:nvSpPr>
          <p:spPr>
            <a:xfrm>
              <a:off x="235401" y="3739384"/>
              <a:ext cx="673200" cy="26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</a:t>
              </a:r>
              <a:endParaRPr/>
            </a:p>
          </p:txBody>
        </p:sp>
      </p:grpSp>
      <p:sp>
        <p:nvSpPr>
          <p:cNvPr id="593" name="Google Shape;593;p27"/>
          <p:cNvSpPr txBox="1"/>
          <p:nvPr/>
        </p:nvSpPr>
        <p:spPr>
          <a:xfrm>
            <a:off x="3426000" y="97625"/>
            <a:ext cx="1711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size==items.length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594" name="Google Shape;594;p27"/>
          <p:cNvCxnSpPr/>
          <p:nvPr/>
        </p:nvCxnSpPr>
        <p:spPr>
          <a:xfrm flipH="1">
            <a:off x="3040950" y="477525"/>
            <a:ext cx="360900" cy="2082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8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Resizing</a:t>
            </a:r>
            <a:endParaRPr/>
          </a:p>
        </p:txBody>
      </p:sp>
      <p:sp>
        <p:nvSpPr>
          <p:cNvPr id="600" name="Google Shape;600;p28"/>
          <p:cNvSpPr/>
          <p:nvPr/>
        </p:nvSpPr>
        <p:spPr>
          <a:xfrm>
            <a:off x="3857425" y="1241850"/>
            <a:ext cx="36360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1" name="Google Shape;601;p28"/>
          <p:cNvCxnSpPr/>
          <p:nvPr/>
        </p:nvCxnSpPr>
        <p:spPr>
          <a:xfrm rot="10800000">
            <a:off x="3409461" y="1387434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28"/>
          <p:cNvCxnSpPr/>
          <p:nvPr/>
        </p:nvCxnSpPr>
        <p:spPr>
          <a:xfrm rot="10800000">
            <a:off x="3409461" y="1634682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28"/>
          <p:cNvCxnSpPr/>
          <p:nvPr/>
        </p:nvCxnSpPr>
        <p:spPr>
          <a:xfrm rot="10800000">
            <a:off x="3409461" y="202093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28"/>
          <p:cNvCxnSpPr/>
          <p:nvPr/>
        </p:nvCxnSpPr>
        <p:spPr>
          <a:xfrm rot="10800000">
            <a:off x="3409461" y="1827810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05" name="Google Shape;605;p28"/>
          <p:cNvGrpSpPr/>
          <p:nvPr/>
        </p:nvGrpSpPr>
        <p:grpSpPr>
          <a:xfrm>
            <a:off x="3798302" y="1185289"/>
            <a:ext cx="1582372" cy="961571"/>
            <a:chOff x="1114701" y="3234112"/>
            <a:chExt cx="1582372" cy="961571"/>
          </a:xfrm>
        </p:grpSpPr>
        <p:sp>
          <p:nvSpPr>
            <p:cNvPr id="606" name="Google Shape;606;p28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607" name="Google Shape;607;p28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608" name="Google Shape;608;p28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609" name="Google Shape;609;p28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removeLast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sp>
        <p:nvSpPr>
          <p:cNvPr id="610" name="Google Shape;610;p28"/>
          <p:cNvSpPr txBox="1"/>
          <p:nvPr/>
        </p:nvSpPr>
        <p:spPr>
          <a:xfrm>
            <a:off x="6493446" y="1326019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items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611" name="Google Shape;611;p28"/>
          <p:cNvSpPr/>
          <p:nvPr/>
        </p:nvSpPr>
        <p:spPr>
          <a:xfrm>
            <a:off x="6574900" y="163143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8"/>
          <p:cNvSpPr/>
          <p:nvPr/>
        </p:nvSpPr>
        <p:spPr>
          <a:xfrm>
            <a:off x="13606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613" name="Google Shape;613;p28"/>
          <p:cNvSpPr/>
          <p:nvPr/>
        </p:nvSpPr>
        <p:spPr>
          <a:xfrm>
            <a:off x="18631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614" name="Google Shape;614;p28"/>
          <p:cNvSpPr/>
          <p:nvPr/>
        </p:nvSpPr>
        <p:spPr>
          <a:xfrm>
            <a:off x="23656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15" name="Google Shape;615;p28"/>
          <p:cNvSpPr/>
          <p:nvPr/>
        </p:nvSpPr>
        <p:spPr>
          <a:xfrm>
            <a:off x="28681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616" name="Google Shape;616;p28"/>
          <p:cNvSpPr/>
          <p:nvPr/>
        </p:nvSpPr>
        <p:spPr>
          <a:xfrm>
            <a:off x="33706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22</a:t>
            </a:r>
            <a:endParaRPr sz="1800"/>
          </a:p>
        </p:txBody>
      </p:sp>
      <p:sp>
        <p:nvSpPr>
          <p:cNvPr id="617" name="Google Shape;617;p28"/>
          <p:cNvSpPr/>
          <p:nvPr/>
        </p:nvSpPr>
        <p:spPr>
          <a:xfrm>
            <a:off x="38731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-1</a:t>
            </a:r>
            <a:endParaRPr sz="1800"/>
          </a:p>
        </p:txBody>
      </p:sp>
      <p:sp>
        <p:nvSpPr>
          <p:cNvPr id="618" name="Google Shape;618;p28"/>
          <p:cNvSpPr/>
          <p:nvPr/>
        </p:nvSpPr>
        <p:spPr>
          <a:xfrm>
            <a:off x="43756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619" name="Google Shape;619;p28"/>
          <p:cNvSpPr/>
          <p:nvPr/>
        </p:nvSpPr>
        <p:spPr>
          <a:xfrm>
            <a:off x="48781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620" name="Google Shape;620;p28"/>
          <p:cNvSpPr/>
          <p:nvPr/>
        </p:nvSpPr>
        <p:spPr>
          <a:xfrm>
            <a:off x="5878971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-1</a:t>
            </a:r>
            <a:endParaRPr sz="1800"/>
          </a:p>
        </p:txBody>
      </p:sp>
      <p:sp>
        <p:nvSpPr>
          <p:cNvPr id="621" name="Google Shape;621;p28"/>
          <p:cNvSpPr/>
          <p:nvPr/>
        </p:nvSpPr>
        <p:spPr>
          <a:xfrm>
            <a:off x="6381471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622" name="Google Shape;622;p28"/>
          <p:cNvSpPr/>
          <p:nvPr/>
        </p:nvSpPr>
        <p:spPr>
          <a:xfrm>
            <a:off x="6883970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623" name="Google Shape;623;p28"/>
          <p:cNvSpPr/>
          <p:nvPr/>
        </p:nvSpPr>
        <p:spPr>
          <a:xfrm>
            <a:off x="5383616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...</a:t>
            </a:r>
            <a:endParaRPr sz="1800"/>
          </a:p>
        </p:txBody>
      </p:sp>
      <p:sp>
        <p:nvSpPr>
          <p:cNvPr id="624" name="Google Shape;624;p28"/>
          <p:cNvSpPr/>
          <p:nvPr/>
        </p:nvSpPr>
        <p:spPr>
          <a:xfrm>
            <a:off x="5660278" y="1640450"/>
            <a:ext cx="5688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100</a:t>
            </a:r>
            <a:endParaRPr sz="1800"/>
          </a:p>
        </p:txBody>
      </p:sp>
      <p:sp>
        <p:nvSpPr>
          <p:cNvPr id="625" name="Google Shape;625;p28"/>
          <p:cNvSpPr txBox="1"/>
          <p:nvPr/>
        </p:nvSpPr>
        <p:spPr>
          <a:xfrm>
            <a:off x="5663657" y="1326019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626" name="Google Shape;626;p28"/>
          <p:cNvCxnSpPr>
            <a:stCxn id="611" idx="3"/>
          </p:cNvCxnSpPr>
          <p:nvPr/>
        </p:nvCxnSpPr>
        <p:spPr>
          <a:xfrm rot="10800000">
            <a:off x="6865900" y="1809787"/>
            <a:ext cx="211500" cy="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28"/>
          <p:cNvCxnSpPr>
            <a:stCxn id="611" idx="3"/>
            <a:endCxn id="615" idx="0"/>
          </p:cNvCxnSpPr>
          <p:nvPr/>
        </p:nvCxnSpPr>
        <p:spPr>
          <a:xfrm flipH="1">
            <a:off x="3119500" y="1818787"/>
            <a:ext cx="3957900" cy="1635300"/>
          </a:xfrm>
          <a:prstGeom prst="curvedConnector4">
            <a:avLst>
              <a:gd fmla="val -6016" name="adj1"/>
              <a:gd fmla="val 55728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8" name="Google Shape;628;p28"/>
          <p:cNvSpPr txBox="1"/>
          <p:nvPr/>
        </p:nvSpPr>
        <p:spPr>
          <a:xfrm>
            <a:off x="1468155" y="3746425"/>
            <a:ext cx="60255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0    1    2    3    4    5    6    7         97   98   99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629" name="Google Shape;629;p28"/>
          <p:cNvGrpSpPr/>
          <p:nvPr/>
        </p:nvGrpSpPr>
        <p:grpSpPr>
          <a:xfrm>
            <a:off x="1360675" y="4259538"/>
            <a:ext cx="6842175" cy="513138"/>
            <a:chOff x="1360675" y="4259538"/>
            <a:chExt cx="6842175" cy="513138"/>
          </a:xfrm>
        </p:grpSpPr>
        <p:sp>
          <p:nvSpPr>
            <p:cNvPr id="630" name="Google Shape;630;p28"/>
            <p:cNvSpPr/>
            <p:nvPr/>
          </p:nvSpPr>
          <p:spPr>
            <a:xfrm>
              <a:off x="13606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631" name="Google Shape;631;p28"/>
            <p:cNvSpPr/>
            <p:nvPr/>
          </p:nvSpPr>
          <p:spPr>
            <a:xfrm>
              <a:off x="18631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sp>
          <p:nvSpPr>
            <p:cNvPr id="632" name="Google Shape;632;p28"/>
            <p:cNvSpPr/>
            <p:nvPr/>
          </p:nvSpPr>
          <p:spPr>
            <a:xfrm>
              <a:off x="23656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633" name="Google Shape;633;p28"/>
            <p:cNvSpPr/>
            <p:nvPr/>
          </p:nvSpPr>
          <p:spPr>
            <a:xfrm>
              <a:off x="28681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634" name="Google Shape;634;p28"/>
            <p:cNvSpPr/>
            <p:nvPr/>
          </p:nvSpPr>
          <p:spPr>
            <a:xfrm>
              <a:off x="33706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22</a:t>
              </a:r>
              <a:endParaRPr sz="1800"/>
            </a:p>
          </p:txBody>
        </p:sp>
        <p:sp>
          <p:nvSpPr>
            <p:cNvPr id="635" name="Google Shape;635;p28"/>
            <p:cNvSpPr/>
            <p:nvPr/>
          </p:nvSpPr>
          <p:spPr>
            <a:xfrm>
              <a:off x="38731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-1</a:t>
              </a:r>
              <a:endParaRPr sz="1800"/>
            </a:p>
          </p:txBody>
        </p:sp>
        <p:sp>
          <p:nvSpPr>
            <p:cNvPr id="636" name="Google Shape;636;p28"/>
            <p:cNvSpPr/>
            <p:nvPr/>
          </p:nvSpPr>
          <p:spPr>
            <a:xfrm>
              <a:off x="43756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637" name="Google Shape;637;p28"/>
            <p:cNvSpPr/>
            <p:nvPr/>
          </p:nvSpPr>
          <p:spPr>
            <a:xfrm>
              <a:off x="48781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638" name="Google Shape;638;p28"/>
            <p:cNvSpPr/>
            <p:nvPr/>
          </p:nvSpPr>
          <p:spPr>
            <a:xfrm>
              <a:off x="5878971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-1</a:t>
              </a:r>
              <a:endParaRPr sz="1800"/>
            </a:p>
          </p:txBody>
        </p:sp>
        <p:sp>
          <p:nvSpPr>
            <p:cNvPr id="639" name="Google Shape;639;p28"/>
            <p:cNvSpPr/>
            <p:nvPr/>
          </p:nvSpPr>
          <p:spPr>
            <a:xfrm>
              <a:off x="6381471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640" name="Google Shape;640;p28"/>
            <p:cNvSpPr/>
            <p:nvPr/>
          </p:nvSpPr>
          <p:spPr>
            <a:xfrm>
              <a:off x="6883970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641" name="Google Shape;641;p28"/>
            <p:cNvSpPr/>
            <p:nvPr/>
          </p:nvSpPr>
          <p:spPr>
            <a:xfrm>
              <a:off x="5383616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...</a:t>
              </a:r>
              <a:endParaRPr sz="1800"/>
            </a:p>
          </p:txBody>
        </p:sp>
        <p:sp>
          <p:nvSpPr>
            <p:cNvPr id="642" name="Google Shape;642;p28"/>
            <p:cNvSpPr txBox="1"/>
            <p:nvPr/>
          </p:nvSpPr>
          <p:spPr>
            <a:xfrm>
              <a:off x="1468150" y="4551875"/>
              <a:ext cx="6734700" cy="22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0    1    2    3    4    5    6    7         97   98   99   100 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43" name="Google Shape;643;p28"/>
            <p:cNvSpPr/>
            <p:nvPr/>
          </p:nvSpPr>
          <p:spPr>
            <a:xfrm>
              <a:off x="7379320" y="4259554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</p:grpSp>
      <p:sp>
        <p:nvSpPr>
          <p:cNvPr id="644" name="Google Shape;644;p28"/>
          <p:cNvSpPr/>
          <p:nvPr/>
        </p:nvSpPr>
        <p:spPr>
          <a:xfrm>
            <a:off x="184950" y="4068025"/>
            <a:ext cx="502500" cy="220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8"/>
          <p:cNvSpPr txBox="1"/>
          <p:nvPr/>
        </p:nvSpPr>
        <p:spPr>
          <a:xfrm>
            <a:off x="235401" y="3739384"/>
            <a:ext cx="6732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cxnSp>
        <p:nvCxnSpPr>
          <p:cNvPr id="646" name="Google Shape;646;p28"/>
          <p:cNvCxnSpPr>
            <a:stCxn id="644" idx="3"/>
            <a:endCxn id="647" idx="1"/>
          </p:cNvCxnSpPr>
          <p:nvPr/>
        </p:nvCxnSpPr>
        <p:spPr>
          <a:xfrm>
            <a:off x="687450" y="4178425"/>
            <a:ext cx="673200" cy="2685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8" name="Google Shape;648;p28"/>
          <p:cNvSpPr txBox="1"/>
          <p:nvPr>
            <p:ph idx="1" type="body"/>
          </p:nvPr>
        </p:nvSpPr>
        <p:spPr>
          <a:xfrm>
            <a:off x="243000" y="556500"/>
            <a:ext cx="8321700" cy="21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the array gets too full, e.g. </a:t>
            </a:r>
            <a:r>
              <a:rPr lang="en"/>
              <a:t>addLast</a:t>
            </a:r>
            <a:r>
              <a:rPr lang="en"/>
              <a:t>(11), just make a new array: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int[] a = new int[size+1];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System.arraycopy(...)</a:t>
            </a:r>
            <a:endParaRPr/>
          </a:p>
        </p:txBody>
      </p:sp>
      <p:sp>
        <p:nvSpPr>
          <p:cNvPr id="649" name="Google Shape;649;p28"/>
          <p:cNvSpPr txBox="1"/>
          <p:nvPr/>
        </p:nvSpPr>
        <p:spPr>
          <a:xfrm>
            <a:off x="3426000" y="97625"/>
            <a:ext cx="1711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size==items.length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650" name="Google Shape;650;p28"/>
          <p:cNvCxnSpPr/>
          <p:nvPr/>
        </p:nvCxnSpPr>
        <p:spPr>
          <a:xfrm flipH="1">
            <a:off x="3040950" y="477525"/>
            <a:ext cx="360900" cy="2082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9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Resizing</a:t>
            </a:r>
            <a:endParaRPr/>
          </a:p>
        </p:txBody>
      </p:sp>
      <p:sp>
        <p:nvSpPr>
          <p:cNvPr id="656" name="Google Shape;656;p29"/>
          <p:cNvSpPr/>
          <p:nvPr/>
        </p:nvSpPr>
        <p:spPr>
          <a:xfrm>
            <a:off x="3857425" y="1241850"/>
            <a:ext cx="36360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7" name="Google Shape;657;p29"/>
          <p:cNvCxnSpPr/>
          <p:nvPr/>
        </p:nvCxnSpPr>
        <p:spPr>
          <a:xfrm rot="10800000">
            <a:off x="3409461" y="1387434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29"/>
          <p:cNvCxnSpPr/>
          <p:nvPr/>
        </p:nvCxnSpPr>
        <p:spPr>
          <a:xfrm rot="10800000">
            <a:off x="3409461" y="1634682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29"/>
          <p:cNvCxnSpPr/>
          <p:nvPr/>
        </p:nvCxnSpPr>
        <p:spPr>
          <a:xfrm rot="10800000">
            <a:off x="3409461" y="202093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29"/>
          <p:cNvCxnSpPr/>
          <p:nvPr/>
        </p:nvCxnSpPr>
        <p:spPr>
          <a:xfrm rot="10800000">
            <a:off x="3409461" y="1827810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61" name="Google Shape;661;p29"/>
          <p:cNvGrpSpPr/>
          <p:nvPr/>
        </p:nvGrpSpPr>
        <p:grpSpPr>
          <a:xfrm>
            <a:off x="3798302" y="1185289"/>
            <a:ext cx="1582372" cy="961571"/>
            <a:chOff x="1114701" y="3234112"/>
            <a:chExt cx="1582372" cy="961571"/>
          </a:xfrm>
        </p:grpSpPr>
        <p:sp>
          <p:nvSpPr>
            <p:cNvPr id="662" name="Google Shape;662;p29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663" name="Google Shape;663;p29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664" name="Google Shape;664;p29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665" name="Google Shape;665;p29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removeLast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sp>
        <p:nvSpPr>
          <p:cNvPr id="666" name="Google Shape;666;p29"/>
          <p:cNvSpPr txBox="1"/>
          <p:nvPr/>
        </p:nvSpPr>
        <p:spPr>
          <a:xfrm>
            <a:off x="6493446" y="1326019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items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667" name="Google Shape;667;p29"/>
          <p:cNvSpPr/>
          <p:nvPr/>
        </p:nvSpPr>
        <p:spPr>
          <a:xfrm>
            <a:off x="6574900" y="163143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9"/>
          <p:cNvSpPr/>
          <p:nvPr/>
        </p:nvSpPr>
        <p:spPr>
          <a:xfrm>
            <a:off x="13606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669" name="Google Shape;669;p29"/>
          <p:cNvSpPr/>
          <p:nvPr/>
        </p:nvSpPr>
        <p:spPr>
          <a:xfrm>
            <a:off x="18631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670" name="Google Shape;670;p29"/>
          <p:cNvSpPr/>
          <p:nvPr/>
        </p:nvSpPr>
        <p:spPr>
          <a:xfrm>
            <a:off x="23656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71" name="Google Shape;671;p29"/>
          <p:cNvSpPr/>
          <p:nvPr/>
        </p:nvSpPr>
        <p:spPr>
          <a:xfrm>
            <a:off x="2868175" y="34540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672" name="Google Shape;672;p29"/>
          <p:cNvSpPr/>
          <p:nvPr/>
        </p:nvSpPr>
        <p:spPr>
          <a:xfrm>
            <a:off x="33706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22</a:t>
            </a:r>
            <a:endParaRPr sz="1800"/>
          </a:p>
        </p:txBody>
      </p:sp>
      <p:sp>
        <p:nvSpPr>
          <p:cNvPr id="673" name="Google Shape;673;p29"/>
          <p:cNvSpPr/>
          <p:nvPr/>
        </p:nvSpPr>
        <p:spPr>
          <a:xfrm>
            <a:off x="38731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-1</a:t>
            </a:r>
            <a:endParaRPr sz="1800"/>
          </a:p>
        </p:txBody>
      </p:sp>
      <p:sp>
        <p:nvSpPr>
          <p:cNvPr id="674" name="Google Shape;674;p29"/>
          <p:cNvSpPr/>
          <p:nvPr/>
        </p:nvSpPr>
        <p:spPr>
          <a:xfrm>
            <a:off x="43756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675" name="Google Shape;675;p29"/>
          <p:cNvSpPr/>
          <p:nvPr/>
        </p:nvSpPr>
        <p:spPr>
          <a:xfrm>
            <a:off x="4878175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676" name="Google Shape;676;p29"/>
          <p:cNvSpPr/>
          <p:nvPr/>
        </p:nvSpPr>
        <p:spPr>
          <a:xfrm>
            <a:off x="5878971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-1</a:t>
            </a:r>
            <a:endParaRPr sz="1800"/>
          </a:p>
        </p:txBody>
      </p:sp>
      <p:sp>
        <p:nvSpPr>
          <p:cNvPr id="677" name="Google Shape;677;p29"/>
          <p:cNvSpPr/>
          <p:nvPr/>
        </p:nvSpPr>
        <p:spPr>
          <a:xfrm>
            <a:off x="6381471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678" name="Google Shape;678;p29"/>
          <p:cNvSpPr/>
          <p:nvPr/>
        </p:nvSpPr>
        <p:spPr>
          <a:xfrm>
            <a:off x="6883970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679" name="Google Shape;679;p29"/>
          <p:cNvSpPr/>
          <p:nvPr/>
        </p:nvSpPr>
        <p:spPr>
          <a:xfrm>
            <a:off x="5383616" y="3456479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...</a:t>
            </a:r>
            <a:endParaRPr sz="1800"/>
          </a:p>
        </p:txBody>
      </p:sp>
      <p:sp>
        <p:nvSpPr>
          <p:cNvPr id="680" name="Google Shape;680;p29"/>
          <p:cNvSpPr/>
          <p:nvPr/>
        </p:nvSpPr>
        <p:spPr>
          <a:xfrm>
            <a:off x="5660278" y="1640450"/>
            <a:ext cx="5688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100</a:t>
            </a:r>
            <a:endParaRPr sz="1800"/>
          </a:p>
        </p:txBody>
      </p:sp>
      <p:sp>
        <p:nvSpPr>
          <p:cNvPr id="681" name="Google Shape;681;p29"/>
          <p:cNvSpPr txBox="1"/>
          <p:nvPr/>
        </p:nvSpPr>
        <p:spPr>
          <a:xfrm>
            <a:off x="5663657" y="1326019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682" name="Google Shape;682;p29"/>
          <p:cNvCxnSpPr>
            <a:stCxn id="667" idx="3"/>
          </p:cNvCxnSpPr>
          <p:nvPr/>
        </p:nvCxnSpPr>
        <p:spPr>
          <a:xfrm rot="10800000">
            <a:off x="6865900" y="1809787"/>
            <a:ext cx="211500" cy="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29"/>
          <p:cNvCxnSpPr>
            <a:stCxn id="667" idx="3"/>
            <a:endCxn id="671" idx="0"/>
          </p:cNvCxnSpPr>
          <p:nvPr/>
        </p:nvCxnSpPr>
        <p:spPr>
          <a:xfrm flipH="1">
            <a:off x="3119500" y="1818787"/>
            <a:ext cx="3957900" cy="1635300"/>
          </a:xfrm>
          <a:prstGeom prst="curvedConnector4">
            <a:avLst>
              <a:gd fmla="val -6016" name="adj1"/>
              <a:gd fmla="val 55728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4" name="Google Shape;684;p29"/>
          <p:cNvSpPr txBox="1"/>
          <p:nvPr/>
        </p:nvSpPr>
        <p:spPr>
          <a:xfrm>
            <a:off x="1468155" y="3746425"/>
            <a:ext cx="60255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0    1    2    3    4    5    6    7         97   98   99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685" name="Google Shape;685;p29"/>
          <p:cNvGrpSpPr/>
          <p:nvPr/>
        </p:nvGrpSpPr>
        <p:grpSpPr>
          <a:xfrm>
            <a:off x="1360675" y="4259538"/>
            <a:ext cx="6842175" cy="513138"/>
            <a:chOff x="1360675" y="4259538"/>
            <a:chExt cx="6842175" cy="513138"/>
          </a:xfrm>
        </p:grpSpPr>
        <p:sp>
          <p:nvSpPr>
            <p:cNvPr id="686" name="Google Shape;686;p29"/>
            <p:cNvSpPr/>
            <p:nvPr/>
          </p:nvSpPr>
          <p:spPr>
            <a:xfrm>
              <a:off x="13606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687" name="Google Shape;687;p29"/>
            <p:cNvSpPr/>
            <p:nvPr/>
          </p:nvSpPr>
          <p:spPr>
            <a:xfrm>
              <a:off x="18631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sp>
          <p:nvSpPr>
            <p:cNvPr id="688" name="Google Shape;688;p29"/>
            <p:cNvSpPr/>
            <p:nvPr/>
          </p:nvSpPr>
          <p:spPr>
            <a:xfrm>
              <a:off x="23656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689" name="Google Shape;689;p29"/>
            <p:cNvSpPr/>
            <p:nvPr/>
          </p:nvSpPr>
          <p:spPr>
            <a:xfrm>
              <a:off x="28681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690" name="Google Shape;690;p29"/>
            <p:cNvSpPr/>
            <p:nvPr/>
          </p:nvSpPr>
          <p:spPr>
            <a:xfrm>
              <a:off x="33706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22</a:t>
              </a:r>
              <a:endParaRPr sz="1800"/>
            </a:p>
          </p:txBody>
        </p:sp>
        <p:sp>
          <p:nvSpPr>
            <p:cNvPr id="691" name="Google Shape;691;p29"/>
            <p:cNvSpPr/>
            <p:nvPr/>
          </p:nvSpPr>
          <p:spPr>
            <a:xfrm>
              <a:off x="38731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-1</a:t>
              </a:r>
              <a:endParaRPr sz="1800"/>
            </a:p>
          </p:txBody>
        </p:sp>
        <p:sp>
          <p:nvSpPr>
            <p:cNvPr id="692" name="Google Shape;692;p29"/>
            <p:cNvSpPr/>
            <p:nvPr/>
          </p:nvSpPr>
          <p:spPr>
            <a:xfrm>
              <a:off x="43756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693" name="Google Shape;693;p29"/>
            <p:cNvSpPr/>
            <p:nvPr/>
          </p:nvSpPr>
          <p:spPr>
            <a:xfrm>
              <a:off x="48781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694" name="Google Shape;694;p29"/>
            <p:cNvSpPr/>
            <p:nvPr/>
          </p:nvSpPr>
          <p:spPr>
            <a:xfrm>
              <a:off x="5878971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-1</a:t>
              </a:r>
              <a:endParaRPr sz="1800"/>
            </a:p>
          </p:txBody>
        </p:sp>
        <p:sp>
          <p:nvSpPr>
            <p:cNvPr id="695" name="Google Shape;695;p29"/>
            <p:cNvSpPr/>
            <p:nvPr/>
          </p:nvSpPr>
          <p:spPr>
            <a:xfrm>
              <a:off x="6381471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696" name="Google Shape;696;p29"/>
            <p:cNvSpPr/>
            <p:nvPr/>
          </p:nvSpPr>
          <p:spPr>
            <a:xfrm>
              <a:off x="6883970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697" name="Google Shape;697;p29"/>
            <p:cNvSpPr/>
            <p:nvPr/>
          </p:nvSpPr>
          <p:spPr>
            <a:xfrm>
              <a:off x="5383616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...</a:t>
              </a:r>
              <a:endParaRPr sz="1800"/>
            </a:p>
          </p:txBody>
        </p:sp>
        <p:sp>
          <p:nvSpPr>
            <p:cNvPr id="698" name="Google Shape;698;p29"/>
            <p:cNvSpPr txBox="1"/>
            <p:nvPr/>
          </p:nvSpPr>
          <p:spPr>
            <a:xfrm>
              <a:off x="1468150" y="4551875"/>
              <a:ext cx="6734700" cy="22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0    1    2    3    4    5    6    7         97   98   99   100 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99" name="Google Shape;699;p29"/>
            <p:cNvSpPr/>
            <p:nvPr/>
          </p:nvSpPr>
          <p:spPr>
            <a:xfrm>
              <a:off x="7379320" y="4259554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11</a:t>
              </a:r>
              <a:endParaRPr sz="1800"/>
            </a:p>
          </p:txBody>
        </p:sp>
      </p:grpSp>
      <p:sp>
        <p:nvSpPr>
          <p:cNvPr id="700" name="Google Shape;700;p29"/>
          <p:cNvSpPr/>
          <p:nvPr/>
        </p:nvSpPr>
        <p:spPr>
          <a:xfrm>
            <a:off x="184950" y="4068025"/>
            <a:ext cx="502500" cy="220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9"/>
          <p:cNvSpPr txBox="1"/>
          <p:nvPr/>
        </p:nvSpPr>
        <p:spPr>
          <a:xfrm>
            <a:off x="235401" y="3739384"/>
            <a:ext cx="6732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cxnSp>
        <p:nvCxnSpPr>
          <p:cNvPr id="702" name="Google Shape;702;p29"/>
          <p:cNvCxnSpPr>
            <a:stCxn id="700" idx="3"/>
            <a:endCxn id="703" idx="1"/>
          </p:cNvCxnSpPr>
          <p:nvPr/>
        </p:nvCxnSpPr>
        <p:spPr>
          <a:xfrm>
            <a:off x="687450" y="4178425"/>
            <a:ext cx="673200" cy="2685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4" name="Google Shape;704;p29"/>
          <p:cNvSpPr txBox="1"/>
          <p:nvPr>
            <p:ph idx="1" type="body"/>
          </p:nvPr>
        </p:nvSpPr>
        <p:spPr>
          <a:xfrm>
            <a:off x="243000" y="556500"/>
            <a:ext cx="7835700" cy="21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the array gets too full, e.g. </a:t>
            </a:r>
            <a:r>
              <a:rPr lang="en"/>
              <a:t>addLast</a:t>
            </a:r>
            <a:r>
              <a:rPr lang="en"/>
              <a:t>(11), just make a new array: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int[] a = new int[size+1];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System.arraycopy(...)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a[size] = 11;</a:t>
            </a:r>
            <a:endParaRPr/>
          </a:p>
        </p:txBody>
      </p:sp>
      <p:sp>
        <p:nvSpPr>
          <p:cNvPr id="705" name="Google Shape;705;p29"/>
          <p:cNvSpPr txBox="1"/>
          <p:nvPr/>
        </p:nvSpPr>
        <p:spPr>
          <a:xfrm>
            <a:off x="3426000" y="97625"/>
            <a:ext cx="1711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size==items.length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706" name="Google Shape;706;p29"/>
          <p:cNvCxnSpPr/>
          <p:nvPr/>
        </p:nvCxnSpPr>
        <p:spPr>
          <a:xfrm flipH="1">
            <a:off x="3040950" y="477525"/>
            <a:ext cx="360900" cy="2082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0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Resizing</a:t>
            </a:r>
            <a:endParaRPr/>
          </a:p>
        </p:txBody>
      </p:sp>
      <p:sp>
        <p:nvSpPr>
          <p:cNvPr id="712" name="Google Shape;712;p30"/>
          <p:cNvSpPr/>
          <p:nvPr/>
        </p:nvSpPr>
        <p:spPr>
          <a:xfrm>
            <a:off x="3857425" y="1241850"/>
            <a:ext cx="36360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3" name="Google Shape;713;p30"/>
          <p:cNvCxnSpPr/>
          <p:nvPr/>
        </p:nvCxnSpPr>
        <p:spPr>
          <a:xfrm rot="10800000">
            <a:off x="3409461" y="1387434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" name="Google Shape;714;p30"/>
          <p:cNvCxnSpPr/>
          <p:nvPr/>
        </p:nvCxnSpPr>
        <p:spPr>
          <a:xfrm rot="10800000">
            <a:off x="3409461" y="1634682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5" name="Google Shape;715;p30"/>
          <p:cNvCxnSpPr/>
          <p:nvPr/>
        </p:nvCxnSpPr>
        <p:spPr>
          <a:xfrm rot="10800000">
            <a:off x="3409461" y="202093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" name="Google Shape;716;p30"/>
          <p:cNvCxnSpPr/>
          <p:nvPr/>
        </p:nvCxnSpPr>
        <p:spPr>
          <a:xfrm rot="10800000">
            <a:off x="3409461" y="1827810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30"/>
          <p:cNvGrpSpPr/>
          <p:nvPr/>
        </p:nvGrpSpPr>
        <p:grpSpPr>
          <a:xfrm>
            <a:off x="3798302" y="1185289"/>
            <a:ext cx="1582372" cy="961571"/>
            <a:chOff x="1114701" y="3234112"/>
            <a:chExt cx="1582372" cy="961571"/>
          </a:xfrm>
        </p:grpSpPr>
        <p:sp>
          <p:nvSpPr>
            <p:cNvPr id="718" name="Google Shape;718;p30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719" name="Google Shape;719;p30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720" name="Google Shape;720;p30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721" name="Google Shape;721;p30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removeLast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sp>
        <p:nvSpPr>
          <p:cNvPr id="722" name="Google Shape;722;p30"/>
          <p:cNvSpPr txBox="1"/>
          <p:nvPr/>
        </p:nvSpPr>
        <p:spPr>
          <a:xfrm>
            <a:off x="6493446" y="1326019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items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723" name="Google Shape;723;p30"/>
          <p:cNvSpPr/>
          <p:nvPr/>
        </p:nvSpPr>
        <p:spPr>
          <a:xfrm>
            <a:off x="6574900" y="163143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0"/>
          <p:cNvSpPr/>
          <p:nvPr/>
        </p:nvSpPr>
        <p:spPr>
          <a:xfrm>
            <a:off x="5660278" y="1640450"/>
            <a:ext cx="5688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101</a:t>
            </a:r>
            <a:endParaRPr sz="1800"/>
          </a:p>
        </p:txBody>
      </p:sp>
      <p:sp>
        <p:nvSpPr>
          <p:cNvPr id="725" name="Google Shape;725;p30"/>
          <p:cNvSpPr txBox="1"/>
          <p:nvPr/>
        </p:nvSpPr>
        <p:spPr>
          <a:xfrm>
            <a:off x="5663657" y="1326019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726" name="Google Shape;726;p30"/>
          <p:cNvCxnSpPr>
            <a:stCxn id="723" idx="3"/>
          </p:cNvCxnSpPr>
          <p:nvPr/>
        </p:nvCxnSpPr>
        <p:spPr>
          <a:xfrm rot="10800000">
            <a:off x="6865900" y="1809787"/>
            <a:ext cx="211500" cy="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30"/>
          <p:cNvCxnSpPr>
            <a:stCxn id="723" idx="3"/>
            <a:endCxn id="728" idx="3"/>
          </p:cNvCxnSpPr>
          <p:nvPr/>
        </p:nvCxnSpPr>
        <p:spPr>
          <a:xfrm>
            <a:off x="7077400" y="1818787"/>
            <a:ext cx="804300" cy="2628000"/>
          </a:xfrm>
          <a:prstGeom prst="curvedConnector3">
            <a:avLst>
              <a:gd fmla="val 12962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29" name="Google Shape;729;p30"/>
          <p:cNvGrpSpPr/>
          <p:nvPr/>
        </p:nvGrpSpPr>
        <p:grpSpPr>
          <a:xfrm>
            <a:off x="1360675" y="3454088"/>
            <a:ext cx="6132980" cy="513138"/>
            <a:chOff x="1360675" y="3454088"/>
            <a:chExt cx="6132980" cy="513138"/>
          </a:xfrm>
        </p:grpSpPr>
        <p:sp>
          <p:nvSpPr>
            <p:cNvPr id="730" name="Google Shape;730;p30"/>
            <p:cNvSpPr/>
            <p:nvPr/>
          </p:nvSpPr>
          <p:spPr>
            <a:xfrm>
              <a:off x="1360675" y="345408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731" name="Google Shape;731;p30"/>
            <p:cNvSpPr/>
            <p:nvPr/>
          </p:nvSpPr>
          <p:spPr>
            <a:xfrm>
              <a:off x="1863175" y="345408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sp>
          <p:nvSpPr>
            <p:cNvPr id="732" name="Google Shape;732;p30"/>
            <p:cNvSpPr/>
            <p:nvPr/>
          </p:nvSpPr>
          <p:spPr>
            <a:xfrm>
              <a:off x="2365675" y="345408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733" name="Google Shape;733;p30"/>
            <p:cNvSpPr/>
            <p:nvPr/>
          </p:nvSpPr>
          <p:spPr>
            <a:xfrm>
              <a:off x="2868175" y="345408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734" name="Google Shape;734;p30"/>
            <p:cNvSpPr/>
            <p:nvPr/>
          </p:nvSpPr>
          <p:spPr>
            <a:xfrm>
              <a:off x="3370675" y="345647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22</a:t>
              </a:r>
              <a:endParaRPr sz="1800"/>
            </a:p>
          </p:txBody>
        </p:sp>
        <p:sp>
          <p:nvSpPr>
            <p:cNvPr id="735" name="Google Shape;735;p30"/>
            <p:cNvSpPr/>
            <p:nvPr/>
          </p:nvSpPr>
          <p:spPr>
            <a:xfrm>
              <a:off x="3873175" y="345647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-1</a:t>
              </a:r>
              <a:endParaRPr sz="1800"/>
            </a:p>
          </p:txBody>
        </p:sp>
        <p:sp>
          <p:nvSpPr>
            <p:cNvPr id="736" name="Google Shape;736;p30"/>
            <p:cNvSpPr/>
            <p:nvPr/>
          </p:nvSpPr>
          <p:spPr>
            <a:xfrm>
              <a:off x="4375675" y="345647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737" name="Google Shape;737;p30"/>
            <p:cNvSpPr/>
            <p:nvPr/>
          </p:nvSpPr>
          <p:spPr>
            <a:xfrm>
              <a:off x="4878175" y="345647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738" name="Google Shape;738;p30"/>
            <p:cNvSpPr/>
            <p:nvPr/>
          </p:nvSpPr>
          <p:spPr>
            <a:xfrm>
              <a:off x="5878971" y="345647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-1</a:t>
              </a:r>
              <a:endParaRPr sz="1800"/>
            </a:p>
          </p:txBody>
        </p:sp>
        <p:sp>
          <p:nvSpPr>
            <p:cNvPr id="739" name="Google Shape;739;p30"/>
            <p:cNvSpPr/>
            <p:nvPr/>
          </p:nvSpPr>
          <p:spPr>
            <a:xfrm>
              <a:off x="6381471" y="345647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740" name="Google Shape;740;p30"/>
            <p:cNvSpPr/>
            <p:nvPr/>
          </p:nvSpPr>
          <p:spPr>
            <a:xfrm>
              <a:off x="6883970" y="345647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741" name="Google Shape;741;p30"/>
            <p:cNvSpPr/>
            <p:nvPr/>
          </p:nvSpPr>
          <p:spPr>
            <a:xfrm>
              <a:off x="5383616" y="345647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...</a:t>
              </a:r>
              <a:endParaRPr sz="1800"/>
            </a:p>
          </p:txBody>
        </p:sp>
        <p:sp>
          <p:nvSpPr>
            <p:cNvPr id="742" name="Google Shape;742;p30"/>
            <p:cNvSpPr txBox="1"/>
            <p:nvPr/>
          </p:nvSpPr>
          <p:spPr>
            <a:xfrm>
              <a:off x="1468155" y="3746425"/>
              <a:ext cx="6025500" cy="22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0    1    2    3    4    5    6    7         97   98   99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43" name="Google Shape;743;p30"/>
          <p:cNvGrpSpPr/>
          <p:nvPr/>
        </p:nvGrpSpPr>
        <p:grpSpPr>
          <a:xfrm>
            <a:off x="1360675" y="4259538"/>
            <a:ext cx="6842175" cy="513138"/>
            <a:chOff x="1360675" y="4259538"/>
            <a:chExt cx="6842175" cy="513138"/>
          </a:xfrm>
        </p:grpSpPr>
        <p:sp>
          <p:nvSpPr>
            <p:cNvPr id="744" name="Google Shape;744;p30"/>
            <p:cNvSpPr/>
            <p:nvPr/>
          </p:nvSpPr>
          <p:spPr>
            <a:xfrm>
              <a:off x="13606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745" name="Google Shape;745;p30"/>
            <p:cNvSpPr/>
            <p:nvPr/>
          </p:nvSpPr>
          <p:spPr>
            <a:xfrm>
              <a:off x="18631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sp>
          <p:nvSpPr>
            <p:cNvPr id="746" name="Google Shape;746;p30"/>
            <p:cNvSpPr/>
            <p:nvPr/>
          </p:nvSpPr>
          <p:spPr>
            <a:xfrm>
              <a:off x="23656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747" name="Google Shape;747;p30"/>
            <p:cNvSpPr/>
            <p:nvPr/>
          </p:nvSpPr>
          <p:spPr>
            <a:xfrm>
              <a:off x="28681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748" name="Google Shape;748;p30"/>
            <p:cNvSpPr/>
            <p:nvPr/>
          </p:nvSpPr>
          <p:spPr>
            <a:xfrm>
              <a:off x="33706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22</a:t>
              </a:r>
              <a:endParaRPr sz="1800"/>
            </a:p>
          </p:txBody>
        </p:sp>
        <p:sp>
          <p:nvSpPr>
            <p:cNvPr id="749" name="Google Shape;749;p30"/>
            <p:cNvSpPr/>
            <p:nvPr/>
          </p:nvSpPr>
          <p:spPr>
            <a:xfrm>
              <a:off x="38731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-1</a:t>
              </a:r>
              <a:endParaRPr sz="1800"/>
            </a:p>
          </p:txBody>
        </p:sp>
        <p:sp>
          <p:nvSpPr>
            <p:cNvPr id="750" name="Google Shape;750;p30"/>
            <p:cNvSpPr/>
            <p:nvPr/>
          </p:nvSpPr>
          <p:spPr>
            <a:xfrm>
              <a:off x="43756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751" name="Google Shape;751;p30"/>
            <p:cNvSpPr/>
            <p:nvPr/>
          </p:nvSpPr>
          <p:spPr>
            <a:xfrm>
              <a:off x="48781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752" name="Google Shape;752;p30"/>
            <p:cNvSpPr/>
            <p:nvPr/>
          </p:nvSpPr>
          <p:spPr>
            <a:xfrm>
              <a:off x="5878971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-1</a:t>
              </a:r>
              <a:endParaRPr sz="1800"/>
            </a:p>
          </p:txBody>
        </p:sp>
        <p:sp>
          <p:nvSpPr>
            <p:cNvPr id="753" name="Google Shape;753;p30"/>
            <p:cNvSpPr/>
            <p:nvPr/>
          </p:nvSpPr>
          <p:spPr>
            <a:xfrm>
              <a:off x="6381471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754" name="Google Shape;754;p30"/>
            <p:cNvSpPr/>
            <p:nvPr/>
          </p:nvSpPr>
          <p:spPr>
            <a:xfrm>
              <a:off x="6883970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755" name="Google Shape;755;p30"/>
            <p:cNvSpPr/>
            <p:nvPr/>
          </p:nvSpPr>
          <p:spPr>
            <a:xfrm>
              <a:off x="5383616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...</a:t>
              </a:r>
              <a:endParaRPr sz="1800"/>
            </a:p>
          </p:txBody>
        </p:sp>
        <p:sp>
          <p:nvSpPr>
            <p:cNvPr id="756" name="Google Shape;756;p30"/>
            <p:cNvSpPr txBox="1"/>
            <p:nvPr/>
          </p:nvSpPr>
          <p:spPr>
            <a:xfrm>
              <a:off x="1468150" y="4551875"/>
              <a:ext cx="6734700" cy="22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0    1    2    3    4    5    6    7         97   98   99   100 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28" name="Google Shape;728;p30"/>
            <p:cNvSpPr/>
            <p:nvPr/>
          </p:nvSpPr>
          <p:spPr>
            <a:xfrm>
              <a:off x="7379320" y="4259554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11</a:t>
              </a:r>
              <a:endParaRPr sz="1800"/>
            </a:p>
          </p:txBody>
        </p:sp>
      </p:grpSp>
      <p:sp>
        <p:nvSpPr>
          <p:cNvPr id="757" name="Google Shape;757;p30"/>
          <p:cNvSpPr/>
          <p:nvPr/>
        </p:nvSpPr>
        <p:spPr>
          <a:xfrm>
            <a:off x="184950" y="4068025"/>
            <a:ext cx="502500" cy="220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0"/>
          <p:cNvSpPr txBox="1"/>
          <p:nvPr/>
        </p:nvSpPr>
        <p:spPr>
          <a:xfrm>
            <a:off x="235401" y="3739384"/>
            <a:ext cx="6732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cxnSp>
        <p:nvCxnSpPr>
          <p:cNvPr id="759" name="Google Shape;759;p30"/>
          <p:cNvCxnSpPr>
            <a:stCxn id="757" idx="3"/>
            <a:endCxn id="760" idx="1"/>
          </p:cNvCxnSpPr>
          <p:nvPr/>
        </p:nvCxnSpPr>
        <p:spPr>
          <a:xfrm>
            <a:off x="687450" y="4178425"/>
            <a:ext cx="673200" cy="2685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1" name="Google Shape;761;p30"/>
          <p:cNvSpPr txBox="1"/>
          <p:nvPr>
            <p:ph idx="1" type="body"/>
          </p:nvPr>
        </p:nvSpPr>
        <p:spPr>
          <a:xfrm>
            <a:off x="243000" y="556500"/>
            <a:ext cx="8063100" cy="21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the array gets too full, e.g. </a:t>
            </a:r>
            <a:r>
              <a:rPr lang="en"/>
              <a:t>addLast</a:t>
            </a:r>
            <a:r>
              <a:rPr lang="en"/>
              <a:t>(11), just make a new array: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int[] a = new int[size+1];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System.arraycopy(...)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a[size] = 11;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items = a;   size +=1;</a:t>
            </a:r>
            <a:endParaRPr/>
          </a:p>
        </p:txBody>
      </p:sp>
      <p:sp>
        <p:nvSpPr>
          <p:cNvPr id="762" name="Google Shape;762;p30"/>
          <p:cNvSpPr txBox="1"/>
          <p:nvPr/>
        </p:nvSpPr>
        <p:spPr>
          <a:xfrm>
            <a:off x="3426000" y="97625"/>
            <a:ext cx="1711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size==items.length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763" name="Google Shape;763;p30"/>
          <p:cNvCxnSpPr/>
          <p:nvPr/>
        </p:nvCxnSpPr>
        <p:spPr>
          <a:xfrm flipH="1">
            <a:off x="3040950" y="477525"/>
            <a:ext cx="360900" cy="2082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1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Resizing</a:t>
            </a:r>
            <a:endParaRPr/>
          </a:p>
        </p:txBody>
      </p:sp>
      <p:sp>
        <p:nvSpPr>
          <p:cNvPr id="769" name="Google Shape;769;p31"/>
          <p:cNvSpPr/>
          <p:nvPr/>
        </p:nvSpPr>
        <p:spPr>
          <a:xfrm>
            <a:off x="3857425" y="1241850"/>
            <a:ext cx="36360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0" name="Google Shape;770;p31"/>
          <p:cNvCxnSpPr/>
          <p:nvPr/>
        </p:nvCxnSpPr>
        <p:spPr>
          <a:xfrm rot="10800000">
            <a:off x="3409461" y="1387434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" name="Google Shape;771;p31"/>
          <p:cNvCxnSpPr/>
          <p:nvPr/>
        </p:nvCxnSpPr>
        <p:spPr>
          <a:xfrm rot="10800000">
            <a:off x="3409461" y="1634682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2" name="Google Shape;772;p31"/>
          <p:cNvCxnSpPr/>
          <p:nvPr/>
        </p:nvCxnSpPr>
        <p:spPr>
          <a:xfrm rot="10800000">
            <a:off x="3409461" y="202093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3" name="Google Shape;773;p31"/>
          <p:cNvCxnSpPr/>
          <p:nvPr/>
        </p:nvCxnSpPr>
        <p:spPr>
          <a:xfrm rot="10800000">
            <a:off x="3409461" y="1827810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4" name="Google Shape;774;p31"/>
          <p:cNvGrpSpPr/>
          <p:nvPr/>
        </p:nvGrpSpPr>
        <p:grpSpPr>
          <a:xfrm>
            <a:off x="3798302" y="1185289"/>
            <a:ext cx="1582372" cy="961571"/>
            <a:chOff x="1114701" y="3234112"/>
            <a:chExt cx="1582372" cy="961571"/>
          </a:xfrm>
        </p:grpSpPr>
        <p:sp>
          <p:nvSpPr>
            <p:cNvPr id="775" name="Google Shape;775;p31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776" name="Google Shape;776;p31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777" name="Google Shape;777;p31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778" name="Google Shape;778;p31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removeLast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sp>
        <p:nvSpPr>
          <p:cNvPr id="779" name="Google Shape;779;p31"/>
          <p:cNvSpPr txBox="1"/>
          <p:nvPr/>
        </p:nvSpPr>
        <p:spPr>
          <a:xfrm>
            <a:off x="6493446" y="1326019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items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780" name="Google Shape;780;p31"/>
          <p:cNvSpPr/>
          <p:nvPr/>
        </p:nvSpPr>
        <p:spPr>
          <a:xfrm>
            <a:off x="6574900" y="163143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1"/>
          <p:cNvSpPr/>
          <p:nvPr/>
        </p:nvSpPr>
        <p:spPr>
          <a:xfrm>
            <a:off x="5660278" y="1640450"/>
            <a:ext cx="5688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101</a:t>
            </a:r>
            <a:endParaRPr sz="1800"/>
          </a:p>
        </p:txBody>
      </p:sp>
      <p:sp>
        <p:nvSpPr>
          <p:cNvPr id="782" name="Google Shape;782;p31"/>
          <p:cNvSpPr txBox="1"/>
          <p:nvPr/>
        </p:nvSpPr>
        <p:spPr>
          <a:xfrm>
            <a:off x="5663657" y="1326019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783" name="Google Shape;783;p31"/>
          <p:cNvCxnSpPr>
            <a:stCxn id="780" idx="3"/>
          </p:cNvCxnSpPr>
          <p:nvPr/>
        </p:nvCxnSpPr>
        <p:spPr>
          <a:xfrm rot="10800000">
            <a:off x="6865900" y="1809787"/>
            <a:ext cx="211500" cy="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4" name="Google Shape;784;p31"/>
          <p:cNvCxnSpPr>
            <a:stCxn id="780" idx="3"/>
            <a:endCxn id="785" idx="3"/>
          </p:cNvCxnSpPr>
          <p:nvPr/>
        </p:nvCxnSpPr>
        <p:spPr>
          <a:xfrm>
            <a:off x="7077400" y="1818787"/>
            <a:ext cx="804300" cy="2628000"/>
          </a:xfrm>
          <a:prstGeom prst="curvedConnector3">
            <a:avLst>
              <a:gd fmla="val 12962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86" name="Google Shape;786;p31"/>
          <p:cNvGrpSpPr/>
          <p:nvPr/>
        </p:nvGrpSpPr>
        <p:grpSpPr>
          <a:xfrm>
            <a:off x="1360675" y="4259538"/>
            <a:ext cx="6842175" cy="513138"/>
            <a:chOff x="1360675" y="4259538"/>
            <a:chExt cx="6842175" cy="513138"/>
          </a:xfrm>
        </p:grpSpPr>
        <p:sp>
          <p:nvSpPr>
            <p:cNvPr id="787" name="Google Shape;787;p31"/>
            <p:cNvSpPr/>
            <p:nvPr/>
          </p:nvSpPr>
          <p:spPr>
            <a:xfrm>
              <a:off x="13606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788" name="Google Shape;788;p31"/>
            <p:cNvSpPr/>
            <p:nvPr/>
          </p:nvSpPr>
          <p:spPr>
            <a:xfrm>
              <a:off x="18631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sp>
          <p:nvSpPr>
            <p:cNvPr id="789" name="Google Shape;789;p31"/>
            <p:cNvSpPr/>
            <p:nvPr/>
          </p:nvSpPr>
          <p:spPr>
            <a:xfrm>
              <a:off x="23656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790" name="Google Shape;790;p31"/>
            <p:cNvSpPr/>
            <p:nvPr/>
          </p:nvSpPr>
          <p:spPr>
            <a:xfrm>
              <a:off x="28681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791" name="Google Shape;791;p31"/>
            <p:cNvSpPr/>
            <p:nvPr/>
          </p:nvSpPr>
          <p:spPr>
            <a:xfrm>
              <a:off x="33706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22</a:t>
              </a:r>
              <a:endParaRPr sz="1800"/>
            </a:p>
          </p:txBody>
        </p:sp>
        <p:sp>
          <p:nvSpPr>
            <p:cNvPr id="792" name="Google Shape;792;p31"/>
            <p:cNvSpPr/>
            <p:nvPr/>
          </p:nvSpPr>
          <p:spPr>
            <a:xfrm>
              <a:off x="38731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-1</a:t>
              </a:r>
              <a:endParaRPr sz="1800"/>
            </a:p>
          </p:txBody>
        </p:sp>
        <p:sp>
          <p:nvSpPr>
            <p:cNvPr id="793" name="Google Shape;793;p31"/>
            <p:cNvSpPr/>
            <p:nvPr/>
          </p:nvSpPr>
          <p:spPr>
            <a:xfrm>
              <a:off x="43756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794" name="Google Shape;794;p31"/>
            <p:cNvSpPr/>
            <p:nvPr/>
          </p:nvSpPr>
          <p:spPr>
            <a:xfrm>
              <a:off x="48781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795" name="Google Shape;795;p31"/>
            <p:cNvSpPr/>
            <p:nvPr/>
          </p:nvSpPr>
          <p:spPr>
            <a:xfrm>
              <a:off x="5878971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-1</a:t>
              </a:r>
              <a:endParaRPr sz="1800"/>
            </a:p>
          </p:txBody>
        </p:sp>
        <p:sp>
          <p:nvSpPr>
            <p:cNvPr id="796" name="Google Shape;796;p31"/>
            <p:cNvSpPr/>
            <p:nvPr/>
          </p:nvSpPr>
          <p:spPr>
            <a:xfrm>
              <a:off x="6381471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797" name="Google Shape;797;p31"/>
            <p:cNvSpPr/>
            <p:nvPr/>
          </p:nvSpPr>
          <p:spPr>
            <a:xfrm>
              <a:off x="6883970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798" name="Google Shape;798;p31"/>
            <p:cNvSpPr/>
            <p:nvPr/>
          </p:nvSpPr>
          <p:spPr>
            <a:xfrm>
              <a:off x="5383616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...</a:t>
              </a:r>
              <a:endParaRPr sz="1800"/>
            </a:p>
          </p:txBody>
        </p:sp>
        <p:sp>
          <p:nvSpPr>
            <p:cNvPr id="799" name="Google Shape;799;p31"/>
            <p:cNvSpPr txBox="1"/>
            <p:nvPr/>
          </p:nvSpPr>
          <p:spPr>
            <a:xfrm>
              <a:off x="1468150" y="4551875"/>
              <a:ext cx="6734700" cy="22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0    1    2    3    4    5    6    7         97   98   99   100 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85" name="Google Shape;785;p31"/>
            <p:cNvSpPr/>
            <p:nvPr/>
          </p:nvSpPr>
          <p:spPr>
            <a:xfrm>
              <a:off x="7379320" y="4259554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11</a:t>
              </a:r>
              <a:endParaRPr sz="1800"/>
            </a:p>
          </p:txBody>
        </p:sp>
      </p:grpSp>
      <p:sp>
        <p:nvSpPr>
          <p:cNvPr id="800" name="Google Shape;800;p31"/>
          <p:cNvSpPr/>
          <p:nvPr/>
        </p:nvSpPr>
        <p:spPr>
          <a:xfrm>
            <a:off x="184950" y="4068025"/>
            <a:ext cx="502500" cy="220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1"/>
          <p:cNvSpPr txBox="1"/>
          <p:nvPr/>
        </p:nvSpPr>
        <p:spPr>
          <a:xfrm>
            <a:off x="235401" y="3739384"/>
            <a:ext cx="6732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cxnSp>
        <p:nvCxnSpPr>
          <p:cNvPr id="802" name="Google Shape;802;p31"/>
          <p:cNvCxnSpPr>
            <a:stCxn id="800" idx="3"/>
            <a:endCxn id="803" idx="1"/>
          </p:cNvCxnSpPr>
          <p:nvPr/>
        </p:nvCxnSpPr>
        <p:spPr>
          <a:xfrm>
            <a:off x="687450" y="4178425"/>
            <a:ext cx="673200" cy="2685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4" name="Google Shape;804;p31"/>
          <p:cNvSpPr txBox="1"/>
          <p:nvPr>
            <p:ph idx="1" type="body"/>
          </p:nvPr>
        </p:nvSpPr>
        <p:spPr>
          <a:xfrm>
            <a:off x="243000" y="556500"/>
            <a:ext cx="8383800" cy="21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the array gets too full, e.g. </a:t>
            </a:r>
            <a:r>
              <a:rPr lang="en"/>
              <a:t>addLast</a:t>
            </a:r>
            <a:r>
              <a:rPr lang="en"/>
              <a:t>(11), just make a new array: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int[] a = new int[size+1];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System.arraycopy(...)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a[size] = 11;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items = a;   size +=1;</a:t>
            </a:r>
            <a:endParaRPr/>
          </a:p>
        </p:txBody>
      </p:sp>
      <p:sp>
        <p:nvSpPr>
          <p:cNvPr id="805" name="Google Shape;805;p31"/>
          <p:cNvSpPr txBox="1"/>
          <p:nvPr/>
        </p:nvSpPr>
        <p:spPr>
          <a:xfrm>
            <a:off x="3426000" y="97625"/>
            <a:ext cx="1711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size==items.length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806" name="Google Shape;806;p31"/>
          <p:cNvCxnSpPr/>
          <p:nvPr/>
        </p:nvCxnSpPr>
        <p:spPr>
          <a:xfrm flipH="1">
            <a:off x="3040950" y="477525"/>
            <a:ext cx="360900" cy="2082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7" name="Google Shape;807;p31"/>
          <p:cNvSpPr/>
          <p:nvPr/>
        </p:nvSpPr>
        <p:spPr>
          <a:xfrm>
            <a:off x="245825" y="1212975"/>
            <a:ext cx="143100" cy="513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BE07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1"/>
          <p:cNvSpPr txBox="1"/>
          <p:nvPr/>
        </p:nvSpPr>
        <p:spPr>
          <a:xfrm>
            <a:off x="456525" y="2792100"/>
            <a:ext cx="26964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We call this process “resizing”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809" name="Google Shape;809;p31"/>
          <p:cNvCxnSpPr>
            <a:stCxn id="808" idx="1"/>
          </p:cNvCxnSpPr>
          <p:nvPr/>
        </p:nvCxnSpPr>
        <p:spPr>
          <a:xfrm rot="10800000">
            <a:off x="322125" y="2205900"/>
            <a:ext cx="134400" cy="6903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2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sp>
        <p:nvSpPr>
          <p:cNvPr id="815" name="Google Shape;815;p32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Let’s implement the resizing capability.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As usual, for those of you watching online, I recommend trying to implement this on your own before watching me do it.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Starter code is provided in the lists4 study guide if you want to try it out on a computer.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33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Resizing Array Code</a:t>
            </a:r>
            <a:endParaRPr/>
          </a:p>
        </p:txBody>
      </p:sp>
      <p:sp>
        <p:nvSpPr>
          <p:cNvPr id="821" name="Google Shape;821;p33"/>
          <p:cNvSpPr txBox="1"/>
          <p:nvPr/>
        </p:nvSpPr>
        <p:spPr>
          <a:xfrm>
            <a:off x="165650" y="1379400"/>
            <a:ext cx="4428000" cy="2404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(size == items.length)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a =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[size + 1];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System.arraycopy(items, 0, a, 0, size);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items = a;  	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items[size] = x;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size += 1;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2" name="Google Shape;822;p33"/>
          <p:cNvSpPr txBox="1"/>
          <p:nvPr/>
        </p:nvSpPr>
        <p:spPr>
          <a:xfrm>
            <a:off x="4812850" y="771775"/>
            <a:ext cx="4248900" cy="3652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resize(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capacity)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a =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[capacity];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System.arraycopy(items, 0, a, 0, size);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items = a;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i="1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(size == items.length)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resize(size + 1);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items[size] = x;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size += 1;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3" name="Google Shape;823;p33"/>
          <p:cNvSpPr txBox="1"/>
          <p:nvPr/>
        </p:nvSpPr>
        <p:spPr>
          <a:xfrm>
            <a:off x="2008400" y="3740800"/>
            <a:ext cx="742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</a:t>
            </a:r>
            <a:endParaRPr/>
          </a:p>
        </p:txBody>
      </p:sp>
      <p:sp>
        <p:nvSpPr>
          <p:cNvPr id="824" name="Google Shape;824;p33"/>
          <p:cNvSpPr txBox="1"/>
          <p:nvPr/>
        </p:nvSpPr>
        <p:spPr>
          <a:xfrm>
            <a:off x="6364750" y="4505125"/>
            <a:ext cx="1145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Much Better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4"/>
          <p:cNvSpPr txBox="1"/>
          <p:nvPr>
            <p:ph type="title"/>
          </p:nvPr>
        </p:nvSpPr>
        <p:spPr>
          <a:xfrm>
            <a:off x="166800" y="92500"/>
            <a:ext cx="86412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and Space Usage Analysis: yellkey.com</a:t>
            </a:r>
            <a:r>
              <a:rPr lang="en">
                <a:solidFill>
                  <a:srgbClr val="208920"/>
                </a:solidFill>
              </a:rPr>
              <a:t>/</a:t>
            </a:r>
            <a:r>
              <a:rPr lang="en">
                <a:solidFill>
                  <a:srgbClr val="208920"/>
                </a:solidFill>
              </a:rPr>
              <a:t>protect</a:t>
            </a:r>
            <a:endParaRPr>
              <a:solidFill>
                <a:srgbClr val="208920"/>
              </a:solidFill>
            </a:endParaRPr>
          </a:p>
        </p:txBody>
      </p:sp>
      <p:sp>
        <p:nvSpPr>
          <p:cNvPr id="830" name="Google Shape;830;p34"/>
          <p:cNvSpPr txBox="1"/>
          <p:nvPr>
            <p:ph idx="1" type="body"/>
          </p:nvPr>
        </p:nvSpPr>
        <p:spPr>
          <a:xfrm>
            <a:off x="243000" y="556500"/>
            <a:ext cx="8565000" cy="22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have a full array of size 100. If we call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/>
              <a:t> two times, how many </a:t>
            </a:r>
            <a:r>
              <a:rPr b="1" lang="en"/>
              <a:t>total</a:t>
            </a:r>
            <a:r>
              <a:rPr lang="en"/>
              <a:t> array memory boxes will we need to create and </a:t>
            </a:r>
            <a:r>
              <a:rPr lang="en"/>
              <a:t>fill (for just these 2 calls)?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AutoNum type="alphaUcPeriod"/>
            </a:pPr>
            <a:r>
              <a:rPr lang="en"/>
              <a:t>0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/>
              <a:t>101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/>
              <a:t>203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/>
              <a:t>10,302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34"/>
          <p:cNvSpPr txBox="1"/>
          <p:nvPr/>
        </p:nvSpPr>
        <p:spPr>
          <a:xfrm>
            <a:off x="4683325" y="1492700"/>
            <a:ext cx="4248900" cy="3432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resize(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capacity)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a =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[capacity];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System.arraycopy(items, 0, a, 0, size);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items = a;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i="1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(size == items.length)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resize(size + 1);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items[size] = x;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size += 1;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2" name="Google Shape;832;p34"/>
          <p:cNvSpPr txBox="1"/>
          <p:nvPr>
            <p:ph idx="1" type="body"/>
          </p:nvPr>
        </p:nvSpPr>
        <p:spPr>
          <a:xfrm>
            <a:off x="228950" y="2917464"/>
            <a:ext cx="4142700" cy="19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Bonus question: What is the maximum number of array boxes that Java will track at any given time? Assume that “garbage collection” happens immediately when all references to an object are lost.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5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Resizing</a:t>
            </a:r>
            <a:endParaRPr/>
          </a:p>
        </p:txBody>
      </p:sp>
      <p:grpSp>
        <p:nvGrpSpPr>
          <p:cNvPr id="838" name="Google Shape;838;p35"/>
          <p:cNvGrpSpPr/>
          <p:nvPr/>
        </p:nvGrpSpPr>
        <p:grpSpPr>
          <a:xfrm>
            <a:off x="1360675" y="2311088"/>
            <a:ext cx="6132980" cy="513138"/>
            <a:chOff x="1360675" y="3454088"/>
            <a:chExt cx="6132980" cy="513138"/>
          </a:xfrm>
        </p:grpSpPr>
        <p:sp>
          <p:nvSpPr>
            <p:cNvPr id="839" name="Google Shape;839;p35"/>
            <p:cNvSpPr/>
            <p:nvPr/>
          </p:nvSpPr>
          <p:spPr>
            <a:xfrm>
              <a:off x="1360675" y="345408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840" name="Google Shape;840;p35"/>
            <p:cNvSpPr/>
            <p:nvPr/>
          </p:nvSpPr>
          <p:spPr>
            <a:xfrm>
              <a:off x="1863175" y="345408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sp>
          <p:nvSpPr>
            <p:cNvPr id="841" name="Google Shape;841;p35"/>
            <p:cNvSpPr/>
            <p:nvPr/>
          </p:nvSpPr>
          <p:spPr>
            <a:xfrm>
              <a:off x="2365675" y="345408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842" name="Google Shape;842;p35"/>
            <p:cNvSpPr/>
            <p:nvPr/>
          </p:nvSpPr>
          <p:spPr>
            <a:xfrm>
              <a:off x="2868175" y="345408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843" name="Google Shape;843;p35"/>
            <p:cNvSpPr/>
            <p:nvPr/>
          </p:nvSpPr>
          <p:spPr>
            <a:xfrm>
              <a:off x="3370675" y="345647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22</a:t>
              </a:r>
              <a:endParaRPr sz="1800"/>
            </a:p>
          </p:txBody>
        </p:sp>
        <p:sp>
          <p:nvSpPr>
            <p:cNvPr id="844" name="Google Shape;844;p35"/>
            <p:cNvSpPr/>
            <p:nvPr/>
          </p:nvSpPr>
          <p:spPr>
            <a:xfrm>
              <a:off x="3873175" y="345647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-1</a:t>
              </a:r>
              <a:endParaRPr sz="1800"/>
            </a:p>
          </p:txBody>
        </p:sp>
        <p:sp>
          <p:nvSpPr>
            <p:cNvPr id="845" name="Google Shape;845;p35"/>
            <p:cNvSpPr/>
            <p:nvPr/>
          </p:nvSpPr>
          <p:spPr>
            <a:xfrm>
              <a:off x="4375675" y="345647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846" name="Google Shape;846;p35"/>
            <p:cNvSpPr/>
            <p:nvPr/>
          </p:nvSpPr>
          <p:spPr>
            <a:xfrm>
              <a:off x="4878175" y="345647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847" name="Google Shape;847;p35"/>
            <p:cNvSpPr/>
            <p:nvPr/>
          </p:nvSpPr>
          <p:spPr>
            <a:xfrm>
              <a:off x="5878971" y="345647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-1</a:t>
              </a:r>
              <a:endParaRPr sz="1800"/>
            </a:p>
          </p:txBody>
        </p:sp>
        <p:sp>
          <p:nvSpPr>
            <p:cNvPr id="848" name="Google Shape;848;p35"/>
            <p:cNvSpPr/>
            <p:nvPr/>
          </p:nvSpPr>
          <p:spPr>
            <a:xfrm>
              <a:off x="6381471" y="345647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849" name="Google Shape;849;p35"/>
            <p:cNvSpPr/>
            <p:nvPr/>
          </p:nvSpPr>
          <p:spPr>
            <a:xfrm>
              <a:off x="6883970" y="345647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850" name="Google Shape;850;p35"/>
            <p:cNvSpPr/>
            <p:nvPr/>
          </p:nvSpPr>
          <p:spPr>
            <a:xfrm>
              <a:off x="5383616" y="345647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...</a:t>
              </a:r>
              <a:endParaRPr sz="1800"/>
            </a:p>
          </p:txBody>
        </p:sp>
        <p:sp>
          <p:nvSpPr>
            <p:cNvPr id="851" name="Google Shape;851;p35"/>
            <p:cNvSpPr txBox="1"/>
            <p:nvPr/>
          </p:nvSpPr>
          <p:spPr>
            <a:xfrm>
              <a:off x="1468155" y="3746425"/>
              <a:ext cx="6025500" cy="22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0    1    2    3    4    5    6    7         97   98   99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852" name="Google Shape;852;p35"/>
          <p:cNvGrpSpPr/>
          <p:nvPr/>
        </p:nvGrpSpPr>
        <p:grpSpPr>
          <a:xfrm>
            <a:off x="1360675" y="3324450"/>
            <a:ext cx="6842175" cy="513138"/>
            <a:chOff x="1360675" y="4259538"/>
            <a:chExt cx="6842175" cy="513138"/>
          </a:xfrm>
        </p:grpSpPr>
        <p:sp>
          <p:nvSpPr>
            <p:cNvPr id="853" name="Google Shape;853;p35"/>
            <p:cNvSpPr/>
            <p:nvPr/>
          </p:nvSpPr>
          <p:spPr>
            <a:xfrm>
              <a:off x="13606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854" name="Google Shape;854;p35"/>
            <p:cNvSpPr/>
            <p:nvPr/>
          </p:nvSpPr>
          <p:spPr>
            <a:xfrm>
              <a:off x="18631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sp>
          <p:nvSpPr>
            <p:cNvPr id="855" name="Google Shape;855;p35"/>
            <p:cNvSpPr/>
            <p:nvPr/>
          </p:nvSpPr>
          <p:spPr>
            <a:xfrm>
              <a:off x="23656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856" name="Google Shape;856;p35"/>
            <p:cNvSpPr/>
            <p:nvPr/>
          </p:nvSpPr>
          <p:spPr>
            <a:xfrm>
              <a:off x="28681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857" name="Google Shape;857;p35"/>
            <p:cNvSpPr/>
            <p:nvPr/>
          </p:nvSpPr>
          <p:spPr>
            <a:xfrm>
              <a:off x="33706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22</a:t>
              </a:r>
              <a:endParaRPr sz="1800"/>
            </a:p>
          </p:txBody>
        </p:sp>
        <p:sp>
          <p:nvSpPr>
            <p:cNvPr id="858" name="Google Shape;858;p35"/>
            <p:cNvSpPr/>
            <p:nvPr/>
          </p:nvSpPr>
          <p:spPr>
            <a:xfrm>
              <a:off x="38731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-1</a:t>
              </a:r>
              <a:endParaRPr sz="1800"/>
            </a:p>
          </p:txBody>
        </p:sp>
        <p:sp>
          <p:nvSpPr>
            <p:cNvPr id="859" name="Google Shape;859;p35"/>
            <p:cNvSpPr/>
            <p:nvPr/>
          </p:nvSpPr>
          <p:spPr>
            <a:xfrm>
              <a:off x="43756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860" name="Google Shape;860;p35"/>
            <p:cNvSpPr/>
            <p:nvPr/>
          </p:nvSpPr>
          <p:spPr>
            <a:xfrm>
              <a:off x="48781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861" name="Google Shape;861;p35"/>
            <p:cNvSpPr/>
            <p:nvPr/>
          </p:nvSpPr>
          <p:spPr>
            <a:xfrm>
              <a:off x="5878971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-1</a:t>
              </a:r>
              <a:endParaRPr sz="1800"/>
            </a:p>
          </p:txBody>
        </p:sp>
        <p:sp>
          <p:nvSpPr>
            <p:cNvPr id="862" name="Google Shape;862;p35"/>
            <p:cNvSpPr/>
            <p:nvPr/>
          </p:nvSpPr>
          <p:spPr>
            <a:xfrm>
              <a:off x="6381471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863" name="Google Shape;863;p35"/>
            <p:cNvSpPr/>
            <p:nvPr/>
          </p:nvSpPr>
          <p:spPr>
            <a:xfrm>
              <a:off x="6883970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864" name="Google Shape;864;p35"/>
            <p:cNvSpPr/>
            <p:nvPr/>
          </p:nvSpPr>
          <p:spPr>
            <a:xfrm>
              <a:off x="5383616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...</a:t>
              </a:r>
              <a:endParaRPr sz="1800"/>
            </a:p>
          </p:txBody>
        </p:sp>
        <p:sp>
          <p:nvSpPr>
            <p:cNvPr id="865" name="Google Shape;865;p35"/>
            <p:cNvSpPr txBox="1"/>
            <p:nvPr/>
          </p:nvSpPr>
          <p:spPr>
            <a:xfrm>
              <a:off x="1468150" y="4551875"/>
              <a:ext cx="6734700" cy="22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0    1    2    3    4    5    6    7         97   98   99   100 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66" name="Google Shape;866;p35"/>
            <p:cNvSpPr/>
            <p:nvPr/>
          </p:nvSpPr>
          <p:spPr>
            <a:xfrm>
              <a:off x="7379320" y="4259554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11</a:t>
              </a:r>
              <a:endParaRPr sz="1800"/>
            </a:p>
          </p:txBody>
        </p:sp>
      </p:grpSp>
      <p:grpSp>
        <p:nvGrpSpPr>
          <p:cNvPr id="867" name="Google Shape;867;p35"/>
          <p:cNvGrpSpPr/>
          <p:nvPr/>
        </p:nvGrpSpPr>
        <p:grpSpPr>
          <a:xfrm>
            <a:off x="1360675" y="4315750"/>
            <a:ext cx="7203975" cy="513138"/>
            <a:chOff x="1360675" y="4259538"/>
            <a:chExt cx="7203975" cy="513138"/>
          </a:xfrm>
        </p:grpSpPr>
        <p:sp>
          <p:nvSpPr>
            <p:cNvPr id="868" name="Google Shape;868;p35"/>
            <p:cNvSpPr/>
            <p:nvPr/>
          </p:nvSpPr>
          <p:spPr>
            <a:xfrm>
              <a:off x="13606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869" name="Google Shape;869;p35"/>
            <p:cNvSpPr/>
            <p:nvPr/>
          </p:nvSpPr>
          <p:spPr>
            <a:xfrm>
              <a:off x="18631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sp>
          <p:nvSpPr>
            <p:cNvPr id="870" name="Google Shape;870;p35"/>
            <p:cNvSpPr/>
            <p:nvPr/>
          </p:nvSpPr>
          <p:spPr>
            <a:xfrm>
              <a:off x="23656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871" name="Google Shape;871;p35"/>
            <p:cNvSpPr/>
            <p:nvPr/>
          </p:nvSpPr>
          <p:spPr>
            <a:xfrm>
              <a:off x="2868175" y="4259538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872" name="Google Shape;872;p35"/>
            <p:cNvSpPr/>
            <p:nvPr/>
          </p:nvSpPr>
          <p:spPr>
            <a:xfrm>
              <a:off x="33706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22</a:t>
              </a:r>
              <a:endParaRPr sz="1800"/>
            </a:p>
          </p:txBody>
        </p:sp>
        <p:sp>
          <p:nvSpPr>
            <p:cNvPr id="873" name="Google Shape;873;p35"/>
            <p:cNvSpPr/>
            <p:nvPr/>
          </p:nvSpPr>
          <p:spPr>
            <a:xfrm>
              <a:off x="38731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-1</a:t>
              </a:r>
              <a:endParaRPr sz="1800"/>
            </a:p>
          </p:txBody>
        </p:sp>
        <p:sp>
          <p:nvSpPr>
            <p:cNvPr id="874" name="Google Shape;874;p35"/>
            <p:cNvSpPr/>
            <p:nvPr/>
          </p:nvSpPr>
          <p:spPr>
            <a:xfrm>
              <a:off x="43756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875" name="Google Shape;875;p35"/>
            <p:cNvSpPr/>
            <p:nvPr/>
          </p:nvSpPr>
          <p:spPr>
            <a:xfrm>
              <a:off x="4878175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876" name="Google Shape;876;p35"/>
            <p:cNvSpPr/>
            <p:nvPr/>
          </p:nvSpPr>
          <p:spPr>
            <a:xfrm>
              <a:off x="5878971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-1</a:t>
              </a:r>
              <a:endParaRPr sz="1800"/>
            </a:p>
          </p:txBody>
        </p:sp>
        <p:sp>
          <p:nvSpPr>
            <p:cNvPr id="877" name="Google Shape;877;p35"/>
            <p:cNvSpPr/>
            <p:nvPr/>
          </p:nvSpPr>
          <p:spPr>
            <a:xfrm>
              <a:off x="6381471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878" name="Google Shape;878;p35"/>
            <p:cNvSpPr/>
            <p:nvPr/>
          </p:nvSpPr>
          <p:spPr>
            <a:xfrm>
              <a:off x="6883970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879" name="Google Shape;879;p35"/>
            <p:cNvSpPr/>
            <p:nvPr/>
          </p:nvSpPr>
          <p:spPr>
            <a:xfrm>
              <a:off x="5383616" y="4261929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...</a:t>
              </a:r>
              <a:endParaRPr sz="1800"/>
            </a:p>
          </p:txBody>
        </p:sp>
        <p:sp>
          <p:nvSpPr>
            <p:cNvPr id="880" name="Google Shape;880;p35"/>
            <p:cNvSpPr txBox="1"/>
            <p:nvPr/>
          </p:nvSpPr>
          <p:spPr>
            <a:xfrm>
              <a:off x="1468150" y="4551875"/>
              <a:ext cx="7096500" cy="22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0    1    2    3    4    5    6    7         97   98   99   100   101 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81" name="Google Shape;881;p35"/>
            <p:cNvSpPr/>
            <p:nvPr/>
          </p:nvSpPr>
          <p:spPr>
            <a:xfrm>
              <a:off x="7379320" y="4259554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11</a:t>
              </a:r>
              <a:endParaRPr sz="1800"/>
            </a:p>
          </p:txBody>
        </p:sp>
      </p:grpSp>
      <p:sp>
        <p:nvSpPr>
          <p:cNvPr id="882" name="Google Shape;882;p35"/>
          <p:cNvSpPr/>
          <p:nvPr/>
        </p:nvSpPr>
        <p:spPr>
          <a:xfrm>
            <a:off x="7883551" y="4315766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883" name="Google Shape;883;p35"/>
          <p:cNvSpPr/>
          <p:nvPr/>
        </p:nvSpPr>
        <p:spPr>
          <a:xfrm>
            <a:off x="920600" y="3317975"/>
            <a:ext cx="268800" cy="5172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5"/>
          <p:cNvSpPr/>
          <p:nvPr/>
        </p:nvSpPr>
        <p:spPr>
          <a:xfrm>
            <a:off x="920600" y="4313725"/>
            <a:ext cx="268800" cy="5172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5"/>
          <p:cNvSpPr txBox="1"/>
          <p:nvPr/>
        </p:nvSpPr>
        <p:spPr>
          <a:xfrm>
            <a:off x="393075" y="3349000"/>
            <a:ext cx="827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101</a:t>
            </a:r>
            <a:endParaRPr/>
          </a:p>
        </p:txBody>
      </p:sp>
      <p:sp>
        <p:nvSpPr>
          <p:cNvPr id="886" name="Google Shape;886;p35"/>
          <p:cNvSpPr txBox="1"/>
          <p:nvPr/>
        </p:nvSpPr>
        <p:spPr>
          <a:xfrm>
            <a:off x="413763" y="4304725"/>
            <a:ext cx="827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102</a:t>
            </a:r>
            <a:endParaRPr/>
          </a:p>
        </p:txBody>
      </p:sp>
      <p:sp>
        <p:nvSpPr>
          <p:cNvPr id="887" name="Google Shape;887;p35"/>
          <p:cNvSpPr txBox="1"/>
          <p:nvPr>
            <p:ph idx="1" type="body"/>
          </p:nvPr>
        </p:nvSpPr>
        <p:spPr>
          <a:xfrm>
            <a:off x="243000" y="556500"/>
            <a:ext cx="8565000" cy="10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Resizing twice requires us to create and fill 203 total memory boxes.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Bonus answer: Most boxes at any one time is 203.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When the second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/>
              <a:t> is done, we are left with 102 boxes.</a:t>
            </a:r>
            <a:endParaRPr/>
          </a:p>
        </p:txBody>
      </p:sp>
      <p:sp>
        <p:nvSpPr>
          <p:cNvPr id="888" name="Google Shape;888;p35"/>
          <p:cNvSpPr/>
          <p:nvPr/>
        </p:nvSpPr>
        <p:spPr>
          <a:xfrm>
            <a:off x="942325" y="2331225"/>
            <a:ext cx="268800" cy="5172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5"/>
          <p:cNvSpPr txBox="1"/>
          <p:nvPr/>
        </p:nvSpPr>
        <p:spPr>
          <a:xfrm>
            <a:off x="417512" y="2389425"/>
            <a:ext cx="827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6"/>
          <p:cNvSpPr txBox="1"/>
          <p:nvPr>
            <p:ph type="title"/>
          </p:nvPr>
        </p:nvSpPr>
        <p:spPr>
          <a:xfrm>
            <a:off x="166800" y="92500"/>
            <a:ext cx="86412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Runtime and Space Usage Analysis: yellkey.com</a:t>
            </a:r>
            <a:r>
              <a:rPr lang="en">
                <a:solidFill>
                  <a:srgbClr val="208920"/>
                </a:solidFill>
              </a:rPr>
              <a:t>/protect</a:t>
            </a:r>
            <a:endParaRPr>
              <a:solidFill>
                <a:srgbClr val="208920"/>
              </a:solidFill>
            </a:endParaRPr>
          </a:p>
        </p:txBody>
      </p:sp>
      <p:sp>
        <p:nvSpPr>
          <p:cNvPr id="895" name="Google Shape;895;p36"/>
          <p:cNvSpPr txBox="1"/>
          <p:nvPr>
            <p:ph idx="1" type="body"/>
          </p:nvPr>
        </p:nvSpPr>
        <p:spPr>
          <a:xfrm>
            <a:off x="243000" y="556500"/>
            <a:ext cx="8565000" cy="22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have a full array of size 100. If we call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/>
              <a:t> until size = 1000, roughly how many total array memory boxes will we need to create and </a:t>
            </a:r>
            <a:r>
              <a:rPr lang="en"/>
              <a:t>fill</a:t>
            </a:r>
            <a:r>
              <a:rPr lang="en"/>
              <a:t>?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AutoNum type="alphaUcPeriod"/>
            </a:pPr>
            <a:r>
              <a:rPr lang="en"/>
              <a:t>1,000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/>
              <a:t>500,000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/>
              <a:t>1,000,000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/>
              <a:t>500,000,000,000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/>
              <a:t>1,000,000,000,000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6"/>
          <p:cNvSpPr txBox="1"/>
          <p:nvPr/>
        </p:nvSpPr>
        <p:spPr>
          <a:xfrm>
            <a:off x="4683325" y="1492700"/>
            <a:ext cx="4248900" cy="3432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resize(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capacity)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a =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[capacity];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System.arraycopy(items, 0, a, 0, size);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items = a;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i="1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(size == items.length)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resize(size + 1);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items[size] = x;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size += 1;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7" name="Google Shape;897;p36"/>
          <p:cNvSpPr txBox="1"/>
          <p:nvPr>
            <p:ph idx="1" type="body"/>
          </p:nvPr>
        </p:nvSpPr>
        <p:spPr>
          <a:xfrm>
            <a:off x="228950" y="2858700"/>
            <a:ext cx="4142700" cy="21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Bonus question: What is the maximum number of array boxes that Java will track at any given time? Assume that “garbage collection” happens immediately when all references to an object are lost.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37"/>
          <p:cNvSpPr txBox="1"/>
          <p:nvPr>
            <p:ph type="title"/>
          </p:nvPr>
        </p:nvSpPr>
        <p:spPr>
          <a:xfrm>
            <a:off x="166800" y="92500"/>
            <a:ext cx="86412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and Space Usage Analysis</a:t>
            </a:r>
            <a:endParaRPr/>
          </a:p>
        </p:txBody>
      </p:sp>
      <p:sp>
        <p:nvSpPr>
          <p:cNvPr id="903" name="Google Shape;903;p37"/>
          <p:cNvSpPr txBox="1"/>
          <p:nvPr>
            <p:ph idx="1" type="body"/>
          </p:nvPr>
        </p:nvSpPr>
        <p:spPr>
          <a:xfrm>
            <a:off x="243000" y="556500"/>
            <a:ext cx="87666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Suppose we have a full array of size 100. If we call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addLast</a:t>
            </a:r>
            <a:r>
              <a:rPr lang="en"/>
              <a:t> until size = 1000, roughly how many total array memory boxes will we need to create and fill?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B.    500,000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Going from capacity 100 to 101: 101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From 101 to 102: 102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…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From: 999 to 1000: 1000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Total array boxes created/copied: 101 + 102 + … + 1000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Since sum of 1 + 2 + 3 + … + N = N(N+1)/2, sum(101, …, 1000)  is close to 500,000.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See: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http://mathandmultimedia.com/2010/09/15/sum-first-n-positive-integers</a:t>
            </a:r>
            <a:endParaRPr/>
          </a:p>
        </p:txBody>
      </p:sp>
      <p:sp>
        <p:nvSpPr>
          <p:cNvPr id="904" name="Google Shape;904;p37"/>
          <p:cNvSpPr txBox="1"/>
          <p:nvPr/>
        </p:nvSpPr>
        <p:spPr>
          <a:xfrm>
            <a:off x="5374525" y="3551525"/>
            <a:ext cx="37383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We’ll be doing a lot of this after the midterm.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905" name="Google Shape;905;p37"/>
          <p:cNvCxnSpPr/>
          <p:nvPr/>
        </p:nvCxnSpPr>
        <p:spPr>
          <a:xfrm flipH="1">
            <a:off x="6527175" y="3951375"/>
            <a:ext cx="723900" cy="5226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6" name="Google Shape;906;p37"/>
          <p:cNvSpPr txBox="1"/>
          <p:nvPr/>
        </p:nvSpPr>
        <p:spPr>
          <a:xfrm>
            <a:off x="4683325" y="1645100"/>
            <a:ext cx="4248900" cy="1594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resize(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capacity)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a =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[capacity];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System.arraycopy(items, 0, a, 0, size);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items = a;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8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Resizing Slowness</a:t>
            </a:r>
            <a:endParaRPr/>
          </a:p>
        </p:txBody>
      </p:sp>
      <p:sp>
        <p:nvSpPr>
          <p:cNvPr id="912" name="Google Shape;912;p38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Inserting 100,000 items requires roughly 5,000,000,000 new containers.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Computers operate at the speed of GHz (due billions of things per second).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No huge surprise that 100,000 items took seconds.</a:t>
            </a:r>
            <a:endParaRPr/>
          </a:p>
        </p:txBody>
      </p:sp>
      <p:pic>
        <p:nvPicPr>
          <p:cNvPr id="913" name="Google Shape;91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1875" y="1647462"/>
            <a:ext cx="4528776" cy="34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600" y="2165662"/>
            <a:ext cx="4622850" cy="254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9"/>
          <p:cNvSpPr txBox="1"/>
          <p:nvPr>
            <p:ph type="title"/>
          </p:nvPr>
        </p:nvSpPr>
        <p:spPr>
          <a:xfrm>
            <a:off x="166800" y="92500"/>
            <a:ext cx="86412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Fixing the Resizing Performance Bug</a:t>
            </a:r>
            <a:endParaRPr/>
          </a:p>
        </p:txBody>
      </p:sp>
      <p:sp>
        <p:nvSpPr>
          <p:cNvPr id="920" name="Google Shape;920;p39"/>
          <p:cNvSpPr txBox="1"/>
          <p:nvPr>
            <p:ph idx="1" type="body"/>
          </p:nvPr>
        </p:nvSpPr>
        <p:spPr>
          <a:xfrm>
            <a:off x="243000" y="556500"/>
            <a:ext cx="85650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fix this?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9"/>
          <p:cNvSpPr txBox="1"/>
          <p:nvPr/>
        </p:nvSpPr>
        <p:spPr>
          <a:xfrm>
            <a:off x="4683325" y="1264100"/>
            <a:ext cx="4248900" cy="3652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resize(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capacity)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a =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[capacity];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System.arraycopy(items, 0, a, 0, size);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items = a;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i="1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(size == items.length)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resize(size + 1);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items[size] = x;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size += 1;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40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(Probably) Surprising Fact</a:t>
            </a:r>
            <a:endParaRPr/>
          </a:p>
        </p:txBody>
      </p:sp>
      <p:sp>
        <p:nvSpPr>
          <p:cNvPr id="927" name="Google Shape;927;p40"/>
          <p:cNvSpPr txBox="1"/>
          <p:nvPr>
            <p:ph idx="1" type="body"/>
          </p:nvPr>
        </p:nvSpPr>
        <p:spPr>
          <a:xfrm>
            <a:off x="243000" y="556500"/>
            <a:ext cx="84438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Geometric resizing is much faster: Just how much better will have to wait.</a:t>
            </a:r>
            <a:endParaRPr/>
          </a:p>
        </p:txBody>
      </p:sp>
      <p:cxnSp>
        <p:nvCxnSpPr>
          <p:cNvPr id="928" name="Google Shape;928;p40"/>
          <p:cNvCxnSpPr/>
          <p:nvPr/>
        </p:nvCxnSpPr>
        <p:spPr>
          <a:xfrm rot="10800000">
            <a:off x="5446350" y="1832450"/>
            <a:ext cx="7563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9" name="Google Shape;929;p40"/>
          <p:cNvCxnSpPr/>
          <p:nvPr/>
        </p:nvCxnSpPr>
        <p:spPr>
          <a:xfrm>
            <a:off x="2909250" y="3832700"/>
            <a:ext cx="7722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0" name="Google Shape;930;p40"/>
          <p:cNvSpPr txBox="1"/>
          <p:nvPr/>
        </p:nvSpPr>
        <p:spPr>
          <a:xfrm>
            <a:off x="6277715" y="1599357"/>
            <a:ext cx="18915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E0712"/>
                </a:solidFill>
              </a:rPr>
              <a:t>Unusably bad.</a:t>
            </a:r>
            <a:endParaRPr sz="1800">
              <a:solidFill>
                <a:srgbClr val="BE0712"/>
              </a:solidFill>
            </a:endParaRPr>
          </a:p>
        </p:txBody>
      </p:sp>
      <p:sp>
        <p:nvSpPr>
          <p:cNvPr id="931" name="Google Shape;931;p40"/>
          <p:cNvSpPr txBox="1"/>
          <p:nvPr/>
        </p:nvSpPr>
        <p:spPr>
          <a:xfrm>
            <a:off x="679275" y="3570491"/>
            <a:ext cx="2168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E0712"/>
                </a:solidFill>
              </a:rPr>
              <a:t>Great performance.</a:t>
            </a:r>
            <a:endParaRPr sz="1800">
              <a:solidFill>
                <a:srgbClr val="BE07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40"/>
          <p:cNvSpPr txBox="1"/>
          <p:nvPr/>
        </p:nvSpPr>
        <p:spPr>
          <a:xfrm>
            <a:off x="674426" y="4042275"/>
            <a:ext cx="31278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E0712"/>
                </a:solidFill>
              </a:rPr>
              <a:t>This is how the Python list is implemented.</a:t>
            </a:r>
            <a:endParaRPr/>
          </a:p>
        </p:txBody>
      </p:sp>
      <p:sp>
        <p:nvSpPr>
          <p:cNvPr id="933" name="Google Shape;933;p40"/>
          <p:cNvSpPr txBox="1"/>
          <p:nvPr/>
        </p:nvSpPr>
        <p:spPr>
          <a:xfrm>
            <a:off x="300175" y="1246225"/>
            <a:ext cx="4248900" cy="1876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(size == items.length)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resize(size + RFACTOR);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items[size] = x;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size += 1;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4" name="Google Shape;934;p40"/>
          <p:cNvSpPr txBox="1"/>
          <p:nvPr/>
        </p:nvSpPr>
        <p:spPr>
          <a:xfrm>
            <a:off x="4200600" y="2964000"/>
            <a:ext cx="4248900" cy="1876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addLast(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(size == items.length)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resize(size * RFACTOR);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items[size] = x;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size += 1;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Problem #2</a:t>
            </a:r>
            <a:endParaRPr/>
          </a:p>
        </p:txBody>
      </p:sp>
      <p:sp>
        <p:nvSpPr>
          <p:cNvPr id="940" name="Google Shape;940;p41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have a very rare situation occur which causes us to: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Insert 1,000,000,000 items.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Then remove 990,000,000 items.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data structure will handle this spike of events as well as it could, but afterwards there is a problem.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What is the problem?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42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Efficiency</a:t>
            </a:r>
            <a:endParaRPr/>
          </a:p>
        </p:txBody>
      </p:sp>
      <p:sp>
        <p:nvSpPr>
          <p:cNvPr id="946" name="Google Shape;946;p42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 AList should not only be efficient in time, but also efficient in space.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Define the “usage ratio” R = size / items.length;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Typical solution: Half array size when R &lt; 0.25.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More details in a few weeks.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Later we will consider tradeoffs between time and space efficiency for a variety of algorithms and data structures.</a:t>
            </a:r>
            <a:br>
              <a:rPr lang="en"/>
            </a:br>
            <a:endParaRPr/>
          </a:p>
        </p:txBody>
      </p:sp>
      <p:sp>
        <p:nvSpPr>
          <p:cNvPr id="947" name="Google Shape;947;p42"/>
          <p:cNvSpPr/>
          <p:nvPr/>
        </p:nvSpPr>
        <p:spPr>
          <a:xfrm>
            <a:off x="1513075" y="3454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948" name="Google Shape;948;p42"/>
          <p:cNvSpPr/>
          <p:nvPr/>
        </p:nvSpPr>
        <p:spPr>
          <a:xfrm>
            <a:off x="2015575" y="3454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949" name="Google Shape;949;p42"/>
          <p:cNvSpPr/>
          <p:nvPr/>
        </p:nvSpPr>
        <p:spPr>
          <a:xfrm>
            <a:off x="2518075" y="3454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950" name="Google Shape;950;p42"/>
          <p:cNvSpPr/>
          <p:nvPr/>
        </p:nvSpPr>
        <p:spPr>
          <a:xfrm>
            <a:off x="3020575" y="3454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sp>
        <p:nvSpPr>
          <p:cNvPr id="951" name="Google Shape;951;p42"/>
          <p:cNvSpPr/>
          <p:nvPr/>
        </p:nvSpPr>
        <p:spPr>
          <a:xfrm>
            <a:off x="3523075" y="34564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952" name="Google Shape;952;p42"/>
          <p:cNvSpPr/>
          <p:nvPr/>
        </p:nvSpPr>
        <p:spPr>
          <a:xfrm>
            <a:off x="4025575" y="34564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953" name="Google Shape;953;p42"/>
          <p:cNvSpPr/>
          <p:nvPr/>
        </p:nvSpPr>
        <p:spPr>
          <a:xfrm>
            <a:off x="4528075" y="34564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954" name="Google Shape;954;p42"/>
          <p:cNvSpPr/>
          <p:nvPr/>
        </p:nvSpPr>
        <p:spPr>
          <a:xfrm>
            <a:off x="5030575" y="34564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955" name="Google Shape;955;p42"/>
          <p:cNvSpPr/>
          <p:nvPr/>
        </p:nvSpPr>
        <p:spPr>
          <a:xfrm>
            <a:off x="6031371" y="34564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956" name="Google Shape;956;p42"/>
          <p:cNvSpPr/>
          <p:nvPr/>
        </p:nvSpPr>
        <p:spPr>
          <a:xfrm>
            <a:off x="6533871" y="34564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957" name="Google Shape;957;p42"/>
          <p:cNvSpPr/>
          <p:nvPr/>
        </p:nvSpPr>
        <p:spPr>
          <a:xfrm>
            <a:off x="7036370" y="34564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958" name="Google Shape;958;p42"/>
          <p:cNvSpPr/>
          <p:nvPr/>
        </p:nvSpPr>
        <p:spPr>
          <a:xfrm>
            <a:off x="5536016" y="3456479"/>
            <a:ext cx="502500" cy="3747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...</a:t>
            </a:r>
            <a:endParaRPr sz="1800"/>
          </a:p>
        </p:txBody>
      </p:sp>
      <p:sp>
        <p:nvSpPr>
          <p:cNvPr id="959" name="Google Shape;959;p42"/>
          <p:cNvSpPr txBox="1"/>
          <p:nvPr/>
        </p:nvSpPr>
        <p:spPr>
          <a:xfrm>
            <a:off x="1620554" y="3746425"/>
            <a:ext cx="60255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0    1    2    3    4    5    6    7         97   98   99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0" name="Google Shape;960;p42"/>
          <p:cNvSpPr txBox="1"/>
          <p:nvPr/>
        </p:nvSpPr>
        <p:spPr>
          <a:xfrm>
            <a:off x="555400" y="2351850"/>
            <a:ext cx="23445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Usage ratio: 4/100 = 0.04</a:t>
            </a:r>
            <a:endParaRPr/>
          </a:p>
        </p:txBody>
      </p:sp>
      <p:sp>
        <p:nvSpPr>
          <p:cNvPr id="961" name="Google Shape;961;p42"/>
          <p:cNvSpPr/>
          <p:nvPr/>
        </p:nvSpPr>
        <p:spPr>
          <a:xfrm>
            <a:off x="3767975" y="2069625"/>
            <a:ext cx="36360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2" name="Google Shape;962;p42"/>
          <p:cNvCxnSpPr/>
          <p:nvPr/>
        </p:nvCxnSpPr>
        <p:spPr>
          <a:xfrm rot="10800000">
            <a:off x="3320011" y="2215209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42"/>
          <p:cNvCxnSpPr/>
          <p:nvPr/>
        </p:nvCxnSpPr>
        <p:spPr>
          <a:xfrm rot="10800000">
            <a:off x="3320011" y="2462457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4" name="Google Shape;964;p42"/>
          <p:cNvCxnSpPr/>
          <p:nvPr/>
        </p:nvCxnSpPr>
        <p:spPr>
          <a:xfrm rot="10800000">
            <a:off x="3320011" y="2848713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5" name="Google Shape;965;p42"/>
          <p:cNvCxnSpPr/>
          <p:nvPr/>
        </p:nvCxnSpPr>
        <p:spPr>
          <a:xfrm rot="10800000">
            <a:off x="3320011" y="2655585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66" name="Google Shape;966;p42"/>
          <p:cNvGrpSpPr/>
          <p:nvPr/>
        </p:nvGrpSpPr>
        <p:grpSpPr>
          <a:xfrm>
            <a:off x="3708852" y="2013064"/>
            <a:ext cx="1582372" cy="961571"/>
            <a:chOff x="1114701" y="3234112"/>
            <a:chExt cx="1582372" cy="961571"/>
          </a:xfrm>
        </p:grpSpPr>
        <p:sp>
          <p:nvSpPr>
            <p:cNvPr id="967" name="Google Shape;967;p42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addLast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968" name="Google Shape;968;p42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969" name="Google Shape;969;p42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970" name="Google Shape;970;p42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removeLast</a:t>
              </a: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sp>
        <p:nvSpPr>
          <p:cNvPr id="971" name="Google Shape;971;p42"/>
          <p:cNvSpPr txBox="1"/>
          <p:nvPr/>
        </p:nvSpPr>
        <p:spPr>
          <a:xfrm>
            <a:off x="6403996" y="2153794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items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972" name="Google Shape;972;p42"/>
          <p:cNvSpPr/>
          <p:nvPr/>
        </p:nvSpPr>
        <p:spPr>
          <a:xfrm>
            <a:off x="6485450" y="2459213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42"/>
          <p:cNvSpPr/>
          <p:nvPr/>
        </p:nvSpPr>
        <p:spPr>
          <a:xfrm>
            <a:off x="5570828" y="2468225"/>
            <a:ext cx="5688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974" name="Google Shape;974;p42"/>
          <p:cNvSpPr txBox="1"/>
          <p:nvPr/>
        </p:nvSpPr>
        <p:spPr>
          <a:xfrm>
            <a:off x="5574207" y="2153794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975" name="Google Shape;975;p42"/>
          <p:cNvCxnSpPr>
            <a:stCxn id="972" idx="3"/>
          </p:cNvCxnSpPr>
          <p:nvPr/>
        </p:nvCxnSpPr>
        <p:spPr>
          <a:xfrm rot="10800000">
            <a:off x="6776450" y="2637562"/>
            <a:ext cx="211500" cy="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6" name="Google Shape;976;p42"/>
          <p:cNvCxnSpPr>
            <a:stCxn id="972" idx="3"/>
            <a:endCxn id="957" idx="3"/>
          </p:cNvCxnSpPr>
          <p:nvPr/>
        </p:nvCxnSpPr>
        <p:spPr>
          <a:xfrm>
            <a:off x="6987950" y="2646562"/>
            <a:ext cx="550800" cy="997200"/>
          </a:xfrm>
          <a:prstGeom prst="curvedConnector3">
            <a:avLst>
              <a:gd fmla="val 14325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43"/>
          <p:cNvSpPr txBox="1"/>
          <p:nvPr>
            <p:ph type="title"/>
          </p:nvPr>
        </p:nvSpPr>
        <p:spPr>
          <a:xfrm>
            <a:off x="928950" y="2250275"/>
            <a:ext cx="7286100" cy="90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Generic ALists</a:t>
            </a:r>
            <a:endParaRPr sz="4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4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 ALists (similar to generic SLists)</a:t>
            </a:r>
            <a:endParaRPr/>
          </a:p>
        </p:txBody>
      </p:sp>
      <p:sp>
        <p:nvSpPr>
          <p:cNvPr id="987" name="Google Shape;987;p44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bleepblrop</a:t>
            </a:r>
            <a:endParaRPr/>
          </a:p>
        </p:txBody>
      </p:sp>
      <p:sp>
        <p:nvSpPr>
          <p:cNvPr id="988" name="Google Shape;988;p44"/>
          <p:cNvSpPr txBox="1"/>
          <p:nvPr/>
        </p:nvSpPr>
        <p:spPr>
          <a:xfrm>
            <a:off x="269825" y="647250"/>
            <a:ext cx="3952200" cy="4447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AList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items; </a:t>
            </a:r>
            <a:r>
              <a:rPr b="1" i="1" lang="en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size;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i="1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AList()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items =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[8];  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size = 0;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private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resize(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capacity)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a =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[capacity];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System.arraycopy(items, 0, 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            a, 0, size);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items = a;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get(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items[i];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9" name="Google Shape;989;p44"/>
          <p:cNvSpPr txBox="1"/>
          <p:nvPr/>
        </p:nvSpPr>
        <p:spPr>
          <a:xfrm>
            <a:off x="4424375" y="647250"/>
            <a:ext cx="4557000" cy="4447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AList&lt;Glorp&gt;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Glorp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items; </a:t>
            </a:r>
            <a:r>
              <a:rPr b="1" i="1" lang="en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size;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i="1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AList()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items = (Glorp [])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Object[8];  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size = 0;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private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resize(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cap)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Glorp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a = (Glorp [])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Object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[cap];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System.arraycopy(items, 0, 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            a, 0, size);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items = a;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Glorp 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get(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items[i];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5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 ALists (similar to generic SLists)</a:t>
            </a:r>
            <a:endParaRPr/>
          </a:p>
        </p:txBody>
      </p:sp>
      <p:sp>
        <p:nvSpPr>
          <p:cNvPr id="995" name="Google Shape;995;p45"/>
          <p:cNvSpPr txBox="1"/>
          <p:nvPr>
            <p:ph idx="1" type="body"/>
          </p:nvPr>
        </p:nvSpPr>
        <p:spPr>
          <a:xfrm>
            <a:off x="5036150" y="556500"/>
            <a:ext cx="39540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creating an array of references to Glorps: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b="1" lang="en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600">
                <a:solidFill>
                  <a:srgbClr val="20892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Glorp</a:t>
            </a:r>
            <a:r>
              <a:rPr b="1" lang="en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[]) </a:t>
            </a:r>
            <a:r>
              <a:rPr b="1" lang="en" sz="1600">
                <a:solidFill>
                  <a:srgbClr val="9C20E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Object</a:t>
            </a:r>
            <a:r>
              <a:rPr b="1" lang="en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[cap];</a:t>
            </a:r>
            <a:endParaRPr b="1" sz="16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Causes a compiler warning, which you should ignore.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not just </a:t>
            </a:r>
            <a:r>
              <a:rPr b="1" lang="en" sz="1600">
                <a:solidFill>
                  <a:srgbClr val="9C20E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20892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Glorp</a:t>
            </a:r>
            <a:r>
              <a:rPr b="1" lang="en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[cap];</a:t>
            </a:r>
            <a:endParaRPr b="1" sz="16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"/>
              <a:t>Will cause a “generic array creation” error.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"/>
              <a:t>Will discuss in a few weeks.</a:t>
            </a:r>
            <a:endParaRPr b="1" sz="16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6" name="Google Shape;996;p45"/>
          <p:cNvSpPr txBox="1"/>
          <p:nvPr/>
        </p:nvSpPr>
        <p:spPr>
          <a:xfrm>
            <a:off x="309575" y="647250"/>
            <a:ext cx="4557000" cy="4447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AList&lt;Glorp&gt;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Glorp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items; </a:t>
            </a:r>
            <a:r>
              <a:rPr b="1" i="1" lang="en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size;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i="1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AList()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items = (Glorp [])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Object[8];  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size = 0;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private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resize(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cap)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Glorp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a = (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Glorp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[])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Object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[cap];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System.arraycopy(items, 0, 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            a, 0, size);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items = a;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Glorp 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get(</a:t>
            </a:r>
            <a:r>
              <a:rPr b="1"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i) {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items[i];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6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Nulling Out Deleted Items</a:t>
            </a:r>
            <a:endParaRPr/>
          </a:p>
        </p:txBody>
      </p:sp>
      <p:sp>
        <p:nvSpPr>
          <p:cNvPr id="1002" name="Google Shape;1002;p46"/>
          <p:cNvSpPr txBox="1"/>
          <p:nvPr/>
        </p:nvSpPr>
        <p:spPr>
          <a:xfrm>
            <a:off x="4993100" y="704400"/>
            <a:ext cx="3724500" cy="151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Glorp 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deleteBack()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Glorp 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returnItem = getBack();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items[size - 1] = null;</a:t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size -= 1;  	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returnItem;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3" name="Google Shape;1003;p46"/>
          <p:cNvSpPr txBox="1"/>
          <p:nvPr>
            <p:ph idx="1" type="body"/>
          </p:nvPr>
        </p:nvSpPr>
        <p:spPr>
          <a:xfrm>
            <a:off x="243000" y="556500"/>
            <a:ext cx="4435500" cy="27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Unlike integer based ALists, we actually want to null out deleted items.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Java only destroys unwanted objects when the last reference has been lost.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Keeping references to unneeded objects is sometimes called loitering.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Save memory. Don’t loiter.</a:t>
            </a:r>
            <a:endParaRPr/>
          </a:p>
        </p:txBody>
      </p:sp>
      <p:pic>
        <p:nvPicPr>
          <p:cNvPr id="1004" name="Google Shape;100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950" y="3871975"/>
            <a:ext cx="1690850" cy="11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p46"/>
          <p:cNvSpPr/>
          <p:nvPr/>
        </p:nvSpPr>
        <p:spPr>
          <a:xfrm>
            <a:off x="5660675" y="3182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6" name="Google Shape;1006;p46"/>
          <p:cNvSpPr/>
          <p:nvPr/>
        </p:nvSpPr>
        <p:spPr>
          <a:xfrm>
            <a:off x="6163175" y="3182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7" name="Google Shape;1007;p46"/>
          <p:cNvSpPr/>
          <p:nvPr/>
        </p:nvSpPr>
        <p:spPr>
          <a:xfrm>
            <a:off x="6665675" y="3182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8" name="Google Shape;1008;p46"/>
          <p:cNvSpPr/>
          <p:nvPr/>
        </p:nvSpPr>
        <p:spPr>
          <a:xfrm>
            <a:off x="7168175" y="3182100"/>
            <a:ext cx="6183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null</a:t>
            </a:r>
            <a:endParaRPr sz="1800"/>
          </a:p>
        </p:txBody>
      </p:sp>
      <p:sp>
        <p:nvSpPr>
          <p:cNvPr id="1009" name="Google Shape;1009;p46"/>
          <p:cNvSpPr txBox="1"/>
          <p:nvPr/>
        </p:nvSpPr>
        <p:spPr>
          <a:xfrm>
            <a:off x="5768153" y="3474425"/>
            <a:ext cx="18303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0    1    2    3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10" name="Google Shape;101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5500" y="4069343"/>
            <a:ext cx="1593250" cy="81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46"/>
          <p:cNvSpPr/>
          <p:nvPr/>
        </p:nvSpPr>
        <p:spPr>
          <a:xfrm>
            <a:off x="5429750" y="2293500"/>
            <a:ext cx="1974300" cy="759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46"/>
          <p:cNvSpPr txBox="1"/>
          <p:nvPr/>
        </p:nvSpPr>
        <p:spPr>
          <a:xfrm>
            <a:off x="6403996" y="2229994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items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013" name="Google Shape;1013;p46"/>
          <p:cNvSpPr/>
          <p:nvPr/>
        </p:nvSpPr>
        <p:spPr>
          <a:xfrm>
            <a:off x="6485450" y="2535413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46"/>
          <p:cNvSpPr/>
          <p:nvPr/>
        </p:nvSpPr>
        <p:spPr>
          <a:xfrm>
            <a:off x="5570828" y="2544425"/>
            <a:ext cx="5688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015" name="Google Shape;1015;p46"/>
          <p:cNvSpPr txBox="1"/>
          <p:nvPr/>
        </p:nvSpPr>
        <p:spPr>
          <a:xfrm>
            <a:off x="5574207" y="2229994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1016" name="Google Shape;1016;p46"/>
          <p:cNvCxnSpPr>
            <a:stCxn id="1013" idx="3"/>
          </p:cNvCxnSpPr>
          <p:nvPr/>
        </p:nvCxnSpPr>
        <p:spPr>
          <a:xfrm rot="10800000">
            <a:off x="6776450" y="2713762"/>
            <a:ext cx="211500" cy="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7" name="Google Shape;1017;p46"/>
          <p:cNvCxnSpPr>
            <a:stCxn id="1013" idx="3"/>
            <a:endCxn id="1008" idx="3"/>
          </p:cNvCxnSpPr>
          <p:nvPr/>
        </p:nvCxnSpPr>
        <p:spPr>
          <a:xfrm>
            <a:off x="6987950" y="2722762"/>
            <a:ext cx="798600" cy="646800"/>
          </a:xfrm>
          <a:prstGeom prst="curvedConnector3">
            <a:avLst>
              <a:gd fmla="val 12980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18" name="Google Shape;1018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1875" y="3951588"/>
            <a:ext cx="1785822" cy="95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9" name="Google Shape;1019;p46"/>
          <p:cNvCxnSpPr/>
          <p:nvPr/>
        </p:nvCxnSpPr>
        <p:spPr>
          <a:xfrm>
            <a:off x="6923600" y="3422450"/>
            <a:ext cx="241500" cy="41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0" name="Google Shape;1020;p46"/>
          <p:cNvCxnSpPr/>
          <p:nvPr/>
        </p:nvCxnSpPr>
        <p:spPr>
          <a:xfrm flipH="1">
            <a:off x="5975337" y="3422450"/>
            <a:ext cx="447300" cy="44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1" name="Google Shape;1021;p46"/>
          <p:cNvCxnSpPr/>
          <p:nvPr/>
        </p:nvCxnSpPr>
        <p:spPr>
          <a:xfrm flipH="1">
            <a:off x="4329337" y="3361175"/>
            <a:ext cx="1575900" cy="5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47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Loitering Example</a:t>
            </a:r>
            <a:endParaRPr/>
          </a:p>
        </p:txBody>
      </p:sp>
      <p:pic>
        <p:nvPicPr>
          <p:cNvPr id="1027" name="Google Shape;102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950" y="3871975"/>
            <a:ext cx="1690850" cy="11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47"/>
          <p:cNvSpPr/>
          <p:nvPr/>
        </p:nvSpPr>
        <p:spPr>
          <a:xfrm>
            <a:off x="5660675" y="3182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29" name="Google Shape;1029;p47"/>
          <p:cNvSpPr/>
          <p:nvPr/>
        </p:nvSpPr>
        <p:spPr>
          <a:xfrm>
            <a:off x="6163175" y="3182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0" name="Google Shape;1030;p47"/>
          <p:cNvSpPr/>
          <p:nvPr/>
        </p:nvSpPr>
        <p:spPr>
          <a:xfrm>
            <a:off x="6665675" y="3182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1" name="Google Shape;1031;p47"/>
          <p:cNvSpPr/>
          <p:nvPr/>
        </p:nvSpPr>
        <p:spPr>
          <a:xfrm>
            <a:off x="7168175" y="3182100"/>
            <a:ext cx="6183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null</a:t>
            </a:r>
            <a:endParaRPr sz="1800"/>
          </a:p>
        </p:txBody>
      </p:sp>
      <p:sp>
        <p:nvSpPr>
          <p:cNvPr id="1032" name="Google Shape;1032;p47"/>
          <p:cNvSpPr txBox="1"/>
          <p:nvPr/>
        </p:nvSpPr>
        <p:spPr>
          <a:xfrm>
            <a:off x="5768153" y="3474425"/>
            <a:ext cx="18303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0    1    2    3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33" name="Google Shape;103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5500" y="4069343"/>
            <a:ext cx="1593250" cy="81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47"/>
          <p:cNvSpPr/>
          <p:nvPr/>
        </p:nvSpPr>
        <p:spPr>
          <a:xfrm>
            <a:off x="5429750" y="2293500"/>
            <a:ext cx="1974300" cy="759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47"/>
          <p:cNvSpPr txBox="1"/>
          <p:nvPr/>
        </p:nvSpPr>
        <p:spPr>
          <a:xfrm>
            <a:off x="6403996" y="2229994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items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036" name="Google Shape;1036;p47"/>
          <p:cNvSpPr/>
          <p:nvPr/>
        </p:nvSpPr>
        <p:spPr>
          <a:xfrm>
            <a:off x="6485450" y="2535413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47"/>
          <p:cNvSpPr/>
          <p:nvPr/>
        </p:nvSpPr>
        <p:spPr>
          <a:xfrm>
            <a:off x="5570828" y="2544425"/>
            <a:ext cx="5688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038" name="Google Shape;1038;p47"/>
          <p:cNvSpPr txBox="1"/>
          <p:nvPr/>
        </p:nvSpPr>
        <p:spPr>
          <a:xfrm>
            <a:off x="5574207" y="2229994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1039" name="Google Shape;1039;p47"/>
          <p:cNvCxnSpPr>
            <a:stCxn id="1036" idx="3"/>
          </p:cNvCxnSpPr>
          <p:nvPr/>
        </p:nvCxnSpPr>
        <p:spPr>
          <a:xfrm rot="10800000">
            <a:off x="6776450" y="2713762"/>
            <a:ext cx="211500" cy="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0" name="Google Shape;1040;p47"/>
          <p:cNvCxnSpPr>
            <a:stCxn id="1036" idx="3"/>
            <a:endCxn id="1031" idx="3"/>
          </p:cNvCxnSpPr>
          <p:nvPr/>
        </p:nvCxnSpPr>
        <p:spPr>
          <a:xfrm>
            <a:off x="6987950" y="2722762"/>
            <a:ext cx="798600" cy="646800"/>
          </a:xfrm>
          <a:prstGeom prst="curvedConnector3">
            <a:avLst>
              <a:gd fmla="val 12980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41" name="Google Shape;1041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1875" y="3951588"/>
            <a:ext cx="1785822" cy="95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2" name="Google Shape;1042;p47"/>
          <p:cNvCxnSpPr/>
          <p:nvPr/>
        </p:nvCxnSpPr>
        <p:spPr>
          <a:xfrm>
            <a:off x="6923600" y="3422450"/>
            <a:ext cx="241500" cy="41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3" name="Google Shape;1043;p47"/>
          <p:cNvCxnSpPr/>
          <p:nvPr/>
        </p:nvCxnSpPr>
        <p:spPr>
          <a:xfrm flipH="1">
            <a:off x="5975337" y="3422450"/>
            <a:ext cx="447300" cy="44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4" name="Google Shape;1044;p47"/>
          <p:cNvCxnSpPr/>
          <p:nvPr/>
        </p:nvCxnSpPr>
        <p:spPr>
          <a:xfrm flipH="1">
            <a:off x="4329337" y="3361175"/>
            <a:ext cx="1575900" cy="5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5" name="Google Shape;1045;p47"/>
          <p:cNvSpPr txBox="1"/>
          <p:nvPr>
            <p:ph idx="1" type="body"/>
          </p:nvPr>
        </p:nvSpPr>
        <p:spPr>
          <a:xfrm>
            <a:off x="243000" y="556500"/>
            <a:ext cx="4435500" cy="27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Changing size to 2 yields a correct AList.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But memory is wasted storing a reference to the red sign image.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48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Loitering Example</a:t>
            </a:r>
            <a:endParaRPr/>
          </a:p>
        </p:txBody>
      </p:sp>
      <p:sp>
        <p:nvSpPr>
          <p:cNvPr id="1051" name="Google Shape;1051;p48"/>
          <p:cNvSpPr/>
          <p:nvPr/>
        </p:nvSpPr>
        <p:spPr>
          <a:xfrm>
            <a:off x="5660675" y="3182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52" name="Google Shape;1052;p48"/>
          <p:cNvSpPr/>
          <p:nvPr/>
        </p:nvSpPr>
        <p:spPr>
          <a:xfrm>
            <a:off x="6163175" y="3182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53" name="Google Shape;1053;p48"/>
          <p:cNvSpPr/>
          <p:nvPr/>
        </p:nvSpPr>
        <p:spPr>
          <a:xfrm>
            <a:off x="6665675" y="3182100"/>
            <a:ext cx="5442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null</a:t>
            </a:r>
            <a:endParaRPr sz="1800"/>
          </a:p>
        </p:txBody>
      </p:sp>
      <p:sp>
        <p:nvSpPr>
          <p:cNvPr id="1054" name="Google Shape;1054;p48"/>
          <p:cNvSpPr/>
          <p:nvPr/>
        </p:nvSpPr>
        <p:spPr>
          <a:xfrm>
            <a:off x="7217675" y="3182100"/>
            <a:ext cx="5688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null</a:t>
            </a:r>
            <a:endParaRPr sz="1800"/>
          </a:p>
        </p:txBody>
      </p:sp>
      <p:sp>
        <p:nvSpPr>
          <p:cNvPr id="1055" name="Google Shape;1055;p48"/>
          <p:cNvSpPr txBox="1"/>
          <p:nvPr/>
        </p:nvSpPr>
        <p:spPr>
          <a:xfrm>
            <a:off x="5768153" y="3474425"/>
            <a:ext cx="18303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0    1    2    3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56" name="Google Shape;105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500" y="4069343"/>
            <a:ext cx="1593250" cy="81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48"/>
          <p:cNvSpPr/>
          <p:nvPr/>
        </p:nvSpPr>
        <p:spPr>
          <a:xfrm>
            <a:off x="5429750" y="2293500"/>
            <a:ext cx="1974300" cy="759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48"/>
          <p:cNvSpPr txBox="1"/>
          <p:nvPr/>
        </p:nvSpPr>
        <p:spPr>
          <a:xfrm>
            <a:off x="6403996" y="2229994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items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059" name="Google Shape;1059;p48"/>
          <p:cNvSpPr/>
          <p:nvPr/>
        </p:nvSpPr>
        <p:spPr>
          <a:xfrm>
            <a:off x="6485450" y="2535413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48"/>
          <p:cNvSpPr/>
          <p:nvPr/>
        </p:nvSpPr>
        <p:spPr>
          <a:xfrm>
            <a:off x="5570828" y="2544425"/>
            <a:ext cx="5688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061" name="Google Shape;1061;p48"/>
          <p:cNvSpPr txBox="1"/>
          <p:nvPr/>
        </p:nvSpPr>
        <p:spPr>
          <a:xfrm>
            <a:off x="5574207" y="2229994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1062" name="Google Shape;1062;p48"/>
          <p:cNvCxnSpPr>
            <a:stCxn id="1059" idx="3"/>
          </p:cNvCxnSpPr>
          <p:nvPr/>
        </p:nvCxnSpPr>
        <p:spPr>
          <a:xfrm rot="10800000">
            <a:off x="6776450" y="2713762"/>
            <a:ext cx="211500" cy="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3" name="Google Shape;1063;p48"/>
          <p:cNvCxnSpPr>
            <a:stCxn id="1059" idx="3"/>
            <a:endCxn id="1054" idx="3"/>
          </p:cNvCxnSpPr>
          <p:nvPr/>
        </p:nvCxnSpPr>
        <p:spPr>
          <a:xfrm>
            <a:off x="6987950" y="2722762"/>
            <a:ext cx="798600" cy="646800"/>
          </a:xfrm>
          <a:prstGeom prst="curvedConnector3">
            <a:avLst>
              <a:gd fmla="val 12980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64" name="Google Shape;106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1875" y="3951588"/>
            <a:ext cx="1785822" cy="95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5" name="Google Shape;1065;p48"/>
          <p:cNvCxnSpPr/>
          <p:nvPr/>
        </p:nvCxnSpPr>
        <p:spPr>
          <a:xfrm flipH="1">
            <a:off x="5975337" y="3422450"/>
            <a:ext cx="447300" cy="44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6" name="Google Shape;1066;p48"/>
          <p:cNvCxnSpPr/>
          <p:nvPr/>
        </p:nvCxnSpPr>
        <p:spPr>
          <a:xfrm flipH="1">
            <a:off x="4329337" y="3361175"/>
            <a:ext cx="1575900" cy="5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7" name="Google Shape;1067;p48"/>
          <p:cNvSpPr txBox="1"/>
          <p:nvPr>
            <p:ph idx="1" type="body"/>
          </p:nvPr>
        </p:nvSpPr>
        <p:spPr>
          <a:xfrm>
            <a:off x="243000" y="556500"/>
            <a:ext cx="4435500" cy="27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Changing size to 2 yields a correct AList.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But memory is wasted storing a reference to the red sign image.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By nulling out items[2], Java is free to destroy the unneeded image from memory, which could be potentially megabytes in size.</a:t>
            </a:r>
            <a:endParaRPr/>
          </a:p>
        </p:txBody>
      </p:sp>
      <p:pic>
        <p:nvPicPr>
          <p:cNvPr id="1068" name="Google Shape;1068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7950" y="3871975"/>
            <a:ext cx="1690850" cy="11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49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Loitering Example</a:t>
            </a:r>
            <a:endParaRPr/>
          </a:p>
        </p:txBody>
      </p:sp>
      <p:sp>
        <p:nvSpPr>
          <p:cNvPr id="1074" name="Google Shape;1074;p49"/>
          <p:cNvSpPr/>
          <p:nvPr/>
        </p:nvSpPr>
        <p:spPr>
          <a:xfrm>
            <a:off x="5660675" y="3182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5" name="Google Shape;1075;p49"/>
          <p:cNvSpPr/>
          <p:nvPr/>
        </p:nvSpPr>
        <p:spPr>
          <a:xfrm>
            <a:off x="6163175" y="3182088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6" name="Google Shape;1076;p49"/>
          <p:cNvSpPr/>
          <p:nvPr/>
        </p:nvSpPr>
        <p:spPr>
          <a:xfrm>
            <a:off x="6665675" y="3182100"/>
            <a:ext cx="5442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null</a:t>
            </a:r>
            <a:endParaRPr sz="1800"/>
          </a:p>
        </p:txBody>
      </p:sp>
      <p:sp>
        <p:nvSpPr>
          <p:cNvPr id="1077" name="Google Shape;1077;p49"/>
          <p:cNvSpPr/>
          <p:nvPr/>
        </p:nvSpPr>
        <p:spPr>
          <a:xfrm>
            <a:off x="7217675" y="3182100"/>
            <a:ext cx="5688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null</a:t>
            </a:r>
            <a:endParaRPr sz="1800"/>
          </a:p>
        </p:txBody>
      </p:sp>
      <p:sp>
        <p:nvSpPr>
          <p:cNvPr id="1078" name="Google Shape;1078;p49"/>
          <p:cNvSpPr txBox="1"/>
          <p:nvPr/>
        </p:nvSpPr>
        <p:spPr>
          <a:xfrm>
            <a:off x="5768153" y="3474425"/>
            <a:ext cx="18303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0    1    2    3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79" name="Google Shape;107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500" y="4069343"/>
            <a:ext cx="1593250" cy="81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49"/>
          <p:cNvSpPr/>
          <p:nvPr/>
        </p:nvSpPr>
        <p:spPr>
          <a:xfrm>
            <a:off x="5429750" y="2293500"/>
            <a:ext cx="1974300" cy="759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49"/>
          <p:cNvSpPr txBox="1"/>
          <p:nvPr/>
        </p:nvSpPr>
        <p:spPr>
          <a:xfrm>
            <a:off x="6403996" y="2229994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items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082" name="Google Shape;1082;p49"/>
          <p:cNvSpPr/>
          <p:nvPr/>
        </p:nvSpPr>
        <p:spPr>
          <a:xfrm>
            <a:off x="6485450" y="2535413"/>
            <a:ext cx="5025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49"/>
          <p:cNvSpPr/>
          <p:nvPr/>
        </p:nvSpPr>
        <p:spPr>
          <a:xfrm>
            <a:off x="5570828" y="2544425"/>
            <a:ext cx="568800" cy="374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084" name="Google Shape;1084;p49"/>
          <p:cNvSpPr txBox="1"/>
          <p:nvPr/>
        </p:nvSpPr>
        <p:spPr>
          <a:xfrm>
            <a:off x="5574207" y="2229994"/>
            <a:ext cx="832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1085" name="Google Shape;1085;p49"/>
          <p:cNvCxnSpPr>
            <a:stCxn id="1082" idx="3"/>
          </p:cNvCxnSpPr>
          <p:nvPr/>
        </p:nvCxnSpPr>
        <p:spPr>
          <a:xfrm rot="10800000">
            <a:off x="6776450" y="2713762"/>
            <a:ext cx="211500" cy="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6" name="Google Shape;1086;p49"/>
          <p:cNvCxnSpPr>
            <a:stCxn id="1082" idx="3"/>
            <a:endCxn id="1077" idx="3"/>
          </p:cNvCxnSpPr>
          <p:nvPr/>
        </p:nvCxnSpPr>
        <p:spPr>
          <a:xfrm>
            <a:off x="6987950" y="2722762"/>
            <a:ext cx="798600" cy="646800"/>
          </a:xfrm>
          <a:prstGeom prst="curvedConnector3">
            <a:avLst>
              <a:gd fmla="val 12980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87" name="Google Shape;108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1875" y="3951588"/>
            <a:ext cx="1785822" cy="95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8" name="Google Shape;1088;p49"/>
          <p:cNvCxnSpPr/>
          <p:nvPr/>
        </p:nvCxnSpPr>
        <p:spPr>
          <a:xfrm flipH="1">
            <a:off x="5975337" y="3422450"/>
            <a:ext cx="447300" cy="44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9" name="Google Shape;1089;p49"/>
          <p:cNvCxnSpPr/>
          <p:nvPr/>
        </p:nvCxnSpPr>
        <p:spPr>
          <a:xfrm flipH="1">
            <a:off x="4329337" y="3361175"/>
            <a:ext cx="1575900" cy="5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0" name="Google Shape;1090;p49"/>
          <p:cNvSpPr txBox="1"/>
          <p:nvPr>
            <p:ph idx="1" type="body"/>
          </p:nvPr>
        </p:nvSpPr>
        <p:spPr>
          <a:xfrm>
            <a:off x="243000" y="556500"/>
            <a:ext cx="4435500" cy="27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Changing size to 2 yields a correct AList.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But memory is wasted storing a reference to the red sign image.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By nulling out items[2], Java is free to destroy the unneeded image from memory, </a:t>
            </a:r>
            <a:r>
              <a:rPr lang="en"/>
              <a:t>which could be potentially megabytes in size.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50"/>
          <p:cNvSpPr txBox="1"/>
          <p:nvPr>
            <p:ph type="title"/>
          </p:nvPr>
        </p:nvSpPr>
        <p:spPr>
          <a:xfrm>
            <a:off x="928950" y="2250275"/>
            <a:ext cx="7286100" cy="90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Obscurantism in Java</a:t>
            </a:r>
            <a:endParaRPr sz="4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51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last thought: </a:t>
            </a:r>
            <a:r>
              <a:rPr lang="en"/>
              <a:t>Obscurantism in Java</a:t>
            </a:r>
            <a:endParaRPr/>
          </a:p>
        </p:txBody>
      </p:sp>
      <p:sp>
        <p:nvSpPr>
          <p:cNvPr id="1101" name="Google Shape;1101;p51"/>
          <p:cNvSpPr txBox="1"/>
          <p:nvPr/>
        </p:nvSpPr>
        <p:spPr>
          <a:xfrm>
            <a:off x="148650" y="1722641"/>
            <a:ext cx="8082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rPr>
              <a:t>User’s mental model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2000"/>
              <a:t>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{5, 3, 1, 7, 22, -1} →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{5, 3, 1, 7, 22}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102" name="Google Shape;1102;p51"/>
          <p:cNvGrpSpPr/>
          <p:nvPr/>
        </p:nvGrpSpPr>
        <p:grpSpPr>
          <a:xfrm>
            <a:off x="193495" y="2340566"/>
            <a:ext cx="6614360" cy="2695223"/>
            <a:chOff x="193495" y="1939000"/>
            <a:chExt cx="6614360" cy="2695223"/>
          </a:xfrm>
        </p:grpSpPr>
        <p:sp>
          <p:nvSpPr>
            <p:cNvPr id="1103" name="Google Shape;1103;p51"/>
            <p:cNvSpPr/>
            <p:nvPr/>
          </p:nvSpPr>
          <p:spPr>
            <a:xfrm>
              <a:off x="5193171" y="4123477"/>
              <a:ext cx="502500" cy="374700"/>
            </a:xfrm>
            <a:prstGeom prst="rect">
              <a:avLst/>
            </a:prstGeom>
            <a:solidFill>
              <a:srgbClr val="CCCC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1104" name="Google Shape;1104;p51"/>
            <p:cNvSpPr/>
            <p:nvPr/>
          </p:nvSpPr>
          <p:spPr>
            <a:xfrm>
              <a:off x="5695671" y="4123477"/>
              <a:ext cx="502500" cy="374700"/>
            </a:xfrm>
            <a:prstGeom prst="rect">
              <a:avLst/>
            </a:prstGeom>
            <a:solidFill>
              <a:srgbClr val="CCCC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1105" name="Google Shape;1105;p51"/>
            <p:cNvSpPr/>
            <p:nvPr/>
          </p:nvSpPr>
          <p:spPr>
            <a:xfrm>
              <a:off x="6198171" y="4123477"/>
              <a:ext cx="502500" cy="374700"/>
            </a:xfrm>
            <a:prstGeom prst="rect">
              <a:avLst/>
            </a:prstGeom>
            <a:solidFill>
              <a:srgbClr val="CCCC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1106" name="Google Shape;1106;p51"/>
            <p:cNvSpPr/>
            <p:nvPr/>
          </p:nvSpPr>
          <p:spPr>
            <a:xfrm>
              <a:off x="4697816" y="4123477"/>
              <a:ext cx="502500" cy="374700"/>
            </a:xfrm>
            <a:prstGeom prst="rect">
              <a:avLst/>
            </a:prstGeom>
            <a:solidFill>
              <a:srgbClr val="CCCC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...</a:t>
              </a:r>
              <a:endParaRPr sz="1800"/>
            </a:p>
          </p:txBody>
        </p:sp>
        <p:sp>
          <p:nvSpPr>
            <p:cNvPr id="1107" name="Google Shape;1107;p51"/>
            <p:cNvSpPr/>
            <p:nvPr/>
          </p:nvSpPr>
          <p:spPr>
            <a:xfrm>
              <a:off x="890600" y="2487550"/>
              <a:ext cx="3636000" cy="907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08" name="Google Shape;1108;p51"/>
            <p:cNvCxnSpPr/>
            <p:nvPr/>
          </p:nvCxnSpPr>
          <p:spPr>
            <a:xfrm rot="10800000">
              <a:off x="442636" y="2633134"/>
              <a:ext cx="4323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9" name="Google Shape;1109;p51"/>
            <p:cNvCxnSpPr/>
            <p:nvPr/>
          </p:nvCxnSpPr>
          <p:spPr>
            <a:xfrm rot="10800000">
              <a:off x="442636" y="2880382"/>
              <a:ext cx="4323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0" name="Google Shape;1110;p51"/>
            <p:cNvCxnSpPr/>
            <p:nvPr/>
          </p:nvCxnSpPr>
          <p:spPr>
            <a:xfrm rot="10800000">
              <a:off x="442636" y="3266638"/>
              <a:ext cx="4323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1" name="Google Shape;1111;p51"/>
            <p:cNvCxnSpPr/>
            <p:nvPr/>
          </p:nvCxnSpPr>
          <p:spPr>
            <a:xfrm rot="10800000">
              <a:off x="442636" y="3073510"/>
              <a:ext cx="4323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12" name="Google Shape;1112;p51"/>
            <p:cNvGrpSpPr/>
            <p:nvPr/>
          </p:nvGrpSpPr>
          <p:grpSpPr>
            <a:xfrm>
              <a:off x="831477" y="2430989"/>
              <a:ext cx="1582372" cy="961571"/>
              <a:chOff x="1114701" y="3234112"/>
              <a:chExt cx="1582372" cy="961571"/>
            </a:xfrm>
          </p:grpSpPr>
          <p:sp>
            <p:nvSpPr>
              <p:cNvPr id="1113" name="Google Shape;1113;p51"/>
              <p:cNvSpPr txBox="1"/>
              <p:nvPr/>
            </p:nvSpPr>
            <p:spPr>
              <a:xfrm>
                <a:off x="1114701" y="3234112"/>
                <a:ext cx="1574400" cy="3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Ubuntu Mono"/>
                    <a:ea typeface="Ubuntu Mono"/>
                    <a:cs typeface="Ubuntu Mono"/>
                    <a:sym typeface="Ubuntu Mono"/>
                  </a:rPr>
                  <a:t>addLast()</a:t>
                </a:r>
                <a:endParaRPr>
                  <a:latin typeface="Ubuntu Mono"/>
                  <a:ea typeface="Ubuntu Mono"/>
                  <a:cs typeface="Ubuntu Mono"/>
                  <a:sym typeface="Ubuntu Mono"/>
                </a:endParaRPr>
              </a:p>
            </p:txBody>
          </p:sp>
          <p:sp>
            <p:nvSpPr>
              <p:cNvPr id="1114" name="Google Shape;1114;p51"/>
              <p:cNvSpPr txBox="1"/>
              <p:nvPr/>
            </p:nvSpPr>
            <p:spPr>
              <a:xfrm>
                <a:off x="1122672" y="3444225"/>
                <a:ext cx="1574400" cy="3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Ubuntu Mono"/>
                    <a:ea typeface="Ubuntu Mono"/>
                    <a:cs typeface="Ubuntu Mono"/>
                    <a:sym typeface="Ubuntu Mono"/>
                  </a:rPr>
                  <a:t>getLast()</a:t>
                </a:r>
                <a:endParaRPr>
                  <a:latin typeface="Ubuntu Mono"/>
                  <a:ea typeface="Ubuntu Mono"/>
                  <a:cs typeface="Ubuntu Mono"/>
                  <a:sym typeface="Ubuntu Mono"/>
                </a:endParaRPr>
              </a:p>
            </p:txBody>
          </p:sp>
          <p:sp>
            <p:nvSpPr>
              <p:cNvPr id="1115" name="Google Shape;1115;p51"/>
              <p:cNvSpPr txBox="1"/>
              <p:nvPr/>
            </p:nvSpPr>
            <p:spPr>
              <a:xfrm>
                <a:off x="1122672" y="3859383"/>
                <a:ext cx="1574400" cy="3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Ubuntu Mono"/>
                    <a:ea typeface="Ubuntu Mono"/>
                    <a:cs typeface="Ubuntu Mono"/>
                    <a:sym typeface="Ubuntu Mono"/>
                  </a:rPr>
                  <a:t>get(int i)</a:t>
                </a:r>
                <a:endParaRPr>
                  <a:latin typeface="Ubuntu Mono"/>
                  <a:ea typeface="Ubuntu Mono"/>
                  <a:cs typeface="Ubuntu Mono"/>
                  <a:sym typeface="Ubuntu Mono"/>
                </a:endParaRPr>
              </a:p>
            </p:txBody>
          </p:sp>
          <p:sp>
            <p:nvSpPr>
              <p:cNvPr id="1116" name="Google Shape;1116;p51"/>
              <p:cNvSpPr txBox="1"/>
              <p:nvPr/>
            </p:nvSpPr>
            <p:spPr>
              <a:xfrm>
                <a:off x="1122672" y="3666255"/>
                <a:ext cx="1574400" cy="33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Ubuntu Mono"/>
                    <a:ea typeface="Ubuntu Mono"/>
                    <a:cs typeface="Ubuntu Mono"/>
                    <a:sym typeface="Ubuntu Mono"/>
                  </a:rPr>
                  <a:t>removeLast()</a:t>
                </a:r>
                <a:endParaRPr>
                  <a:latin typeface="Ubuntu Mono"/>
                  <a:ea typeface="Ubuntu Mono"/>
                  <a:cs typeface="Ubuntu Mono"/>
                  <a:sym typeface="Ubuntu Mono"/>
                </a:endParaRPr>
              </a:p>
            </p:txBody>
          </p:sp>
        </p:grpSp>
        <p:sp>
          <p:nvSpPr>
            <p:cNvPr id="1117" name="Google Shape;1117;p51"/>
            <p:cNvSpPr txBox="1"/>
            <p:nvPr/>
          </p:nvSpPr>
          <p:spPr>
            <a:xfrm>
              <a:off x="3526621" y="2571719"/>
              <a:ext cx="832200" cy="3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items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1118" name="Google Shape;1118;p51"/>
            <p:cNvSpPr/>
            <p:nvPr/>
          </p:nvSpPr>
          <p:spPr>
            <a:xfrm>
              <a:off x="3608075" y="2877138"/>
              <a:ext cx="502500" cy="3747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51"/>
            <p:cNvSpPr/>
            <p:nvPr/>
          </p:nvSpPr>
          <p:spPr>
            <a:xfrm>
              <a:off x="674875" y="4121086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1120" name="Google Shape;1120;p51"/>
            <p:cNvSpPr/>
            <p:nvPr/>
          </p:nvSpPr>
          <p:spPr>
            <a:xfrm>
              <a:off x="1177375" y="4121086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sp>
          <p:nvSpPr>
            <p:cNvPr id="1121" name="Google Shape;1121;p51"/>
            <p:cNvSpPr/>
            <p:nvPr/>
          </p:nvSpPr>
          <p:spPr>
            <a:xfrm>
              <a:off x="1679875" y="4121086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1122" name="Google Shape;1122;p51"/>
            <p:cNvSpPr/>
            <p:nvPr/>
          </p:nvSpPr>
          <p:spPr>
            <a:xfrm>
              <a:off x="2182375" y="4121086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7</a:t>
              </a:r>
              <a:endParaRPr sz="1800"/>
            </a:p>
          </p:txBody>
        </p:sp>
        <p:sp>
          <p:nvSpPr>
            <p:cNvPr id="1123" name="Google Shape;1123;p51"/>
            <p:cNvSpPr/>
            <p:nvPr/>
          </p:nvSpPr>
          <p:spPr>
            <a:xfrm>
              <a:off x="2684875" y="4123477"/>
              <a:ext cx="502500" cy="374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22</a:t>
              </a:r>
              <a:endParaRPr sz="1800"/>
            </a:p>
          </p:txBody>
        </p:sp>
        <p:sp>
          <p:nvSpPr>
            <p:cNvPr id="1124" name="Google Shape;1124;p51"/>
            <p:cNvSpPr/>
            <p:nvPr/>
          </p:nvSpPr>
          <p:spPr>
            <a:xfrm>
              <a:off x="3187375" y="4123477"/>
              <a:ext cx="502500" cy="374700"/>
            </a:xfrm>
            <a:prstGeom prst="rect">
              <a:avLst/>
            </a:prstGeom>
            <a:solidFill>
              <a:srgbClr val="CCCC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-1</a:t>
              </a:r>
              <a:endParaRPr sz="1800"/>
            </a:p>
          </p:txBody>
        </p:sp>
        <p:sp>
          <p:nvSpPr>
            <p:cNvPr id="1125" name="Google Shape;1125;p51"/>
            <p:cNvSpPr/>
            <p:nvPr/>
          </p:nvSpPr>
          <p:spPr>
            <a:xfrm>
              <a:off x="3689875" y="4123477"/>
              <a:ext cx="502500" cy="374700"/>
            </a:xfrm>
            <a:prstGeom prst="rect">
              <a:avLst/>
            </a:prstGeom>
            <a:solidFill>
              <a:srgbClr val="CCCC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1126" name="Google Shape;1126;p51"/>
            <p:cNvSpPr/>
            <p:nvPr/>
          </p:nvSpPr>
          <p:spPr>
            <a:xfrm>
              <a:off x="4192375" y="4123477"/>
              <a:ext cx="502500" cy="374700"/>
            </a:xfrm>
            <a:prstGeom prst="rect">
              <a:avLst/>
            </a:prstGeom>
            <a:solidFill>
              <a:srgbClr val="CCCC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1127" name="Google Shape;1127;p51"/>
            <p:cNvSpPr/>
            <p:nvPr/>
          </p:nvSpPr>
          <p:spPr>
            <a:xfrm>
              <a:off x="2759713" y="2886138"/>
              <a:ext cx="502500" cy="374700"/>
            </a:xfrm>
            <a:prstGeom prst="rect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1128" name="Google Shape;1128;p51"/>
            <p:cNvSpPr txBox="1"/>
            <p:nvPr/>
          </p:nvSpPr>
          <p:spPr>
            <a:xfrm>
              <a:off x="2730450" y="2571719"/>
              <a:ext cx="832200" cy="3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size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cxnSp>
          <p:nvCxnSpPr>
            <p:cNvPr id="1129" name="Google Shape;1129;p51"/>
            <p:cNvCxnSpPr>
              <a:stCxn id="1118" idx="3"/>
            </p:cNvCxnSpPr>
            <p:nvPr/>
          </p:nvCxnSpPr>
          <p:spPr>
            <a:xfrm rot="10800000">
              <a:off x="3899075" y="3055488"/>
              <a:ext cx="211500" cy="9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0" name="Google Shape;1130;p51"/>
            <p:cNvCxnSpPr>
              <a:stCxn id="1118" idx="3"/>
              <a:endCxn id="1122" idx="0"/>
            </p:cNvCxnSpPr>
            <p:nvPr/>
          </p:nvCxnSpPr>
          <p:spPr>
            <a:xfrm flipH="1">
              <a:off x="2433575" y="3064488"/>
              <a:ext cx="1677000" cy="1056600"/>
            </a:xfrm>
            <a:prstGeom prst="curvedConnector4">
              <a:avLst>
                <a:gd fmla="val -14199" name="adj1"/>
                <a:gd fmla="val 58866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31" name="Google Shape;1131;p51"/>
            <p:cNvSpPr txBox="1"/>
            <p:nvPr/>
          </p:nvSpPr>
          <p:spPr>
            <a:xfrm>
              <a:off x="782355" y="4413423"/>
              <a:ext cx="6025500" cy="22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0    1    2    3    4    5    6    7         97   98   99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32" name="Google Shape;1132;p51"/>
            <p:cNvSpPr txBox="1"/>
            <p:nvPr/>
          </p:nvSpPr>
          <p:spPr>
            <a:xfrm>
              <a:off x="193495" y="1939000"/>
              <a:ext cx="53085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BE0712"/>
                  </a:solidFill>
                  <a:latin typeface="Calibri"/>
                  <a:ea typeface="Calibri"/>
                  <a:cs typeface="Calibri"/>
                  <a:sym typeface="Calibri"/>
                </a:rPr>
                <a:t>Actual truth</a:t>
              </a:r>
              <a:r>
                <a:rPr lang="en" sz="2000"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 sz="20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133" name="Google Shape;113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0200" y="2200024"/>
            <a:ext cx="3644251" cy="2056939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51"/>
          <p:cNvSpPr txBox="1"/>
          <p:nvPr>
            <p:ph idx="1" type="body"/>
          </p:nvPr>
        </p:nvSpPr>
        <p:spPr>
          <a:xfrm>
            <a:off x="143925" y="556500"/>
            <a:ext cx="8443800" cy="12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talk of “layers of abstraction” often in computer science.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We also rely on obscurantism. The user of a class does not and should not know how it works.</a:t>
            </a:r>
            <a:endParaRPr/>
          </a:p>
        </p:txBody>
      </p:sp>
      <p:pic>
        <p:nvPicPr>
          <p:cNvPr id="1135" name="Google Shape;113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4665" y="4144737"/>
            <a:ext cx="1613000" cy="913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6" name="Google Shape;1136;p51"/>
          <p:cNvCxnSpPr/>
          <p:nvPr/>
        </p:nvCxnSpPr>
        <p:spPr>
          <a:xfrm>
            <a:off x="8521176" y="4202440"/>
            <a:ext cx="0" cy="193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7" name="Google Shape;1137;p51"/>
          <p:cNvCxnSpPr/>
          <p:nvPr/>
        </p:nvCxnSpPr>
        <p:spPr>
          <a:xfrm>
            <a:off x="8138546" y="4261102"/>
            <a:ext cx="149700" cy="149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8" name="Google Shape;1138;p51"/>
          <p:cNvCxnSpPr/>
          <p:nvPr/>
        </p:nvCxnSpPr>
        <p:spPr>
          <a:xfrm flipH="1">
            <a:off x="8718139" y="4257152"/>
            <a:ext cx="168600" cy="168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52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last thought: Obscurantism in Java</a:t>
            </a:r>
            <a:endParaRPr/>
          </a:p>
        </p:txBody>
      </p:sp>
      <p:sp>
        <p:nvSpPr>
          <p:cNvPr id="1144" name="Google Shape;1144;p52"/>
          <p:cNvSpPr txBox="1"/>
          <p:nvPr>
            <p:ph idx="1" type="body"/>
          </p:nvPr>
        </p:nvSpPr>
        <p:spPr>
          <a:xfrm>
            <a:off x="143925" y="556500"/>
            <a:ext cx="8677500" cy="3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talk of “layers of abstraction” often in computer science.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We also rely on obscurantism. The user of a class does not and should not know how it works.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The Java language allows you to enforce this with ideas like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/>
              <a:t>!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 good programmer obscures details from themselves, even </a:t>
            </a:r>
            <a:r>
              <a:rPr lang="en" u="sng"/>
              <a:t>within a class</a:t>
            </a:r>
            <a:r>
              <a:rPr lang="en"/>
              <a:t>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Example: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addFirst</a:t>
            </a:r>
            <a:r>
              <a:rPr lang="en"/>
              <a:t> and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resize</a:t>
            </a:r>
            <a:r>
              <a:rPr lang="en"/>
              <a:t> should be written totally independently. You should not be thinking about the details of one method while writing the other. Simply trust that the other works.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Breaking programming tasks down into small pieces (especially functions) helps with this greatly!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Through judicious use of testing, we can build confidence in these small pieces, as we’ll see in the next lecture.</a:t>
            </a:r>
            <a:endParaRPr/>
          </a:p>
        </p:txBody>
      </p:sp>
      <p:pic>
        <p:nvPicPr>
          <p:cNvPr id="1145" name="Google Shape;114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4665" y="4144737"/>
            <a:ext cx="1613000" cy="913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6" name="Google Shape;1146;p52"/>
          <p:cNvCxnSpPr/>
          <p:nvPr/>
        </p:nvCxnSpPr>
        <p:spPr>
          <a:xfrm>
            <a:off x="8521176" y="4202440"/>
            <a:ext cx="0" cy="193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7" name="Google Shape;1147;p52"/>
          <p:cNvCxnSpPr/>
          <p:nvPr/>
        </p:nvCxnSpPr>
        <p:spPr>
          <a:xfrm>
            <a:off x="8138546" y="4261102"/>
            <a:ext cx="149700" cy="149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8" name="Google Shape;1148;p52"/>
          <p:cNvCxnSpPr/>
          <p:nvPr/>
        </p:nvCxnSpPr>
        <p:spPr>
          <a:xfrm flipH="1">
            <a:off x="8718139" y="4257152"/>
            <a:ext cx="168600" cy="168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53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Citations</a:t>
            </a:r>
            <a:endParaRPr/>
          </a:p>
        </p:txBody>
      </p:sp>
      <p:sp>
        <p:nvSpPr>
          <p:cNvPr id="1154" name="Google Shape;1154;p53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Hanging Containers: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http://www.portcalls.com/wp-content/uploads/2012/04/hanging_containers1.jpg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Loitering: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http://i.istockimg.com/file_thumbview_approve/19711163/6/stock-photo-19711163-red-loitering-prohibited-sign.jpg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http://images.mysecuritysign.com/img/lg/K/No-Loitering-Sign-K-5418.gif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hlinkClick r:id="rId6"/>
              </a:rPr>
              <a:t>http://3.bp.blogspot.com/-NV3y2NQDFy0/UAAXB5gINoI/AAAAAAAALi8/F_bM4-dmsm4/s1600/DVC00575.JPG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Red pill/blue pill: </a:t>
            </a:r>
            <a:r>
              <a:rPr lang="en" u="sng">
                <a:solidFill>
                  <a:schemeClr val="hlink"/>
                </a:solidFill>
                <a:hlinkClick r:id="rId7"/>
              </a:rPr>
              <a:t>https://en.wikipedia.org/wiki/Red_pill_and_blue_pill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