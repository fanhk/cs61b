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5143500" cx="9144000"/>
  <p:notesSz cx="6858000" cy="9144000"/>
  <p:embeddedFontLst>
    <p:embeddedFont>
      <p:font typeface="Ubuntu Mono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16732A-7D9C-42E2-AA2B-80ED78E93E3F}">
  <a:tblStyle styleId="{B816732A-7D9C-42E2-AA2B-80ED78E93E3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UbuntuMono-bold.fntdata"/><Relationship Id="rId47" Type="http://schemas.openxmlformats.org/officeDocument/2006/relationships/font" Target="fonts/UbuntuMono-regular.fntdata"/><Relationship Id="rId49" Type="http://schemas.openxmlformats.org/officeDocument/2006/relationships/font" Target="fonts/UbuntuMon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font" Target="fonts/Ubuntu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kheper.net/evolution/ascentofman.html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sandiegojewishworld.com/2009-SDJW-Quarter3/2009-08-13-Thursday170/20090912-adam-eve-fresco.jpg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5ec417144_078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5ec417144_0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f2e85ab62_16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2f2e85ab62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6f34a2e_13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5f6f34a2e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http://www.kheper.net/evolution/ascentofman.html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6221543d8_1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6221543d8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07e0abc84_0_27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07e0abc84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http://sandiegojewishworld.com/2009-SDJW-Quarter3/2009-08-13-Thursday170/20090912-adam-eve-fresco.jpg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221543d8_1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221543d8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07e0abc84_0_30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07e0abc84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ec417144_01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ec417144_0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632756b41_0_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632756b4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5ec417144_02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5ec417144_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6303de39d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6303de39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6303de39d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6303de39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632756b41_0_1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632756b41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632756b41_0_1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632756b41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6303de39d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6303de39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632756b41_0_25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632756b41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632756b41_0_26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632756b41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7e0abc84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07e0abc8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632756b41_0_29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632756b41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63b25000e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63b2500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632756b41_0_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632756b4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5ec417144_013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5ec417144_0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5ec417144_013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5ec417144_0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5ec417144_01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5ec417144_0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07e0abc84_2_19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07e0abc84_2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5ec417144_014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5ec417144_0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5ec417144_02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5ec417144_0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5ec417144_02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5ec417144_0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07e0abc84_2_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107e0abc84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5ec417144_022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5ec417144_0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07e0abc84_2_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07e0abc84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5ec417144_022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5ec417144_0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07e0abc84_2_4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107e0abc84_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5ec417144_025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5ec417144_0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108c8792a7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108c8792a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Didn’t have this slide when I did the lecture oops.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5ec417144_024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5ec417144_0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07e0abc84_2_20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07e0abc84_2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1c30250207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1c30250207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1c30250207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1c30250207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107e0abc84_2_1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107e0abc84_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211425" y="1941275"/>
            <a:ext cx="52062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BE0712"/>
              </a:buClr>
              <a:buSzPts val="3200"/>
              <a:buFont typeface="Calibri"/>
              <a:buNone/>
              <a:defRPr b="1" i="0" sz="3200" u="none" cap="none" strike="noStrike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61925" y="2612325"/>
            <a:ext cx="53808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3" name="Google Shape;13;p2"/>
          <p:cNvCxnSpPr/>
          <p:nvPr/>
        </p:nvCxnSpPr>
        <p:spPr>
          <a:xfrm>
            <a:off x="290700" y="2669200"/>
            <a:ext cx="8443800" cy="0"/>
          </a:xfrm>
          <a:prstGeom prst="straightConnector1">
            <a:avLst/>
          </a:prstGeom>
          <a:noFill/>
          <a:ln cap="flat" cmpd="sng" w="19050">
            <a:solidFill>
              <a:srgbClr val="1072BD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BE0712"/>
              </a:buClr>
              <a:buSzPts val="2400"/>
              <a:buFont typeface="Calibri"/>
              <a:buNone/>
              <a:defRPr b="1" sz="2400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6" name="Google Shape;16;p3"/>
          <p:cNvCxnSpPr/>
          <p:nvPr/>
        </p:nvCxnSpPr>
        <p:spPr>
          <a:xfrm>
            <a:off x="243000" y="587800"/>
            <a:ext cx="8443800" cy="0"/>
          </a:xfrm>
          <a:prstGeom prst="straightConnector1">
            <a:avLst/>
          </a:prstGeom>
          <a:noFill/>
          <a:ln cap="flat" cmpd="sng" w="19050">
            <a:solidFill>
              <a:srgbClr val="1072BD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●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○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928950" y="2143050"/>
            <a:ext cx="728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BE0712"/>
              </a:buClr>
              <a:buSzPts val="2400"/>
              <a:buFont typeface="Calibri"/>
              <a:buNone/>
              <a:defRPr b="1" sz="2400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ctrTitle"/>
          </p:nvPr>
        </p:nvSpPr>
        <p:spPr>
          <a:xfrm>
            <a:off x="211425" y="1941275"/>
            <a:ext cx="52062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BE0712"/>
              </a:buClr>
              <a:buSzPts val="3200"/>
              <a:buFont typeface="Calibri"/>
              <a:buNone/>
              <a:defRPr b="1" i="0" sz="3200" u="none" cap="none" strike="noStrike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9"/>
          <p:cNvSpPr txBox="1"/>
          <p:nvPr>
            <p:ph idx="1" type="subTitle"/>
          </p:nvPr>
        </p:nvSpPr>
        <p:spPr>
          <a:xfrm>
            <a:off x="161925" y="2612325"/>
            <a:ext cx="53808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33" name="Google Shape;33;p9"/>
          <p:cNvCxnSpPr/>
          <p:nvPr/>
        </p:nvCxnSpPr>
        <p:spPr>
          <a:xfrm>
            <a:off x="290700" y="2669200"/>
            <a:ext cx="8443800" cy="0"/>
          </a:xfrm>
          <a:prstGeom prst="straightConnector1">
            <a:avLst/>
          </a:prstGeom>
          <a:noFill/>
          <a:ln cap="flat" cmpd="sng" w="19050">
            <a:solidFill>
              <a:srgbClr val="1072BD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BE0712"/>
              </a:buClr>
              <a:buSzPts val="2400"/>
              <a:buFont typeface="Calibri"/>
              <a:buNone/>
              <a:defRPr b="1" sz="2400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36" name="Google Shape;36;p10"/>
          <p:cNvCxnSpPr/>
          <p:nvPr/>
        </p:nvCxnSpPr>
        <p:spPr>
          <a:xfrm>
            <a:off x="243000" y="587800"/>
            <a:ext cx="8443800" cy="0"/>
          </a:xfrm>
          <a:prstGeom prst="straightConnector1">
            <a:avLst/>
          </a:prstGeom>
          <a:noFill/>
          <a:ln cap="flat" cmpd="sng" w="19050">
            <a:solidFill>
              <a:srgbClr val="1072BD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7" name="Google Shape;37;p10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●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○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928950" y="2143050"/>
            <a:ext cx="728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BE0712"/>
              </a:buClr>
              <a:buSzPts val="2400"/>
              <a:buFont typeface="Calibri"/>
              <a:buNone/>
              <a:defRPr b="1" sz="2400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://datastructur.es" TargetMode="External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68680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 txBox="1"/>
          <p:nvPr/>
        </p:nvSpPr>
        <p:spPr>
          <a:xfrm>
            <a:off x="8578500" y="4793875"/>
            <a:ext cx="6552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datastructur.es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oo.gl/forms/KhKtlb3qtTb414Zh1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hyperlink" Target="http://www.ensler.us/ensler.us/images/nolnchsmalla.jpg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Pre-Announcements</a:t>
            </a:r>
            <a:endParaRPr/>
          </a:p>
        </p:txBody>
      </p:sp>
      <p:sp>
        <p:nvSpPr>
          <p:cNvPr id="52" name="Google Shape;52;p15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Scott from </a:t>
            </a:r>
            <a:r>
              <a:rPr b="1" lang="en"/>
              <a:t>Pioneers in Engineering</a:t>
            </a:r>
            <a:r>
              <a:rPr lang="en"/>
              <a:t>: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Student STEM outreach group on campus.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DeCal on campus: Robotics Mentorship Decal</a:t>
            </a:r>
            <a:endParaRPr/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Guide a team of local high school students through Pioneers in Engineering competition.</a:t>
            </a:r>
            <a:endParaRPr/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They will learn how to build and design a robotic system.</a:t>
            </a:r>
            <a:endParaRPr/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Looking for students of ALL majors AND all experiences levels.</a:t>
            </a:r>
            <a:endParaRPr/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2 units per week to teach you what you need to know.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you have announcements, email 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  <p:sp>
        <p:nvSpPr>
          <p:cNvPr id="58" name="Google Shape;58;p16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Lab 2 is out.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Project 0 partner submissions: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If you’re in a group, please add your partner using the option on the top right of the project 0 assignment page on gradescope.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All partnerships must have been submitted through the form.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https://goo.gl/forms/KhKtlb3qtTb414Zh1</a:t>
            </a:r>
            <a:endParaRPr/>
          </a:p>
        </p:txBody>
      </p:sp>
      <p:pic>
        <p:nvPicPr>
          <p:cNvPr id="59" name="Google Shape;5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9350" y="2852951"/>
            <a:ext cx="4171950" cy="22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ctrTitle"/>
          </p:nvPr>
        </p:nvSpPr>
        <p:spPr>
          <a:xfrm>
            <a:off x="211425" y="1652450"/>
            <a:ext cx="5206200" cy="107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CS61B: 2018</a:t>
            </a:r>
            <a:endParaRPr/>
          </a:p>
        </p:txBody>
      </p:sp>
      <p:sp>
        <p:nvSpPr>
          <p:cNvPr id="65" name="Google Shape;65;p17"/>
          <p:cNvSpPr txBox="1"/>
          <p:nvPr>
            <p:ph idx="1" type="subTitle"/>
          </p:nvPr>
        </p:nvSpPr>
        <p:spPr>
          <a:xfrm>
            <a:off x="161925" y="2612325"/>
            <a:ext cx="8670600" cy="23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Lecture 4: Node Based Lists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From IntList to SLList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○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The private keyword 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○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Nested classes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○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Recursive private helper methods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○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Caching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○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Sentinel nodes</a:t>
            </a:r>
            <a:endParaRPr/>
          </a:p>
        </p:txBody>
      </p:sp>
      <p:pic>
        <p:nvPicPr>
          <p:cNvPr id="66" name="Google Shape;6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6338" y="226775"/>
            <a:ext cx="528637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928950" y="2143050"/>
            <a:ext cx="72861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From IntList to SLList</a:t>
            </a:r>
            <a:endParaRPr sz="4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Time in 61B: Recursive Implementation of a List</a:t>
            </a:r>
            <a:endParaRPr/>
          </a:p>
        </p:txBody>
      </p:sp>
      <p:sp>
        <p:nvSpPr>
          <p:cNvPr id="77" name="Google Shape;77;p19"/>
          <p:cNvSpPr txBox="1"/>
          <p:nvPr>
            <p:ph idx="1" type="body"/>
          </p:nvPr>
        </p:nvSpPr>
        <p:spPr>
          <a:xfrm>
            <a:off x="243000" y="3604500"/>
            <a:ext cx="8901000" cy="11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functional, “naked” linked lists like the one above are hard to use.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Users of this class are probably going to need to know references very well, and be able to think recursively. Let’s make our users’ lives easier.</a:t>
            </a:r>
            <a:endParaRPr/>
          </a:p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243000" y="722176"/>
            <a:ext cx="4963500" cy="2882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IntList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first;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IntList 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rest;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IntList(</a:t>
            </a:r>
            <a:r>
              <a:rPr b="1"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f, </a:t>
            </a:r>
            <a:r>
              <a:rPr b="1"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IntList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r) {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first = f;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rest = r;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b="1" sz="1800">
              <a:solidFill>
                <a:srgbClr val="AA22FF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9" name="Google Shape;7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5600" y="1105369"/>
            <a:ext cx="2110700" cy="21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Improvement #1</a:t>
            </a:r>
            <a:r>
              <a:rPr lang="en"/>
              <a:t>: Rebranding and Culling</a:t>
            </a:r>
            <a:endParaRPr/>
          </a:p>
        </p:txBody>
      </p:sp>
      <p:sp>
        <p:nvSpPr>
          <p:cNvPr id="85" name="Google Shape;85;p20"/>
          <p:cNvSpPr txBox="1"/>
          <p:nvPr>
            <p:ph idx="1" type="body"/>
          </p:nvPr>
        </p:nvSpPr>
        <p:spPr>
          <a:xfrm>
            <a:off x="243000" y="722176"/>
            <a:ext cx="4963500" cy="2882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item;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next;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</a:t>
            </a:r>
            <a:r>
              <a:rPr b="1"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i, </a:t>
            </a:r>
            <a:r>
              <a:rPr b="1"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item = i;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next = n;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800">
              <a:solidFill>
                <a:srgbClr val="AA22FF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" name="Google Shape;86;p20"/>
          <p:cNvSpPr txBox="1"/>
          <p:nvPr/>
        </p:nvSpPr>
        <p:spPr>
          <a:xfrm>
            <a:off x="5671625" y="3776775"/>
            <a:ext cx="3329400" cy="1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Not much of an improvement obviously, but this next weird trick will be more impressive.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0"/>
          <p:cNvSpPr txBox="1"/>
          <p:nvPr/>
        </p:nvSpPr>
        <p:spPr>
          <a:xfrm>
            <a:off x="228600" y="4269050"/>
            <a:ext cx="3984600" cy="7317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IntNode is now dumb, has no methods. We will reintroduce functionality in the coming slides.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88" name="Google Shape;88;p20"/>
          <p:cNvCxnSpPr/>
          <p:nvPr/>
        </p:nvCxnSpPr>
        <p:spPr>
          <a:xfrm flipH="1" rot="10800000">
            <a:off x="918262" y="3692575"/>
            <a:ext cx="405600" cy="6879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Improvement #2</a:t>
            </a:r>
            <a:r>
              <a:rPr lang="en"/>
              <a:t>: Bureaucracy</a:t>
            </a:r>
            <a:endParaRPr/>
          </a:p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243000" y="722183"/>
            <a:ext cx="4963500" cy="3336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item;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next;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</a:t>
            </a:r>
            <a:r>
              <a:rPr b="1"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i, </a:t>
            </a:r>
            <a:r>
              <a:rPr b="1"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item = i;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next = n;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8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" name="Google Shape;95;p21"/>
          <p:cNvSpPr txBox="1"/>
          <p:nvPr/>
        </p:nvSpPr>
        <p:spPr>
          <a:xfrm>
            <a:off x="2528325" y="2444175"/>
            <a:ext cx="4671600" cy="2683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 first;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first =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null);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" name="Google Shape;96;p21"/>
          <p:cNvSpPr txBox="1"/>
          <p:nvPr>
            <p:ph idx="1" type="body"/>
          </p:nvPr>
        </p:nvSpPr>
        <p:spPr>
          <a:xfrm>
            <a:off x="4421600" y="863125"/>
            <a:ext cx="4469700" cy="801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A000"/>
                </a:solidFill>
                <a:latin typeface="Consolas"/>
                <a:ea typeface="Consolas"/>
                <a:cs typeface="Consolas"/>
                <a:sym typeface="Consolas"/>
              </a:rPr>
              <a:t>IntNode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X = new IntNode(10, null);</a:t>
            </a:r>
            <a:r>
              <a:rPr b="1" lang="en" sz="1800">
                <a:solidFill>
                  <a:srgbClr val="00A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800">
              <a:solidFill>
                <a:srgbClr val="00A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A000"/>
                </a:solidFill>
                <a:latin typeface="Consolas"/>
                <a:ea typeface="Consolas"/>
                <a:cs typeface="Consolas"/>
                <a:sym typeface="Consolas"/>
              </a:rPr>
              <a:t>SLList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Y = new SLList(10);</a:t>
            </a:r>
            <a:endParaRPr b="1" sz="1800">
              <a:solidFill>
                <a:srgbClr val="00A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AA22FF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" name="Google Shape;97;p21"/>
          <p:cNvSpPr txBox="1"/>
          <p:nvPr/>
        </p:nvSpPr>
        <p:spPr>
          <a:xfrm>
            <a:off x="6036975" y="1607349"/>
            <a:ext cx="30507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SLList</a:t>
            </a:r>
            <a:r>
              <a:rPr lang="en">
                <a:solidFill>
                  <a:srgbClr val="BE0712"/>
                </a:solidFill>
              </a:rPr>
              <a:t> is easier to instantiate (no need to specify </a:t>
            </a:r>
            <a:r>
              <a:rPr lang="en">
                <a:solidFill>
                  <a:srgbClr val="BE0712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">
                <a:solidFill>
                  <a:srgbClr val="BE0712"/>
                </a:solidFill>
              </a:rPr>
              <a:t>), but we will see more advantages to come.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98" name="Google Shape;98;p21"/>
          <p:cNvCxnSpPr/>
          <p:nvPr/>
        </p:nvCxnSpPr>
        <p:spPr>
          <a:xfrm rot="10800000">
            <a:off x="5359450" y="1721500"/>
            <a:ext cx="618000" cy="1614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21"/>
          <p:cNvCxnSpPr/>
          <p:nvPr/>
        </p:nvCxnSpPr>
        <p:spPr>
          <a:xfrm flipH="1">
            <a:off x="5388712" y="2111500"/>
            <a:ext cx="611700" cy="2610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" name="Google Shape;100;p21"/>
          <p:cNvSpPr txBox="1"/>
          <p:nvPr/>
        </p:nvSpPr>
        <p:spPr>
          <a:xfrm>
            <a:off x="7337400" y="3421350"/>
            <a:ext cx="1492500" cy="12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Next: </a:t>
            </a:r>
            <a:r>
              <a:rPr lang="en">
                <a:solidFill>
                  <a:srgbClr val="BE0712"/>
                </a:solidFill>
              </a:rPr>
              <a:t>Let’s add addFirst and getFirst methods to </a:t>
            </a:r>
            <a:r>
              <a:rPr lang="en">
                <a:solidFill>
                  <a:srgbClr val="BE0712"/>
                </a:solidFill>
              </a:rPr>
              <a:t>SLList</a:t>
            </a:r>
            <a:r>
              <a:rPr lang="en">
                <a:solidFill>
                  <a:srgbClr val="BE0712"/>
                </a:solidFill>
              </a:rPr>
              <a:t>.</a:t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101" name="Google Shape;101;p21"/>
          <p:cNvSpPr txBox="1"/>
          <p:nvPr/>
        </p:nvSpPr>
        <p:spPr>
          <a:xfrm>
            <a:off x="228600" y="4269050"/>
            <a:ext cx="1637700" cy="7317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IntNode is now dumb, has no methods.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102" name="Google Shape;102;p21"/>
          <p:cNvCxnSpPr/>
          <p:nvPr/>
        </p:nvCxnSpPr>
        <p:spPr>
          <a:xfrm flipH="1" rot="10800000">
            <a:off x="918262" y="4164775"/>
            <a:ext cx="276600" cy="2157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Basic SLList and Helper IntNode Class</a:t>
            </a:r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90600" y="708900"/>
            <a:ext cx="4419300" cy="4153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first;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SLList(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first =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null);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addFirst(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first =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first);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getFirst() {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first.item;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>
              <a:solidFill>
                <a:srgbClr val="AA22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4655850" y="708900"/>
            <a:ext cx="4419300" cy="267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item;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next;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i, 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	  item = i;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	  next = n;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AA22FF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" name="Google Shape;110;p22"/>
          <p:cNvSpPr txBox="1"/>
          <p:nvPr/>
        </p:nvSpPr>
        <p:spPr>
          <a:xfrm>
            <a:off x="5350350" y="3462800"/>
            <a:ext cx="3485700" cy="1491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 = </a:t>
            </a:r>
            <a:r>
              <a:rPr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SLList(15);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L.addFirst(10);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L.addFirst(5);</a:t>
            </a: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	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= L.getFirst();</a:t>
            </a:r>
            <a:endParaRPr sz="1700"/>
          </a:p>
        </p:txBody>
      </p:sp>
      <p:sp>
        <p:nvSpPr>
          <p:cNvPr id="111" name="Google Shape;111;p22"/>
          <p:cNvSpPr txBox="1"/>
          <p:nvPr/>
        </p:nvSpPr>
        <p:spPr>
          <a:xfrm>
            <a:off x="4533862" y="3760673"/>
            <a:ext cx="1008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usage: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SLLists vs. IntLists</a:t>
            </a:r>
            <a:endParaRPr/>
          </a:p>
        </p:txBody>
      </p:sp>
      <p:sp>
        <p:nvSpPr>
          <p:cNvPr id="117" name="Google Shape;117;p23"/>
          <p:cNvSpPr txBox="1"/>
          <p:nvPr/>
        </p:nvSpPr>
        <p:spPr>
          <a:xfrm>
            <a:off x="393963" y="997350"/>
            <a:ext cx="3588000" cy="1248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 = </a:t>
            </a:r>
            <a:r>
              <a:rPr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(15);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L.addFirst(10);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L.addFirst(5);</a:t>
            </a: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	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= L.getFirst();</a:t>
            </a:r>
            <a:endParaRPr sz="1700"/>
          </a:p>
        </p:txBody>
      </p:sp>
      <p:sp>
        <p:nvSpPr>
          <p:cNvPr id="118" name="Google Shape;118;p23"/>
          <p:cNvSpPr txBox="1"/>
          <p:nvPr/>
        </p:nvSpPr>
        <p:spPr>
          <a:xfrm>
            <a:off x="4528138" y="997350"/>
            <a:ext cx="4221900" cy="1248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IntList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 = </a:t>
            </a:r>
            <a:r>
              <a:rPr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IntList(15, null);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 = new IntList(10, L);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 = new IntList(5, L);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= L.first;</a:t>
            </a:r>
            <a:endParaRPr sz="1700"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243000" y="2613900"/>
            <a:ext cx="8901000" cy="21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functional, “naked” linked lists like the </a:t>
            </a:r>
            <a:r>
              <a:rPr lang="en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IntList</a:t>
            </a:r>
            <a:r>
              <a:rPr lang="en"/>
              <a:t> </a:t>
            </a:r>
            <a:r>
              <a:rPr lang="en"/>
              <a:t>class are hard to use.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Users of </a:t>
            </a:r>
            <a:r>
              <a:rPr lang="en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IntList</a:t>
            </a:r>
            <a:r>
              <a:rPr lang="en"/>
              <a:t> are need to know Java references well, and be able to think recursively.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/>
              <a:t> is much simpler to use. Simply use the provided methods.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Why not just add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addFirst</a:t>
            </a:r>
            <a:r>
              <a:rPr lang="en"/>
              <a:t> method to the </a:t>
            </a:r>
            <a:r>
              <a:rPr lang="en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IntList</a:t>
            </a:r>
            <a:r>
              <a:rPr lang="en"/>
              <a:t> class? Turns out there is no efficient way to do this. See exercises in lectureCode repository.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Naked Linked Lists (IntList) vs. SLLists</a:t>
            </a:r>
            <a:endParaRPr/>
          </a:p>
        </p:txBody>
      </p:sp>
      <p:grpSp>
        <p:nvGrpSpPr>
          <p:cNvPr id="125" name="Google Shape;125;p24"/>
          <p:cNvGrpSpPr/>
          <p:nvPr/>
        </p:nvGrpSpPr>
        <p:grpSpPr>
          <a:xfrm>
            <a:off x="18098" y="2500800"/>
            <a:ext cx="2147902" cy="654520"/>
            <a:chOff x="18098" y="2119800"/>
            <a:chExt cx="2147902" cy="654520"/>
          </a:xfrm>
        </p:grpSpPr>
        <p:sp>
          <p:nvSpPr>
            <p:cNvPr id="126" name="Google Shape;126;p24"/>
            <p:cNvSpPr/>
            <p:nvPr/>
          </p:nvSpPr>
          <p:spPr>
            <a:xfrm>
              <a:off x="360600" y="2188270"/>
              <a:ext cx="595200" cy="2475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4"/>
            <p:cNvSpPr txBox="1"/>
            <p:nvPr/>
          </p:nvSpPr>
          <p:spPr>
            <a:xfrm>
              <a:off x="18098" y="2119800"/>
              <a:ext cx="432300" cy="1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L1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28" name="Google Shape;128;p24"/>
            <p:cNvCxnSpPr>
              <a:stCxn id="126" idx="3"/>
              <a:endCxn id="129" idx="0"/>
            </p:cNvCxnSpPr>
            <p:nvPr/>
          </p:nvCxnSpPr>
          <p:spPr>
            <a:xfrm>
              <a:off x="955800" y="2312020"/>
              <a:ext cx="1210200" cy="462300"/>
            </a:xfrm>
            <a:prstGeom prst="curvedConnector2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29" name="Google Shape;129;p24"/>
          <p:cNvSpPr/>
          <p:nvPr/>
        </p:nvSpPr>
        <p:spPr>
          <a:xfrm>
            <a:off x="628575" y="3155350"/>
            <a:ext cx="3075000" cy="8202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4"/>
          <p:cNvSpPr/>
          <p:nvPr/>
        </p:nvSpPr>
        <p:spPr>
          <a:xfrm>
            <a:off x="2163592" y="3348806"/>
            <a:ext cx="966000" cy="4692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1" name="Google Shape;131;p24"/>
          <p:cNvCxnSpPr>
            <a:stCxn id="130" idx="3"/>
            <a:endCxn id="132" idx="0"/>
          </p:cNvCxnSpPr>
          <p:nvPr/>
        </p:nvCxnSpPr>
        <p:spPr>
          <a:xfrm flipH="1">
            <a:off x="2570392" y="3583406"/>
            <a:ext cx="559200" cy="716400"/>
          </a:xfrm>
          <a:prstGeom prst="curvedConnector4">
            <a:avLst>
              <a:gd fmla="val -42583" name="adj1"/>
              <a:gd fmla="val 66367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24"/>
          <p:cNvCxnSpPr/>
          <p:nvPr/>
        </p:nvCxnSpPr>
        <p:spPr>
          <a:xfrm rot="10800000">
            <a:off x="2757826" y="3578987"/>
            <a:ext cx="387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24"/>
          <p:cNvSpPr txBox="1"/>
          <p:nvPr/>
        </p:nvSpPr>
        <p:spPr>
          <a:xfrm>
            <a:off x="581288" y="3234110"/>
            <a:ext cx="157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addFirst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5" name="Google Shape;135;p24"/>
          <p:cNvCxnSpPr/>
          <p:nvPr/>
        </p:nvCxnSpPr>
        <p:spPr>
          <a:xfrm rot="10800000">
            <a:off x="180623" y="3412606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24"/>
          <p:cNvCxnSpPr/>
          <p:nvPr/>
        </p:nvCxnSpPr>
        <p:spPr>
          <a:xfrm rot="10800000">
            <a:off x="180623" y="3688758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24"/>
          <p:cNvSpPr txBox="1"/>
          <p:nvPr/>
        </p:nvSpPr>
        <p:spPr>
          <a:xfrm>
            <a:off x="4116413" y="3155350"/>
            <a:ext cx="34785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SLList</a:t>
            </a:r>
            <a:r>
              <a:rPr lang="en">
                <a:solidFill>
                  <a:srgbClr val="BE0712"/>
                </a:solidFill>
              </a:rPr>
              <a:t> class acts as a middle man between user and raw data structure.</a:t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138" name="Google Shape;138;p24"/>
          <p:cNvSpPr txBox="1"/>
          <p:nvPr/>
        </p:nvSpPr>
        <p:spPr>
          <a:xfrm>
            <a:off x="2318976" y="3058722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first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" name="Google Shape;139;p24"/>
          <p:cNvSpPr txBox="1"/>
          <p:nvPr/>
        </p:nvSpPr>
        <p:spPr>
          <a:xfrm>
            <a:off x="589260" y="3473125"/>
            <a:ext cx="157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getFirst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40" name="Google Shape;140;p24"/>
          <p:cNvGrpSpPr/>
          <p:nvPr/>
        </p:nvGrpSpPr>
        <p:grpSpPr>
          <a:xfrm>
            <a:off x="1864749" y="1317764"/>
            <a:ext cx="1031828" cy="429276"/>
            <a:chOff x="809625" y="3638550"/>
            <a:chExt cx="1190525" cy="495300"/>
          </a:xfrm>
        </p:grpSpPr>
        <p:sp>
          <p:nvSpPr>
            <p:cNvPr id="141" name="Google Shape;141;p24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2" name="Google Shape;142;p24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43" name="Google Shape;143;p24"/>
          <p:cNvGrpSpPr/>
          <p:nvPr/>
        </p:nvGrpSpPr>
        <p:grpSpPr>
          <a:xfrm>
            <a:off x="3602245" y="1317764"/>
            <a:ext cx="1031828" cy="429276"/>
            <a:chOff x="809625" y="3638550"/>
            <a:chExt cx="1190525" cy="495300"/>
          </a:xfrm>
        </p:grpSpPr>
        <p:sp>
          <p:nvSpPr>
            <p:cNvPr id="144" name="Google Shape;144;p24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5" name="Google Shape;145;p24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46" name="Google Shape;146;p24"/>
          <p:cNvGrpSpPr/>
          <p:nvPr/>
        </p:nvGrpSpPr>
        <p:grpSpPr>
          <a:xfrm>
            <a:off x="5339742" y="1317764"/>
            <a:ext cx="1031828" cy="429276"/>
            <a:chOff x="809625" y="3638550"/>
            <a:chExt cx="1190525" cy="495300"/>
          </a:xfrm>
        </p:grpSpPr>
        <p:sp>
          <p:nvSpPr>
            <p:cNvPr id="147" name="Google Shape;147;p24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8" name="Google Shape;148;p24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B7B7B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cxnSp>
        <p:nvCxnSpPr>
          <p:cNvPr id="149" name="Google Shape;149;p24"/>
          <p:cNvCxnSpPr>
            <a:endCxn id="144" idx="1"/>
          </p:cNvCxnSpPr>
          <p:nvPr/>
        </p:nvCxnSpPr>
        <p:spPr>
          <a:xfrm>
            <a:off x="2545945" y="1532402"/>
            <a:ext cx="1056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24"/>
          <p:cNvCxnSpPr>
            <a:endCxn id="147" idx="1"/>
          </p:cNvCxnSpPr>
          <p:nvPr/>
        </p:nvCxnSpPr>
        <p:spPr>
          <a:xfrm>
            <a:off x="4257342" y="1532402"/>
            <a:ext cx="10824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24"/>
          <p:cNvCxnSpPr>
            <a:stCxn id="152" idx="3"/>
            <a:endCxn id="145" idx="0"/>
          </p:cNvCxnSpPr>
          <p:nvPr/>
        </p:nvCxnSpPr>
        <p:spPr>
          <a:xfrm flipH="1">
            <a:off x="4376113" y="888560"/>
            <a:ext cx="264300" cy="429300"/>
          </a:xfrm>
          <a:prstGeom prst="curvedConnector4">
            <a:avLst>
              <a:gd fmla="val -90096" name="adj1"/>
              <a:gd fmla="val 64402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" name="Google Shape;153;p24"/>
          <p:cNvSpPr txBox="1"/>
          <p:nvPr/>
        </p:nvSpPr>
        <p:spPr>
          <a:xfrm>
            <a:off x="3661125" y="705050"/>
            <a:ext cx="3870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L2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4045213" y="764810"/>
            <a:ext cx="595200" cy="2475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4"/>
          <p:cNvSpPr txBox="1"/>
          <p:nvPr/>
        </p:nvSpPr>
        <p:spPr>
          <a:xfrm>
            <a:off x="968254" y="736652"/>
            <a:ext cx="7617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1368814" y="819422"/>
            <a:ext cx="595200" cy="2475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6" name="Google Shape;156;p24"/>
          <p:cNvCxnSpPr>
            <a:stCxn id="155" idx="3"/>
            <a:endCxn id="142" idx="0"/>
          </p:cNvCxnSpPr>
          <p:nvPr/>
        </p:nvCxnSpPr>
        <p:spPr>
          <a:xfrm>
            <a:off x="1964014" y="943172"/>
            <a:ext cx="674700" cy="3747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" name="Google Shape;157;p24"/>
          <p:cNvSpPr txBox="1"/>
          <p:nvPr/>
        </p:nvSpPr>
        <p:spPr>
          <a:xfrm>
            <a:off x="1741861" y="4641998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item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2275261" y="4641998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next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59" name="Google Shape;159;p24"/>
          <p:cNvGrpSpPr/>
          <p:nvPr/>
        </p:nvGrpSpPr>
        <p:grpSpPr>
          <a:xfrm>
            <a:off x="1796624" y="4299714"/>
            <a:ext cx="1031828" cy="429276"/>
            <a:chOff x="809625" y="3638550"/>
            <a:chExt cx="1190525" cy="495300"/>
          </a:xfrm>
        </p:grpSpPr>
        <p:sp>
          <p:nvSpPr>
            <p:cNvPr id="160" name="Google Shape;160;p24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2" name="Google Shape;132;p24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61" name="Google Shape;161;p24"/>
          <p:cNvGrpSpPr/>
          <p:nvPr/>
        </p:nvGrpSpPr>
        <p:grpSpPr>
          <a:xfrm>
            <a:off x="3534120" y="4299714"/>
            <a:ext cx="1031828" cy="429276"/>
            <a:chOff x="809625" y="3638550"/>
            <a:chExt cx="1190525" cy="495300"/>
          </a:xfrm>
        </p:grpSpPr>
        <p:sp>
          <p:nvSpPr>
            <p:cNvPr id="162" name="Google Shape;162;p24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63" name="Google Shape;163;p24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64" name="Google Shape;164;p24"/>
          <p:cNvGrpSpPr/>
          <p:nvPr/>
        </p:nvGrpSpPr>
        <p:grpSpPr>
          <a:xfrm>
            <a:off x="5271617" y="4299714"/>
            <a:ext cx="1031828" cy="429276"/>
            <a:chOff x="809625" y="3638550"/>
            <a:chExt cx="1190525" cy="495300"/>
          </a:xfrm>
        </p:grpSpPr>
        <p:sp>
          <p:nvSpPr>
            <p:cNvPr id="165" name="Google Shape;165;p24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66" name="Google Shape;166;p24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B7B7B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cxnSp>
        <p:nvCxnSpPr>
          <p:cNvPr id="167" name="Google Shape;167;p24"/>
          <p:cNvCxnSpPr>
            <a:endCxn id="162" idx="1"/>
          </p:cNvCxnSpPr>
          <p:nvPr/>
        </p:nvCxnSpPr>
        <p:spPr>
          <a:xfrm>
            <a:off x="2477820" y="4514352"/>
            <a:ext cx="1056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4"/>
          <p:cNvCxnSpPr>
            <a:endCxn id="165" idx="1"/>
          </p:cNvCxnSpPr>
          <p:nvPr/>
        </p:nvCxnSpPr>
        <p:spPr>
          <a:xfrm>
            <a:off x="4189217" y="4514352"/>
            <a:ext cx="10824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24"/>
          <p:cNvSpPr txBox="1"/>
          <p:nvPr/>
        </p:nvSpPr>
        <p:spPr>
          <a:xfrm>
            <a:off x="1836225" y="1666037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first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2369625" y="1666037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rest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71" name="Google Shape;171;p24"/>
          <p:cNvCxnSpPr/>
          <p:nvPr/>
        </p:nvCxnSpPr>
        <p:spPr>
          <a:xfrm>
            <a:off x="5851328" y="1321256"/>
            <a:ext cx="519300" cy="42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4"/>
          <p:cNvCxnSpPr/>
          <p:nvPr/>
        </p:nvCxnSpPr>
        <p:spPr>
          <a:xfrm>
            <a:off x="5784153" y="4300318"/>
            <a:ext cx="519300" cy="42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24"/>
          <p:cNvSpPr txBox="1"/>
          <p:nvPr/>
        </p:nvSpPr>
        <p:spPr>
          <a:xfrm>
            <a:off x="6838950" y="993775"/>
            <a:ext cx="21480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Naked recursion: Natural for </a:t>
            </a:r>
            <a:r>
              <a:rPr lang="en">
                <a:solidFill>
                  <a:srgbClr val="BE0712"/>
                </a:solidFill>
              </a:rPr>
              <a:t>IntList user to have variables that point to the middle of the IntList.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174" name="Google Shape;174;p24"/>
          <p:cNvCxnSpPr/>
          <p:nvPr/>
        </p:nvCxnSpPr>
        <p:spPr>
          <a:xfrm rot="10800000">
            <a:off x="4829175" y="844700"/>
            <a:ext cx="1905000" cy="2475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928950" y="1506550"/>
            <a:ext cx="7286100" cy="164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Public vs. Private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Nested Classes</a:t>
            </a:r>
            <a:endParaRPr sz="4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SLList So Far</a:t>
            </a:r>
            <a:endParaRPr/>
          </a:p>
        </p:txBody>
      </p:sp>
      <p:sp>
        <p:nvSpPr>
          <p:cNvPr id="185" name="Google Shape;185;p26"/>
          <p:cNvSpPr/>
          <p:nvPr/>
        </p:nvSpPr>
        <p:spPr>
          <a:xfrm>
            <a:off x="527300" y="884375"/>
            <a:ext cx="906600" cy="2961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6" name="Google Shape;186;p26"/>
          <p:cNvCxnSpPr/>
          <p:nvPr/>
        </p:nvCxnSpPr>
        <p:spPr>
          <a:xfrm rot="10800000">
            <a:off x="796575" y="1342675"/>
            <a:ext cx="514500" cy="23784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" name="Google Shape;187;p26"/>
          <p:cNvSpPr txBox="1"/>
          <p:nvPr/>
        </p:nvSpPr>
        <p:spPr>
          <a:xfrm>
            <a:off x="4544000" y="4014050"/>
            <a:ext cx="4389000" cy="978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 = </a:t>
            </a:r>
            <a:r>
              <a:rPr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SLList(15);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L.addFirst(10);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90600" y="708900"/>
            <a:ext cx="4324500" cy="34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first;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SLList(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first =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null);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addFirst(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first =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first);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>
              <a:solidFill>
                <a:srgbClr val="AA22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89" name="Google Shape;189;p26"/>
          <p:cNvGrpSpPr/>
          <p:nvPr/>
        </p:nvGrpSpPr>
        <p:grpSpPr>
          <a:xfrm>
            <a:off x="4811800" y="1601127"/>
            <a:ext cx="1760452" cy="541942"/>
            <a:chOff x="56205" y="2119800"/>
            <a:chExt cx="2110095" cy="654520"/>
          </a:xfrm>
        </p:grpSpPr>
        <p:sp>
          <p:nvSpPr>
            <p:cNvPr id="190" name="Google Shape;190;p26"/>
            <p:cNvSpPr/>
            <p:nvPr/>
          </p:nvSpPr>
          <p:spPr>
            <a:xfrm>
              <a:off x="360600" y="2188270"/>
              <a:ext cx="595200" cy="2475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6"/>
            <p:cNvSpPr txBox="1"/>
            <p:nvPr/>
          </p:nvSpPr>
          <p:spPr>
            <a:xfrm>
              <a:off x="56205" y="2119800"/>
              <a:ext cx="336300" cy="1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L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92" name="Google Shape;192;p26"/>
            <p:cNvCxnSpPr>
              <a:stCxn id="190" idx="3"/>
              <a:endCxn id="193" idx="0"/>
            </p:cNvCxnSpPr>
            <p:nvPr/>
          </p:nvCxnSpPr>
          <p:spPr>
            <a:xfrm>
              <a:off x="955800" y="2312020"/>
              <a:ext cx="1210500" cy="462300"/>
            </a:xfrm>
            <a:prstGeom prst="curvedConnector2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93" name="Google Shape;193;p26"/>
          <p:cNvSpPr/>
          <p:nvPr/>
        </p:nvSpPr>
        <p:spPr>
          <a:xfrm>
            <a:off x="5289339" y="2143154"/>
            <a:ext cx="2565600" cy="6792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6"/>
          <p:cNvSpPr/>
          <p:nvPr/>
        </p:nvSpPr>
        <p:spPr>
          <a:xfrm>
            <a:off x="6570032" y="2303340"/>
            <a:ext cx="806100" cy="3885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5" name="Google Shape;195;p26"/>
          <p:cNvCxnSpPr>
            <a:stCxn id="194" idx="3"/>
            <a:endCxn id="196" idx="0"/>
          </p:cNvCxnSpPr>
          <p:nvPr/>
        </p:nvCxnSpPr>
        <p:spPr>
          <a:xfrm flipH="1">
            <a:off x="6909632" y="2497590"/>
            <a:ext cx="466500" cy="593100"/>
          </a:xfrm>
          <a:prstGeom prst="curvedConnector4">
            <a:avLst>
              <a:gd fmla="val -51045" name="adj1"/>
              <a:gd fmla="val 66364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6"/>
          <p:cNvCxnSpPr/>
          <p:nvPr/>
        </p:nvCxnSpPr>
        <p:spPr>
          <a:xfrm rot="10800000">
            <a:off x="7065894" y="2493935"/>
            <a:ext cx="3228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26"/>
          <p:cNvSpPr txBox="1"/>
          <p:nvPr/>
        </p:nvSpPr>
        <p:spPr>
          <a:xfrm>
            <a:off x="5249887" y="2208369"/>
            <a:ext cx="13137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addFirst</a:t>
            </a: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99" name="Google Shape;199;p26"/>
          <p:cNvCxnSpPr/>
          <p:nvPr/>
        </p:nvCxnSpPr>
        <p:spPr>
          <a:xfrm rot="10800000">
            <a:off x="4915681" y="2356168"/>
            <a:ext cx="360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6"/>
          <p:cNvCxnSpPr/>
          <p:nvPr/>
        </p:nvCxnSpPr>
        <p:spPr>
          <a:xfrm rot="10800000">
            <a:off x="4915681" y="2584828"/>
            <a:ext cx="360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26"/>
          <p:cNvSpPr txBox="1"/>
          <p:nvPr/>
        </p:nvSpPr>
        <p:spPr>
          <a:xfrm>
            <a:off x="6646578" y="2033402"/>
            <a:ext cx="6942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first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" name="Google Shape;202;p26"/>
          <p:cNvSpPr txBox="1"/>
          <p:nvPr/>
        </p:nvSpPr>
        <p:spPr>
          <a:xfrm>
            <a:off x="5256538" y="2406279"/>
            <a:ext cx="13137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getFirst</a:t>
            </a: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6218175" y="3374109"/>
            <a:ext cx="551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item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4" name="Google Shape;204;p26"/>
          <p:cNvSpPr txBox="1"/>
          <p:nvPr/>
        </p:nvSpPr>
        <p:spPr>
          <a:xfrm>
            <a:off x="6719490" y="3374100"/>
            <a:ext cx="55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ext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05" name="Google Shape;205;p26"/>
          <p:cNvGrpSpPr/>
          <p:nvPr/>
        </p:nvGrpSpPr>
        <p:grpSpPr>
          <a:xfrm>
            <a:off x="6263861" y="3090544"/>
            <a:ext cx="860869" cy="355427"/>
            <a:chOff x="809625" y="3638550"/>
            <a:chExt cx="1190525" cy="495300"/>
          </a:xfrm>
        </p:grpSpPr>
        <p:sp>
          <p:nvSpPr>
            <p:cNvPr id="206" name="Google Shape;206;p26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96" name="Google Shape;196;p26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07" name="Google Shape;207;p26"/>
          <p:cNvGrpSpPr/>
          <p:nvPr/>
        </p:nvGrpSpPr>
        <p:grpSpPr>
          <a:xfrm>
            <a:off x="7713487" y="3090544"/>
            <a:ext cx="860869" cy="355427"/>
            <a:chOff x="809625" y="3638550"/>
            <a:chExt cx="1190525" cy="495300"/>
          </a:xfrm>
        </p:grpSpPr>
        <p:sp>
          <p:nvSpPr>
            <p:cNvPr id="208" name="Google Shape;208;p26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B7B7B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cxnSp>
        <p:nvCxnSpPr>
          <p:cNvPr id="210" name="Google Shape;210;p26"/>
          <p:cNvCxnSpPr>
            <a:endCxn id="208" idx="1"/>
          </p:cNvCxnSpPr>
          <p:nvPr/>
        </p:nvCxnSpPr>
        <p:spPr>
          <a:xfrm>
            <a:off x="6832087" y="3268258"/>
            <a:ext cx="8814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26"/>
          <p:cNvCxnSpPr/>
          <p:nvPr/>
        </p:nvCxnSpPr>
        <p:spPr>
          <a:xfrm>
            <a:off x="8136828" y="3090543"/>
            <a:ext cx="435600" cy="34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Potential SLList Danger</a:t>
            </a:r>
            <a:endParaRPr/>
          </a:p>
        </p:txBody>
      </p:sp>
      <p:sp>
        <p:nvSpPr>
          <p:cNvPr id="217" name="Google Shape;217;p27"/>
          <p:cNvSpPr/>
          <p:nvPr/>
        </p:nvSpPr>
        <p:spPr>
          <a:xfrm>
            <a:off x="527300" y="884375"/>
            <a:ext cx="906600" cy="2961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8" name="Google Shape;218;p27"/>
          <p:cNvCxnSpPr/>
          <p:nvPr/>
        </p:nvCxnSpPr>
        <p:spPr>
          <a:xfrm rot="10800000">
            <a:off x="796575" y="1342675"/>
            <a:ext cx="514500" cy="23784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" name="Google Shape;219;p27"/>
          <p:cNvSpPr txBox="1"/>
          <p:nvPr/>
        </p:nvSpPr>
        <p:spPr>
          <a:xfrm>
            <a:off x="4544000" y="4014050"/>
            <a:ext cx="4389000" cy="978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 = </a:t>
            </a:r>
            <a:r>
              <a:rPr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(15);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L.addFirst(10);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L.first.next.next = L.first.next;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90600" y="708900"/>
            <a:ext cx="4324500" cy="34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first;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SLList(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first =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null);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addFirst(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first =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first);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>
              <a:solidFill>
                <a:srgbClr val="AA22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21" name="Google Shape;221;p27"/>
          <p:cNvGrpSpPr/>
          <p:nvPr/>
        </p:nvGrpSpPr>
        <p:grpSpPr>
          <a:xfrm>
            <a:off x="4811800" y="1601127"/>
            <a:ext cx="1760452" cy="541942"/>
            <a:chOff x="56205" y="2119800"/>
            <a:chExt cx="2110095" cy="654520"/>
          </a:xfrm>
        </p:grpSpPr>
        <p:sp>
          <p:nvSpPr>
            <p:cNvPr id="222" name="Google Shape;222;p27"/>
            <p:cNvSpPr/>
            <p:nvPr/>
          </p:nvSpPr>
          <p:spPr>
            <a:xfrm>
              <a:off x="360600" y="2188270"/>
              <a:ext cx="595200" cy="2475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7"/>
            <p:cNvSpPr txBox="1"/>
            <p:nvPr/>
          </p:nvSpPr>
          <p:spPr>
            <a:xfrm>
              <a:off x="56205" y="2119800"/>
              <a:ext cx="336300" cy="1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L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24" name="Google Shape;224;p27"/>
            <p:cNvCxnSpPr>
              <a:stCxn id="222" idx="3"/>
              <a:endCxn id="225" idx="0"/>
            </p:cNvCxnSpPr>
            <p:nvPr/>
          </p:nvCxnSpPr>
          <p:spPr>
            <a:xfrm>
              <a:off x="955800" y="2312020"/>
              <a:ext cx="1210500" cy="462300"/>
            </a:xfrm>
            <a:prstGeom prst="curvedConnector2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25" name="Google Shape;225;p27"/>
          <p:cNvSpPr/>
          <p:nvPr/>
        </p:nvSpPr>
        <p:spPr>
          <a:xfrm>
            <a:off x="5289339" y="2143154"/>
            <a:ext cx="2565600" cy="6792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7"/>
          <p:cNvSpPr/>
          <p:nvPr/>
        </p:nvSpPr>
        <p:spPr>
          <a:xfrm>
            <a:off x="6570032" y="2303340"/>
            <a:ext cx="806100" cy="3885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7" name="Google Shape;227;p27"/>
          <p:cNvCxnSpPr>
            <a:stCxn id="226" idx="3"/>
            <a:endCxn id="228" idx="0"/>
          </p:cNvCxnSpPr>
          <p:nvPr/>
        </p:nvCxnSpPr>
        <p:spPr>
          <a:xfrm flipH="1">
            <a:off x="6909632" y="2497590"/>
            <a:ext cx="466500" cy="593100"/>
          </a:xfrm>
          <a:prstGeom prst="curvedConnector4">
            <a:avLst>
              <a:gd fmla="val -51045" name="adj1"/>
              <a:gd fmla="val 66364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p27"/>
          <p:cNvCxnSpPr/>
          <p:nvPr/>
        </p:nvCxnSpPr>
        <p:spPr>
          <a:xfrm rot="10800000">
            <a:off x="7065894" y="2493935"/>
            <a:ext cx="3228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" name="Google Shape;230;p27"/>
          <p:cNvSpPr txBox="1"/>
          <p:nvPr/>
        </p:nvSpPr>
        <p:spPr>
          <a:xfrm>
            <a:off x="5249887" y="2208369"/>
            <a:ext cx="13137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addFirst()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31" name="Google Shape;231;p27"/>
          <p:cNvCxnSpPr/>
          <p:nvPr/>
        </p:nvCxnSpPr>
        <p:spPr>
          <a:xfrm rot="10800000">
            <a:off x="4915681" y="2356168"/>
            <a:ext cx="360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7"/>
          <p:cNvCxnSpPr/>
          <p:nvPr/>
        </p:nvCxnSpPr>
        <p:spPr>
          <a:xfrm rot="10800000">
            <a:off x="4915681" y="2584828"/>
            <a:ext cx="360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27"/>
          <p:cNvSpPr txBox="1"/>
          <p:nvPr/>
        </p:nvSpPr>
        <p:spPr>
          <a:xfrm>
            <a:off x="6646578" y="2033402"/>
            <a:ext cx="6942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first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4" name="Google Shape;234;p27"/>
          <p:cNvSpPr txBox="1"/>
          <p:nvPr/>
        </p:nvSpPr>
        <p:spPr>
          <a:xfrm>
            <a:off x="5256538" y="2406279"/>
            <a:ext cx="13137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getFirst()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5" name="Google Shape;235;p27"/>
          <p:cNvSpPr txBox="1"/>
          <p:nvPr/>
        </p:nvSpPr>
        <p:spPr>
          <a:xfrm>
            <a:off x="6218175" y="3374111"/>
            <a:ext cx="55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item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6" name="Google Shape;236;p27"/>
          <p:cNvSpPr txBox="1"/>
          <p:nvPr/>
        </p:nvSpPr>
        <p:spPr>
          <a:xfrm>
            <a:off x="6719490" y="3374100"/>
            <a:ext cx="55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next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37" name="Google Shape;237;p27"/>
          <p:cNvGrpSpPr/>
          <p:nvPr/>
        </p:nvGrpSpPr>
        <p:grpSpPr>
          <a:xfrm>
            <a:off x="6263861" y="3090544"/>
            <a:ext cx="860869" cy="355427"/>
            <a:chOff x="809625" y="3638550"/>
            <a:chExt cx="1190525" cy="495300"/>
          </a:xfrm>
        </p:grpSpPr>
        <p:sp>
          <p:nvSpPr>
            <p:cNvPr id="238" name="Google Shape;238;p27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28" name="Google Shape;228;p27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39" name="Google Shape;239;p27"/>
          <p:cNvGrpSpPr/>
          <p:nvPr/>
        </p:nvGrpSpPr>
        <p:grpSpPr>
          <a:xfrm>
            <a:off x="7713487" y="3090544"/>
            <a:ext cx="860869" cy="355427"/>
            <a:chOff x="809625" y="3638550"/>
            <a:chExt cx="1190525" cy="495300"/>
          </a:xfrm>
        </p:grpSpPr>
        <p:sp>
          <p:nvSpPr>
            <p:cNvPr id="240" name="Google Shape;240;p27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41" name="Google Shape;241;p27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B7B7B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cxnSp>
        <p:nvCxnSpPr>
          <p:cNvPr id="242" name="Google Shape;242;p27"/>
          <p:cNvCxnSpPr>
            <a:endCxn id="240" idx="1"/>
          </p:cNvCxnSpPr>
          <p:nvPr/>
        </p:nvCxnSpPr>
        <p:spPr>
          <a:xfrm>
            <a:off x="6832087" y="3268258"/>
            <a:ext cx="8814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3" name="Google Shape;243;p27"/>
          <p:cNvSpPr txBox="1"/>
          <p:nvPr/>
        </p:nvSpPr>
        <p:spPr>
          <a:xfrm>
            <a:off x="539525" y="4252925"/>
            <a:ext cx="3718800" cy="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Users of our class might be tempted to try to manipulate our secret IntNode directly in uncouth ways!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244" name="Google Shape;244;p27"/>
          <p:cNvCxnSpPr/>
          <p:nvPr/>
        </p:nvCxnSpPr>
        <p:spPr>
          <a:xfrm flipH="1" rot="10800000">
            <a:off x="2123775" y="4785075"/>
            <a:ext cx="2289600" cy="996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" name="Google Shape;245;p27"/>
          <p:cNvCxnSpPr/>
          <p:nvPr/>
        </p:nvCxnSpPr>
        <p:spPr>
          <a:xfrm>
            <a:off x="8136828" y="3090543"/>
            <a:ext cx="435600" cy="34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Potential SLList Danger</a:t>
            </a:r>
            <a:endParaRPr/>
          </a:p>
        </p:txBody>
      </p:sp>
      <p:sp>
        <p:nvSpPr>
          <p:cNvPr id="251" name="Google Shape;251;p28"/>
          <p:cNvSpPr/>
          <p:nvPr/>
        </p:nvSpPr>
        <p:spPr>
          <a:xfrm>
            <a:off x="527300" y="884375"/>
            <a:ext cx="906600" cy="2961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2" name="Google Shape;252;p28"/>
          <p:cNvCxnSpPr/>
          <p:nvPr/>
        </p:nvCxnSpPr>
        <p:spPr>
          <a:xfrm rot="10800000">
            <a:off x="796575" y="1342675"/>
            <a:ext cx="514500" cy="23784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3" name="Google Shape;253;p28"/>
          <p:cNvSpPr txBox="1"/>
          <p:nvPr/>
        </p:nvSpPr>
        <p:spPr>
          <a:xfrm>
            <a:off x="539525" y="4252925"/>
            <a:ext cx="3718800" cy="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Users of our class might be tempted to try to manipulate our secret IntNode directly in uncouth ways!</a:t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254" name="Google Shape;254;p28"/>
          <p:cNvSpPr txBox="1"/>
          <p:nvPr/>
        </p:nvSpPr>
        <p:spPr>
          <a:xfrm>
            <a:off x="4544000" y="4014050"/>
            <a:ext cx="4221900" cy="978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 = </a:t>
            </a:r>
            <a:r>
              <a:rPr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(15);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L.addFirst(10);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L.first.next.next = L.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first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.next;</a:t>
            </a:r>
            <a:endParaRPr sz="1700">
              <a:solidFill>
                <a:srgbClr val="2089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5" name="Google Shape;255;p28"/>
          <p:cNvSpPr txBox="1"/>
          <p:nvPr>
            <p:ph idx="1" type="body"/>
          </p:nvPr>
        </p:nvSpPr>
        <p:spPr>
          <a:xfrm>
            <a:off x="90600" y="708900"/>
            <a:ext cx="4324500" cy="34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first;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SLList(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first =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null);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addFirst(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first =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first);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>
              <a:solidFill>
                <a:srgbClr val="AA22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56" name="Google Shape;256;p28"/>
          <p:cNvGrpSpPr/>
          <p:nvPr/>
        </p:nvGrpSpPr>
        <p:grpSpPr>
          <a:xfrm>
            <a:off x="4811800" y="1601127"/>
            <a:ext cx="1760452" cy="541942"/>
            <a:chOff x="56205" y="2119800"/>
            <a:chExt cx="2110095" cy="654520"/>
          </a:xfrm>
        </p:grpSpPr>
        <p:sp>
          <p:nvSpPr>
            <p:cNvPr id="257" name="Google Shape;257;p28"/>
            <p:cNvSpPr/>
            <p:nvPr/>
          </p:nvSpPr>
          <p:spPr>
            <a:xfrm>
              <a:off x="360600" y="2188270"/>
              <a:ext cx="595200" cy="2475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8"/>
            <p:cNvSpPr txBox="1"/>
            <p:nvPr/>
          </p:nvSpPr>
          <p:spPr>
            <a:xfrm>
              <a:off x="56205" y="2119800"/>
              <a:ext cx="336300" cy="1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L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59" name="Google Shape;259;p28"/>
            <p:cNvCxnSpPr>
              <a:stCxn id="257" idx="3"/>
              <a:endCxn id="260" idx="0"/>
            </p:cNvCxnSpPr>
            <p:nvPr/>
          </p:nvCxnSpPr>
          <p:spPr>
            <a:xfrm>
              <a:off x="955800" y="2312020"/>
              <a:ext cx="1210500" cy="462300"/>
            </a:xfrm>
            <a:prstGeom prst="curvedConnector2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60" name="Google Shape;260;p28"/>
          <p:cNvSpPr/>
          <p:nvPr/>
        </p:nvSpPr>
        <p:spPr>
          <a:xfrm>
            <a:off x="5289339" y="2143154"/>
            <a:ext cx="2565600" cy="6792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8"/>
          <p:cNvSpPr/>
          <p:nvPr/>
        </p:nvSpPr>
        <p:spPr>
          <a:xfrm>
            <a:off x="6570032" y="2303340"/>
            <a:ext cx="806100" cy="3885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2" name="Google Shape;262;p28"/>
          <p:cNvCxnSpPr>
            <a:stCxn id="261" idx="3"/>
            <a:endCxn id="263" idx="0"/>
          </p:cNvCxnSpPr>
          <p:nvPr/>
        </p:nvCxnSpPr>
        <p:spPr>
          <a:xfrm flipH="1">
            <a:off x="6909632" y="2497590"/>
            <a:ext cx="466500" cy="593100"/>
          </a:xfrm>
          <a:prstGeom prst="curvedConnector4">
            <a:avLst>
              <a:gd fmla="val -51045" name="adj1"/>
              <a:gd fmla="val 66364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28"/>
          <p:cNvCxnSpPr/>
          <p:nvPr/>
        </p:nvCxnSpPr>
        <p:spPr>
          <a:xfrm rot="10800000">
            <a:off x="7065894" y="2493935"/>
            <a:ext cx="3228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28"/>
          <p:cNvSpPr txBox="1"/>
          <p:nvPr/>
        </p:nvSpPr>
        <p:spPr>
          <a:xfrm>
            <a:off x="5249887" y="2208369"/>
            <a:ext cx="13137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addFirst</a:t>
            </a: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66" name="Google Shape;266;p28"/>
          <p:cNvCxnSpPr/>
          <p:nvPr/>
        </p:nvCxnSpPr>
        <p:spPr>
          <a:xfrm rot="10800000">
            <a:off x="4915681" y="2356168"/>
            <a:ext cx="360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28"/>
          <p:cNvCxnSpPr/>
          <p:nvPr/>
        </p:nvCxnSpPr>
        <p:spPr>
          <a:xfrm rot="10800000">
            <a:off x="4915681" y="2584828"/>
            <a:ext cx="360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28"/>
          <p:cNvSpPr txBox="1"/>
          <p:nvPr/>
        </p:nvSpPr>
        <p:spPr>
          <a:xfrm>
            <a:off x="6646578" y="2026765"/>
            <a:ext cx="6942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first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9" name="Google Shape;269;p28"/>
          <p:cNvSpPr txBox="1"/>
          <p:nvPr/>
        </p:nvSpPr>
        <p:spPr>
          <a:xfrm>
            <a:off x="5256538" y="2406279"/>
            <a:ext cx="13137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getFirst</a:t>
            </a: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" name="Google Shape;270;p28"/>
          <p:cNvSpPr txBox="1"/>
          <p:nvPr/>
        </p:nvSpPr>
        <p:spPr>
          <a:xfrm>
            <a:off x="6218175" y="3374103"/>
            <a:ext cx="5511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item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1" name="Google Shape;271;p28"/>
          <p:cNvSpPr txBox="1"/>
          <p:nvPr/>
        </p:nvSpPr>
        <p:spPr>
          <a:xfrm>
            <a:off x="6719490" y="3374100"/>
            <a:ext cx="55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next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72" name="Google Shape;272;p28"/>
          <p:cNvGrpSpPr/>
          <p:nvPr/>
        </p:nvGrpSpPr>
        <p:grpSpPr>
          <a:xfrm>
            <a:off x="6263861" y="3090544"/>
            <a:ext cx="860869" cy="355427"/>
            <a:chOff x="809625" y="3638550"/>
            <a:chExt cx="1190525" cy="495300"/>
          </a:xfrm>
        </p:grpSpPr>
        <p:sp>
          <p:nvSpPr>
            <p:cNvPr id="273" name="Google Shape;273;p28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63" name="Google Shape;263;p28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74" name="Google Shape;274;p28"/>
          <p:cNvGrpSpPr/>
          <p:nvPr/>
        </p:nvGrpSpPr>
        <p:grpSpPr>
          <a:xfrm>
            <a:off x="7713487" y="3090544"/>
            <a:ext cx="860869" cy="355427"/>
            <a:chOff x="809625" y="3638550"/>
            <a:chExt cx="1190525" cy="495300"/>
          </a:xfrm>
        </p:grpSpPr>
        <p:sp>
          <p:nvSpPr>
            <p:cNvPr id="275" name="Google Shape;275;p28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76" name="Google Shape;276;p28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cxnSp>
        <p:nvCxnSpPr>
          <p:cNvPr id="277" name="Google Shape;277;p28"/>
          <p:cNvCxnSpPr>
            <a:endCxn id="275" idx="1"/>
          </p:cNvCxnSpPr>
          <p:nvPr/>
        </p:nvCxnSpPr>
        <p:spPr>
          <a:xfrm>
            <a:off x="6832087" y="3268258"/>
            <a:ext cx="8814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" name="Google Shape;278;p28"/>
          <p:cNvCxnSpPr>
            <a:stCxn id="276" idx="3"/>
            <a:endCxn id="275" idx="2"/>
          </p:cNvCxnSpPr>
          <p:nvPr/>
        </p:nvCxnSpPr>
        <p:spPr>
          <a:xfrm flipH="1">
            <a:off x="7928756" y="3268258"/>
            <a:ext cx="645600" cy="177600"/>
          </a:xfrm>
          <a:prstGeom prst="curvedConnector4">
            <a:avLst>
              <a:gd fmla="val -30766" name="adj1"/>
              <a:gd fmla="val 211078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" name="Google Shape;279;p28"/>
          <p:cNvCxnSpPr/>
          <p:nvPr/>
        </p:nvCxnSpPr>
        <p:spPr>
          <a:xfrm flipH="1" rot="10800000">
            <a:off x="2123775" y="4785075"/>
            <a:ext cx="2289600" cy="996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80" name="Google Shape;28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450" y="2896200"/>
            <a:ext cx="906600" cy="90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5072" y="1191250"/>
            <a:ext cx="1468678" cy="110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9775" y="2962879"/>
            <a:ext cx="1359424" cy="1083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77172" y="1748210"/>
            <a:ext cx="1185002" cy="81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9"/>
          <p:cNvSpPr txBox="1"/>
          <p:nvPr>
            <p:ph idx="1" type="body"/>
          </p:nvPr>
        </p:nvSpPr>
        <p:spPr>
          <a:xfrm>
            <a:off x="90600" y="708900"/>
            <a:ext cx="4324500" cy="34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first;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SLList(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first =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null);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addFirst(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first =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first);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>
              <a:solidFill>
                <a:srgbClr val="AA22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9" name="Google Shape;289;p29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Access Control</a:t>
            </a:r>
            <a:endParaRPr/>
          </a:p>
        </p:txBody>
      </p:sp>
      <p:sp>
        <p:nvSpPr>
          <p:cNvPr id="290" name="Google Shape;290;p29"/>
          <p:cNvSpPr/>
          <p:nvPr/>
        </p:nvSpPr>
        <p:spPr>
          <a:xfrm>
            <a:off x="394557" y="1043675"/>
            <a:ext cx="899700" cy="2961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9"/>
          <p:cNvSpPr txBox="1"/>
          <p:nvPr/>
        </p:nvSpPr>
        <p:spPr>
          <a:xfrm>
            <a:off x="4707425" y="1180100"/>
            <a:ext cx="3718800" cy="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We can prevent programmers from making such mistakes with the </a:t>
            </a:r>
            <a:r>
              <a:rPr b="1" lang="en" sz="1600">
                <a:solidFill>
                  <a:srgbClr val="9C20EE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rgbClr val="BE0712"/>
                </a:solidFill>
              </a:rPr>
              <a:t> keyword.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0"/>
          <p:cNvSpPr txBox="1"/>
          <p:nvPr>
            <p:ph idx="1" type="body"/>
          </p:nvPr>
        </p:nvSpPr>
        <p:spPr>
          <a:xfrm>
            <a:off x="90600" y="708900"/>
            <a:ext cx="4324500" cy="349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first;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SLList(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first =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null);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addFirst(</a:t>
            </a:r>
            <a:r>
              <a:rPr b="1"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first =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first);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b="1"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>
              <a:solidFill>
                <a:srgbClr val="AA22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7" name="Google Shape;297;p30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/>
              <a:t>Improvement #3</a:t>
            </a:r>
            <a:r>
              <a:rPr lang="en"/>
              <a:t>: Access Control</a:t>
            </a:r>
            <a:endParaRPr/>
          </a:p>
        </p:txBody>
      </p:sp>
      <p:sp>
        <p:nvSpPr>
          <p:cNvPr id="298" name="Google Shape;298;p30"/>
          <p:cNvSpPr/>
          <p:nvPr/>
        </p:nvSpPr>
        <p:spPr>
          <a:xfrm>
            <a:off x="394549" y="1043675"/>
            <a:ext cx="982500" cy="2961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0"/>
          <p:cNvSpPr txBox="1"/>
          <p:nvPr/>
        </p:nvSpPr>
        <p:spPr>
          <a:xfrm>
            <a:off x="4707425" y="1027700"/>
            <a:ext cx="37188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Use the</a:t>
            </a:r>
            <a:r>
              <a:rPr lang="en" sz="1800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1800">
                <a:solidFill>
                  <a:srgbClr val="9C20EE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800">
                <a:solidFill>
                  <a:srgbClr val="BE0712"/>
                </a:solidFill>
              </a:rPr>
              <a:t> 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keyword to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prevent code in </a:t>
            </a:r>
            <a:r>
              <a:rPr lang="en" sz="1800" u="sng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other classes 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from using members (or constructors) of a class.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0"/>
          <p:cNvSpPr txBox="1"/>
          <p:nvPr/>
        </p:nvSpPr>
        <p:spPr>
          <a:xfrm>
            <a:off x="4544000" y="2781576"/>
            <a:ext cx="4221900" cy="978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 = </a:t>
            </a:r>
            <a:r>
              <a:rPr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(15);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L.addFirst(10);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L.first.next.next = L.first.next;</a:t>
            </a:r>
            <a:endParaRPr sz="1700">
              <a:solidFill>
                <a:srgbClr val="2089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1729700" y="3943800"/>
            <a:ext cx="7147500" cy="112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AA84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jug</a:t>
            </a:r>
            <a:r>
              <a:rPr lang="en" sz="1600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FFD966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~/Dropbox/61b/lec/lists2</a:t>
            </a:r>
            <a:r>
              <a:rPr lang="en" sz="1600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solidFill>
                <a:srgbClr val="93C47D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93C47D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$</a:t>
            </a:r>
            <a:r>
              <a:rPr lang="en" sz="1600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 javac </a:t>
            </a:r>
            <a:r>
              <a:rPr lang="en" sz="1600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 sz="1600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User.java</a:t>
            </a:r>
            <a:endParaRPr sz="1600"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 sz="1600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User.java:8: error: first has private access in </a:t>
            </a:r>
            <a:r>
              <a:rPr lang="en" sz="1600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endParaRPr sz="1600"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		L.first.next.next = L.first.next;</a:t>
            </a:r>
            <a:endParaRPr sz="1800"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1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Restrict Access?</a:t>
            </a:r>
            <a:endParaRPr/>
          </a:p>
        </p:txBody>
      </p:sp>
      <p:sp>
        <p:nvSpPr>
          <p:cNvPr id="307" name="Google Shape;307;p31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Hide implementation details from users of your class.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Less for user of class to understand.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Safe for you to change private methods (implementation).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Car analogy: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b="1" lang="en"/>
              <a:t>Public</a:t>
            </a:r>
            <a:r>
              <a:rPr lang="en"/>
              <a:t>: Pedals, Steering Wheel    </a:t>
            </a:r>
            <a:r>
              <a:rPr b="1" lang="en"/>
              <a:t>Private</a:t>
            </a:r>
            <a:r>
              <a:rPr lang="en"/>
              <a:t>: Fuel line, Rotary valve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Despite the term ‘access control’: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Nothing to do with protection against hackers, spies, and other evil entities.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0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0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2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Improvement #4</a:t>
            </a:r>
            <a:r>
              <a:rPr lang="en"/>
              <a:t>: Nested Classes</a:t>
            </a:r>
            <a:endParaRPr/>
          </a:p>
        </p:txBody>
      </p:sp>
      <p:sp>
        <p:nvSpPr>
          <p:cNvPr id="313" name="Google Shape;313;p32"/>
          <p:cNvSpPr txBox="1"/>
          <p:nvPr>
            <p:ph idx="1" type="body"/>
          </p:nvPr>
        </p:nvSpPr>
        <p:spPr>
          <a:xfrm>
            <a:off x="243000" y="556500"/>
            <a:ext cx="84438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Can combine two classes into one file pretty simply.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AA22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2"/>
          <p:cNvSpPr txBox="1"/>
          <p:nvPr/>
        </p:nvSpPr>
        <p:spPr>
          <a:xfrm>
            <a:off x="489306" y="1046903"/>
            <a:ext cx="5951400" cy="4039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next;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i,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item = i;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next = n;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first; 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SLList(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first =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null);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 ...</a:t>
            </a:r>
            <a:endParaRPr sz="1800"/>
          </a:p>
        </p:txBody>
      </p:sp>
      <p:sp>
        <p:nvSpPr>
          <p:cNvPr id="315" name="Google Shape;315;p32"/>
          <p:cNvSpPr txBox="1"/>
          <p:nvPr/>
        </p:nvSpPr>
        <p:spPr>
          <a:xfrm>
            <a:off x="6581772" y="1373309"/>
            <a:ext cx="25332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Nested class definition.</a:t>
            </a:r>
            <a:endParaRPr>
              <a:solidFill>
                <a:srgbClr val="BE071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E071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Could have made </a:t>
            </a:r>
            <a:r>
              <a:rPr lang="en">
                <a:solidFill>
                  <a:srgbClr val="BE0712"/>
                </a:solidFill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lang="en">
                <a:solidFill>
                  <a:srgbClr val="BE0712"/>
                </a:solidFill>
              </a:rPr>
              <a:t> a private nested class if we wanted.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316" name="Google Shape;316;p32"/>
          <p:cNvCxnSpPr/>
          <p:nvPr/>
        </p:nvCxnSpPr>
        <p:spPr>
          <a:xfrm flipH="1">
            <a:off x="3822100" y="1572009"/>
            <a:ext cx="2762400" cy="87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" name="Google Shape;317;p32"/>
          <p:cNvSpPr txBox="1"/>
          <p:nvPr/>
        </p:nvSpPr>
        <p:spPr>
          <a:xfrm>
            <a:off x="6677272" y="3849375"/>
            <a:ext cx="25332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Instance variables, constructors, and methods of </a:t>
            </a:r>
            <a:r>
              <a:rPr lang="en">
                <a:solidFill>
                  <a:srgbClr val="BE0712"/>
                </a:solidFill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>
                <a:solidFill>
                  <a:srgbClr val="BE0712"/>
                </a:solidFill>
              </a:rPr>
              <a:t> typically go below nested class definition.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318" name="Google Shape;318;p32"/>
          <p:cNvCxnSpPr/>
          <p:nvPr/>
        </p:nvCxnSpPr>
        <p:spPr>
          <a:xfrm rot="10800000">
            <a:off x="3869400" y="4069850"/>
            <a:ext cx="27600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Nested Classes?</a:t>
            </a:r>
            <a:endParaRPr/>
          </a:p>
        </p:txBody>
      </p:sp>
      <p:sp>
        <p:nvSpPr>
          <p:cNvPr id="324" name="Google Shape;324;p33"/>
          <p:cNvSpPr txBox="1"/>
          <p:nvPr>
            <p:ph idx="1" type="body"/>
          </p:nvPr>
        </p:nvSpPr>
        <p:spPr>
          <a:xfrm>
            <a:off x="243000" y="556500"/>
            <a:ext cx="8443800" cy="36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Nested Classes are useful when a class doesn’t stand on its own                         and is obviously subordinate to another class.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Make the nested class private if other classes should never use the nested class.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my opinion, probably makes sense to make </a:t>
            </a:r>
            <a:r>
              <a:rPr lang="en" sz="1800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lang="en"/>
              <a:t> a nested private class.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Hard to imagine other classes having a need to manipulate </a:t>
            </a:r>
            <a:r>
              <a:rPr lang="en" sz="1800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IntNodes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Nested Classes</a:t>
            </a:r>
            <a:endParaRPr/>
          </a:p>
        </p:txBody>
      </p:sp>
      <p:sp>
        <p:nvSpPr>
          <p:cNvPr id="330" name="Google Shape;330;p34"/>
          <p:cNvSpPr txBox="1"/>
          <p:nvPr>
            <p:ph idx="1" type="body"/>
          </p:nvPr>
        </p:nvSpPr>
        <p:spPr>
          <a:xfrm>
            <a:off x="243000" y="556500"/>
            <a:ext cx="8443800" cy="15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the nested class never uses any instance variables or methods of the outer class, declare it static.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Static classes cannot access outer class’s instance variables or methods.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Results in a minor savings of memory. See book for more details / exercise.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AA22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4"/>
          <p:cNvSpPr txBox="1"/>
          <p:nvPr/>
        </p:nvSpPr>
        <p:spPr>
          <a:xfrm>
            <a:off x="489300" y="2194250"/>
            <a:ext cx="5951400" cy="2892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static class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next;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IntNode(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i,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IntNode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item = i;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next = n;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sz="1800"/>
          </a:p>
        </p:txBody>
      </p:sp>
      <p:sp>
        <p:nvSpPr>
          <p:cNvPr id="332" name="Google Shape;332;p34"/>
          <p:cNvSpPr txBox="1"/>
          <p:nvPr/>
        </p:nvSpPr>
        <p:spPr>
          <a:xfrm>
            <a:off x="6581775" y="1901300"/>
            <a:ext cx="2533200" cy="30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We can declare IntNode static, since it never uses any of SLList’s instance variables or methods.</a:t>
            </a:r>
            <a:endParaRPr>
              <a:solidFill>
                <a:srgbClr val="BE071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E071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Analogy: Static methods had no way to access “my” instance variables. Static classes cannot access “my” outer class’s instance variables. </a:t>
            </a:r>
            <a:endParaRPr>
              <a:solidFill>
                <a:srgbClr val="BE071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E071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E0712"/>
                </a:solidFill>
              </a:rPr>
              <a:t>Unimportant note: For private nested classes, access modifiers are irrelevant.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333" name="Google Shape;333;p34"/>
          <p:cNvCxnSpPr/>
          <p:nvPr/>
        </p:nvCxnSpPr>
        <p:spPr>
          <a:xfrm rot="10800000">
            <a:off x="4730375" y="2733100"/>
            <a:ext cx="18696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5"/>
          <p:cNvSpPr txBox="1"/>
          <p:nvPr>
            <p:ph type="title"/>
          </p:nvPr>
        </p:nvSpPr>
        <p:spPr>
          <a:xfrm>
            <a:off x="928950" y="1506550"/>
            <a:ext cx="7286100" cy="164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addLast() and size()</a:t>
            </a:r>
            <a:endParaRPr sz="4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6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More SLList Functionality</a:t>
            </a:r>
            <a:endParaRPr/>
          </a:p>
        </p:txBody>
      </p:sp>
      <p:sp>
        <p:nvSpPr>
          <p:cNvPr id="344" name="Google Shape;344;p36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motivate our remaining improvements, and to give more                  functionality to our </a:t>
            </a:r>
            <a:r>
              <a:rPr lang="en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/>
              <a:t> class, let’s add: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.addLast(int x)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.size()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Recommendation: Try writing them yourself before watching how I do it.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45" name="Google Shape;345;p36"/>
          <p:cNvGraphicFramePr/>
          <p:nvPr/>
        </p:nvGraphicFramePr>
        <p:xfrm>
          <a:off x="1847875" y="293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{B816732A-7D9C-42E2-AA2B-80ED78E93E3F}</a:tableStyleId>
              </a:tblPr>
              <a:tblGrid>
                <a:gridCol w="1745000"/>
                <a:gridCol w="449525"/>
                <a:gridCol w="3824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Methods</a:t>
                      </a:r>
                      <a:endParaRPr/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Non-Obvious Improvements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addFirst(int x)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Rebranding: </a:t>
                      </a:r>
                      <a:r>
                        <a:rPr lang="en">
                          <a:solidFill>
                            <a:srgbClr val="20892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IntList</a:t>
                      </a:r>
                      <a:r>
                        <a:rPr lang="en"/>
                        <a:t> → </a:t>
                      </a:r>
                      <a:r>
                        <a:rPr lang="en">
                          <a:solidFill>
                            <a:srgbClr val="20892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IntNode</a:t>
                      </a:r>
                      <a:endParaRPr>
                        <a:solidFill>
                          <a:srgbClr val="20892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getFirst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Bureaucracy: </a:t>
                      </a:r>
                      <a:r>
                        <a:rPr lang="en">
                          <a:solidFill>
                            <a:srgbClr val="20892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SLList</a:t>
                      </a: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Access Control: </a:t>
                      </a:r>
                      <a:r>
                        <a:rPr lang="en">
                          <a:solidFill>
                            <a:srgbClr val="9C20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</a:t>
                      </a:r>
                      <a:r>
                        <a:rPr lang="en"/>
                        <a:t> → </a:t>
                      </a:r>
                      <a:r>
                        <a:rPr lang="en">
                          <a:solidFill>
                            <a:srgbClr val="9C20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private</a:t>
                      </a:r>
                      <a:endParaRPr>
                        <a:solidFill>
                          <a:srgbClr val="9C20E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Nested Class: Bringing </a:t>
                      </a:r>
                      <a:r>
                        <a:rPr lang="en">
                          <a:solidFill>
                            <a:srgbClr val="20892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IntNode</a:t>
                      </a:r>
                      <a:r>
                        <a:rPr lang="en"/>
                        <a:t> into </a:t>
                      </a:r>
                      <a:r>
                        <a:rPr lang="en">
                          <a:solidFill>
                            <a:srgbClr val="20892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SLList</a:t>
                      </a:r>
                      <a:endParaRPr>
                        <a:solidFill>
                          <a:srgbClr val="20892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46" name="Google Shape;346;p36"/>
          <p:cNvCxnSpPr/>
          <p:nvPr/>
        </p:nvCxnSpPr>
        <p:spPr>
          <a:xfrm flipH="1">
            <a:off x="3707400" y="2128675"/>
            <a:ext cx="621300" cy="2955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" name="Google Shape;347;p36"/>
          <p:cNvSpPr txBox="1"/>
          <p:nvPr/>
        </p:nvSpPr>
        <p:spPr>
          <a:xfrm>
            <a:off x="4287950" y="1792575"/>
            <a:ext cx="3249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See study guide for starter code!</a:t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348" name="Google Shape;348;p36"/>
          <p:cNvSpPr txBox="1"/>
          <p:nvPr/>
        </p:nvSpPr>
        <p:spPr>
          <a:xfrm>
            <a:off x="238275" y="4842598"/>
            <a:ext cx="55083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E0712"/>
                </a:solidFill>
              </a:rPr>
              <a:t>Answers not shown in slides. See sp18-lectureCode for answers.</a:t>
            </a:r>
            <a:endParaRPr sz="1200">
              <a:solidFill>
                <a:srgbClr val="BE071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7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Efficiency of Size: </a:t>
            </a:r>
            <a:r>
              <a:rPr lang="en"/>
              <a:t>http://shoutkey.com</a:t>
            </a:r>
            <a:r>
              <a:rPr lang="en">
                <a:solidFill>
                  <a:srgbClr val="208920"/>
                </a:solidFill>
              </a:rPr>
              <a:t>/gleam</a:t>
            </a:r>
            <a:endParaRPr>
              <a:solidFill>
                <a:srgbClr val="208920"/>
              </a:solidFill>
            </a:endParaRPr>
          </a:p>
        </p:txBody>
      </p:sp>
      <p:sp>
        <p:nvSpPr>
          <p:cNvPr id="354" name="Google Shape;354;p37"/>
          <p:cNvSpPr txBox="1"/>
          <p:nvPr>
            <p:ph idx="1" type="body"/>
          </p:nvPr>
        </p:nvSpPr>
        <p:spPr>
          <a:xfrm>
            <a:off x="243000" y="556500"/>
            <a:ext cx="41913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efficient is size?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Suppose size takes 2 seconds on a list of size 1,000.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How long will it take on a list of size 1,000,000?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0.002 seconds.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2 seconds.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2,000 seconds.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2,000,000 seconds.</a:t>
            </a:r>
            <a:endParaRPr/>
          </a:p>
        </p:txBody>
      </p:sp>
      <p:sp>
        <p:nvSpPr>
          <p:cNvPr id="355" name="Google Shape;355;p37"/>
          <p:cNvSpPr txBox="1"/>
          <p:nvPr/>
        </p:nvSpPr>
        <p:spPr>
          <a:xfrm>
            <a:off x="4341300" y="678600"/>
            <a:ext cx="4640100" cy="4339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size(IntNode p)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(p.next == null)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1;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1 + size(p.next);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size()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size(first);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8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Improvement #5</a:t>
            </a:r>
            <a:r>
              <a:rPr lang="en"/>
              <a:t>: Fast size()</a:t>
            </a:r>
            <a:endParaRPr/>
          </a:p>
        </p:txBody>
      </p:sp>
      <p:sp>
        <p:nvSpPr>
          <p:cNvPr id="361" name="Google Shape;361;p38"/>
          <p:cNvSpPr txBox="1"/>
          <p:nvPr>
            <p:ph idx="1" type="body"/>
          </p:nvPr>
        </p:nvSpPr>
        <p:spPr>
          <a:xfrm>
            <a:off x="243000" y="556500"/>
            <a:ext cx="34377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Your goal: 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Modify SLList so that the execution time of size() is always fast (i.e. independent of the size of the list).</a:t>
            </a:r>
            <a:endParaRPr/>
          </a:p>
        </p:txBody>
      </p:sp>
      <p:sp>
        <p:nvSpPr>
          <p:cNvPr id="362" name="Google Shape;362;p38"/>
          <p:cNvSpPr txBox="1"/>
          <p:nvPr/>
        </p:nvSpPr>
        <p:spPr>
          <a:xfrm>
            <a:off x="4026725" y="37941"/>
            <a:ext cx="5033700" cy="5074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 first;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first = </a:t>
            </a: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null);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addFirst(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First = </a:t>
            </a: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front);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 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size(IntNode p) {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(p.next == null) 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  </a:t>
            </a: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1;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1 + size(p.next);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size() {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size(first);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</a:rPr>
              <a:t> </a:t>
            </a:r>
            <a:endParaRPr sz="1700">
              <a:solidFill>
                <a:schemeClr val="dk1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9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Improvement #5</a:t>
            </a:r>
            <a:r>
              <a:rPr lang="en"/>
              <a:t>: Fast size()</a:t>
            </a:r>
            <a:endParaRPr/>
          </a:p>
        </p:txBody>
      </p:sp>
      <p:sp>
        <p:nvSpPr>
          <p:cNvPr id="368" name="Google Shape;368;p39"/>
          <p:cNvSpPr txBox="1"/>
          <p:nvPr>
            <p:ph idx="1" type="body"/>
          </p:nvPr>
        </p:nvSpPr>
        <p:spPr>
          <a:xfrm>
            <a:off x="243000" y="556500"/>
            <a:ext cx="84081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Maintain a special size variable that </a:t>
            </a:r>
            <a:r>
              <a:rPr b="1" lang="en"/>
              <a:t>caches</a:t>
            </a:r>
            <a:r>
              <a:rPr lang="en"/>
              <a:t> the size of the list. 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Caching: putting aside data to speed up retrieval.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TANSTAAFL: There ain't no such thing as a free lunch.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But spreading the work over each add call is a net win in almost any circumstance.</a:t>
            </a:r>
            <a:endParaRPr/>
          </a:p>
        </p:txBody>
      </p:sp>
      <p:pic>
        <p:nvPicPr>
          <p:cNvPr id="369" name="Google Shape;36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3000" y="2677938"/>
            <a:ext cx="2571750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9"/>
          <p:cNvSpPr txBox="1"/>
          <p:nvPr/>
        </p:nvSpPr>
        <p:spPr>
          <a:xfrm>
            <a:off x="5831775" y="4809500"/>
            <a:ext cx="2683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hlinkClick r:id="rId4"/>
              </a:rPr>
              <a:t>http://www.ensler.us/ensler.us/images/nolnchsmalla.jpg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/>
          <p:nvPr/>
        </p:nvSpPr>
        <p:spPr>
          <a:xfrm>
            <a:off x="1984325" y="3392213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0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Naked Linked Lists (IntList) vs. SLLists</a:t>
            </a:r>
            <a:endParaRPr/>
          </a:p>
        </p:txBody>
      </p:sp>
      <p:grpSp>
        <p:nvGrpSpPr>
          <p:cNvPr id="377" name="Google Shape;377;p40"/>
          <p:cNvGrpSpPr/>
          <p:nvPr/>
        </p:nvGrpSpPr>
        <p:grpSpPr>
          <a:xfrm>
            <a:off x="56205" y="2500800"/>
            <a:ext cx="2109795" cy="654520"/>
            <a:chOff x="56205" y="2119800"/>
            <a:chExt cx="2109795" cy="654520"/>
          </a:xfrm>
        </p:grpSpPr>
        <p:sp>
          <p:nvSpPr>
            <p:cNvPr id="378" name="Google Shape;378;p40"/>
            <p:cNvSpPr/>
            <p:nvPr/>
          </p:nvSpPr>
          <p:spPr>
            <a:xfrm>
              <a:off x="360600" y="2188270"/>
              <a:ext cx="595200" cy="2475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0"/>
            <p:cNvSpPr txBox="1"/>
            <p:nvPr/>
          </p:nvSpPr>
          <p:spPr>
            <a:xfrm>
              <a:off x="56205" y="2119800"/>
              <a:ext cx="336300" cy="1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x</a:t>
              </a:r>
              <a:endParaRPr/>
            </a:p>
          </p:txBody>
        </p:sp>
        <p:cxnSp>
          <p:nvCxnSpPr>
            <p:cNvPr id="380" name="Google Shape;380;p40"/>
            <p:cNvCxnSpPr>
              <a:stCxn id="378" idx="3"/>
              <a:endCxn id="381" idx="0"/>
            </p:cNvCxnSpPr>
            <p:nvPr/>
          </p:nvCxnSpPr>
          <p:spPr>
            <a:xfrm>
              <a:off x="955800" y="2312020"/>
              <a:ext cx="1210200" cy="462300"/>
            </a:xfrm>
            <a:prstGeom prst="curvedConnector2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81" name="Google Shape;381;p40"/>
          <p:cNvSpPr/>
          <p:nvPr/>
        </p:nvSpPr>
        <p:spPr>
          <a:xfrm>
            <a:off x="628575" y="3155350"/>
            <a:ext cx="3075000" cy="9075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0"/>
          <p:cNvSpPr/>
          <p:nvPr/>
        </p:nvSpPr>
        <p:spPr>
          <a:xfrm>
            <a:off x="2627175" y="3398300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3" name="Google Shape;383;p40"/>
          <p:cNvCxnSpPr>
            <a:stCxn id="382" idx="3"/>
            <a:endCxn id="384" idx="0"/>
          </p:cNvCxnSpPr>
          <p:nvPr/>
        </p:nvCxnSpPr>
        <p:spPr>
          <a:xfrm flipH="1">
            <a:off x="2570475" y="3585650"/>
            <a:ext cx="559200" cy="714000"/>
          </a:xfrm>
          <a:prstGeom prst="curvedConnector4">
            <a:avLst>
              <a:gd fmla="val -42583" name="adj1"/>
              <a:gd fmla="val 63124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5" name="Google Shape;385;p40"/>
          <p:cNvCxnSpPr>
            <a:stCxn id="382" idx="3"/>
          </p:cNvCxnSpPr>
          <p:nvPr/>
        </p:nvCxnSpPr>
        <p:spPr>
          <a:xfrm rot="10800000">
            <a:off x="2840475" y="3581150"/>
            <a:ext cx="289200" cy="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" name="Google Shape;386;p40"/>
          <p:cNvSpPr txBox="1"/>
          <p:nvPr/>
        </p:nvSpPr>
        <p:spPr>
          <a:xfrm>
            <a:off x="581288" y="3122437"/>
            <a:ext cx="157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addFirst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87" name="Google Shape;387;p40"/>
          <p:cNvCxnSpPr/>
          <p:nvPr/>
        </p:nvCxnSpPr>
        <p:spPr>
          <a:xfrm rot="10800000">
            <a:off x="180623" y="3300934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40"/>
          <p:cNvCxnSpPr/>
          <p:nvPr/>
        </p:nvCxnSpPr>
        <p:spPr>
          <a:xfrm rot="10800000">
            <a:off x="180623" y="3536385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" name="Google Shape;389;p40"/>
          <p:cNvSpPr txBox="1"/>
          <p:nvPr/>
        </p:nvSpPr>
        <p:spPr>
          <a:xfrm>
            <a:off x="4116425" y="3079150"/>
            <a:ext cx="47865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SLList</a:t>
            </a:r>
            <a:r>
              <a:rPr lang="en">
                <a:solidFill>
                  <a:srgbClr val="BE0712"/>
                </a:solidFill>
              </a:rPr>
              <a:t> class acts as a middle man between user and the naked recursive data structure. Allows us to store meta information about entire list, e.g. </a:t>
            </a:r>
            <a:r>
              <a:rPr b="1" lang="en">
                <a:solidFill>
                  <a:srgbClr val="BE0712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>
                <a:solidFill>
                  <a:srgbClr val="BE0712"/>
                </a:solidFill>
              </a:rPr>
              <a:t>.</a:t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390" name="Google Shape;390;p40"/>
          <p:cNvSpPr txBox="1"/>
          <p:nvPr/>
        </p:nvSpPr>
        <p:spPr>
          <a:xfrm>
            <a:off x="2588304" y="3092881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first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1" name="Google Shape;391;p40"/>
          <p:cNvSpPr txBox="1"/>
          <p:nvPr/>
        </p:nvSpPr>
        <p:spPr>
          <a:xfrm>
            <a:off x="589260" y="3344347"/>
            <a:ext cx="157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getFirst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92" name="Google Shape;392;p40"/>
          <p:cNvGrpSpPr/>
          <p:nvPr/>
        </p:nvGrpSpPr>
        <p:grpSpPr>
          <a:xfrm>
            <a:off x="1864749" y="1317764"/>
            <a:ext cx="1031828" cy="429276"/>
            <a:chOff x="809625" y="3638550"/>
            <a:chExt cx="1190525" cy="495300"/>
          </a:xfrm>
        </p:grpSpPr>
        <p:sp>
          <p:nvSpPr>
            <p:cNvPr id="393" name="Google Shape;393;p40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94" name="Google Shape;394;p40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95" name="Google Shape;395;p40"/>
          <p:cNvGrpSpPr/>
          <p:nvPr/>
        </p:nvGrpSpPr>
        <p:grpSpPr>
          <a:xfrm>
            <a:off x="3602245" y="1317764"/>
            <a:ext cx="1031828" cy="429276"/>
            <a:chOff x="809625" y="3638550"/>
            <a:chExt cx="1190525" cy="495300"/>
          </a:xfrm>
        </p:grpSpPr>
        <p:sp>
          <p:nvSpPr>
            <p:cNvPr id="396" name="Google Shape;396;p40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97" name="Google Shape;397;p40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98" name="Google Shape;398;p40"/>
          <p:cNvGrpSpPr/>
          <p:nvPr/>
        </p:nvGrpSpPr>
        <p:grpSpPr>
          <a:xfrm>
            <a:off x="5339742" y="1317764"/>
            <a:ext cx="1031828" cy="429276"/>
            <a:chOff x="809625" y="3638550"/>
            <a:chExt cx="1190525" cy="495300"/>
          </a:xfrm>
        </p:grpSpPr>
        <p:sp>
          <p:nvSpPr>
            <p:cNvPr id="399" name="Google Shape;399;p40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00" name="Google Shape;400;p40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B7B7B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cxnSp>
        <p:nvCxnSpPr>
          <p:cNvPr id="401" name="Google Shape;401;p40"/>
          <p:cNvCxnSpPr>
            <a:endCxn id="396" idx="1"/>
          </p:cNvCxnSpPr>
          <p:nvPr/>
        </p:nvCxnSpPr>
        <p:spPr>
          <a:xfrm>
            <a:off x="2545945" y="1532402"/>
            <a:ext cx="1056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2" name="Google Shape;402;p40"/>
          <p:cNvCxnSpPr>
            <a:endCxn id="399" idx="1"/>
          </p:cNvCxnSpPr>
          <p:nvPr/>
        </p:nvCxnSpPr>
        <p:spPr>
          <a:xfrm>
            <a:off x="4257342" y="1532402"/>
            <a:ext cx="10824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3" name="Google Shape;403;p40"/>
          <p:cNvSpPr txBox="1"/>
          <p:nvPr/>
        </p:nvSpPr>
        <p:spPr>
          <a:xfrm>
            <a:off x="1034929" y="736652"/>
            <a:ext cx="7617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404" name="Google Shape;404;p40"/>
          <p:cNvSpPr/>
          <p:nvPr/>
        </p:nvSpPr>
        <p:spPr>
          <a:xfrm>
            <a:off x="1368814" y="819422"/>
            <a:ext cx="595200" cy="2475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5" name="Google Shape;405;p40"/>
          <p:cNvCxnSpPr>
            <a:stCxn id="404" idx="3"/>
            <a:endCxn id="394" idx="0"/>
          </p:cNvCxnSpPr>
          <p:nvPr/>
        </p:nvCxnSpPr>
        <p:spPr>
          <a:xfrm>
            <a:off x="1964014" y="943172"/>
            <a:ext cx="674700" cy="3747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6" name="Google Shape;406;p40"/>
          <p:cNvSpPr txBox="1"/>
          <p:nvPr/>
        </p:nvSpPr>
        <p:spPr>
          <a:xfrm>
            <a:off x="1741861" y="4641998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item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7" name="Google Shape;407;p40"/>
          <p:cNvSpPr txBox="1"/>
          <p:nvPr/>
        </p:nvSpPr>
        <p:spPr>
          <a:xfrm>
            <a:off x="2275261" y="4641998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next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08" name="Google Shape;408;p40"/>
          <p:cNvGrpSpPr/>
          <p:nvPr/>
        </p:nvGrpSpPr>
        <p:grpSpPr>
          <a:xfrm>
            <a:off x="1796624" y="4299714"/>
            <a:ext cx="1031828" cy="429276"/>
            <a:chOff x="809625" y="3638550"/>
            <a:chExt cx="1190525" cy="495300"/>
          </a:xfrm>
        </p:grpSpPr>
        <p:sp>
          <p:nvSpPr>
            <p:cNvPr id="409" name="Google Shape;409;p40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84" name="Google Shape;384;p40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410" name="Google Shape;410;p40"/>
          <p:cNvGrpSpPr/>
          <p:nvPr/>
        </p:nvGrpSpPr>
        <p:grpSpPr>
          <a:xfrm>
            <a:off x="3534120" y="4299714"/>
            <a:ext cx="1031828" cy="429276"/>
            <a:chOff x="809625" y="3638550"/>
            <a:chExt cx="1190525" cy="495300"/>
          </a:xfrm>
        </p:grpSpPr>
        <p:sp>
          <p:nvSpPr>
            <p:cNvPr id="411" name="Google Shape;411;p40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12" name="Google Shape;412;p40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413" name="Google Shape;413;p40"/>
          <p:cNvGrpSpPr/>
          <p:nvPr/>
        </p:nvGrpSpPr>
        <p:grpSpPr>
          <a:xfrm>
            <a:off x="5271617" y="4299714"/>
            <a:ext cx="1031828" cy="429276"/>
            <a:chOff x="809625" y="3638550"/>
            <a:chExt cx="1190525" cy="495300"/>
          </a:xfrm>
        </p:grpSpPr>
        <p:sp>
          <p:nvSpPr>
            <p:cNvPr id="414" name="Google Shape;414;p40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15" name="Google Shape;415;p40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B7B7B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cxnSp>
        <p:nvCxnSpPr>
          <p:cNvPr id="416" name="Google Shape;416;p40"/>
          <p:cNvCxnSpPr>
            <a:endCxn id="411" idx="1"/>
          </p:cNvCxnSpPr>
          <p:nvPr/>
        </p:nvCxnSpPr>
        <p:spPr>
          <a:xfrm>
            <a:off x="2477820" y="4514352"/>
            <a:ext cx="1056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" name="Google Shape;417;p40"/>
          <p:cNvCxnSpPr>
            <a:endCxn id="414" idx="1"/>
          </p:cNvCxnSpPr>
          <p:nvPr/>
        </p:nvCxnSpPr>
        <p:spPr>
          <a:xfrm>
            <a:off x="4189217" y="4514352"/>
            <a:ext cx="10824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8" name="Google Shape;418;p40"/>
          <p:cNvSpPr txBox="1"/>
          <p:nvPr/>
        </p:nvSpPr>
        <p:spPr>
          <a:xfrm>
            <a:off x="1836225" y="1666037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first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9" name="Google Shape;419;p40"/>
          <p:cNvSpPr txBox="1"/>
          <p:nvPr/>
        </p:nvSpPr>
        <p:spPr>
          <a:xfrm>
            <a:off x="2369625" y="1666037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rest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0" name="Google Shape;420;p40"/>
          <p:cNvSpPr txBox="1"/>
          <p:nvPr/>
        </p:nvSpPr>
        <p:spPr>
          <a:xfrm>
            <a:off x="2092997" y="3381907"/>
            <a:ext cx="3561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1" name="Google Shape;421;p40"/>
          <p:cNvSpPr txBox="1"/>
          <p:nvPr/>
        </p:nvSpPr>
        <p:spPr>
          <a:xfrm>
            <a:off x="1978704" y="3092881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size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22" name="Google Shape;422;p40"/>
          <p:cNvCxnSpPr/>
          <p:nvPr/>
        </p:nvCxnSpPr>
        <p:spPr>
          <a:xfrm rot="10800000">
            <a:off x="180623" y="3934438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" name="Google Shape;423;p40"/>
          <p:cNvSpPr txBox="1"/>
          <p:nvPr/>
        </p:nvSpPr>
        <p:spPr>
          <a:xfrm>
            <a:off x="589260" y="3747708"/>
            <a:ext cx="157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size()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4" name="Google Shape;424;p40"/>
          <p:cNvSpPr txBox="1"/>
          <p:nvPr/>
        </p:nvSpPr>
        <p:spPr>
          <a:xfrm>
            <a:off x="589260" y="3554580"/>
            <a:ext cx="157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addLast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25" name="Google Shape;425;p40"/>
          <p:cNvCxnSpPr/>
          <p:nvPr/>
        </p:nvCxnSpPr>
        <p:spPr>
          <a:xfrm rot="10800000">
            <a:off x="180623" y="3741310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p40"/>
          <p:cNvCxnSpPr/>
          <p:nvPr/>
        </p:nvCxnSpPr>
        <p:spPr>
          <a:xfrm>
            <a:off x="5851328" y="1321256"/>
            <a:ext cx="519300" cy="42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40"/>
          <p:cNvCxnSpPr/>
          <p:nvPr/>
        </p:nvCxnSpPr>
        <p:spPr>
          <a:xfrm>
            <a:off x="5784153" y="4300318"/>
            <a:ext cx="519300" cy="42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1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Improvement #6a</a:t>
            </a:r>
            <a:r>
              <a:rPr lang="en"/>
              <a:t>: Representing the Empty List</a:t>
            </a:r>
            <a:endParaRPr/>
          </a:p>
        </p:txBody>
      </p:sp>
      <p:sp>
        <p:nvSpPr>
          <p:cNvPr id="433" name="Google Shape;433;p41"/>
          <p:cNvSpPr txBox="1"/>
          <p:nvPr>
            <p:ph idx="1" type="body"/>
          </p:nvPr>
        </p:nvSpPr>
        <p:spPr>
          <a:xfrm>
            <a:off x="243000" y="556500"/>
            <a:ext cx="87789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Benefits of </a:t>
            </a:r>
            <a:r>
              <a:rPr lang="en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/>
              <a:t> vs. </a:t>
            </a:r>
            <a:r>
              <a:rPr lang="en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IntList</a:t>
            </a:r>
            <a:r>
              <a:rPr lang="en"/>
              <a:t> so far: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Faster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size()</a:t>
            </a:r>
            <a:r>
              <a:rPr lang="en"/>
              <a:t> method than would have been convenient for </a:t>
            </a:r>
            <a:r>
              <a:rPr lang="en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IntList</a:t>
            </a:r>
            <a:r>
              <a:rPr lang="en"/>
              <a:t>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User of an </a:t>
            </a:r>
            <a:r>
              <a:rPr lang="en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/>
              <a:t> never sees the </a:t>
            </a:r>
            <a:r>
              <a:rPr lang="en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IntList</a:t>
            </a:r>
            <a:r>
              <a:rPr lang="en"/>
              <a:t> </a:t>
            </a:r>
            <a:r>
              <a:rPr lang="en"/>
              <a:t>class.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Simpler to use.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More efficient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addFirst</a:t>
            </a:r>
            <a:r>
              <a:rPr lang="en"/>
              <a:t> method (see exercises).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Avoids errors (or malfeasance):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Another benefit we can gain: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Easy to represent the empty list. Represent the empty list by setting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first</a:t>
            </a:r>
            <a:r>
              <a:rPr lang="en"/>
              <a:t> to null. Let’s try!</a:t>
            </a:r>
            <a:endParaRPr/>
          </a:p>
        </p:txBody>
      </p:sp>
      <p:grpSp>
        <p:nvGrpSpPr>
          <p:cNvPr id="434" name="Google Shape;434;p41"/>
          <p:cNvGrpSpPr/>
          <p:nvPr/>
        </p:nvGrpSpPr>
        <p:grpSpPr>
          <a:xfrm>
            <a:off x="6143388" y="2377377"/>
            <a:ext cx="1031828" cy="429276"/>
            <a:chOff x="809625" y="3638550"/>
            <a:chExt cx="1190525" cy="495300"/>
          </a:xfrm>
        </p:grpSpPr>
        <p:sp>
          <p:nvSpPr>
            <p:cNvPr id="435" name="Google Shape;435;p41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15</a:t>
              </a:r>
              <a:endParaRPr/>
            </a:p>
          </p:txBody>
        </p:sp>
        <p:sp>
          <p:nvSpPr>
            <p:cNvPr id="436" name="Google Shape;436;p41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37" name="Google Shape;437;p41"/>
          <p:cNvCxnSpPr>
            <a:stCxn id="436" idx="3"/>
            <a:endCxn id="435" idx="2"/>
          </p:cNvCxnSpPr>
          <p:nvPr/>
        </p:nvCxnSpPr>
        <p:spPr>
          <a:xfrm flipH="1">
            <a:off x="6401216" y="2592015"/>
            <a:ext cx="774000" cy="214500"/>
          </a:xfrm>
          <a:prstGeom prst="curvedConnector4">
            <a:avLst>
              <a:gd fmla="val -30766" name="adj1"/>
              <a:gd fmla="val 211078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38" name="Google Shape;438;p41"/>
          <p:cNvGrpSpPr/>
          <p:nvPr/>
        </p:nvGrpSpPr>
        <p:grpSpPr>
          <a:xfrm>
            <a:off x="4512317" y="2377377"/>
            <a:ext cx="1031828" cy="429276"/>
            <a:chOff x="809625" y="3638550"/>
            <a:chExt cx="1190525" cy="495300"/>
          </a:xfrm>
        </p:grpSpPr>
        <p:sp>
          <p:nvSpPr>
            <p:cNvPr id="439" name="Google Shape;439;p41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10</a:t>
              </a:r>
              <a:endParaRPr/>
            </a:p>
          </p:txBody>
        </p:sp>
        <p:sp>
          <p:nvSpPr>
            <p:cNvPr id="440" name="Google Shape;440;p41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41" name="Google Shape;441;p41"/>
          <p:cNvCxnSpPr>
            <a:endCxn id="435" idx="1"/>
          </p:cNvCxnSpPr>
          <p:nvPr/>
        </p:nvCxnSpPr>
        <p:spPr>
          <a:xfrm>
            <a:off x="5127288" y="2592015"/>
            <a:ext cx="10161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2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Would You Fix addLast?</a:t>
            </a:r>
            <a:endParaRPr/>
          </a:p>
        </p:txBody>
      </p:sp>
      <p:sp>
        <p:nvSpPr>
          <p:cNvPr id="447" name="Google Shape;447;p42"/>
          <p:cNvSpPr txBox="1"/>
          <p:nvPr>
            <p:ph idx="1" type="body"/>
          </p:nvPr>
        </p:nvSpPr>
        <p:spPr>
          <a:xfrm>
            <a:off x="243000" y="556500"/>
            <a:ext cx="40494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Your goal: 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Fix addLast so that we do not get a null pointer exception when we try to add to the back of an empty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/>
              <a:t>: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8" name="Google Shape;448;p42"/>
          <p:cNvSpPr txBox="1"/>
          <p:nvPr/>
        </p:nvSpPr>
        <p:spPr>
          <a:xfrm>
            <a:off x="4392450" y="0"/>
            <a:ext cx="4833600" cy="5143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 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first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size;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first 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= null;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size = 0;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addLast(</a:t>
            </a:r>
            <a:r>
              <a:rPr b="1"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size += 1;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IntNode p = 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first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(p.next != null) {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p = p.next;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p.next =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null);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 ...</a:t>
            </a:r>
            <a:endParaRPr b="1" sz="18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9" name="Google Shape;449;p42"/>
          <p:cNvSpPr txBox="1"/>
          <p:nvPr/>
        </p:nvSpPr>
        <p:spPr>
          <a:xfrm>
            <a:off x="338250" y="2586225"/>
            <a:ext cx="3706500" cy="1065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 sz="20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s1 = new SLList();</a:t>
            </a:r>
            <a:endParaRPr sz="20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s1.addLast(5);</a:t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450" name="Google Shape;450;p42"/>
          <p:cNvSpPr txBox="1"/>
          <p:nvPr/>
        </p:nvSpPr>
        <p:spPr>
          <a:xfrm>
            <a:off x="108675" y="4552725"/>
            <a:ext cx="3249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See study guide for starter code if you want to try on a computer.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451" name="Google Shape;451;p42"/>
          <p:cNvCxnSpPr/>
          <p:nvPr/>
        </p:nvCxnSpPr>
        <p:spPr>
          <a:xfrm flipH="1" rot="10800000">
            <a:off x="1436100" y="4206250"/>
            <a:ext cx="2790900" cy="3465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3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Solution</a:t>
            </a:r>
            <a:endParaRPr/>
          </a:p>
        </p:txBody>
      </p:sp>
      <p:sp>
        <p:nvSpPr>
          <p:cNvPr id="457" name="Google Shape;457;p43"/>
          <p:cNvSpPr txBox="1"/>
          <p:nvPr>
            <p:ph idx="1" type="body"/>
          </p:nvPr>
        </p:nvSpPr>
        <p:spPr>
          <a:xfrm>
            <a:off x="243000" y="556500"/>
            <a:ext cx="40494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One possible solution: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Add a special case for the empty list.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But there are other ways...</a:t>
            </a:r>
            <a:endParaRPr/>
          </a:p>
        </p:txBody>
      </p:sp>
      <p:sp>
        <p:nvSpPr>
          <p:cNvPr id="458" name="Google Shape;458;p43"/>
          <p:cNvSpPr txBox="1"/>
          <p:nvPr/>
        </p:nvSpPr>
        <p:spPr>
          <a:xfrm>
            <a:off x="4489950" y="619259"/>
            <a:ext cx="4633500" cy="4476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addLast(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size += 1;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first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== null) {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f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irst 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null);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IntNode p = 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first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(p.next != null)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 = p.next;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p.next = </a:t>
            </a:r>
            <a:r>
              <a:rPr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null);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4"/>
          <p:cNvSpPr txBox="1"/>
          <p:nvPr>
            <p:ph type="title"/>
          </p:nvPr>
        </p:nvSpPr>
        <p:spPr>
          <a:xfrm>
            <a:off x="928950" y="2143050"/>
            <a:ext cx="72861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Sentinel Nodes</a:t>
            </a:r>
            <a:endParaRPr sz="4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5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 For Being a Good Programmer: Keep Code Simple</a:t>
            </a:r>
            <a:endParaRPr/>
          </a:p>
        </p:txBody>
      </p:sp>
      <p:sp>
        <p:nvSpPr>
          <p:cNvPr id="469" name="Google Shape;469;p45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 a human programmer, you only have so much working memory.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You want to restrict the amount of complexity in your life!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Simple code is (usually) good code.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Special cases are not ‘simple’.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70" name="Google Shape;470;p45"/>
          <p:cNvSpPr txBox="1"/>
          <p:nvPr/>
        </p:nvSpPr>
        <p:spPr>
          <a:xfrm>
            <a:off x="5190700" y="1467900"/>
            <a:ext cx="3885900" cy="3565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addLast(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size += 1;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(first == null) {</a:t>
            </a:r>
            <a:endParaRPr b="1"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first =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null);</a:t>
            </a:r>
            <a:endParaRPr b="1"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IntNode p = first;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(p.next != null)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 = p.next;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p.next = </a:t>
            </a:r>
            <a:r>
              <a:rPr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null);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highlight>
                <a:srgbClr val="EFEFEF"/>
              </a:highlight>
            </a:endParaRPr>
          </a:p>
        </p:txBody>
      </p:sp>
      <p:sp>
        <p:nvSpPr>
          <p:cNvPr id="471" name="Google Shape;471;p45"/>
          <p:cNvSpPr/>
          <p:nvPr/>
        </p:nvSpPr>
        <p:spPr>
          <a:xfrm>
            <a:off x="5019675" y="2276475"/>
            <a:ext cx="114000" cy="9333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2" name="Google Shape;47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4325" y="2295525"/>
            <a:ext cx="80010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6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addLast’s Fundamental Problem</a:t>
            </a:r>
            <a:endParaRPr/>
          </a:p>
        </p:txBody>
      </p:sp>
      <p:sp>
        <p:nvSpPr>
          <p:cNvPr id="478" name="Google Shape;478;p46"/>
          <p:cNvSpPr txBox="1"/>
          <p:nvPr>
            <p:ph idx="1" type="body"/>
          </p:nvPr>
        </p:nvSpPr>
        <p:spPr>
          <a:xfrm>
            <a:off x="243000" y="556500"/>
            <a:ext cx="8443800" cy="9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fundamental problem: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The empty list has a null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first</a:t>
            </a:r>
            <a:r>
              <a:rPr lang="en"/>
              <a:t>. Can’t access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first.next</a:t>
            </a:r>
            <a:r>
              <a:rPr lang="en"/>
              <a:t>!</a:t>
            </a:r>
            <a:endParaRPr/>
          </a:p>
        </p:txBody>
      </p:sp>
      <p:sp>
        <p:nvSpPr>
          <p:cNvPr id="479" name="Google Shape;479;p46"/>
          <p:cNvSpPr txBox="1"/>
          <p:nvPr/>
        </p:nvSpPr>
        <p:spPr>
          <a:xfrm>
            <a:off x="5190700" y="1467900"/>
            <a:ext cx="3885900" cy="3565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addLast(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size += 1;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(first == null) {</a:t>
            </a:r>
            <a:endParaRPr b="1"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first =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null);</a:t>
            </a:r>
            <a:endParaRPr b="1"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IntNode p = first;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(p.next != null)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 = p.next;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p.next = </a:t>
            </a:r>
            <a:r>
              <a:rPr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null);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highlight>
                <a:srgbClr val="EFEFEF"/>
              </a:highlight>
            </a:endParaRPr>
          </a:p>
        </p:txBody>
      </p:sp>
      <p:sp>
        <p:nvSpPr>
          <p:cNvPr id="480" name="Google Shape;480;p46"/>
          <p:cNvSpPr txBox="1"/>
          <p:nvPr/>
        </p:nvSpPr>
        <p:spPr>
          <a:xfrm>
            <a:off x="206800" y="1631125"/>
            <a:ext cx="4983900" cy="3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fix is a bit ugly: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a special case.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complex data structures will have many more special cases (gross!!)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can we avoid special cases?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Make all </a:t>
            </a:r>
            <a:r>
              <a:rPr lang="en" sz="2000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SLLists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(even empty) the “same”.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7"/>
          <p:cNvSpPr/>
          <p:nvPr/>
        </p:nvSpPr>
        <p:spPr>
          <a:xfrm>
            <a:off x="1161975" y="1250350"/>
            <a:ext cx="3075000" cy="9075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47"/>
          <p:cNvSpPr txBox="1"/>
          <p:nvPr/>
        </p:nvSpPr>
        <p:spPr>
          <a:xfrm>
            <a:off x="2626397" y="1476907"/>
            <a:ext cx="3561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487" name="Google Shape;487;p47"/>
          <p:cNvSpPr txBox="1"/>
          <p:nvPr>
            <p:ph type="title"/>
          </p:nvPr>
        </p:nvSpPr>
        <p:spPr>
          <a:xfrm>
            <a:off x="166800" y="92500"/>
            <a:ext cx="87582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/>
              <a:t>Improvement #6b</a:t>
            </a:r>
            <a:r>
              <a:rPr lang="en"/>
              <a:t>: Representing the Empty List Using a Sentinel </a:t>
            </a:r>
            <a:endParaRPr/>
          </a:p>
        </p:txBody>
      </p:sp>
      <p:sp>
        <p:nvSpPr>
          <p:cNvPr id="488" name="Google Shape;488;p47"/>
          <p:cNvSpPr txBox="1"/>
          <p:nvPr>
            <p:ph idx="1" type="body"/>
          </p:nvPr>
        </p:nvSpPr>
        <p:spPr>
          <a:xfrm>
            <a:off x="243000" y="556500"/>
            <a:ext cx="8443800" cy="5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 a special node that is always there! Let’s call it a “sentinel node”.</a:t>
            </a:r>
            <a:endParaRPr/>
          </a:p>
        </p:txBody>
      </p:sp>
      <p:sp>
        <p:nvSpPr>
          <p:cNvPr id="489" name="Google Shape;489;p47"/>
          <p:cNvSpPr/>
          <p:nvPr/>
        </p:nvSpPr>
        <p:spPr>
          <a:xfrm>
            <a:off x="2517725" y="1487213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7"/>
          <p:cNvSpPr/>
          <p:nvPr/>
        </p:nvSpPr>
        <p:spPr>
          <a:xfrm>
            <a:off x="3160575" y="1493300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1" name="Google Shape;491;p47"/>
          <p:cNvCxnSpPr>
            <a:stCxn id="490" idx="3"/>
          </p:cNvCxnSpPr>
          <p:nvPr/>
        </p:nvCxnSpPr>
        <p:spPr>
          <a:xfrm rot="10800000">
            <a:off x="3373875" y="1676150"/>
            <a:ext cx="289200" cy="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" name="Google Shape;492;p47"/>
          <p:cNvSpPr txBox="1"/>
          <p:nvPr/>
        </p:nvSpPr>
        <p:spPr>
          <a:xfrm>
            <a:off x="1114688" y="1217437"/>
            <a:ext cx="157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addFirst</a:t>
            </a: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493" name="Google Shape;493;p47"/>
          <p:cNvCxnSpPr/>
          <p:nvPr/>
        </p:nvCxnSpPr>
        <p:spPr>
          <a:xfrm rot="10800000">
            <a:off x="714023" y="1395934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47"/>
          <p:cNvCxnSpPr/>
          <p:nvPr/>
        </p:nvCxnSpPr>
        <p:spPr>
          <a:xfrm rot="10800000">
            <a:off x="714023" y="1619588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5" name="Google Shape;495;p47"/>
          <p:cNvSpPr txBox="1"/>
          <p:nvPr/>
        </p:nvSpPr>
        <p:spPr>
          <a:xfrm>
            <a:off x="3121699" y="1187875"/>
            <a:ext cx="95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first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496" name="Google Shape;496;p47"/>
          <p:cNvSpPr txBox="1"/>
          <p:nvPr/>
        </p:nvSpPr>
        <p:spPr>
          <a:xfrm>
            <a:off x="1122660" y="1427550"/>
            <a:ext cx="157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getFirst</a:t>
            </a: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497" name="Google Shape;497;p47"/>
          <p:cNvSpPr txBox="1"/>
          <p:nvPr/>
        </p:nvSpPr>
        <p:spPr>
          <a:xfrm>
            <a:off x="2275261" y="2736998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 Mono"/>
                <a:ea typeface="Ubuntu Mono"/>
                <a:cs typeface="Ubuntu Mono"/>
                <a:sym typeface="Ubuntu Mono"/>
              </a:rPr>
              <a:t>item</a:t>
            </a:r>
            <a:endParaRPr sz="12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498" name="Google Shape;498;p47"/>
          <p:cNvSpPr txBox="1"/>
          <p:nvPr/>
        </p:nvSpPr>
        <p:spPr>
          <a:xfrm>
            <a:off x="2808661" y="2736998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 Mono"/>
                <a:ea typeface="Ubuntu Mono"/>
                <a:cs typeface="Ubuntu Mono"/>
                <a:sym typeface="Ubuntu Mono"/>
              </a:rPr>
              <a:t> next</a:t>
            </a:r>
            <a:endParaRPr sz="1200">
              <a:latin typeface="Ubuntu Mono"/>
              <a:ea typeface="Ubuntu Mono"/>
              <a:cs typeface="Ubuntu Mono"/>
              <a:sym typeface="Ubuntu Mono"/>
            </a:endParaRPr>
          </a:p>
        </p:txBody>
      </p:sp>
      <p:grpSp>
        <p:nvGrpSpPr>
          <p:cNvPr id="499" name="Google Shape;499;p47"/>
          <p:cNvGrpSpPr/>
          <p:nvPr/>
        </p:nvGrpSpPr>
        <p:grpSpPr>
          <a:xfrm>
            <a:off x="2330024" y="2394714"/>
            <a:ext cx="1031828" cy="429276"/>
            <a:chOff x="809625" y="3638550"/>
            <a:chExt cx="1190525" cy="495300"/>
          </a:xfrm>
        </p:grpSpPr>
        <p:sp>
          <p:nvSpPr>
            <p:cNvPr id="500" name="Google Shape;500;p47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solidFill>
              <a:srgbClr val="D9D2E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??</a:t>
              </a:r>
              <a:endParaRPr/>
            </a:p>
          </p:txBody>
        </p:sp>
        <p:sp>
          <p:nvSpPr>
            <p:cNvPr id="501" name="Google Shape;501;p47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B7B7B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2" name="Google Shape;502;p47"/>
          <p:cNvSpPr txBox="1"/>
          <p:nvPr/>
        </p:nvSpPr>
        <p:spPr>
          <a:xfrm>
            <a:off x="2512104" y="1187881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503" name="Google Shape;503;p47"/>
          <p:cNvCxnSpPr/>
          <p:nvPr/>
        </p:nvCxnSpPr>
        <p:spPr>
          <a:xfrm rot="10800000">
            <a:off x="714023" y="2029438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" name="Google Shape;504;p47"/>
          <p:cNvSpPr txBox="1"/>
          <p:nvPr/>
        </p:nvSpPr>
        <p:spPr>
          <a:xfrm>
            <a:off x="1122660" y="1842708"/>
            <a:ext cx="157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505" name="Google Shape;505;p47"/>
          <p:cNvSpPr txBox="1"/>
          <p:nvPr/>
        </p:nvSpPr>
        <p:spPr>
          <a:xfrm>
            <a:off x="1122660" y="1649581"/>
            <a:ext cx="157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addLast</a:t>
            </a: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506" name="Google Shape;506;p47"/>
          <p:cNvCxnSpPr/>
          <p:nvPr/>
        </p:nvCxnSpPr>
        <p:spPr>
          <a:xfrm rot="10800000">
            <a:off x="714023" y="1836310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47"/>
          <p:cNvCxnSpPr>
            <a:stCxn id="490" idx="3"/>
            <a:endCxn id="501" idx="0"/>
          </p:cNvCxnSpPr>
          <p:nvPr/>
        </p:nvCxnSpPr>
        <p:spPr>
          <a:xfrm flipH="1">
            <a:off x="3103875" y="1680650"/>
            <a:ext cx="559200" cy="714000"/>
          </a:xfrm>
          <a:prstGeom prst="curvedConnector4">
            <a:avLst>
              <a:gd fmla="val -42583" name="adj1"/>
              <a:gd fmla="val 63124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08" name="Google Shape;508;p47"/>
          <p:cNvGrpSpPr/>
          <p:nvPr/>
        </p:nvGrpSpPr>
        <p:grpSpPr>
          <a:xfrm>
            <a:off x="714036" y="3204550"/>
            <a:ext cx="7860318" cy="1697623"/>
            <a:chOff x="714023" y="3321475"/>
            <a:chExt cx="7860318" cy="1697623"/>
          </a:xfrm>
        </p:grpSpPr>
        <p:sp>
          <p:nvSpPr>
            <p:cNvPr id="509" name="Google Shape;509;p47"/>
            <p:cNvSpPr/>
            <p:nvPr/>
          </p:nvSpPr>
          <p:spPr>
            <a:xfrm>
              <a:off x="2517725" y="3620813"/>
              <a:ext cx="502500" cy="3747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47"/>
            <p:cNvSpPr/>
            <p:nvPr/>
          </p:nvSpPr>
          <p:spPr>
            <a:xfrm>
              <a:off x="1161975" y="3383950"/>
              <a:ext cx="3075000" cy="9075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47"/>
            <p:cNvSpPr/>
            <p:nvPr/>
          </p:nvSpPr>
          <p:spPr>
            <a:xfrm>
              <a:off x="3160575" y="3626900"/>
              <a:ext cx="502500" cy="3747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12" name="Google Shape;512;p47"/>
            <p:cNvCxnSpPr>
              <a:stCxn id="511" idx="3"/>
              <a:endCxn id="513" idx="0"/>
            </p:cNvCxnSpPr>
            <p:nvPr/>
          </p:nvCxnSpPr>
          <p:spPr>
            <a:xfrm flipH="1">
              <a:off x="3103875" y="3814250"/>
              <a:ext cx="559200" cy="714000"/>
            </a:xfrm>
            <a:prstGeom prst="curvedConnector4">
              <a:avLst>
                <a:gd fmla="val -42583" name="adj1"/>
                <a:gd fmla="val 63124" name="adj2"/>
              </a:avLst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14" name="Google Shape;514;p47"/>
            <p:cNvCxnSpPr>
              <a:stCxn id="511" idx="3"/>
            </p:cNvCxnSpPr>
            <p:nvPr/>
          </p:nvCxnSpPr>
          <p:spPr>
            <a:xfrm rot="10800000">
              <a:off x="3373875" y="3809750"/>
              <a:ext cx="289200" cy="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5" name="Google Shape;515;p47"/>
            <p:cNvSpPr txBox="1"/>
            <p:nvPr/>
          </p:nvSpPr>
          <p:spPr>
            <a:xfrm>
              <a:off x="1114688" y="3351037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addFirst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cxnSp>
          <p:nvCxnSpPr>
            <p:cNvPr id="516" name="Google Shape;516;p47"/>
            <p:cNvCxnSpPr/>
            <p:nvPr/>
          </p:nvCxnSpPr>
          <p:spPr>
            <a:xfrm rot="10800000">
              <a:off x="714023" y="3529534"/>
              <a:ext cx="4323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" name="Google Shape;517;p47"/>
            <p:cNvCxnSpPr/>
            <p:nvPr/>
          </p:nvCxnSpPr>
          <p:spPr>
            <a:xfrm rot="10800000">
              <a:off x="714023" y="3753188"/>
              <a:ext cx="4323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8" name="Google Shape;518;p47"/>
            <p:cNvSpPr txBox="1"/>
            <p:nvPr/>
          </p:nvSpPr>
          <p:spPr>
            <a:xfrm>
              <a:off x="3121713" y="3321475"/>
              <a:ext cx="1031700" cy="3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first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519" name="Google Shape;519;p47"/>
            <p:cNvSpPr txBox="1"/>
            <p:nvPr/>
          </p:nvSpPr>
          <p:spPr>
            <a:xfrm>
              <a:off x="1122660" y="3561150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getFirst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520" name="Google Shape;520;p47"/>
            <p:cNvSpPr txBox="1"/>
            <p:nvPr/>
          </p:nvSpPr>
          <p:spPr>
            <a:xfrm>
              <a:off x="2275261" y="4870598"/>
              <a:ext cx="660600" cy="1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Ubuntu Mono"/>
                  <a:ea typeface="Ubuntu Mono"/>
                  <a:cs typeface="Ubuntu Mono"/>
                  <a:sym typeface="Ubuntu Mono"/>
                </a:rPr>
                <a:t>item</a:t>
              </a:r>
              <a:endParaRPr sz="1200"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521" name="Google Shape;521;p47"/>
            <p:cNvSpPr txBox="1"/>
            <p:nvPr/>
          </p:nvSpPr>
          <p:spPr>
            <a:xfrm>
              <a:off x="2808661" y="4870598"/>
              <a:ext cx="660600" cy="1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Ubuntu Mono"/>
                  <a:ea typeface="Ubuntu Mono"/>
                  <a:cs typeface="Ubuntu Mono"/>
                  <a:sym typeface="Ubuntu Mono"/>
                </a:rPr>
                <a:t> next</a:t>
              </a:r>
              <a:endParaRPr sz="1200"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grpSp>
          <p:nvGrpSpPr>
            <p:cNvPr id="522" name="Google Shape;522;p47"/>
            <p:cNvGrpSpPr/>
            <p:nvPr/>
          </p:nvGrpSpPr>
          <p:grpSpPr>
            <a:xfrm>
              <a:off x="2330024" y="4528314"/>
              <a:ext cx="1031828" cy="429276"/>
              <a:chOff x="809625" y="3638550"/>
              <a:chExt cx="1190525" cy="495300"/>
            </a:xfrm>
          </p:grpSpPr>
          <p:sp>
            <p:nvSpPr>
              <p:cNvPr id="523" name="Google Shape;523;p47"/>
              <p:cNvSpPr/>
              <p:nvPr/>
            </p:nvSpPr>
            <p:spPr>
              <a:xfrm>
                <a:off x="809625" y="3638550"/>
                <a:ext cx="595200" cy="495300"/>
              </a:xfrm>
              <a:prstGeom prst="rect">
                <a:avLst/>
              </a:prstGeom>
              <a:solidFill>
                <a:srgbClr val="D9D2E9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??</a:t>
                </a:r>
                <a:endParaRPr/>
              </a:p>
            </p:txBody>
          </p:sp>
          <p:sp>
            <p:nvSpPr>
              <p:cNvPr id="513" name="Google Shape;513;p47"/>
              <p:cNvSpPr/>
              <p:nvPr/>
            </p:nvSpPr>
            <p:spPr>
              <a:xfrm>
                <a:off x="1404950" y="3638550"/>
                <a:ext cx="595200" cy="495300"/>
              </a:xfrm>
              <a:prstGeom prst="rect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4" name="Google Shape;524;p47"/>
            <p:cNvGrpSpPr/>
            <p:nvPr/>
          </p:nvGrpSpPr>
          <p:grpSpPr>
            <a:xfrm>
              <a:off x="4067520" y="4528314"/>
              <a:ext cx="1031828" cy="429276"/>
              <a:chOff x="809625" y="3638550"/>
              <a:chExt cx="1190525" cy="495300"/>
            </a:xfrm>
          </p:grpSpPr>
          <p:sp>
            <p:nvSpPr>
              <p:cNvPr id="525" name="Google Shape;525;p47"/>
              <p:cNvSpPr/>
              <p:nvPr/>
            </p:nvSpPr>
            <p:spPr>
              <a:xfrm>
                <a:off x="809625" y="3638550"/>
                <a:ext cx="595200" cy="495300"/>
              </a:xfrm>
              <a:prstGeom prst="rect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5</a:t>
                </a:r>
                <a:endParaRPr/>
              </a:p>
            </p:txBody>
          </p:sp>
          <p:sp>
            <p:nvSpPr>
              <p:cNvPr id="526" name="Google Shape;526;p47"/>
              <p:cNvSpPr/>
              <p:nvPr/>
            </p:nvSpPr>
            <p:spPr>
              <a:xfrm>
                <a:off x="1404950" y="3638550"/>
                <a:ext cx="595200" cy="495300"/>
              </a:xfrm>
              <a:prstGeom prst="rect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7" name="Google Shape;527;p47"/>
            <p:cNvGrpSpPr/>
            <p:nvPr/>
          </p:nvGrpSpPr>
          <p:grpSpPr>
            <a:xfrm>
              <a:off x="7542513" y="4528314"/>
              <a:ext cx="1031828" cy="429276"/>
              <a:chOff x="809625" y="3638550"/>
              <a:chExt cx="1190525" cy="495300"/>
            </a:xfrm>
          </p:grpSpPr>
          <p:sp>
            <p:nvSpPr>
              <p:cNvPr id="528" name="Google Shape;528;p47"/>
              <p:cNvSpPr/>
              <p:nvPr/>
            </p:nvSpPr>
            <p:spPr>
              <a:xfrm>
                <a:off x="809625" y="3638550"/>
                <a:ext cx="595200" cy="495300"/>
              </a:xfrm>
              <a:prstGeom prst="rect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15</a:t>
                </a:r>
                <a:endParaRPr/>
              </a:p>
            </p:txBody>
          </p:sp>
          <p:sp>
            <p:nvSpPr>
              <p:cNvPr id="529" name="Google Shape;529;p47"/>
              <p:cNvSpPr/>
              <p:nvPr/>
            </p:nvSpPr>
            <p:spPr>
              <a:xfrm>
                <a:off x="1404950" y="3638550"/>
                <a:ext cx="595200" cy="495300"/>
              </a:xfrm>
              <a:prstGeom prst="rect">
                <a:avLst/>
              </a:prstGeom>
              <a:solidFill>
                <a:srgbClr val="B7B7B7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0" name="Google Shape;530;p47"/>
            <p:cNvGrpSpPr/>
            <p:nvPr/>
          </p:nvGrpSpPr>
          <p:grpSpPr>
            <a:xfrm>
              <a:off x="5805017" y="4528314"/>
              <a:ext cx="1031828" cy="429276"/>
              <a:chOff x="809625" y="3638550"/>
              <a:chExt cx="1190525" cy="495300"/>
            </a:xfrm>
          </p:grpSpPr>
          <p:sp>
            <p:nvSpPr>
              <p:cNvPr id="531" name="Google Shape;531;p47"/>
              <p:cNvSpPr/>
              <p:nvPr/>
            </p:nvSpPr>
            <p:spPr>
              <a:xfrm>
                <a:off x="809625" y="3638550"/>
                <a:ext cx="595200" cy="495300"/>
              </a:xfrm>
              <a:prstGeom prst="rect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10</a:t>
                </a:r>
                <a:endParaRPr/>
              </a:p>
            </p:txBody>
          </p:sp>
          <p:sp>
            <p:nvSpPr>
              <p:cNvPr id="532" name="Google Shape;532;p47"/>
              <p:cNvSpPr/>
              <p:nvPr/>
            </p:nvSpPr>
            <p:spPr>
              <a:xfrm>
                <a:off x="1404950" y="3638550"/>
                <a:ext cx="595200" cy="495300"/>
              </a:xfrm>
              <a:prstGeom prst="rect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533" name="Google Shape;533;p47"/>
            <p:cNvCxnSpPr>
              <a:endCxn id="525" idx="1"/>
            </p:cNvCxnSpPr>
            <p:nvPr/>
          </p:nvCxnSpPr>
          <p:spPr>
            <a:xfrm>
              <a:off x="3011220" y="4742952"/>
              <a:ext cx="10563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34" name="Google Shape;534;p47"/>
            <p:cNvCxnSpPr>
              <a:endCxn id="531" idx="1"/>
            </p:cNvCxnSpPr>
            <p:nvPr/>
          </p:nvCxnSpPr>
          <p:spPr>
            <a:xfrm>
              <a:off x="4722617" y="4742952"/>
              <a:ext cx="10824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35" name="Google Shape;535;p47"/>
            <p:cNvCxnSpPr>
              <a:endCxn id="528" idx="1"/>
            </p:cNvCxnSpPr>
            <p:nvPr/>
          </p:nvCxnSpPr>
          <p:spPr>
            <a:xfrm>
              <a:off x="6419913" y="4742952"/>
              <a:ext cx="11226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36" name="Google Shape;536;p47"/>
            <p:cNvSpPr txBox="1"/>
            <p:nvPr/>
          </p:nvSpPr>
          <p:spPr>
            <a:xfrm>
              <a:off x="2626397" y="3610507"/>
              <a:ext cx="3561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</a:t>
              </a:r>
              <a:endParaRPr/>
            </a:p>
          </p:txBody>
        </p:sp>
        <p:sp>
          <p:nvSpPr>
            <p:cNvPr id="537" name="Google Shape;537;p47"/>
            <p:cNvSpPr txBox="1"/>
            <p:nvPr/>
          </p:nvSpPr>
          <p:spPr>
            <a:xfrm>
              <a:off x="2512104" y="3321481"/>
              <a:ext cx="832200" cy="3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size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cxnSp>
          <p:nvCxnSpPr>
            <p:cNvPr id="538" name="Google Shape;538;p47"/>
            <p:cNvCxnSpPr/>
            <p:nvPr/>
          </p:nvCxnSpPr>
          <p:spPr>
            <a:xfrm rot="10800000">
              <a:off x="714023" y="4163038"/>
              <a:ext cx="4323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9" name="Google Shape;539;p47"/>
            <p:cNvSpPr txBox="1"/>
            <p:nvPr/>
          </p:nvSpPr>
          <p:spPr>
            <a:xfrm>
              <a:off x="1122660" y="3976308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size()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540" name="Google Shape;540;p47"/>
            <p:cNvSpPr txBox="1"/>
            <p:nvPr/>
          </p:nvSpPr>
          <p:spPr>
            <a:xfrm>
              <a:off x="1122660" y="3783180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addLast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cxnSp>
          <p:nvCxnSpPr>
            <p:cNvPr id="541" name="Google Shape;541;p47"/>
            <p:cNvCxnSpPr/>
            <p:nvPr/>
          </p:nvCxnSpPr>
          <p:spPr>
            <a:xfrm rot="10800000">
              <a:off x="714023" y="3969910"/>
              <a:ext cx="4323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2" name="Google Shape;542;p47"/>
          <p:cNvSpPr txBox="1"/>
          <p:nvPr/>
        </p:nvSpPr>
        <p:spPr>
          <a:xfrm>
            <a:off x="5098775" y="1973575"/>
            <a:ext cx="33786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T</a:t>
            </a:r>
            <a:r>
              <a:rPr lang="en">
                <a:solidFill>
                  <a:srgbClr val="BE0712"/>
                </a:solidFill>
              </a:rPr>
              <a:t>he empty list is just the sentinel node.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543" name="Google Shape;543;p47"/>
          <p:cNvCxnSpPr/>
          <p:nvPr/>
        </p:nvCxnSpPr>
        <p:spPr>
          <a:xfrm>
            <a:off x="2841203" y="2395318"/>
            <a:ext cx="519300" cy="42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" name="Google Shape;544;p47"/>
          <p:cNvCxnSpPr/>
          <p:nvPr/>
        </p:nvCxnSpPr>
        <p:spPr>
          <a:xfrm>
            <a:off x="8045528" y="4405093"/>
            <a:ext cx="519300" cy="42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47"/>
          <p:cNvCxnSpPr/>
          <p:nvPr/>
        </p:nvCxnSpPr>
        <p:spPr>
          <a:xfrm rot="10800000">
            <a:off x="4419675" y="1911200"/>
            <a:ext cx="600000" cy="2097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6" name="Google Shape;546;p47"/>
          <p:cNvCxnSpPr/>
          <p:nvPr/>
        </p:nvCxnSpPr>
        <p:spPr>
          <a:xfrm flipH="1">
            <a:off x="4409850" y="2768600"/>
            <a:ext cx="638400" cy="5523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7" name="Google Shape;547;p47"/>
          <p:cNvSpPr txBox="1"/>
          <p:nvPr/>
        </p:nvSpPr>
        <p:spPr>
          <a:xfrm>
            <a:off x="5098775" y="2457400"/>
            <a:ext cx="33786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A list with 3 numbers has a sentinel node and 3 nodes that contain real data.</a:t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548" name="Google Shape;548;p47"/>
          <p:cNvSpPr txBox="1"/>
          <p:nvPr/>
        </p:nvSpPr>
        <p:spPr>
          <a:xfrm>
            <a:off x="4724400" y="3449425"/>
            <a:ext cx="44196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try reimplementing SLList with a sentinel node.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8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Sentinel Node</a:t>
            </a:r>
            <a:endParaRPr/>
          </a:p>
        </p:txBody>
      </p:sp>
      <p:sp>
        <p:nvSpPr>
          <p:cNvPr id="554" name="Google Shape;554;p48"/>
          <p:cNvSpPr txBox="1"/>
          <p:nvPr>
            <p:ph idx="1" type="body"/>
          </p:nvPr>
        </p:nvSpPr>
        <p:spPr>
          <a:xfrm>
            <a:off x="243000" y="556500"/>
            <a:ext cx="8443800" cy="5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sentinel node is always there for you.</a:t>
            </a:r>
            <a:endParaRPr/>
          </a:p>
        </p:txBody>
      </p:sp>
      <p:sp>
        <p:nvSpPr>
          <p:cNvPr id="555" name="Google Shape;555;p48"/>
          <p:cNvSpPr txBox="1"/>
          <p:nvPr/>
        </p:nvSpPr>
        <p:spPr>
          <a:xfrm>
            <a:off x="5152825" y="640750"/>
            <a:ext cx="3838800" cy="3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Notes: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I’ve renamed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first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be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sentinel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sentinel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 is never null, always points to sentinel node.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Sentinel node’s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 needs to be some integer, but doesn’t matter what value we pick.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Had to fix constructors and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 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to be compatible with sentinel nodes.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48"/>
          <p:cNvSpPr/>
          <p:nvPr/>
        </p:nvSpPr>
        <p:spPr>
          <a:xfrm>
            <a:off x="1161975" y="1250350"/>
            <a:ext cx="3075000" cy="9075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8"/>
          <p:cNvSpPr txBox="1"/>
          <p:nvPr/>
        </p:nvSpPr>
        <p:spPr>
          <a:xfrm>
            <a:off x="2626397" y="1476907"/>
            <a:ext cx="3561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558" name="Google Shape;558;p48"/>
          <p:cNvSpPr/>
          <p:nvPr/>
        </p:nvSpPr>
        <p:spPr>
          <a:xfrm>
            <a:off x="2517725" y="1487213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8"/>
          <p:cNvSpPr/>
          <p:nvPr/>
        </p:nvSpPr>
        <p:spPr>
          <a:xfrm>
            <a:off x="3160575" y="1493300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0" name="Google Shape;560;p48"/>
          <p:cNvCxnSpPr>
            <a:stCxn id="559" idx="3"/>
          </p:cNvCxnSpPr>
          <p:nvPr/>
        </p:nvCxnSpPr>
        <p:spPr>
          <a:xfrm rot="10800000">
            <a:off x="3373875" y="1676150"/>
            <a:ext cx="289200" cy="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1" name="Google Shape;561;p48"/>
          <p:cNvSpPr txBox="1"/>
          <p:nvPr/>
        </p:nvSpPr>
        <p:spPr>
          <a:xfrm>
            <a:off x="1114688" y="1217437"/>
            <a:ext cx="157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addFirst()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562" name="Google Shape;562;p48"/>
          <p:cNvCxnSpPr/>
          <p:nvPr/>
        </p:nvCxnSpPr>
        <p:spPr>
          <a:xfrm rot="10800000">
            <a:off x="714023" y="1395934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48"/>
          <p:cNvCxnSpPr/>
          <p:nvPr/>
        </p:nvCxnSpPr>
        <p:spPr>
          <a:xfrm rot="10800000">
            <a:off x="714023" y="1619588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4" name="Google Shape;564;p48"/>
          <p:cNvSpPr txBox="1"/>
          <p:nvPr/>
        </p:nvSpPr>
        <p:spPr>
          <a:xfrm>
            <a:off x="3121699" y="1187875"/>
            <a:ext cx="95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sentinel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565" name="Google Shape;565;p48"/>
          <p:cNvSpPr txBox="1"/>
          <p:nvPr/>
        </p:nvSpPr>
        <p:spPr>
          <a:xfrm>
            <a:off x="1122660" y="1427550"/>
            <a:ext cx="157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getFirst()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566" name="Google Shape;566;p48"/>
          <p:cNvSpPr txBox="1"/>
          <p:nvPr/>
        </p:nvSpPr>
        <p:spPr>
          <a:xfrm>
            <a:off x="2275261" y="2736998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 Mono"/>
                <a:ea typeface="Ubuntu Mono"/>
                <a:cs typeface="Ubuntu Mono"/>
                <a:sym typeface="Ubuntu Mono"/>
              </a:rPr>
              <a:t>item</a:t>
            </a:r>
            <a:endParaRPr sz="12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567" name="Google Shape;567;p48"/>
          <p:cNvSpPr txBox="1"/>
          <p:nvPr/>
        </p:nvSpPr>
        <p:spPr>
          <a:xfrm>
            <a:off x="2808661" y="2736998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 Mono"/>
                <a:ea typeface="Ubuntu Mono"/>
                <a:cs typeface="Ubuntu Mono"/>
                <a:sym typeface="Ubuntu Mono"/>
              </a:rPr>
              <a:t> next</a:t>
            </a:r>
            <a:endParaRPr sz="1200">
              <a:latin typeface="Ubuntu Mono"/>
              <a:ea typeface="Ubuntu Mono"/>
              <a:cs typeface="Ubuntu Mono"/>
              <a:sym typeface="Ubuntu Mono"/>
            </a:endParaRPr>
          </a:p>
        </p:txBody>
      </p:sp>
      <p:grpSp>
        <p:nvGrpSpPr>
          <p:cNvPr id="568" name="Google Shape;568;p48"/>
          <p:cNvGrpSpPr/>
          <p:nvPr/>
        </p:nvGrpSpPr>
        <p:grpSpPr>
          <a:xfrm>
            <a:off x="2330024" y="2394714"/>
            <a:ext cx="1031828" cy="429277"/>
            <a:chOff x="809625" y="3638550"/>
            <a:chExt cx="1190525" cy="495300"/>
          </a:xfrm>
        </p:grpSpPr>
        <p:sp>
          <p:nvSpPr>
            <p:cNvPr id="569" name="Google Shape;569;p48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solidFill>
              <a:srgbClr val="D9D2E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63</a:t>
              </a:r>
              <a:endParaRPr/>
            </a:p>
          </p:txBody>
        </p:sp>
        <p:sp>
          <p:nvSpPr>
            <p:cNvPr id="570" name="Google Shape;570;p48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B7B7B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1" name="Google Shape;571;p48"/>
          <p:cNvSpPr txBox="1"/>
          <p:nvPr/>
        </p:nvSpPr>
        <p:spPr>
          <a:xfrm>
            <a:off x="2512104" y="1187881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572" name="Google Shape;572;p48"/>
          <p:cNvCxnSpPr/>
          <p:nvPr/>
        </p:nvCxnSpPr>
        <p:spPr>
          <a:xfrm rot="10800000">
            <a:off x="714023" y="2029438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" name="Google Shape;573;p48"/>
          <p:cNvSpPr txBox="1"/>
          <p:nvPr/>
        </p:nvSpPr>
        <p:spPr>
          <a:xfrm>
            <a:off x="1122660" y="1842708"/>
            <a:ext cx="157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574" name="Google Shape;574;p48"/>
          <p:cNvSpPr txBox="1"/>
          <p:nvPr/>
        </p:nvSpPr>
        <p:spPr>
          <a:xfrm>
            <a:off x="1122660" y="1649581"/>
            <a:ext cx="157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addLast()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575" name="Google Shape;575;p48"/>
          <p:cNvCxnSpPr/>
          <p:nvPr/>
        </p:nvCxnSpPr>
        <p:spPr>
          <a:xfrm rot="10800000">
            <a:off x="714023" y="1836310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48"/>
          <p:cNvCxnSpPr>
            <a:stCxn id="559" idx="3"/>
            <a:endCxn id="570" idx="0"/>
          </p:cNvCxnSpPr>
          <p:nvPr/>
        </p:nvCxnSpPr>
        <p:spPr>
          <a:xfrm flipH="1">
            <a:off x="3103875" y="1680650"/>
            <a:ext cx="559200" cy="714000"/>
          </a:xfrm>
          <a:prstGeom prst="curvedConnector4">
            <a:avLst>
              <a:gd fmla="val -42583" name="adj1"/>
              <a:gd fmla="val 63124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77" name="Google Shape;577;p48"/>
          <p:cNvGrpSpPr/>
          <p:nvPr/>
        </p:nvGrpSpPr>
        <p:grpSpPr>
          <a:xfrm>
            <a:off x="714036" y="3204550"/>
            <a:ext cx="7860318" cy="1697623"/>
            <a:chOff x="714023" y="3321475"/>
            <a:chExt cx="7860318" cy="1697623"/>
          </a:xfrm>
        </p:grpSpPr>
        <p:sp>
          <p:nvSpPr>
            <p:cNvPr id="578" name="Google Shape;578;p48"/>
            <p:cNvSpPr/>
            <p:nvPr/>
          </p:nvSpPr>
          <p:spPr>
            <a:xfrm>
              <a:off x="2517725" y="3620813"/>
              <a:ext cx="502500" cy="3747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48"/>
            <p:cNvSpPr/>
            <p:nvPr/>
          </p:nvSpPr>
          <p:spPr>
            <a:xfrm>
              <a:off x="1161975" y="3383950"/>
              <a:ext cx="3075000" cy="9075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48"/>
            <p:cNvSpPr/>
            <p:nvPr/>
          </p:nvSpPr>
          <p:spPr>
            <a:xfrm>
              <a:off x="3160575" y="3626900"/>
              <a:ext cx="502500" cy="3747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81" name="Google Shape;581;p48"/>
            <p:cNvCxnSpPr>
              <a:stCxn id="580" idx="3"/>
              <a:endCxn id="582" idx="0"/>
            </p:cNvCxnSpPr>
            <p:nvPr/>
          </p:nvCxnSpPr>
          <p:spPr>
            <a:xfrm flipH="1">
              <a:off x="3103875" y="3814250"/>
              <a:ext cx="559200" cy="714000"/>
            </a:xfrm>
            <a:prstGeom prst="curvedConnector4">
              <a:avLst>
                <a:gd fmla="val -42583" name="adj1"/>
                <a:gd fmla="val 63124" name="adj2"/>
              </a:avLst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83" name="Google Shape;583;p48"/>
            <p:cNvCxnSpPr>
              <a:stCxn id="580" idx="3"/>
            </p:cNvCxnSpPr>
            <p:nvPr/>
          </p:nvCxnSpPr>
          <p:spPr>
            <a:xfrm rot="10800000">
              <a:off x="3373875" y="3809750"/>
              <a:ext cx="289200" cy="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84" name="Google Shape;584;p48"/>
            <p:cNvSpPr txBox="1"/>
            <p:nvPr/>
          </p:nvSpPr>
          <p:spPr>
            <a:xfrm>
              <a:off x="1114688" y="3351037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addFirst()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cxnSp>
          <p:nvCxnSpPr>
            <p:cNvPr id="585" name="Google Shape;585;p48"/>
            <p:cNvCxnSpPr/>
            <p:nvPr/>
          </p:nvCxnSpPr>
          <p:spPr>
            <a:xfrm rot="10800000">
              <a:off x="714023" y="3529534"/>
              <a:ext cx="4323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6" name="Google Shape;586;p48"/>
            <p:cNvCxnSpPr/>
            <p:nvPr/>
          </p:nvCxnSpPr>
          <p:spPr>
            <a:xfrm rot="10800000">
              <a:off x="714023" y="3753188"/>
              <a:ext cx="4323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87" name="Google Shape;587;p48"/>
            <p:cNvSpPr txBox="1"/>
            <p:nvPr/>
          </p:nvSpPr>
          <p:spPr>
            <a:xfrm>
              <a:off x="3121713" y="3321475"/>
              <a:ext cx="1031700" cy="3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sentinel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588" name="Google Shape;588;p48"/>
            <p:cNvSpPr txBox="1"/>
            <p:nvPr/>
          </p:nvSpPr>
          <p:spPr>
            <a:xfrm>
              <a:off x="1122660" y="3561150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getFirst()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589" name="Google Shape;589;p48"/>
            <p:cNvSpPr txBox="1"/>
            <p:nvPr/>
          </p:nvSpPr>
          <p:spPr>
            <a:xfrm>
              <a:off x="2275261" y="4870598"/>
              <a:ext cx="660600" cy="1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Ubuntu Mono"/>
                  <a:ea typeface="Ubuntu Mono"/>
                  <a:cs typeface="Ubuntu Mono"/>
                  <a:sym typeface="Ubuntu Mono"/>
                </a:rPr>
                <a:t>item</a:t>
              </a:r>
              <a:endParaRPr sz="1200"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590" name="Google Shape;590;p48"/>
            <p:cNvSpPr txBox="1"/>
            <p:nvPr/>
          </p:nvSpPr>
          <p:spPr>
            <a:xfrm>
              <a:off x="2808661" y="4870598"/>
              <a:ext cx="660600" cy="1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Ubuntu Mono"/>
                  <a:ea typeface="Ubuntu Mono"/>
                  <a:cs typeface="Ubuntu Mono"/>
                  <a:sym typeface="Ubuntu Mono"/>
                </a:rPr>
                <a:t> next</a:t>
              </a:r>
              <a:endParaRPr sz="1200"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grpSp>
          <p:nvGrpSpPr>
            <p:cNvPr id="591" name="Google Shape;591;p48"/>
            <p:cNvGrpSpPr/>
            <p:nvPr/>
          </p:nvGrpSpPr>
          <p:grpSpPr>
            <a:xfrm>
              <a:off x="2330024" y="4528314"/>
              <a:ext cx="1031828" cy="429277"/>
              <a:chOff x="809625" y="3638550"/>
              <a:chExt cx="1190525" cy="495300"/>
            </a:xfrm>
          </p:grpSpPr>
          <p:sp>
            <p:nvSpPr>
              <p:cNvPr id="592" name="Google Shape;592;p48"/>
              <p:cNvSpPr/>
              <p:nvPr/>
            </p:nvSpPr>
            <p:spPr>
              <a:xfrm>
                <a:off x="809625" y="3638550"/>
                <a:ext cx="595200" cy="495300"/>
              </a:xfrm>
              <a:prstGeom prst="rect">
                <a:avLst/>
              </a:prstGeom>
              <a:solidFill>
                <a:srgbClr val="D9D2E9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63</a:t>
                </a:r>
                <a:endParaRPr/>
              </a:p>
            </p:txBody>
          </p:sp>
          <p:sp>
            <p:nvSpPr>
              <p:cNvPr id="582" name="Google Shape;582;p48"/>
              <p:cNvSpPr/>
              <p:nvPr/>
            </p:nvSpPr>
            <p:spPr>
              <a:xfrm>
                <a:off x="1404950" y="3638550"/>
                <a:ext cx="595200" cy="495300"/>
              </a:xfrm>
              <a:prstGeom prst="rect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3" name="Google Shape;593;p48"/>
            <p:cNvGrpSpPr/>
            <p:nvPr/>
          </p:nvGrpSpPr>
          <p:grpSpPr>
            <a:xfrm>
              <a:off x="4067520" y="4528314"/>
              <a:ext cx="1031828" cy="429277"/>
              <a:chOff x="809625" y="3638550"/>
              <a:chExt cx="1190525" cy="495300"/>
            </a:xfrm>
          </p:grpSpPr>
          <p:sp>
            <p:nvSpPr>
              <p:cNvPr id="594" name="Google Shape;594;p48"/>
              <p:cNvSpPr/>
              <p:nvPr/>
            </p:nvSpPr>
            <p:spPr>
              <a:xfrm>
                <a:off x="809625" y="3638550"/>
                <a:ext cx="595200" cy="495300"/>
              </a:xfrm>
              <a:prstGeom prst="rect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5</a:t>
                </a:r>
                <a:endParaRPr/>
              </a:p>
            </p:txBody>
          </p:sp>
          <p:sp>
            <p:nvSpPr>
              <p:cNvPr id="595" name="Google Shape;595;p48"/>
              <p:cNvSpPr/>
              <p:nvPr/>
            </p:nvSpPr>
            <p:spPr>
              <a:xfrm>
                <a:off x="1404950" y="3638550"/>
                <a:ext cx="595200" cy="495300"/>
              </a:xfrm>
              <a:prstGeom prst="rect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6" name="Google Shape;596;p48"/>
            <p:cNvGrpSpPr/>
            <p:nvPr/>
          </p:nvGrpSpPr>
          <p:grpSpPr>
            <a:xfrm>
              <a:off x="7542513" y="4528314"/>
              <a:ext cx="1031828" cy="429277"/>
              <a:chOff x="809625" y="3638550"/>
              <a:chExt cx="1190525" cy="495300"/>
            </a:xfrm>
          </p:grpSpPr>
          <p:sp>
            <p:nvSpPr>
              <p:cNvPr id="597" name="Google Shape;597;p48"/>
              <p:cNvSpPr/>
              <p:nvPr/>
            </p:nvSpPr>
            <p:spPr>
              <a:xfrm>
                <a:off x="809625" y="3638550"/>
                <a:ext cx="595200" cy="495300"/>
              </a:xfrm>
              <a:prstGeom prst="rect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15</a:t>
                </a:r>
                <a:endParaRPr/>
              </a:p>
            </p:txBody>
          </p:sp>
          <p:sp>
            <p:nvSpPr>
              <p:cNvPr id="598" name="Google Shape;598;p48"/>
              <p:cNvSpPr/>
              <p:nvPr/>
            </p:nvSpPr>
            <p:spPr>
              <a:xfrm>
                <a:off x="1404950" y="3638550"/>
                <a:ext cx="595200" cy="495300"/>
              </a:xfrm>
              <a:prstGeom prst="rect">
                <a:avLst/>
              </a:prstGeom>
              <a:solidFill>
                <a:srgbClr val="B7B7B7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9" name="Google Shape;599;p48"/>
            <p:cNvGrpSpPr/>
            <p:nvPr/>
          </p:nvGrpSpPr>
          <p:grpSpPr>
            <a:xfrm>
              <a:off x="5805017" y="4528314"/>
              <a:ext cx="1031828" cy="429277"/>
              <a:chOff x="809625" y="3638550"/>
              <a:chExt cx="1190525" cy="495300"/>
            </a:xfrm>
          </p:grpSpPr>
          <p:sp>
            <p:nvSpPr>
              <p:cNvPr id="600" name="Google Shape;600;p48"/>
              <p:cNvSpPr/>
              <p:nvPr/>
            </p:nvSpPr>
            <p:spPr>
              <a:xfrm>
                <a:off x="809625" y="3638550"/>
                <a:ext cx="595200" cy="495300"/>
              </a:xfrm>
              <a:prstGeom prst="rect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10</a:t>
                </a:r>
                <a:endParaRPr/>
              </a:p>
            </p:txBody>
          </p:sp>
          <p:sp>
            <p:nvSpPr>
              <p:cNvPr id="601" name="Google Shape;601;p48"/>
              <p:cNvSpPr/>
              <p:nvPr/>
            </p:nvSpPr>
            <p:spPr>
              <a:xfrm>
                <a:off x="1404950" y="3638550"/>
                <a:ext cx="595200" cy="495300"/>
              </a:xfrm>
              <a:prstGeom prst="rect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602" name="Google Shape;602;p48"/>
            <p:cNvCxnSpPr>
              <a:endCxn id="594" idx="1"/>
            </p:cNvCxnSpPr>
            <p:nvPr/>
          </p:nvCxnSpPr>
          <p:spPr>
            <a:xfrm>
              <a:off x="3011220" y="4742952"/>
              <a:ext cx="10563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03" name="Google Shape;603;p48"/>
            <p:cNvCxnSpPr>
              <a:endCxn id="600" idx="1"/>
            </p:cNvCxnSpPr>
            <p:nvPr/>
          </p:nvCxnSpPr>
          <p:spPr>
            <a:xfrm>
              <a:off x="4722617" y="4742952"/>
              <a:ext cx="10824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04" name="Google Shape;604;p48"/>
            <p:cNvCxnSpPr>
              <a:endCxn id="597" idx="1"/>
            </p:cNvCxnSpPr>
            <p:nvPr/>
          </p:nvCxnSpPr>
          <p:spPr>
            <a:xfrm>
              <a:off x="6419913" y="4742952"/>
              <a:ext cx="11226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05" name="Google Shape;605;p48"/>
            <p:cNvSpPr txBox="1"/>
            <p:nvPr/>
          </p:nvSpPr>
          <p:spPr>
            <a:xfrm>
              <a:off x="2626397" y="3610507"/>
              <a:ext cx="3561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</a:t>
              </a:r>
              <a:endParaRPr/>
            </a:p>
          </p:txBody>
        </p:sp>
        <p:sp>
          <p:nvSpPr>
            <p:cNvPr id="606" name="Google Shape;606;p48"/>
            <p:cNvSpPr txBox="1"/>
            <p:nvPr/>
          </p:nvSpPr>
          <p:spPr>
            <a:xfrm>
              <a:off x="2512104" y="3321481"/>
              <a:ext cx="832200" cy="3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size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cxnSp>
          <p:nvCxnSpPr>
            <p:cNvPr id="607" name="Google Shape;607;p48"/>
            <p:cNvCxnSpPr/>
            <p:nvPr/>
          </p:nvCxnSpPr>
          <p:spPr>
            <a:xfrm rot="10800000">
              <a:off x="714023" y="4163038"/>
              <a:ext cx="4323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8" name="Google Shape;608;p48"/>
            <p:cNvSpPr txBox="1"/>
            <p:nvPr/>
          </p:nvSpPr>
          <p:spPr>
            <a:xfrm>
              <a:off x="1122660" y="3976308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size()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609" name="Google Shape;609;p48"/>
            <p:cNvSpPr txBox="1"/>
            <p:nvPr/>
          </p:nvSpPr>
          <p:spPr>
            <a:xfrm>
              <a:off x="1122660" y="3783180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addLast()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cxnSp>
          <p:nvCxnSpPr>
            <p:cNvPr id="610" name="Google Shape;610;p48"/>
            <p:cNvCxnSpPr/>
            <p:nvPr/>
          </p:nvCxnSpPr>
          <p:spPr>
            <a:xfrm rot="10800000">
              <a:off x="714023" y="3969910"/>
              <a:ext cx="4323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11" name="Google Shape;611;p48"/>
          <p:cNvCxnSpPr/>
          <p:nvPr/>
        </p:nvCxnSpPr>
        <p:spPr>
          <a:xfrm>
            <a:off x="2841203" y="2395318"/>
            <a:ext cx="519300" cy="42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48"/>
          <p:cNvCxnSpPr/>
          <p:nvPr/>
        </p:nvCxnSpPr>
        <p:spPr>
          <a:xfrm>
            <a:off x="8045528" y="4405093"/>
            <a:ext cx="519300" cy="42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9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addLast (with Sentinel Node)</a:t>
            </a:r>
            <a:endParaRPr/>
          </a:p>
        </p:txBody>
      </p:sp>
      <p:sp>
        <p:nvSpPr>
          <p:cNvPr id="618" name="Google Shape;618;p49"/>
          <p:cNvSpPr txBox="1"/>
          <p:nvPr>
            <p:ph idx="1" type="body"/>
          </p:nvPr>
        </p:nvSpPr>
        <p:spPr>
          <a:xfrm>
            <a:off x="243000" y="556500"/>
            <a:ext cx="4231500" cy="21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Bottom line: Having a sentinel simplifies our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addLast</a:t>
            </a:r>
            <a:r>
              <a:rPr lang="en"/>
              <a:t> </a:t>
            </a:r>
            <a:r>
              <a:rPr lang="en"/>
              <a:t>method. 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No need for a special case to check if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sentinel</a:t>
            </a:r>
            <a:r>
              <a:rPr lang="en"/>
              <a:t> is null (since it is never null).</a:t>
            </a:r>
            <a:endParaRPr/>
          </a:p>
        </p:txBody>
      </p:sp>
      <p:sp>
        <p:nvSpPr>
          <p:cNvPr id="619" name="Google Shape;619;p49"/>
          <p:cNvSpPr txBox="1"/>
          <p:nvPr/>
        </p:nvSpPr>
        <p:spPr>
          <a:xfrm>
            <a:off x="4885900" y="858300"/>
            <a:ext cx="4143900" cy="3565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addLast(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size += 1;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(sentinel == null) {</a:t>
            </a:r>
            <a:endParaRPr b="1"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sentinel =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null);</a:t>
            </a:r>
            <a:endParaRPr b="1"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IntNode p = sentinel;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(p.next != null)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 = p.next;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p.next = </a:t>
            </a:r>
            <a:r>
              <a:rPr lang="en" sz="15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IntNode(x, null);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highlight>
                <a:srgbClr val="EFEFEF"/>
              </a:highlight>
            </a:endParaRPr>
          </a:p>
        </p:txBody>
      </p:sp>
      <p:cxnSp>
        <p:nvCxnSpPr>
          <p:cNvPr id="620" name="Google Shape;620;p49"/>
          <p:cNvCxnSpPr/>
          <p:nvPr/>
        </p:nvCxnSpPr>
        <p:spPr>
          <a:xfrm>
            <a:off x="5179675" y="1704850"/>
            <a:ext cx="3145800" cy="885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49"/>
          <p:cNvCxnSpPr/>
          <p:nvPr/>
        </p:nvCxnSpPr>
        <p:spPr>
          <a:xfrm flipH="1" rot="10800000">
            <a:off x="5255950" y="1723075"/>
            <a:ext cx="3105600" cy="80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2" name="Google Shape;622;p49"/>
          <p:cNvSpPr/>
          <p:nvPr/>
        </p:nvSpPr>
        <p:spPr>
          <a:xfrm>
            <a:off x="971475" y="2812450"/>
            <a:ext cx="3075000" cy="9075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9"/>
          <p:cNvSpPr txBox="1"/>
          <p:nvPr/>
        </p:nvSpPr>
        <p:spPr>
          <a:xfrm>
            <a:off x="2435897" y="3039007"/>
            <a:ext cx="3561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624" name="Google Shape;624;p49"/>
          <p:cNvSpPr/>
          <p:nvPr/>
        </p:nvSpPr>
        <p:spPr>
          <a:xfrm>
            <a:off x="2327225" y="3049313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9"/>
          <p:cNvSpPr/>
          <p:nvPr/>
        </p:nvSpPr>
        <p:spPr>
          <a:xfrm>
            <a:off x="2970075" y="3055400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6" name="Google Shape;626;p49"/>
          <p:cNvCxnSpPr>
            <a:stCxn id="625" idx="3"/>
          </p:cNvCxnSpPr>
          <p:nvPr/>
        </p:nvCxnSpPr>
        <p:spPr>
          <a:xfrm rot="10800000">
            <a:off x="3183375" y="3238250"/>
            <a:ext cx="289200" cy="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7" name="Google Shape;627;p49"/>
          <p:cNvSpPr txBox="1"/>
          <p:nvPr/>
        </p:nvSpPr>
        <p:spPr>
          <a:xfrm>
            <a:off x="924188" y="2779537"/>
            <a:ext cx="157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addFirst()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628" name="Google Shape;628;p49"/>
          <p:cNvCxnSpPr/>
          <p:nvPr/>
        </p:nvCxnSpPr>
        <p:spPr>
          <a:xfrm rot="10800000">
            <a:off x="523523" y="2958034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49"/>
          <p:cNvCxnSpPr/>
          <p:nvPr/>
        </p:nvCxnSpPr>
        <p:spPr>
          <a:xfrm rot="10800000">
            <a:off x="523523" y="3181688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0" name="Google Shape;630;p49"/>
          <p:cNvSpPr txBox="1"/>
          <p:nvPr/>
        </p:nvSpPr>
        <p:spPr>
          <a:xfrm>
            <a:off x="2931199" y="2749975"/>
            <a:ext cx="95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sentinel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631" name="Google Shape;631;p49"/>
          <p:cNvSpPr txBox="1"/>
          <p:nvPr/>
        </p:nvSpPr>
        <p:spPr>
          <a:xfrm>
            <a:off x="932160" y="2989650"/>
            <a:ext cx="157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getFirst()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632" name="Google Shape;632;p49"/>
          <p:cNvSpPr txBox="1"/>
          <p:nvPr/>
        </p:nvSpPr>
        <p:spPr>
          <a:xfrm>
            <a:off x="2084761" y="4299098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 Mono"/>
                <a:ea typeface="Ubuntu Mono"/>
                <a:cs typeface="Ubuntu Mono"/>
                <a:sym typeface="Ubuntu Mono"/>
              </a:rPr>
              <a:t>item</a:t>
            </a:r>
            <a:endParaRPr sz="12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633" name="Google Shape;633;p49"/>
          <p:cNvSpPr txBox="1"/>
          <p:nvPr/>
        </p:nvSpPr>
        <p:spPr>
          <a:xfrm>
            <a:off x="2618161" y="4299098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 Mono"/>
                <a:ea typeface="Ubuntu Mono"/>
                <a:cs typeface="Ubuntu Mono"/>
                <a:sym typeface="Ubuntu Mono"/>
              </a:rPr>
              <a:t> next</a:t>
            </a:r>
            <a:endParaRPr sz="1200">
              <a:latin typeface="Ubuntu Mono"/>
              <a:ea typeface="Ubuntu Mono"/>
              <a:cs typeface="Ubuntu Mono"/>
              <a:sym typeface="Ubuntu Mono"/>
            </a:endParaRPr>
          </a:p>
        </p:txBody>
      </p:sp>
      <p:grpSp>
        <p:nvGrpSpPr>
          <p:cNvPr id="634" name="Google Shape;634;p49"/>
          <p:cNvGrpSpPr/>
          <p:nvPr/>
        </p:nvGrpSpPr>
        <p:grpSpPr>
          <a:xfrm>
            <a:off x="2139524" y="3956814"/>
            <a:ext cx="1031828" cy="429277"/>
            <a:chOff x="809625" y="3638550"/>
            <a:chExt cx="1190525" cy="495300"/>
          </a:xfrm>
        </p:grpSpPr>
        <p:sp>
          <p:nvSpPr>
            <p:cNvPr id="635" name="Google Shape;635;p49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solidFill>
              <a:srgbClr val="D9D2E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??</a:t>
              </a:r>
              <a:endParaRPr/>
            </a:p>
          </p:txBody>
        </p:sp>
        <p:sp>
          <p:nvSpPr>
            <p:cNvPr id="636" name="Google Shape;636;p49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B7B7B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7" name="Google Shape;637;p49"/>
          <p:cNvSpPr txBox="1"/>
          <p:nvPr/>
        </p:nvSpPr>
        <p:spPr>
          <a:xfrm>
            <a:off x="2321604" y="2749981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638" name="Google Shape;638;p49"/>
          <p:cNvCxnSpPr/>
          <p:nvPr/>
        </p:nvCxnSpPr>
        <p:spPr>
          <a:xfrm rot="10800000">
            <a:off x="523523" y="3591538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9" name="Google Shape;639;p49"/>
          <p:cNvSpPr txBox="1"/>
          <p:nvPr/>
        </p:nvSpPr>
        <p:spPr>
          <a:xfrm>
            <a:off x="932160" y="3404808"/>
            <a:ext cx="157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640" name="Google Shape;640;p49"/>
          <p:cNvSpPr txBox="1"/>
          <p:nvPr/>
        </p:nvSpPr>
        <p:spPr>
          <a:xfrm>
            <a:off x="932160" y="3211681"/>
            <a:ext cx="157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addLast()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641" name="Google Shape;641;p49"/>
          <p:cNvCxnSpPr/>
          <p:nvPr/>
        </p:nvCxnSpPr>
        <p:spPr>
          <a:xfrm rot="10800000">
            <a:off x="523523" y="3398410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49"/>
          <p:cNvCxnSpPr>
            <a:stCxn id="625" idx="3"/>
            <a:endCxn id="636" idx="0"/>
          </p:cNvCxnSpPr>
          <p:nvPr/>
        </p:nvCxnSpPr>
        <p:spPr>
          <a:xfrm flipH="1">
            <a:off x="2913375" y="3242750"/>
            <a:ext cx="559200" cy="714000"/>
          </a:xfrm>
          <a:prstGeom prst="curvedConnector4">
            <a:avLst>
              <a:gd fmla="val -42583" name="adj1"/>
              <a:gd fmla="val 63124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3" name="Google Shape;643;p49"/>
          <p:cNvCxnSpPr/>
          <p:nvPr/>
        </p:nvCxnSpPr>
        <p:spPr>
          <a:xfrm>
            <a:off x="2650703" y="3957418"/>
            <a:ext cx="519300" cy="42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0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Invariants</a:t>
            </a:r>
            <a:endParaRPr/>
          </a:p>
        </p:txBody>
      </p:sp>
      <p:sp>
        <p:nvSpPr>
          <p:cNvPr id="649" name="Google Shape;649;p50"/>
          <p:cNvSpPr txBox="1"/>
          <p:nvPr>
            <p:ph idx="1" type="body"/>
          </p:nvPr>
        </p:nvSpPr>
        <p:spPr>
          <a:xfrm>
            <a:off x="243000" y="556500"/>
            <a:ext cx="8691300" cy="44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 invariant is a condition that is guaranteed to be true during code execution (assuming there are no bugs in your code).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/>
              <a:t> with a sentinel node has at least the following invariants: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sentinel</a:t>
            </a:r>
            <a:r>
              <a:rPr lang="en"/>
              <a:t> reference always points to a sentinel node.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The first node (if it exists), is always at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sentinel.next</a:t>
            </a:r>
            <a:r>
              <a:rPr lang="en"/>
              <a:t>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/>
              <a:t> variable is always the total number of items that have been added.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Invariants make it easier to reason about code: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Can assume they are true to simplify code (e.g.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addLast</a:t>
            </a:r>
            <a:r>
              <a:rPr lang="en"/>
              <a:t> doesn’t need to worry about nulls).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Must ensure that methods preserve invariants.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1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graphicFrame>
        <p:nvGraphicFramePr>
          <p:cNvPr id="655" name="Google Shape;655;p51"/>
          <p:cNvGraphicFramePr/>
          <p:nvPr/>
        </p:nvGraphicFramePr>
        <p:xfrm>
          <a:off x="1847875" y="95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{B816732A-7D9C-42E2-AA2B-80ED78E93E3F}</a:tableStyleId>
              </a:tblPr>
              <a:tblGrid>
                <a:gridCol w="1745000"/>
                <a:gridCol w="449525"/>
                <a:gridCol w="3824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Methods</a:t>
                      </a:r>
                      <a:endParaRPr/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Non-Obvious Improvements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addFirst(int x)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Rebranding: </a:t>
                      </a:r>
                      <a:r>
                        <a:rPr lang="en">
                          <a:solidFill>
                            <a:srgbClr val="20892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IntList</a:t>
                      </a:r>
                      <a:r>
                        <a:rPr lang="en"/>
                        <a:t> → </a:t>
                      </a:r>
                      <a:r>
                        <a:rPr lang="en">
                          <a:solidFill>
                            <a:srgbClr val="20892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IntNode</a:t>
                      </a:r>
                      <a:endParaRPr>
                        <a:solidFill>
                          <a:srgbClr val="20892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getFirst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Bureaucracy: </a:t>
                      </a:r>
                      <a:r>
                        <a:rPr lang="en">
                          <a:solidFill>
                            <a:srgbClr val="20892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SLList</a:t>
                      </a: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Access Control: </a:t>
                      </a:r>
                      <a:r>
                        <a:rPr lang="en">
                          <a:solidFill>
                            <a:srgbClr val="9C20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</a:t>
                      </a:r>
                      <a:r>
                        <a:rPr lang="en"/>
                        <a:t> → </a:t>
                      </a:r>
                      <a:r>
                        <a:rPr lang="en">
                          <a:solidFill>
                            <a:srgbClr val="9C20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private</a:t>
                      </a:r>
                      <a:endParaRPr>
                        <a:solidFill>
                          <a:srgbClr val="9C20E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addLast(int x)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Nested Class: Bringing </a:t>
                      </a:r>
                      <a:r>
                        <a:rPr lang="en">
                          <a:solidFill>
                            <a:srgbClr val="20892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IntNode</a:t>
                      </a:r>
                      <a:r>
                        <a:rPr lang="en"/>
                        <a:t> into </a:t>
                      </a:r>
                      <a:r>
                        <a:rPr lang="en">
                          <a:solidFill>
                            <a:srgbClr val="20892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SLList</a:t>
                      </a:r>
                      <a:endParaRPr>
                        <a:solidFill>
                          <a:srgbClr val="20892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Caching: Saving </a:t>
                      </a: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r>
                        <a:rPr lang="en"/>
                        <a:t> as an </a:t>
                      </a: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Generalizing: Adding a </a:t>
                      </a: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sentinel</a:t>
                      </a:r>
                      <a:r>
                        <a:rPr lang="en"/>
                        <a:t> node to allow representation of the empty list.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2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Those Who Were a Bit Bewildered!</a:t>
            </a:r>
            <a:endParaRPr/>
          </a:p>
        </p:txBody>
      </p:sp>
      <p:sp>
        <p:nvSpPr>
          <p:cNvPr id="661" name="Google Shape;661;p52"/>
          <p:cNvSpPr txBox="1"/>
          <p:nvPr>
            <p:ph idx="1" type="body"/>
          </p:nvPr>
        </p:nvSpPr>
        <p:spPr>
          <a:xfrm>
            <a:off x="243000" y="556500"/>
            <a:ext cx="8691300" cy="44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Don’t panic if it felt fast!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LinkedListDeque</a:t>
            </a:r>
            <a:r>
              <a:rPr lang="en"/>
              <a:t> class that you’ll build in project 1 (to be released Friday) will give you practice so that you can deeply understand the ideas from today’s lecture.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3"/>
          <p:cNvSpPr txBox="1"/>
          <p:nvPr>
            <p:ph type="title"/>
          </p:nvPr>
        </p:nvSpPr>
        <p:spPr>
          <a:xfrm>
            <a:off x="928950" y="2143050"/>
            <a:ext cx="72861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Old Deprecated Slides</a:t>
            </a:r>
            <a:endParaRPr sz="4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54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Improvement #7</a:t>
            </a:r>
            <a:r>
              <a:rPr lang="en"/>
              <a:t>: Helper Methods</a:t>
            </a:r>
            <a:endParaRPr/>
          </a:p>
        </p:txBody>
      </p:sp>
      <p:sp>
        <p:nvSpPr>
          <p:cNvPr id="672" name="Google Shape;672;p54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wanted to write a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getBack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n"/>
              <a:t> method.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Would be quite similar to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insertBack()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Make sense to create a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getBackNode()</a:t>
            </a:r>
            <a:r>
              <a:rPr lang="en"/>
              <a:t> method that can be used by both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getBack()</a:t>
            </a:r>
            <a:r>
              <a:rPr lang="en"/>
              <a:t> and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insertBack()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