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1" Type="http://schemas.openxmlformats.org/officeDocument/2006/relationships/slide" Target="slides/slide57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60" Type="http://schemas.openxmlformats.org/officeDocument/2006/relationships/slide" Target="slides/slide56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slide" Target="slides/slide53.xml"/><Relationship Id="rId12" Type="http://schemas.openxmlformats.org/officeDocument/2006/relationships/slide" Target="slides/slide8.xml"/><Relationship Id="rId56" Type="http://schemas.openxmlformats.org/officeDocument/2006/relationships/slide" Target="slides/slide52.xml"/><Relationship Id="rId15" Type="http://schemas.openxmlformats.org/officeDocument/2006/relationships/slide" Target="slides/slide11.xml"/><Relationship Id="rId59" Type="http://schemas.openxmlformats.org/officeDocument/2006/relationships/slide" Target="slides/slide55.xml"/><Relationship Id="rId14" Type="http://schemas.openxmlformats.org/officeDocument/2006/relationships/slide" Target="slides/slide10.xml"/><Relationship Id="rId58" Type="http://schemas.openxmlformats.org/officeDocument/2006/relationships/slide" Target="slides/slide5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piq.codeus.net/static/media/userpics/piq_257076_400x400.png" TargetMode="External"/><Relationship Id="rId3" Type="http://schemas.openxmlformats.org/officeDocument/2006/relationships/hyperlink" Target="http://img.time2draw.com/2016/02/How-to-Draw-Squid-Sea-Animal-final-step-215x382.png" TargetMode="Externa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0617fc64e_133_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" name="Google Shape;29;g30617fc64e_13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1c60d50676_54_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" name="Google Shape;35;g1c60d50676_54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109ce79706_0_37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" name="Google Shape;41;g109ce79706_0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" name="Google Shape;4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109ce79706_0_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109ce7970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09ce79706_0_3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09ce79706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09ce79706_0_4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109ce79706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09ce79706_0_5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109ce79706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09ce79706_0_39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109ce79706_0_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09ce79706_0_6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109ce79706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09ce79706_0_11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109ce79706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 minutes + 7 minutes intro = 12 minutes?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09ce79706_0_7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09ce79706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09ce79706_0_8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109ce79706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09ce79706_0_8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109ce79706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09ce79706_0_10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109ce79706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09ce79706_0_11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109ce79706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109ce79706_0_12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109ce79706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109ce79706_0_12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109ce79706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0743cbacd_0_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0743cbac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0743cbacd_0_1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0743cbacd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09ce79706_0_41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109ce79706_0_4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1c5bda13e5_0_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1c5bda13e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1c5d63f7bc_0_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1c5d63f7b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0743cbacd_0_1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0743cbacd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 minutes + 7 minutes intro = 12 minutes?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109ce79706_0_13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109ce79706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0743cbacd_0_4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0743cbacd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109ce79706_0_24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109ce79706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109ce79706_0_28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109ce79706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109ce79706_0_29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109ce79706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26 minutes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109ce79706_0_309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109ce79706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109ce79706_0_17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109ce79706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109ce79706_0_18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109ce79706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109ce79706_0_189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109ce79706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109ce79706_0_20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109ce79706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109ce79706_0_21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109ce79706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109ce79706_0_22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109ce79706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109ce79706_0_23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109ce79706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109ce79706_0_32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109ce79706_0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0617fc64e_34_3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0617fc64e_34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109ce79706_0_23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109ce79706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http://piq.codeus.net/static/media/userpics/piq_257076_400x400.png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http://img.time2draw.com/2016/02/How-to-Draw-Squid-Sea-Animal-final-step-215x382.png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1c5d63f7bc_0_15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1c5d63f7bc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http://piq.codeus.net/static/media/userpics/piq_257076_400x400.png</a:t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1c5d63f7bc_0_17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1c5d63f7bc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http://piq.codeus.net/static/media/userpics/piq_257076_400x400.png</a:t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1c5d63f7bc_0_25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1c5d63f7bc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http://piq.codeus.net/static/media/userpics/piq_257076_400x400.png</a:t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1c5d63f7bc_0_31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1c5d63f7bc_0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http://piq.codeus.net/static/media/userpics/piq_257076_400x400.png</a:t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109ce79706_0_24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109ce79706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0617fc64e_34_3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30617fc64e_34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0617fc64e_34_4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30617fc64e_34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0617fc64e_34_10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30617fc64e_34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0617fc64e_34_11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30617fc64e_34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0617fc64e_34_11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30617fc64e_34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0617fc64e_34_12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30617fc64e_34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0617fc64e_34_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30617fc64e_3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0617fc64e_34_8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" name="Google Shape;579;g30617fc64e_34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0617fc64e_34_9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30617fc64e_34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10a346f2bf_1_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10a346f2bf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10a346f2bf_1_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10a346f2b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0617fc64e_8_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30617fc64e_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://datastructur.es" TargetMode="Externa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211425" y="1941275"/>
            <a:ext cx="5206200" cy="78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BE0712"/>
              </a:buClr>
              <a:buSzPts val="3200"/>
              <a:buFont typeface="Calibri"/>
              <a:buNone/>
              <a:defRPr b="1" i="0" sz="3200" u="none" cap="none" strike="noStrike">
                <a:solidFill>
                  <a:srgbClr val="BE071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61925" y="2612325"/>
            <a:ext cx="5380800" cy="7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alibri"/>
              <a:buNone/>
              <a:defRPr b="0" i="0" sz="2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11" name="Google Shape;11;p2"/>
          <p:cNvCxnSpPr/>
          <p:nvPr/>
        </p:nvCxnSpPr>
        <p:spPr>
          <a:xfrm>
            <a:off x="290700" y="2669200"/>
            <a:ext cx="8443800" cy="0"/>
          </a:xfrm>
          <a:prstGeom prst="straightConnector1">
            <a:avLst/>
          </a:prstGeom>
          <a:noFill/>
          <a:ln cap="flat" cmpd="sng" w="19050">
            <a:solidFill>
              <a:srgbClr val="1072BD"/>
            </a:solidFill>
            <a:prstDash val="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rgbClr val="BE0712"/>
              </a:buClr>
              <a:buSzPts val="2400"/>
              <a:buFont typeface="Calibri"/>
              <a:buNone/>
              <a:defRPr b="1" sz="2400">
                <a:solidFill>
                  <a:srgbClr val="BE071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14" name="Google Shape;14;p3"/>
          <p:cNvCxnSpPr/>
          <p:nvPr/>
        </p:nvCxnSpPr>
        <p:spPr>
          <a:xfrm>
            <a:off x="243000" y="587800"/>
            <a:ext cx="8443800" cy="0"/>
          </a:xfrm>
          <a:prstGeom prst="straightConnector1">
            <a:avLst/>
          </a:prstGeom>
          <a:noFill/>
          <a:ln cap="flat" cmpd="sng" w="19050">
            <a:solidFill>
              <a:srgbClr val="1072BD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43000" y="556500"/>
            <a:ext cx="8443800" cy="41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rtl="0">
              <a:spcBef>
                <a:spcPts val="600"/>
              </a:spcBef>
              <a:spcAft>
                <a:spcPts val="0"/>
              </a:spcAft>
              <a:buSzPts val="2000"/>
              <a:buFont typeface="Calibri"/>
              <a:buChar char="●"/>
              <a:defRPr sz="2000"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○"/>
              <a:defRPr sz="2000"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■"/>
              <a:defRPr sz="1800"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○"/>
              <a:defRPr sz="1800"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■"/>
              <a:defRPr sz="1800"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  <a:defRPr sz="1800"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○"/>
              <a:defRPr sz="1800"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■"/>
              <a:defRPr sz="1800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16" name="Google Shape;16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68680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 txBox="1"/>
          <p:nvPr/>
        </p:nvSpPr>
        <p:spPr>
          <a:xfrm>
            <a:off x="8578500" y="4793875"/>
            <a:ext cx="6552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datastructur.es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457200" y="1200150"/>
            <a:ext cx="39945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21" name="Google Shape;21;p4"/>
          <p:cNvSpPr txBox="1"/>
          <p:nvPr>
            <p:ph idx="2" type="body"/>
          </p:nvPr>
        </p:nvSpPr>
        <p:spPr>
          <a:xfrm>
            <a:off x="4692274" y="1200150"/>
            <a:ext cx="39945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928950" y="2143050"/>
            <a:ext cx="7286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BE0712"/>
              </a:buClr>
              <a:buSzPts val="2400"/>
              <a:buFont typeface="Calibri"/>
              <a:buNone/>
              <a:defRPr b="1" sz="2400">
                <a:solidFill>
                  <a:srgbClr val="BE071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idx="1" type="body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1pPr>
            <a:lvl2pPr indent="-34290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2pPr>
            <a:lvl3pPr indent="-34290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3pPr>
            <a:lvl4pPr indent="-342900" lvl="3" marL="1828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4pPr>
            <a:lvl5pPr indent="-342900" lvl="4" marL="228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5pPr>
            <a:lvl6pPr indent="-342900" lvl="5" marL="2743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6pPr>
            <a:lvl7pPr indent="-342900" lvl="6" marL="3200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7pPr>
            <a:lvl8pPr indent="-342900" lvl="7" marL="3657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8pPr>
            <a:lvl9pPr indent="-342900" lvl="8" marL="4114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●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reddit.com/r/berkeley/comments/3y9dpw/engineeringcs_students_who_consistently_get_bs/" TargetMode="External"/><Relationship Id="rId4" Type="http://schemas.openxmlformats.org/officeDocument/2006/relationships/hyperlink" Target="https://www.reddit.com/r/berkeley/comments/26bhvc/stem_majors_with_a_37_gpa_how_did_you_do_it/" TargetMode="External"/><Relationship Id="rId5" Type="http://schemas.openxmlformats.org/officeDocument/2006/relationships/hyperlink" Target="http://sp18.datastructur.es/materials/guides/study-guide.html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wordnet.princeton.edu/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6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8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Pre-Announcements</a:t>
            </a:r>
            <a:endParaRPr/>
          </a:p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243000" y="556500"/>
            <a:ext cx="8642100" cy="432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Ashy? From </a:t>
            </a:r>
            <a:r>
              <a:rPr b="1" lang="en"/>
              <a:t>Free Ventures</a:t>
            </a:r>
            <a:r>
              <a:rPr lang="en"/>
              <a:t> from CAL.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Looking for student founders.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If you are working on a project or idea and want help getting going.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It is due tonight!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Announcements</a:t>
            </a:r>
            <a:endParaRPr/>
          </a:p>
        </p:txBody>
      </p:sp>
      <p:sp>
        <p:nvSpPr>
          <p:cNvPr id="38" name="Google Shape;38;p9"/>
          <p:cNvSpPr txBox="1"/>
          <p:nvPr>
            <p:ph idx="1" type="body"/>
          </p:nvPr>
        </p:nvSpPr>
        <p:spPr>
          <a:xfrm>
            <a:off x="243000" y="556500"/>
            <a:ext cx="8642100" cy="432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Lab next week: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Peer code review for project 1. Attendance is </a:t>
            </a:r>
            <a:r>
              <a:rPr b="1" lang="en"/>
              <a:t>required</a:t>
            </a:r>
            <a:r>
              <a:rPr lang="en"/>
              <a:t>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Goals: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Help break you of bad programming habits!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Share good ideas.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Proj1B out Monday, maybe sooner. Study for exam or do Proj1-gold (out now).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Proj1B is shorter than proj0 and proj1A.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You’ll use your Deque to solve a problem involving “palindromes”, and will need to write your own tests.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Autograder for your code will be almost silent. We expect you to use your tests to fix your code.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Autograder will also test your tests (meta).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Announcements</a:t>
            </a:r>
            <a:endParaRPr/>
          </a:p>
        </p:txBody>
      </p:sp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243000" y="556500"/>
            <a:ext cx="8754300" cy="41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How to Study for an Exam: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Do lots of practice problems, but...	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Carefully reflect on various techniques for solving them (best through discussion with peers).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Don’t look at solutions and try to “understand” them, or at least not until after you’ve already solved and discussed with others.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Help others work through problems. You learn a lot this way.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Draw on the experience of your peers </a:t>
            </a:r>
            <a:r>
              <a:rPr lang="en" u="sng">
                <a:solidFill>
                  <a:schemeClr val="hlink"/>
                </a:solidFill>
                <a:hlinkClick r:id="rId3"/>
              </a:rPr>
              <a:t>Link 1</a:t>
            </a:r>
            <a:r>
              <a:rPr lang="en"/>
              <a:t>, </a:t>
            </a:r>
            <a:r>
              <a:rPr lang="en" u="sng">
                <a:solidFill>
                  <a:schemeClr val="hlink"/>
                </a:solidFill>
                <a:hlinkClick r:id="rId4"/>
              </a:rPr>
              <a:t>Link 2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See </a:t>
            </a:r>
            <a:r>
              <a:rPr lang="en" u="sng">
                <a:solidFill>
                  <a:schemeClr val="hlink"/>
                </a:solidFill>
                <a:hlinkClick r:id="rId5"/>
              </a:rPr>
              <a:t>http://sp18.datastructur.es/materials/guides/study-guide.html</a:t>
            </a:r>
            <a:r>
              <a:rPr lang="en"/>
              <a:t> for more.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type="ctrTitle"/>
          </p:nvPr>
        </p:nvSpPr>
        <p:spPr>
          <a:xfrm>
            <a:off x="211425" y="1941275"/>
            <a:ext cx="5206200" cy="7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CS61B</a:t>
            </a:r>
            <a:endParaRPr/>
          </a:p>
        </p:txBody>
      </p:sp>
      <p:sp>
        <p:nvSpPr>
          <p:cNvPr id="50" name="Google Shape;50;p11"/>
          <p:cNvSpPr txBox="1"/>
          <p:nvPr>
            <p:ph idx="1" type="subTitle"/>
          </p:nvPr>
        </p:nvSpPr>
        <p:spPr>
          <a:xfrm>
            <a:off x="161925" y="2612325"/>
            <a:ext cx="6842700" cy="20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Lecture 8: Interface and Implementation Inheritance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The Problem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Hypernyms, Hyponyms, and Interface Inheritance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Implementation Inheritance: Default Methods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Implementation Inheritance: Extends</a:t>
            </a:r>
            <a:endParaRPr/>
          </a:p>
        </p:txBody>
      </p:sp>
      <p:pic>
        <p:nvPicPr>
          <p:cNvPr id="51" name="Google Shape;51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74775" y="202325"/>
            <a:ext cx="1320775" cy="1308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67750" y="1932050"/>
            <a:ext cx="1320775" cy="127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04567" y="3701200"/>
            <a:ext cx="1247145" cy="122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AList and SLList</a:t>
            </a:r>
            <a:endParaRPr/>
          </a:p>
        </p:txBody>
      </p:sp>
      <p:sp>
        <p:nvSpPr>
          <p:cNvPr id="59" name="Google Shape;59;p12"/>
          <p:cNvSpPr txBox="1"/>
          <p:nvPr>
            <p:ph idx="1" type="body"/>
          </p:nvPr>
        </p:nvSpPr>
        <p:spPr>
          <a:xfrm>
            <a:off x="243000" y="556500"/>
            <a:ext cx="8443800" cy="41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After adding the insert methods from discussion 3, our AList and SLList classes have the following methods (exact same method signatures for both classes).</a:t>
            </a:r>
            <a:endParaRPr/>
          </a:p>
        </p:txBody>
      </p:sp>
      <p:sp>
        <p:nvSpPr>
          <p:cNvPr id="60" name="Google Shape;60;p12"/>
          <p:cNvSpPr txBox="1"/>
          <p:nvPr/>
        </p:nvSpPr>
        <p:spPr>
          <a:xfrm>
            <a:off x="243000" y="1408800"/>
            <a:ext cx="6093000" cy="35220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class</a:t>
            </a: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AList&lt;Item&gt;{</a:t>
            </a:r>
            <a:endParaRPr b="1"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AList()</a:t>
            </a:r>
            <a:endParaRPr b="1"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insert(Item x, </a:t>
            </a:r>
            <a:r>
              <a:rPr b="1"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position)</a:t>
            </a:r>
            <a:endParaRPr b="1"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addFirst(Item x)</a:t>
            </a:r>
            <a:endParaRPr b="1"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addLast(Item i)</a:t>
            </a:r>
            <a:endParaRPr b="1"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Item</a:t>
            </a: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getFirst()</a:t>
            </a:r>
            <a:endParaRPr b="1"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Item getLast()</a:t>
            </a:r>
            <a:endParaRPr b="1"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Item get(</a:t>
            </a:r>
            <a:r>
              <a:rPr b="1"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i)</a:t>
            </a:r>
            <a:endParaRPr b="1"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size()</a:t>
            </a:r>
            <a:endParaRPr b="1"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Item removeLast()</a:t>
            </a:r>
            <a:endParaRPr b="1"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highlight>
                <a:srgbClr val="EFEFEF"/>
              </a:highlight>
            </a:endParaRPr>
          </a:p>
        </p:txBody>
      </p:sp>
      <p:sp>
        <p:nvSpPr>
          <p:cNvPr id="61" name="Google Shape;61;p12"/>
          <p:cNvSpPr txBox="1"/>
          <p:nvPr/>
        </p:nvSpPr>
        <p:spPr>
          <a:xfrm>
            <a:off x="4831050" y="2671425"/>
            <a:ext cx="4512300" cy="23577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class</a:t>
            </a:r>
            <a:r>
              <a:rPr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SLList&lt;Blorp&gt;{</a:t>
            </a:r>
            <a:endParaRPr sz="12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SLList()</a:t>
            </a:r>
            <a:endParaRPr sz="12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SLList(Blorp x)</a:t>
            </a:r>
            <a:endParaRPr sz="12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2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insert(Blorp item, </a:t>
            </a:r>
            <a:r>
              <a:rPr lang="en" sz="12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position)</a:t>
            </a:r>
            <a:endParaRPr sz="12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2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addFirst(Blorp x)</a:t>
            </a:r>
            <a:endParaRPr sz="12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2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addLast(Blorp x)</a:t>
            </a:r>
            <a:endParaRPr sz="12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Blorp getFirst()</a:t>
            </a:r>
            <a:endParaRPr sz="12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Blorp getLast()</a:t>
            </a:r>
            <a:endParaRPr sz="12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Blorp get(</a:t>
            </a:r>
            <a:r>
              <a:rPr lang="en" sz="12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i)</a:t>
            </a:r>
            <a:endParaRPr sz="12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2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size()</a:t>
            </a:r>
            <a:endParaRPr sz="12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Blorp removeLast()</a:t>
            </a:r>
            <a:endParaRPr sz="12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200">
              <a:solidFill>
                <a:srgbClr val="9C20EE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ALists and SLLists: WordUtils.java</a:t>
            </a:r>
            <a:endParaRPr/>
          </a:p>
        </p:txBody>
      </p:sp>
      <p:sp>
        <p:nvSpPr>
          <p:cNvPr id="67" name="Google Shape;67;p13"/>
          <p:cNvSpPr txBox="1"/>
          <p:nvPr>
            <p:ph idx="1" type="body"/>
          </p:nvPr>
        </p:nvSpPr>
        <p:spPr>
          <a:xfrm>
            <a:off x="243000" y="556500"/>
            <a:ext cx="7703400" cy="41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Suppose we’re writing a library to manipulate lists of words. Might want to write a function that finds the longest word from a list of words:</a:t>
            </a:r>
            <a:endParaRPr/>
          </a:p>
        </p:txBody>
      </p:sp>
      <p:sp>
        <p:nvSpPr>
          <p:cNvPr id="68" name="Google Shape;68;p13"/>
          <p:cNvSpPr txBox="1"/>
          <p:nvPr/>
        </p:nvSpPr>
        <p:spPr>
          <a:xfrm>
            <a:off x="342900" y="1373384"/>
            <a:ext cx="8373000" cy="37134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static</a:t>
            </a: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String longest(SLList&lt;String&gt; list) {</a:t>
            </a:r>
            <a:endParaRPr b="1"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	</a:t>
            </a:r>
            <a:r>
              <a:rPr b="1"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maxDex = 0;</a:t>
            </a:r>
            <a:endParaRPr b="1"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	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1"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 = 0; i &lt; list.size(); i += 1) {</a:t>
            </a:r>
            <a:endParaRPr b="1"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	String longestString = list.get(maxDex);</a:t>
            </a:r>
            <a:endParaRPr b="1"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	String thisString = list.get(i);</a:t>
            </a:r>
            <a:endParaRPr b="1"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	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(thisString.length() &gt; longestString.length()) {</a:t>
            </a:r>
            <a:endParaRPr b="1"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  	maxDex = i;</a:t>
            </a:r>
            <a:endParaRPr b="1"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	}</a:t>
            </a:r>
            <a:endParaRPr b="1"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	}</a:t>
            </a:r>
            <a:endParaRPr b="1"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	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list.get(maxDex);</a:t>
            </a:r>
            <a:endParaRPr b="1"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9C20EE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9" name="Google Shape;69;p13"/>
          <p:cNvSpPr txBox="1"/>
          <p:nvPr/>
        </p:nvSpPr>
        <p:spPr>
          <a:xfrm>
            <a:off x="5791800" y="4255475"/>
            <a:ext cx="2924100" cy="7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Observant viewers may note this code is very inefficient! Don’t worry about it.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ALists and SLLists: WordUtils.java</a:t>
            </a:r>
            <a:endParaRPr/>
          </a:p>
        </p:txBody>
      </p:sp>
      <p:sp>
        <p:nvSpPr>
          <p:cNvPr id="75" name="Google Shape;75;p14"/>
          <p:cNvSpPr txBox="1"/>
          <p:nvPr>
            <p:ph idx="1" type="body"/>
          </p:nvPr>
        </p:nvSpPr>
        <p:spPr>
          <a:xfrm>
            <a:off x="243000" y="556500"/>
            <a:ext cx="8741400" cy="41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we want longest to be able to handle ALists, what changes do we need to make?</a:t>
            </a:r>
            <a:endParaRPr/>
          </a:p>
        </p:txBody>
      </p:sp>
      <p:sp>
        <p:nvSpPr>
          <p:cNvPr id="76" name="Google Shape;76;p14"/>
          <p:cNvSpPr txBox="1"/>
          <p:nvPr/>
        </p:nvSpPr>
        <p:spPr>
          <a:xfrm>
            <a:off x="342900" y="1220984"/>
            <a:ext cx="8373000" cy="37134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static</a:t>
            </a: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String longest(SLList&lt;String&gt; list) {</a:t>
            </a:r>
            <a:endParaRPr b="1"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	</a:t>
            </a:r>
            <a:r>
              <a:rPr b="1"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maxDex = 0;</a:t>
            </a:r>
            <a:endParaRPr b="1"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	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1"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 = 0; i &lt; list.size(); i += 1) {</a:t>
            </a:r>
            <a:endParaRPr b="1"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	String longestString = list.get(maxDex);</a:t>
            </a:r>
            <a:endParaRPr b="1"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	String thisString = list.get(i);</a:t>
            </a:r>
            <a:endParaRPr b="1"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	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(thisString.length() &gt; longestString.length()) {</a:t>
            </a:r>
            <a:endParaRPr b="1"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  	maxDex = i;</a:t>
            </a:r>
            <a:endParaRPr b="1"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	}</a:t>
            </a:r>
            <a:endParaRPr b="1"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	}</a:t>
            </a:r>
            <a:endParaRPr b="1"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	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list.get(maxDex);</a:t>
            </a:r>
            <a:endParaRPr b="1"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9C20EE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ALists and SLLists: WordUtils.java</a:t>
            </a:r>
            <a:endParaRPr/>
          </a:p>
        </p:txBody>
      </p:sp>
      <p:sp>
        <p:nvSpPr>
          <p:cNvPr id="82" name="Google Shape;82;p15"/>
          <p:cNvSpPr txBox="1"/>
          <p:nvPr>
            <p:ph idx="1" type="body"/>
          </p:nvPr>
        </p:nvSpPr>
        <p:spPr>
          <a:xfrm>
            <a:off x="243000" y="556500"/>
            <a:ext cx="8741400" cy="5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we want longest to be able to handle ALists, what changes do we need to make?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5"/>
          <p:cNvSpPr txBox="1"/>
          <p:nvPr/>
        </p:nvSpPr>
        <p:spPr>
          <a:xfrm>
            <a:off x="342900" y="1220984"/>
            <a:ext cx="8373000" cy="37134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static</a:t>
            </a: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String longest(AList&lt;String&gt; list) {</a:t>
            </a:r>
            <a:endParaRPr b="1"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	</a:t>
            </a:r>
            <a:r>
              <a:rPr b="1"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maxDex = 0;</a:t>
            </a:r>
            <a:endParaRPr b="1"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	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1"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 = 0; i &lt; list.size(); i += 1) {</a:t>
            </a:r>
            <a:endParaRPr b="1"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	String longestString = list.get(maxDex);</a:t>
            </a:r>
            <a:endParaRPr b="1"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	String thisString = list.get(i);</a:t>
            </a:r>
            <a:endParaRPr b="1"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	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(thisString.length() &gt; longestString.length()) {</a:t>
            </a:r>
            <a:endParaRPr b="1"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  	maxDex = i;</a:t>
            </a:r>
            <a:endParaRPr b="1"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	}</a:t>
            </a:r>
            <a:endParaRPr b="1"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	}</a:t>
            </a:r>
            <a:endParaRPr b="1"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	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list.get(maxDex);</a:t>
            </a:r>
            <a:endParaRPr b="1"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9C20EE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4" name="Google Shape;84;p15"/>
          <p:cNvCxnSpPr/>
          <p:nvPr/>
        </p:nvCxnSpPr>
        <p:spPr>
          <a:xfrm>
            <a:off x="4052250" y="1104541"/>
            <a:ext cx="211500" cy="211500"/>
          </a:xfrm>
          <a:prstGeom prst="straightConnector1">
            <a:avLst/>
          </a:prstGeom>
          <a:noFill/>
          <a:ln cap="flat" cmpd="sng" w="9525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" name="Google Shape;85;p15"/>
          <p:cNvCxnSpPr/>
          <p:nvPr/>
        </p:nvCxnSpPr>
        <p:spPr>
          <a:xfrm>
            <a:off x="4339875" y="977297"/>
            <a:ext cx="0" cy="351900"/>
          </a:xfrm>
          <a:prstGeom prst="straightConnector1">
            <a:avLst/>
          </a:prstGeom>
          <a:noFill/>
          <a:ln cap="flat" cmpd="sng" w="9525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6" name="Google Shape;86;p15"/>
          <p:cNvCxnSpPr/>
          <p:nvPr/>
        </p:nvCxnSpPr>
        <p:spPr>
          <a:xfrm flipH="1">
            <a:off x="4442575" y="1124941"/>
            <a:ext cx="191100" cy="191100"/>
          </a:xfrm>
          <a:prstGeom prst="straightConnector1">
            <a:avLst/>
          </a:prstGeom>
          <a:noFill/>
          <a:ln cap="flat" cmpd="sng" w="9525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 Overloading in Java</a:t>
            </a:r>
            <a:endParaRPr/>
          </a:p>
        </p:txBody>
      </p:sp>
      <p:sp>
        <p:nvSpPr>
          <p:cNvPr id="92" name="Google Shape;92;p16"/>
          <p:cNvSpPr txBox="1"/>
          <p:nvPr>
            <p:ph idx="1" type="body"/>
          </p:nvPr>
        </p:nvSpPr>
        <p:spPr>
          <a:xfrm>
            <a:off x="243000" y="556500"/>
            <a:ext cx="8741400" cy="12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Java allows multiple methods with same name, but different parameters.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This is called method </a:t>
            </a:r>
            <a:r>
              <a:rPr b="1" lang="en"/>
              <a:t>overloading</a:t>
            </a:r>
            <a:r>
              <a:rPr lang="en"/>
              <a:t>.</a:t>
            </a:r>
            <a:endParaRPr/>
          </a:p>
        </p:txBody>
      </p:sp>
      <p:sp>
        <p:nvSpPr>
          <p:cNvPr id="93" name="Google Shape;93;p16"/>
          <p:cNvSpPr txBox="1"/>
          <p:nvPr/>
        </p:nvSpPr>
        <p:spPr>
          <a:xfrm>
            <a:off x="342900" y="2262075"/>
            <a:ext cx="8373000" cy="22197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static</a:t>
            </a: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String longest(AList&lt;String&gt; list) {</a:t>
            </a:r>
            <a:endParaRPr b="1"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	...</a:t>
            </a:r>
            <a:endParaRPr b="1"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9C20EE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static</a:t>
            </a: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String longest(SLList&lt;String&gt; list) {</a:t>
            </a:r>
            <a:endParaRPr b="1"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	...</a:t>
            </a:r>
            <a:endParaRPr b="1"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9C20EE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Downsides</a:t>
            </a:r>
            <a:endParaRPr/>
          </a:p>
        </p:txBody>
      </p:sp>
      <p:sp>
        <p:nvSpPr>
          <p:cNvPr id="99" name="Google Shape;99;p17"/>
          <p:cNvSpPr txBox="1"/>
          <p:nvPr>
            <p:ph idx="1" type="body"/>
          </p:nvPr>
        </p:nvSpPr>
        <p:spPr>
          <a:xfrm>
            <a:off x="243000" y="556500"/>
            <a:ext cx="8443800" cy="41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While overloading works, it is a bad idea in the case of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longest</a:t>
            </a:r>
            <a:r>
              <a:rPr lang="en"/>
              <a:t>. Why?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Code is virtually identical. Aesthetically gross.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Won’t work for future lists. If we create a QList class, have to make a third method.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Harder to </a:t>
            </a:r>
            <a:r>
              <a:rPr b="1" lang="en"/>
              <a:t>maintain</a:t>
            </a:r>
            <a:r>
              <a:rPr lang="en"/>
              <a:t>.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Example: Suppose you find a bug in one of the methods. You fix it in the SLList version, and forget to do it in the AList version.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9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9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/>
          <p:nvPr>
            <p:ph type="title"/>
          </p:nvPr>
        </p:nvSpPr>
        <p:spPr>
          <a:xfrm>
            <a:off x="928950" y="1527550"/>
            <a:ext cx="7286100" cy="17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Hypernyms, Hyponyms, and Interface Inheritance</a:t>
            </a:r>
            <a:endParaRPr sz="4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Hypernyms</a:t>
            </a:r>
            <a:endParaRPr/>
          </a:p>
        </p:txBody>
      </p:sp>
      <p:sp>
        <p:nvSpPr>
          <p:cNvPr id="110" name="Google Shape;110;p19"/>
          <p:cNvSpPr txBox="1"/>
          <p:nvPr>
            <p:ph idx="1" type="body"/>
          </p:nvPr>
        </p:nvSpPr>
        <p:spPr>
          <a:xfrm>
            <a:off x="243000" y="556500"/>
            <a:ext cx="8443800" cy="13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 natural languages (English, Spanish, Chinese, Tagalog, etc.), we have a concept known as a “hypernym” to deal with this problem.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Dog is a “hypernym” of poodle, malamute, yorkie, etc.</a:t>
            </a:r>
            <a:endParaRPr/>
          </a:p>
        </p:txBody>
      </p:sp>
      <p:sp>
        <p:nvSpPr>
          <p:cNvPr id="111" name="Google Shape;111;p19"/>
          <p:cNvSpPr txBox="1"/>
          <p:nvPr/>
        </p:nvSpPr>
        <p:spPr>
          <a:xfrm>
            <a:off x="179875" y="2088400"/>
            <a:ext cx="4113000" cy="2844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highlight>
                  <a:srgbClr val="EFEFEF"/>
                </a:highlight>
                <a:latin typeface="Calibri"/>
                <a:ea typeface="Calibri"/>
                <a:cs typeface="Calibri"/>
                <a:sym typeface="Calibri"/>
              </a:rPr>
              <a:t>Washing your poodle:</a:t>
            </a:r>
            <a:endParaRPr sz="1800">
              <a:highlight>
                <a:srgbClr val="EFEFE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highlight>
                  <a:srgbClr val="EFEFEF"/>
                </a:highlight>
                <a:latin typeface="Calibri"/>
                <a:ea typeface="Calibri"/>
                <a:cs typeface="Calibri"/>
                <a:sym typeface="Calibri"/>
              </a:rPr>
              <a:t>1. Brush your poodle before a bath. ...</a:t>
            </a:r>
            <a:endParaRPr sz="1800">
              <a:highlight>
                <a:srgbClr val="EFEFE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highlight>
                  <a:srgbClr val="EFEFEF"/>
                </a:highlight>
                <a:latin typeface="Calibri"/>
                <a:ea typeface="Calibri"/>
                <a:cs typeface="Calibri"/>
                <a:sym typeface="Calibri"/>
              </a:rPr>
              <a:t>2. Use lukewarm water. ...</a:t>
            </a:r>
            <a:endParaRPr sz="1800">
              <a:highlight>
                <a:srgbClr val="EFEFE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highlight>
                  <a:srgbClr val="EFEFEF"/>
                </a:highlight>
                <a:latin typeface="Calibri"/>
                <a:ea typeface="Calibri"/>
                <a:cs typeface="Calibri"/>
                <a:sym typeface="Calibri"/>
              </a:rPr>
              <a:t>3. Talk to your poodle in a calm voice. ...</a:t>
            </a:r>
            <a:endParaRPr sz="1800">
              <a:highlight>
                <a:srgbClr val="EFEFE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highlight>
                  <a:srgbClr val="EFEFEF"/>
                </a:highlight>
                <a:latin typeface="Calibri"/>
                <a:ea typeface="Calibri"/>
                <a:cs typeface="Calibri"/>
                <a:sym typeface="Calibri"/>
              </a:rPr>
              <a:t>4. Use poodle shampoo. ...</a:t>
            </a:r>
            <a:endParaRPr sz="1800">
              <a:highlight>
                <a:srgbClr val="EFEFE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highlight>
                  <a:srgbClr val="EFEFEF"/>
                </a:highlight>
                <a:latin typeface="Calibri"/>
                <a:ea typeface="Calibri"/>
                <a:cs typeface="Calibri"/>
                <a:sym typeface="Calibri"/>
              </a:rPr>
              <a:t>5. Rinse well. ...</a:t>
            </a:r>
            <a:endParaRPr sz="1800">
              <a:highlight>
                <a:srgbClr val="EFEFE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highlight>
                  <a:srgbClr val="EFEFEF"/>
                </a:highlight>
                <a:latin typeface="Calibri"/>
                <a:ea typeface="Calibri"/>
                <a:cs typeface="Calibri"/>
                <a:sym typeface="Calibri"/>
              </a:rPr>
              <a:t>6. Air-dry. ...</a:t>
            </a:r>
            <a:endParaRPr sz="1800">
              <a:highlight>
                <a:srgbClr val="EFEFE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highlight>
                  <a:srgbClr val="EFEFEF"/>
                </a:highlight>
                <a:latin typeface="Calibri"/>
                <a:ea typeface="Calibri"/>
                <a:cs typeface="Calibri"/>
                <a:sym typeface="Calibri"/>
              </a:rPr>
              <a:t>7. Reward your poodle.</a:t>
            </a:r>
            <a:endParaRPr sz="1800">
              <a:highlight>
                <a:srgbClr val="EFEFE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highlight>
                <a:srgbClr val="EFEFE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highlight>
                <a:srgbClr val="EFEFE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9"/>
          <p:cNvSpPr txBox="1"/>
          <p:nvPr/>
        </p:nvSpPr>
        <p:spPr>
          <a:xfrm>
            <a:off x="4638450" y="2098150"/>
            <a:ext cx="4319400" cy="2844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highlight>
                  <a:srgbClr val="EFEFEF"/>
                </a:highlight>
                <a:latin typeface="Calibri"/>
                <a:ea typeface="Calibri"/>
                <a:cs typeface="Calibri"/>
                <a:sym typeface="Calibri"/>
              </a:rPr>
              <a:t>Washing your malamute:</a:t>
            </a:r>
            <a:endParaRPr sz="1800">
              <a:highlight>
                <a:srgbClr val="EFEFE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highlight>
                  <a:srgbClr val="EFEFEF"/>
                </a:highlight>
                <a:latin typeface="Calibri"/>
                <a:ea typeface="Calibri"/>
                <a:cs typeface="Calibri"/>
                <a:sym typeface="Calibri"/>
              </a:rPr>
              <a:t>1. Brush your malamute before a bath. ...</a:t>
            </a:r>
            <a:endParaRPr sz="1800">
              <a:highlight>
                <a:srgbClr val="EFEFE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highlight>
                  <a:srgbClr val="EFEFEF"/>
                </a:highlight>
                <a:latin typeface="Calibri"/>
                <a:ea typeface="Calibri"/>
                <a:cs typeface="Calibri"/>
                <a:sym typeface="Calibri"/>
              </a:rPr>
              <a:t>2. Use lukewarm water. ...</a:t>
            </a:r>
            <a:endParaRPr sz="1800">
              <a:highlight>
                <a:srgbClr val="EFEFE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highlight>
                  <a:srgbClr val="EFEFEF"/>
                </a:highlight>
                <a:latin typeface="Calibri"/>
                <a:ea typeface="Calibri"/>
                <a:cs typeface="Calibri"/>
                <a:sym typeface="Calibri"/>
              </a:rPr>
              <a:t>3. Talk to your malamute in a calm voice. ...</a:t>
            </a:r>
            <a:endParaRPr sz="1800">
              <a:highlight>
                <a:srgbClr val="EFEFE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highlight>
                  <a:srgbClr val="EFEFEF"/>
                </a:highlight>
                <a:latin typeface="Calibri"/>
                <a:ea typeface="Calibri"/>
                <a:cs typeface="Calibri"/>
                <a:sym typeface="Calibri"/>
              </a:rPr>
              <a:t>4. Use malamute shampoo. ...</a:t>
            </a:r>
            <a:endParaRPr sz="1800">
              <a:highlight>
                <a:srgbClr val="EFEFE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highlight>
                  <a:srgbClr val="EFEFEF"/>
                </a:highlight>
                <a:latin typeface="Calibri"/>
                <a:ea typeface="Calibri"/>
                <a:cs typeface="Calibri"/>
                <a:sym typeface="Calibri"/>
              </a:rPr>
              <a:t>5. Rinse well. ...</a:t>
            </a:r>
            <a:endParaRPr sz="1800">
              <a:highlight>
                <a:srgbClr val="EFEFE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highlight>
                  <a:srgbClr val="EFEFEF"/>
                </a:highlight>
                <a:latin typeface="Calibri"/>
                <a:ea typeface="Calibri"/>
                <a:cs typeface="Calibri"/>
                <a:sym typeface="Calibri"/>
              </a:rPr>
              <a:t>6. Air-dry. ...</a:t>
            </a:r>
            <a:endParaRPr sz="1800">
              <a:highlight>
                <a:srgbClr val="EFEFE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highlight>
                  <a:srgbClr val="EFEFEF"/>
                </a:highlight>
                <a:latin typeface="Calibri"/>
                <a:ea typeface="Calibri"/>
                <a:cs typeface="Calibri"/>
                <a:sym typeface="Calibri"/>
              </a:rPr>
              <a:t>7. Reward your malamute.</a:t>
            </a:r>
            <a:endParaRPr sz="1800">
              <a:highlight>
                <a:srgbClr val="EFEFE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highlight>
                <a:srgbClr val="EFEFE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highlight>
                <a:srgbClr val="EFEFE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9"/>
          <p:cNvSpPr txBox="1"/>
          <p:nvPr/>
        </p:nvSpPr>
        <p:spPr>
          <a:xfrm>
            <a:off x="2515500" y="1805750"/>
            <a:ext cx="4113000" cy="2844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Washing your </a:t>
            </a:r>
            <a:r>
              <a:rPr b="1" lang="en" sz="1800">
                <a:latin typeface="Calibri"/>
                <a:ea typeface="Calibri"/>
                <a:cs typeface="Calibri"/>
                <a:sym typeface="Calibri"/>
              </a:rPr>
              <a:t>dog</a:t>
            </a: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: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1. Brush your </a:t>
            </a:r>
            <a:r>
              <a:rPr b="1" lang="en" sz="1800">
                <a:latin typeface="Calibri"/>
                <a:ea typeface="Calibri"/>
                <a:cs typeface="Calibri"/>
                <a:sym typeface="Calibri"/>
              </a:rPr>
              <a:t>dog</a:t>
            </a: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 before a bath. ...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2. Use lukewarm water. ...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3. Talk to your </a:t>
            </a:r>
            <a:r>
              <a:rPr b="1" lang="en" sz="1800">
                <a:latin typeface="Calibri"/>
                <a:ea typeface="Calibri"/>
                <a:cs typeface="Calibri"/>
                <a:sym typeface="Calibri"/>
              </a:rPr>
              <a:t>dog</a:t>
            </a: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 in a calm voice. ...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4. Use dog shampoo. ...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5. Rinse well. ...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6. Air-dry. ...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7. Reward your </a:t>
            </a:r>
            <a:r>
              <a:rPr b="1" lang="en" sz="1800">
                <a:latin typeface="Calibri"/>
                <a:ea typeface="Calibri"/>
                <a:cs typeface="Calibri"/>
                <a:sym typeface="Calibri"/>
              </a:rPr>
              <a:t>dog</a:t>
            </a: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Hypernym and Hyponym</a:t>
            </a:r>
            <a:endParaRPr/>
          </a:p>
        </p:txBody>
      </p:sp>
      <p:sp>
        <p:nvSpPr>
          <p:cNvPr id="119" name="Google Shape;119;p20"/>
          <p:cNvSpPr txBox="1"/>
          <p:nvPr>
            <p:ph idx="1" type="body"/>
          </p:nvPr>
        </p:nvSpPr>
        <p:spPr>
          <a:xfrm>
            <a:off x="243000" y="556500"/>
            <a:ext cx="8443800" cy="41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use the word hyponym for the opposite type of relationship.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“dog”: Hypernym of “poodle”, “malamute”, “</a:t>
            </a:r>
            <a:r>
              <a:rPr lang="en"/>
              <a:t>dachshund</a:t>
            </a:r>
            <a:r>
              <a:rPr lang="en"/>
              <a:t>”, etc.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“poodle”: Hyponym of “dog”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Hypernyms and hyponyms comprise a hierarchy.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A dog “is-a” canine.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A canine “is-a” carnivore.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A carnivore “is-an” animal.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(for fun: see the </a:t>
            </a:r>
            <a:r>
              <a:rPr lang="en" u="sng">
                <a:solidFill>
                  <a:schemeClr val="hlink"/>
                </a:solidFill>
                <a:hlinkClick r:id="rId3"/>
              </a:rPr>
              <a:t>WordNet project</a:t>
            </a:r>
            <a:r>
              <a:rPr lang="en"/>
              <a:t>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0"/>
          <p:cNvSpPr/>
          <p:nvPr/>
        </p:nvSpPr>
        <p:spPr>
          <a:xfrm>
            <a:off x="6380275" y="2596300"/>
            <a:ext cx="984600" cy="3174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animal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0"/>
          <p:cNvSpPr/>
          <p:nvPr/>
        </p:nvSpPr>
        <p:spPr>
          <a:xfrm>
            <a:off x="5073750" y="3053475"/>
            <a:ext cx="1380600" cy="3174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omnivore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0"/>
          <p:cNvSpPr/>
          <p:nvPr/>
        </p:nvSpPr>
        <p:spPr>
          <a:xfrm>
            <a:off x="7391405" y="3053475"/>
            <a:ext cx="1380600" cy="3174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herbivore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20"/>
          <p:cNvSpPr/>
          <p:nvPr/>
        </p:nvSpPr>
        <p:spPr>
          <a:xfrm>
            <a:off x="5694925" y="3516475"/>
            <a:ext cx="2355300" cy="3174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carnivore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0"/>
          <p:cNvSpPr/>
          <p:nvPr/>
        </p:nvSpPr>
        <p:spPr>
          <a:xfrm>
            <a:off x="7852225" y="3982775"/>
            <a:ext cx="981000" cy="333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feline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5" name="Google Shape;125;p20"/>
          <p:cNvCxnSpPr>
            <a:stCxn id="120" idx="2"/>
            <a:endCxn id="121" idx="0"/>
          </p:cNvCxnSpPr>
          <p:nvPr/>
        </p:nvCxnSpPr>
        <p:spPr>
          <a:xfrm flipH="1">
            <a:off x="5764075" y="2913700"/>
            <a:ext cx="1108500" cy="13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" name="Google Shape;126;p20"/>
          <p:cNvCxnSpPr>
            <a:stCxn id="120" idx="2"/>
            <a:endCxn id="122" idx="0"/>
          </p:cNvCxnSpPr>
          <p:nvPr/>
        </p:nvCxnSpPr>
        <p:spPr>
          <a:xfrm>
            <a:off x="6872575" y="2913700"/>
            <a:ext cx="1209000" cy="13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7" name="Google Shape;127;p20"/>
          <p:cNvCxnSpPr>
            <a:stCxn id="120" idx="2"/>
            <a:endCxn id="123" idx="0"/>
          </p:cNvCxnSpPr>
          <p:nvPr/>
        </p:nvCxnSpPr>
        <p:spPr>
          <a:xfrm>
            <a:off x="6872575" y="2913700"/>
            <a:ext cx="0" cy="60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8" name="Google Shape;128;p20"/>
          <p:cNvCxnSpPr>
            <a:stCxn id="123" idx="2"/>
            <a:endCxn id="124" idx="0"/>
          </p:cNvCxnSpPr>
          <p:nvPr/>
        </p:nvCxnSpPr>
        <p:spPr>
          <a:xfrm>
            <a:off x="6872575" y="3833875"/>
            <a:ext cx="1470300" cy="148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9" name="Google Shape;129;p20"/>
          <p:cNvSpPr/>
          <p:nvPr/>
        </p:nvSpPr>
        <p:spPr>
          <a:xfrm>
            <a:off x="4943850" y="3995350"/>
            <a:ext cx="1878300" cy="333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canine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p20"/>
          <p:cNvCxnSpPr>
            <a:stCxn id="123" idx="2"/>
            <a:endCxn id="129" idx="0"/>
          </p:cNvCxnSpPr>
          <p:nvPr/>
        </p:nvCxnSpPr>
        <p:spPr>
          <a:xfrm flipH="1">
            <a:off x="5882875" y="3833875"/>
            <a:ext cx="989700" cy="161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1" name="Google Shape;131;p20"/>
          <p:cNvSpPr/>
          <p:nvPr/>
        </p:nvSpPr>
        <p:spPr>
          <a:xfrm>
            <a:off x="5160166" y="4592916"/>
            <a:ext cx="1452000" cy="333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dog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2" name="Google Shape;132;p20"/>
          <p:cNvCxnSpPr>
            <a:stCxn id="129" idx="2"/>
            <a:endCxn id="131" idx="0"/>
          </p:cNvCxnSpPr>
          <p:nvPr/>
        </p:nvCxnSpPr>
        <p:spPr>
          <a:xfrm>
            <a:off x="5883000" y="4328350"/>
            <a:ext cx="3300" cy="264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Simple Hyponymic Relationships in Java</a:t>
            </a:r>
            <a:endParaRPr/>
          </a:p>
        </p:txBody>
      </p:sp>
      <p:sp>
        <p:nvSpPr>
          <p:cNvPr id="138" name="Google Shape;138;p21"/>
          <p:cNvSpPr txBox="1"/>
          <p:nvPr>
            <p:ph idx="1" type="body"/>
          </p:nvPr>
        </p:nvSpPr>
        <p:spPr>
          <a:xfrm>
            <a:off x="243000" y="556500"/>
            <a:ext cx="8443800" cy="41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SLLists and ALists are both clearly some kind of “list”. 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List is a hypernym of SLList and AList.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Expressing this in Java is a two-step process: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Step 1: Define a reference type for our hypernym (List61B.java).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Step 2: Specify that SLLists and ALists are hyponyms of that type.</a:t>
            </a:r>
            <a:br>
              <a:rPr lang="en"/>
            </a:br>
            <a:endParaRPr/>
          </a:p>
        </p:txBody>
      </p:sp>
      <p:sp>
        <p:nvSpPr>
          <p:cNvPr id="139" name="Google Shape;139;p21"/>
          <p:cNvSpPr/>
          <p:nvPr/>
        </p:nvSpPr>
        <p:spPr>
          <a:xfrm>
            <a:off x="5973175" y="3365738"/>
            <a:ext cx="2355300" cy="31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List61B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1"/>
          <p:cNvSpPr/>
          <p:nvPr/>
        </p:nvSpPr>
        <p:spPr>
          <a:xfrm>
            <a:off x="7395025" y="4058975"/>
            <a:ext cx="981000" cy="333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SLList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1" name="Google Shape;141;p21"/>
          <p:cNvCxnSpPr>
            <a:stCxn id="139" idx="2"/>
            <a:endCxn id="140" idx="0"/>
          </p:cNvCxnSpPr>
          <p:nvPr/>
        </p:nvCxnSpPr>
        <p:spPr>
          <a:xfrm>
            <a:off x="7150825" y="3683138"/>
            <a:ext cx="734700" cy="375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2" name="Google Shape;142;p21"/>
          <p:cNvSpPr/>
          <p:nvPr/>
        </p:nvSpPr>
        <p:spPr>
          <a:xfrm>
            <a:off x="5935350" y="4058975"/>
            <a:ext cx="1037700" cy="333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AList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3" name="Google Shape;143;p21"/>
          <p:cNvCxnSpPr>
            <a:stCxn id="139" idx="2"/>
            <a:endCxn id="142" idx="0"/>
          </p:cNvCxnSpPr>
          <p:nvPr/>
        </p:nvCxnSpPr>
        <p:spPr>
          <a:xfrm flipH="1">
            <a:off x="6454225" y="3683138"/>
            <a:ext cx="696600" cy="375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1: Defining a List61B</a:t>
            </a:r>
            <a:endParaRPr/>
          </a:p>
        </p:txBody>
      </p:sp>
      <p:sp>
        <p:nvSpPr>
          <p:cNvPr id="149" name="Google Shape;149;p22"/>
          <p:cNvSpPr txBox="1"/>
          <p:nvPr>
            <p:ph idx="1" type="body"/>
          </p:nvPr>
        </p:nvSpPr>
        <p:spPr>
          <a:xfrm>
            <a:off x="243000" y="556500"/>
            <a:ext cx="8741400" cy="41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We’ll use the new keyword </a:t>
            </a:r>
            <a:r>
              <a:rPr b="1" lang="en"/>
              <a:t>interface</a:t>
            </a:r>
            <a:r>
              <a:rPr lang="en"/>
              <a:t> instead of </a:t>
            </a:r>
            <a:r>
              <a:rPr b="1" lang="en"/>
              <a:t>class</a:t>
            </a:r>
            <a:r>
              <a:rPr lang="en"/>
              <a:t> to define a List61B.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Idea: Interface is a specification of what a List is able to do, not how to do it.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1: Defining a List61B</a:t>
            </a:r>
            <a:endParaRPr/>
          </a:p>
        </p:txBody>
      </p:sp>
      <p:sp>
        <p:nvSpPr>
          <p:cNvPr id="155" name="Google Shape;155;p23"/>
          <p:cNvSpPr txBox="1"/>
          <p:nvPr>
            <p:ph idx="1" type="body"/>
          </p:nvPr>
        </p:nvSpPr>
        <p:spPr>
          <a:xfrm>
            <a:off x="243000" y="556500"/>
            <a:ext cx="8741400" cy="41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We’ll use the new keyword </a:t>
            </a:r>
            <a:r>
              <a:rPr b="1" lang="en"/>
              <a:t>interface</a:t>
            </a:r>
            <a:r>
              <a:rPr lang="en"/>
              <a:t> instead of </a:t>
            </a:r>
            <a:r>
              <a:rPr b="1" lang="en"/>
              <a:t>class</a:t>
            </a:r>
            <a:r>
              <a:rPr lang="en"/>
              <a:t> to define a List61B.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Idea: Interface is a specification of </a:t>
            </a:r>
            <a:r>
              <a:rPr b="1" lang="en" u="sng"/>
              <a:t>what</a:t>
            </a:r>
            <a:r>
              <a:rPr lang="en"/>
              <a:t> a List is able to do, </a:t>
            </a:r>
            <a:r>
              <a:rPr b="1" lang="en" u="sng"/>
              <a:t>not how</a:t>
            </a:r>
            <a:r>
              <a:rPr lang="en"/>
              <a:t> to do it.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3"/>
          <p:cNvSpPr txBox="1"/>
          <p:nvPr/>
        </p:nvSpPr>
        <p:spPr>
          <a:xfrm>
            <a:off x="342900" y="1903425"/>
            <a:ext cx="8373000" cy="3030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interface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List61B&lt;Item&gt;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addFirst(Item x);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addLast(Item y);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Item getFirst();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Item getLast();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Item removeLast();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Item get(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insert(Item x, 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position);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size();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9C20EE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7" name="Google Shape;157;p23"/>
          <p:cNvSpPr/>
          <p:nvPr/>
        </p:nvSpPr>
        <p:spPr>
          <a:xfrm>
            <a:off x="5973175" y="2679938"/>
            <a:ext cx="2355300" cy="31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List61B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4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2: Implementing the List61B Interface</a:t>
            </a:r>
            <a:endParaRPr/>
          </a:p>
        </p:txBody>
      </p:sp>
      <p:sp>
        <p:nvSpPr>
          <p:cNvPr id="163" name="Google Shape;163;p24"/>
          <p:cNvSpPr txBox="1"/>
          <p:nvPr>
            <p:ph idx="1" type="body"/>
          </p:nvPr>
        </p:nvSpPr>
        <p:spPr>
          <a:xfrm>
            <a:off x="243000" y="556500"/>
            <a:ext cx="8443800" cy="41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We’ll now: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Use the new </a:t>
            </a:r>
            <a:r>
              <a:rPr b="1" lang="en"/>
              <a:t>implements </a:t>
            </a:r>
            <a:r>
              <a:rPr lang="en"/>
              <a:t>keyword to tell the Java compiler that SLList and AList are hyponyms of List61B.</a:t>
            </a:r>
            <a:endParaRPr/>
          </a:p>
        </p:txBody>
      </p:sp>
      <p:sp>
        <p:nvSpPr>
          <p:cNvPr id="164" name="Google Shape;164;p24"/>
          <p:cNvSpPr txBox="1"/>
          <p:nvPr/>
        </p:nvSpPr>
        <p:spPr>
          <a:xfrm>
            <a:off x="342900" y="2859275"/>
            <a:ext cx="8373000" cy="1835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class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AList&lt;Item&gt; 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implements</a:t>
            </a: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List61B&lt;Item&gt;{</a:t>
            </a:r>
            <a:endParaRPr b="1"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...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FF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addLast(Item x) {    </a:t>
            </a:r>
            <a:endParaRPr b="1" sz="1900">
              <a:solidFill>
                <a:srgbClr val="9C20EE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...</a:t>
            </a:r>
            <a:endParaRPr b="1" sz="1900">
              <a:solidFill>
                <a:srgbClr val="9C20EE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5" name="Google Shape;165;p24"/>
          <p:cNvSpPr/>
          <p:nvPr/>
        </p:nvSpPr>
        <p:spPr>
          <a:xfrm>
            <a:off x="5973175" y="3518138"/>
            <a:ext cx="2355300" cy="31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List61B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4"/>
          <p:cNvSpPr/>
          <p:nvPr/>
        </p:nvSpPr>
        <p:spPr>
          <a:xfrm>
            <a:off x="7395025" y="4211375"/>
            <a:ext cx="981000" cy="333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SLList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7" name="Google Shape;167;p24"/>
          <p:cNvCxnSpPr>
            <a:stCxn id="165" idx="2"/>
            <a:endCxn id="166" idx="0"/>
          </p:cNvCxnSpPr>
          <p:nvPr/>
        </p:nvCxnSpPr>
        <p:spPr>
          <a:xfrm>
            <a:off x="7150825" y="3835538"/>
            <a:ext cx="734700" cy="375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8" name="Google Shape;168;p24"/>
          <p:cNvSpPr/>
          <p:nvPr/>
        </p:nvSpPr>
        <p:spPr>
          <a:xfrm>
            <a:off x="5935350" y="4211375"/>
            <a:ext cx="1037700" cy="333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AList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9" name="Google Shape;169;p24"/>
          <p:cNvCxnSpPr>
            <a:stCxn id="165" idx="2"/>
            <a:endCxn id="168" idx="0"/>
          </p:cNvCxnSpPr>
          <p:nvPr/>
        </p:nvCxnSpPr>
        <p:spPr>
          <a:xfrm flipH="1">
            <a:off x="6454225" y="3835538"/>
            <a:ext cx="696600" cy="375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5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Adjusting WordUtils.java</a:t>
            </a:r>
            <a:endParaRPr/>
          </a:p>
        </p:txBody>
      </p:sp>
      <p:sp>
        <p:nvSpPr>
          <p:cNvPr id="175" name="Google Shape;175;p25"/>
          <p:cNvSpPr txBox="1"/>
          <p:nvPr>
            <p:ph idx="1" type="body"/>
          </p:nvPr>
        </p:nvSpPr>
        <p:spPr>
          <a:xfrm>
            <a:off x="243000" y="556500"/>
            <a:ext cx="8443800" cy="41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can now adjust our longest method to work on either kind of list: </a:t>
            </a:r>
            <a:endParaRPr/>
          </a:p>
        </p:txBody>
      </p:sp>
      <p:sp>
        <p:nvSpPr>
          <p:cNvPr id="176" name="Google Shape;176;p25"/>
          <p:cNvSpPr txBox="1"/>
          <p:nvPr/>
        </p:nvSpPr>
        <p:spPr>
          <a:xfrm>
            <a:off x="342900" y="1220984"/>
            <a:ext cx="8373000" cy="37134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static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String longest(</a:t>
            </a: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List61B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&lt;String&gt; list)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	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maxDex = 0;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	</a:t>
            </a:r>
            <a:r>
              <a:rPr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 = 0; i &lt; list.size(); i += 1)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	String longestString = list.get(maxDex);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	String thisString = list.get(i);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	</a:t>
            </a:r>
            <a:r>
              <a:rPr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(thisString.length() &gt; longestString.length())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  	maxDex = i;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	}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	}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	</a:t>
            </a:r>
            <a:r>
              <a:rPr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list.get(maxDex);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9C20EE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77" name="Google Shape;177;p25"/>
          <p:cNvCxnSpPr/>
          <p:nvPr/>
        </p:nvCxnSpPr>
        <p:spPr>
          <a:xfrm>
            <a:off x="4052250" y="1104541"/>
            <a:ext cx="211500" cy="211500"/>
          </a:xfrm>
          <a:prstGeom prst="straightConnector1">
            <a:avLst/>
          </a:prstGeom>
          <a:noFill/>
          <a:ln cap="flat" cmpd="sng" w="9525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8" name="Google Shape;178;p25"/>
          <p:cNvCxnSpPr/>
          <p:nvPr/>
        </p:nvCxnSpPr>
        <p:spPr>
          <a:xfrm>
            <a:off x="4339875" y="977297"/>
            <a:ext cx="0" cy="351900"/>
          </a:xfrm>
          <a:prstGeom prst="straightConnector1">
            <a:avLst/>
          </a:prstGeom>
          <a:noFill/>
          <a:ln cap="flat" cmpd="sng" w="9525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9" name="Google Shape;179;p25"/>
          <p:cNvCxnSpPr/>
          <p:nvPr/>
        </p:nvCxnSpPr>
        <p:spPr>
          <a:xfrm flipH="1">
            <a:off x="4442575" y="1124941"/>
            <a:ext cx="191100" cy="191100"/>
          </a:xfrm>
          <a:prstGeom prst="straightConnector1">
            <a:avLst/>
          </a:prstGeom>
          <a:noFill/>
          <a:ln cap="flat" cmpd="sng" w="9525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0" name="Google Shape;180;p25"/>
          <p:cNvSpPr txBox="1"/>
          <p:nvPr/>
        </p:nvSpPr>
        <p:spPr>
          <a:xfrm>
            <a:off x="4596900" y="3353075"/>
            <a:ext cx="4470900" cy="1347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AList&lt;String&gt; a = new AList&lt;&gt;();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a.addLast(“egg”); a.addLast(“boyz”);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longest(a);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6"/>
          <p:cNvSpPr txBox="1"/>
          <p:nvPr>
            <p:ph type="title"/>
          </p:nvPr>
        </p:nvSpPr>
        <p:spPr>
          <a:xfrm>
            <a:off x="928950" y="2062800"/>
            <a:ext cx="7286100" cy="101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Overriding vs. Overloading</a:t>
            </a:r>
            <a:endParaRPr sz="4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7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 Overriding</a:t>
            </a:r>
            <a:endParaRPr/>
          </a:p>
        </p:txBody>
      </p:sp>
      <p:sp>
        <p:nvSpPr>
          <p:cNvPr id="191" name="Google Shape;191;p27"/>
          <p:cNvSpPr txBox="1"/>
          <p:nvPr>
            <p:ph idx="1" type="body"/>
          </p:nvPr>
        </p:nvSpPr>
        <p:spPr>
          <a:xfrm>
            <a:off x="243000" y="556500"/>
            <a:ext cx="8807100" cy="152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a “subclass” has a method with the exact same signature as in the        “superclass”, we say the subclass </a:t>
            </a:r>
            <a:r>
              <a:rPr b="1" lang="en"/>
              <a:t>overrides</a:t>
            </a:r>
            <a:r>
              <a:rPr lang="en"/>
              <a:t> the method.</a:t>
            </a:r>
            <a:endParaRPr/>
          </a:p>
        </p:txBody>
      </p:sp>
      <p:sp>
        <p:nvSpPr>
          <p:cNvPr id="192" name="Google Shape;192;p27"/>
          <p:cNvSpPr txBox="1"/>
          <p:nvPr/>
        </p:nvSpPr>
        <p:spPr>
          <a:xfrm>
            <a:off x="342900" y="3011675"/>
            <a:ext cx="8373000" cy="1313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class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AList&lt;Item&gt; 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implements</a:t>
            </a: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List61B&lt;Item&gt;{</a:t>
            </a:r>
            <a:endParaRPr b="1"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...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FF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addLast(Item x) {    </a:t>
            </a:r>
            <a:endParaRPr b="1" sz="1900">
              <a:solidFill>
                <a:srgbClr val="9C20EE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...   </a:t>
            </a:r>
            <a:endParaRPr b="1" sz="1900">
              <a:solidFill>
                <a:srgbClr val="9C20EE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3" name="Google Shape;193;p27"/>
          <p:cNvSpPr txBox="1"/>
          <p:nvPr/>
        </p:nvSpPr>
        <p:spPr>
          <a:xfrm>
            <a:off x="342900" y="1598625"/>
            <a:ext cx="8373000" cy="1176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interface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List61B&lt;Item&gt;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addLast(Item y);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...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9C20EE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4" name="Google Shape;194;p27"/>
          <p:cNvSpPr txBox="1"/>
          <p:nvPr/>
        </p:nvSpPr>
        <p:spPr>
          <a:xfrm>
            <a:off x="2470050" y="4324775"/>
            <a:ext cx="42423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AList</a:t>
            </a: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000">
                <a:solidFill>
                  <a:srgbClr val="BE0712"/>
                </a:solidFill>
                <a:latin typeface="Calibri"/>
                <a:ea typeface="Calibri"/>
                <a:cs typeface="Calibri"/>
                <a:sym typeface="Calibri"/>
              </a:rPr>
              <a:t>overrides </a:t>
            </a: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addLast(Item)</a:t>
            </a:r>
            <a:endParaRPr sz="2000">
              <a:solidFill>
                <a:srgbClr val="BE071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8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 Overriding vs. Overloading</a:t>
            </a:r>
            <a:endParaRPr/>
          </a:p>
        </p:txBody>
      </p:sp>
      <p:grpSp>
        <p:nvGrpSpPr>
          <p:cNvPr id="200" name="Google Shape;200;p28"/>
          <p:cNvGrpSpPr/>
          <p:nvPr/>
        </p:nvGrpSpPr>
        <p:grpSpPr>
          <a:xfrm>
            <a:off x="4472100" y="2062380"/>
            <a:ext cx="4578000" cy="1448355"/>
            <a:chOff x="17725" y="2247825"/>
            <a:chExt cx="4578000" cy="1448355"/>
          </a:xfrm>
        </p:grpSpPr>
        <p:sp>
          <p:nvSpPr>
            <p:cNvPr id="201" name="Google Shape;201;p28"/>
            <p:cNvSpPr txBox="1"/>
            <p:nvPr/>
          </p:nvSpPr>
          <p:spPr>
            <a:xfrm>
              <a:off x="17725" y="2247825"/>
              <a:ext cx="4578000" cy="11595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900">
                  <a:solidFill>
                    <a:srgbClr val="9C20EE"/>
                  </a:solidFill>
                  <a:highlight>
                    <a:srgbClr val="EFEFEF"/>
                  </a:highlight>
                  <a:latin typeface="Consolas"/>
                  <a:ea typeface="Consolas"/>
                  <a:cs typeface="Consolas"/>
                  <a:sym typeface="Consolas"/>
                </a:rPr>
                <a:t>public class</a:t>
              </a:r>
              <a:r>
                <a:rPr lang="en" sz="1900">
                  <a:solidFill>
                    <a:schemeClr val="dk1"/>
                  </a:solidFill>
                  <a:highlight>
                    <a:srgbClr val="EFEFEF"/>
                  </a:highlight>
                  <a:latin typeface="Consolas"/>
                  <a:ea typeface="Consolas"/>
                  <a:cs typeface="Consolas"/>
                  <a:sym typeface="Consolas"/>
                </a:rPr>
                <a:t> Dog </a:t>
              </a:r>
              <a:r>
                <a:rPr b="1" lang="en" sz="1200">
                  <a:solidFill>
                    <a:srgbClr val="9C20EE"/>
                  </a:solidFill>
                  <a:highlight>
                    <a:srgbClr val="EFEFEF"/>
                  </a:highlight>
                  <a:latin typeface="Consolas"/>
                  <a:ea typeface="Consolas"/>
                  <a:cs typeface="Consolas"/>
                  <a:sym typeface="Consolas"/>
                </a:rPr>
                <a:t>implements</a:t>
              </a:r>
              <a:r>
                <a:rPr b="1" lang="en" sz="1200">
                  <a:solidFill>
                    <a:schemeClr val="dk1"/>
                  </a:solidFill>
                  <a:highlight>
                    <a:srgbClr val="EFEFEF"/>
                  </a:highlight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" sz="1200">
                  <a:solidFill>
                    <a:schemeClr val="dk1"/>
                  </a:solidFill>
                  <a:highlight>
                    <a:srgbClr val="EFEFEF"/>
                  </a:highlight>
                  <a:latin typeface="Consolas"/>
                  <a:ea typeface="Consolas"/>
                  <a:cs typeface="Consolas"/>
                  <a:sym typeface="Consolas"/>
                </a:rPr>
                <a:t>Animal </a:t>
              </a:r>
              <a:r>
                <a:rPr b="1" lang="en" sz="1900">
                  <a:solidFill>
                    <a:schemeClr val="dk1"/>
                  </a:solidFill>
                  <a:highlight>
                    <a:srgbClr val="EFEFEF"/>
                  </a:highlight>
                  <a:latin typeface="Consolas"/>
                  <a:ea typeface="Consolas"/>
                  <a:cs typeface="Consolas"/>
                  <a:sym typeface="Consolas"/>
                </a:rPr>
                <a:t>{</a:t>
              </a:r>
              <a:endParaRPr b="1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900">
                  <a:solidFill>
                    <a:srgbClr val="0000FF"/>
                  </a:solidFill>
                  <a:highlight>
                    <a:srgbClr val="EFEFEF"/>
                  </a:highlight>
                  <a:latin typeface="Consolas"/>
                  <a:ea typeface="Consolas"/>
                  <a:cs typeface="Consolas"/>
                  <a:sym typeface="Consolas"/>
                </a:rPr>
                <a:t>   </a:t>
              </a:r>
              <a:r>
                <a:rPr b="1" lang="en" sz="1900">
                  <a:solidFill>
                    <a:srgbClr val="9C20EE"/>
                  </a:solidFill>
                  <a:highlight>
                    <a:srgbClr val="EFEFEF"/>
                  </a:highlight>
                  <a:latin typeface="Consolas"/>
                  <a:ea typeface="Consolas"/>
                  <a:cs typeface="Consolas"/>
                  <a:sym typeface="Consolas"/>
                </a:rPr>
                <a:t>public</a:t>
              </a:r>
              <a:r>
                <a:rPr lang="en" sz="1900">
                  <a:solidFill>
                    <a:schemeClr val="dk1"/>
                  </a:solidFill>
                  <a:highlight>
                    <a:srgbClr val="EFEFEF"/>
                  </a:highlight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" sz="1900">
                  <a:solidFill>
                    <a:srgbClr val="208920"/>
                  </a:solidFill>
                  <a:highlight>
                    <a:srgbClr val="EFEFEF"/>
                  </a:highlight>
                  <a:latin typeface="Consolas"/>
                  <a:ea typeface="Consolas"/>
                  <a:cs typeface="Consolas"/>
                  <a:sym typeface="Consolas"/>
                </a:rPr>
                <a:t>void</a:t>
              </a:r>
              <a:r>
                <a:rPr lang="en" sz="1900">
                  <a:solidFill>
                    <a:schemeClr val="dk1"/>
                  </a:solidFill>
                  <a:highlight>
                    <a:srgbClr val="EFEFEF"/>
                  </a:highlight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" sz="1900">
                  <a:solidFill>
                    <a:schemeClr val="dk1"/>
                  </a:solidFill>
                  <a:highlight>
                    <a:srgbClr val="EFEFEF"/>
                  </a:highlight>
                  <a:latin typeface="Consolas"/>
                  <a:ea typeface="Consolas"/>
                  <a:cs typeface="Consolas"/>
                  <a:sym typeface="Consolas"/>
                </a:rPr>
                <a:t>makeNoise</a:t>
              </a:r>
              <a:r>
                <a:rPr lang="en" sz="1900">
                  <a:solidFill>
                    <a:schemeClr val="dk1"/>
                  </a:solidFill>
                  <a:highlight>
                    <a:srgbClr val="EFEFEF"/>
                  </a:highlight>
                  <a:latin typeface="Consolas"/>
                  <a:ea typeface="Consolas"/>
                  <a:cs typeface="Consolas"/>
                  <a:sym typeface="Consolas"/>
                </a:rPr>
                <a:t>(Dog x) {</a:t>
              </a:r>
              <a:endParaRPr b="1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900">
                  <a:solidFill>
                    <a:schemeClr val="dk1"/>
                  </a:solidFill>
                  <a:highlight>
                    <a:srgbClr val="EFEFEF"/>
                  </a:highlight>
                  <a:latin typeface="Consolas"/>
                  <a:ea typeface="Consolas"/>
                  <a:cs typeface="Consolas"/>
                  <a:sym typeface="Consolas"/>
                </a:rPr>
                <a:t>      ...  </a:t>
              </a:r>
              <a:endParaRPr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02" name="Google Shape;202;p28"/>
            <p:cNvSpPr txBox="1"/>
            <p:nvPr/>
          </p:nvSpPr>
          <p:spPr>
            <a:xfrm>
              <a:off x="626500" y="3337080"/>
              <a:ext cx="3816600" cy="35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9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makeNoise</a:t>
              </a:r>
              <a:r>
                <a:rPr lang="en" sz="19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is </a:t>
              </a:r>
              <a:r>
                <a:rPr lang="en" sz="2000">
                  <a:solidFill>
                    <a:srgbClr val="BE0712"/>
                  </a:solidFill>
                  <a:latin typeface="Calibri"/>
                  <a:ea typeface="Calibri"/>
                  <a:cs typeface="Calibri"/>
                  <a:sym typeface="Calibri"/>
                </a:rPr>
                <a:t>o</a:t>
              </a:r>
              <a:r>
                <a:rPr lang="en" sz="2000">
                  <a:solidFill>
                    <a:srgbClr val="BE0712"/>
                  </a:solidFill>
                  <a:latin typeface="Calibri"/>
                  <a:ea typeface="Calibri"/>
                  <a:cs typeface="Calibri"/>
                  <a:sym typeface="Calibri"/>
                </a:rPr>
                <a:t>verloaded</a:t>
              </a:r>
              <a:endParaRPr sz="2000">
                <a:solidFill>
                  <a:srgbClr val="BE071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3" name="Google Shape;203;p28"/>
          <p:cNvGrpSpPr/>
          <p:nvPr/>
        </p:nvGrpSpPr>
        <p:grpSpPr>
          <a:xfrm>
            <a:off x="207800" y="2124150"/>
            <a:ext cx="4161000" cy="2938600"/>
            <a:chOff x="4496425" y="3057475"/>
            <a:chExt cx="4161000" cy="2938600"/>
          </a:xfrm>
        </p:grpSpPr>
        <p:sp>
          <p:nvSpPr>
            <p:cNvPr id="204" name="Google Shape;204;p28"/>
            <p:cNvSpPr txBox="1"/>
            <p:nvPr/>
          </p:nvSpPr>
          <p:spPr>
            <a:xfrm>
              <a:off x="4675525" y="3057475"/>
              <a:ext cx="3802800" cy="10362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900">
                  <a:solidFill>
                    <a:srgbClr val="9C20EE"/>
                  </a:solidFill>
                  <a:highlight>
                    <a:srgbClr val="EFEFEF"/>
                  </a:highlight>
                  <a:latin typeface="Consolas"/>
                  <a:ea typeface="Consolas"/>
                  <a:cs typeface="Consolas"/>
                  <a:sym typeface="Consolas"/>
                </a:rPr>
                <a:t>public interface</a:t>
              </a:r>
              <a:r>
                <a:rPr lang="en" sz="1900">
                  <a:solidFill>
                    <a:schemeClr val="dk1"/>
                  </a:solidFill>
                  <a:highlight>
                    <a:srgbClr val="EFEFEF"/>
                  </a:highlight>
                  <a:latin typeface="Consolas"/>
                  <a:ea typeface="Consolas"/>
                  <a:cs typeface="Consolas"/>
                  <a:sym typeface="Consolas"/>
                </a:rPr>
                <a:t> Animal </a:t>
              </a:r>
              <a:r>
                <a:rPr b="1" lang="en" sz="1900">
                  <a:solidFill>
                    <a:schemeClr val="dk1"/>
                  </a:solidFill>
                  <a:highlight>
                    <a:srgbClr val="EFEFEF"/>
                  </a:highlight>
                  <a:latin typeface="Consolas"/>
                  <a:ea typeface="Consolas"/>
                  <a:cs typeface="Consolas"/>
                  <a:sym typeface="Consolas"/>
                </a:rPr>
                <a:t>{</a:t>
              </a:r>
              <a:endParaRPr b="1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900">
                  <a:solidFill>
                    <a:srgbClr val="0000FF"/>
                  </a:solidFill>
                  <a:highlight>
                    <a:srgbClr val="EFEFEF"/>
                  </a:highlight>
                  <a:latin typeface="Consolas"/>
                  <a:ea typeface="Consolas"/>
                  <a:cs typeface="Consolas"/>
                  <a:sym typeface="Consolas"/>
                </a:rPr>
                <a:t>   </a:t>
              </a:r>
              <a:r>
                <a:rPr b="1" lang="en" sz="1900">
                  <a:solidFill>
                    <a:srgbClr val="9C20EE"/>
                  </a:solidFill>
                  <a:highlight>
                    <a:srgbClr val="EFEFEF"/>
                  </a:highlight>
                  <a:latin typeface="Consolas"/>
                  <a:ea typeface="Consolas"/>
                  <a:cs typeface="Consolas"/>
                  <a:sym typeface="Consolas"/>
                </a:rPr>
                <a:t>public</a:t>
              </a:r>
              <a:r>
                <a:rPr lang="en" sz="1900">
                  <a:solidFill>
                    <a:schemeClr val="dk1"/>
                  </a:solidFill>
                  <a:highlight>
                    <a:srgbClr val="EFEFEF"/>
                  </a:highlight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" sz="1900">
                  <a:solidFill>
                    <a:srgbClr val="208920"/>
                  </a:solidFill>
                  <a:highlight>
                    <a:srgbClr val="EFEFEF"/>
                  </a:highlight>
                  <a:latin typeface="Consolas"/>
                  <a:ea typeface="Consolas"/>
                  <a:cs typeface="Consolas"/>
                  <a:sym typeface="Consolas"/>
                </a:rPr>
                <a:t>void</a:t>
              </a:r>
              <a:r>
                <a:rPr lang="en" sz="1900">
                  <a:solidFill>
                    <a:schemeClr val="dk1"/>
                  </a:solidFill>
                  <a:highlight>
                    <a:srgbClr val="EFEFEF"/>
                  </a:highlight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" sz="1900">
                  <a:solidFill>
                    <a:schemeClr val="dk1"/>
                  </a:solidFill>
                  <a:highlight>
                    <a:srgbClr val="EFEFEF"/>
                  </a:highlight>
                  <a:latin typeface="Consolas"/>
                  <a:ea typeface="Consolas"/>
                  <a:cs typeface="Consolas"/>
                  <a:sym typeface="Consolas"/>
                </a:rPr>
                <a:t>makeNoise</a:t>
              </a:r>
              <a:r>
                <a:rPr lang="en" sz="1900">
                  <a:solidFill>
                    <a:schemeClr val="dk1"/>
                  </a:solidFill>
                  <a:highlight>
                    <a:srgbClr val="EFEFEF"/>
                  </a:highlight>
                  <a:latin typeface="Consolas"/>
                  <a:ea typeface="Consolas"/>
                  <a:cs typeface="Consolas"/>
                  <a:sym typeface="Consolas"/>
                </a:rPr>
                <a:t>();</a:t>
              </a:r>
              <a:endParaRPr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900">
                  <a:solidFill>
                    <a:schemeClr val="dk1"/>
                  </a:solidFill>
                  <a:highlight>
                    <a:srgbClr val="EFEFEF"/>
                  </a:highlight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05" name="Google Shape;205;p28"/>
            <p:cNvSpPr txBox="1"/>
            <p:nvPr/>
          </p:nvSpPr>
          <p:spPr>
            <a:xfrm>
              <a:off x="4496425" y="4135175"/>
              <a:ext cx="4161000" cy="15780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900">
                  <a:solidFill>
                    <a:srgbClr val="9C20EE"/>
                  </a:solidFill>
                  <a:highlight>
                    <a:srgbClr val="EFEFEF"/>
                  </a:highlight>
                  <a:latin typeface="Consolas"/>
                  <a:ea typeface="Consolas"/>
                  <a:cs typeface="Consolas"/>
                  <a:sym typeface="Consolas"/>
                </a:rPr>
                <a:t>public class</a:t>
              </a:r>
              <a:r>
                <a:rPr lang="en" sz="1900">
                  <a:solidFill>
                    <a:schemeClr val="dk1"/>
                  </a:solidFill>
                  <a:highlight>
                    <a:srgbClr val="EFEFEF"/>
                  </a:highlight>
                  <a:latin typeface="Consolas"/>
                  <a:ea typeface="Consolas"/>
                  <a:cs typeface="Consolas"/>
                  <a:sym typeface="Consolas"/>
                </a:rPr>
                <a:t> Pig </a:t>
              </a:r>
              <a:r>
                <a:rPr b="1" lang="en" sz="1200">
                  <a:solidFill>
                    <a:srgbClr val="9C20EE"/>
                  </a:solidFill>
                  <a:highlight>
                    <a:srgbClr val="EFEFEF"/>
                  </a:highlight>
                  <a:latin typeface="Consolas"/>
                  <a:ea typeface="Consolas"/>
                  <a:cs typeface="Consolas"/>
                  <a:sym typeface="Consolas"/>
                </a:rPr>
                <a:t>implements</a:t>
              </a:r>
              <a:r>
                <a:rPr b="1" lang="en" sz="1200">
                  <a:solidFill>
                    <a:schemeClr val="dk1"/>
                  </a:solidFill>
                  <a:highlight>
                    <a:srgbClr val="EFEFEF"/>
                  </a:highlight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" sz="1200">
                  <a:solidFill>
                    <a:schemeClr val="dk1"/>
                  </a:solidFill>
                  <a:highlight>
                    <a:srgbClr val="EFEFEF"/>
                  </a:highlight>
                  <a:latin typeface="Consolas"/>
                  <a:ea typeface="Consolas"/>
                  <a:cs typeface="Consolas"/>
                  <a:sym typeface="Consolas"/>
                </a:rPr>
                <a:t>Animal</a:t>
              </a:r>
              <a:r>
                <a:rPr lang="en" sz="1900">
                  <a:solidFill>
                    <a:schemeClr val="dk1"/>
                  </a:solidFill>
                  <a:highlight>
                    <a:srgbClr val="EFEFEF"/>
                  </a:highlight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b="1" lang="en" sz="1900">
                  <a:solidFill>
                    <a:schemeClr val="dk1"/>
                  </a:solidFill>
                  <a:highlight>
                    <a:srgbClr val="EFEFEF"/>
                  </a:highlight>
                  <a:latin typeface="Consolas"/>
                  <a:ea typeface="Consolas"/>
                  <a:cs typeface="Consolas"/>
                  <a:sym typeface="Consolas"/>
                </a:rPr>
                <a:t>{</a:t>
              </a:r>
              <a:endParaRPr b="1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900">
                  <a:solidFill>
                    <a:srgbClr val="0000FF"/>
                  </a:solidFill>
                  <a:highlight>
                    <a:srgbClr val="EFEFEF"/>
                  </a:highlight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b="1" lang="en" sz="1900">
                  <a:solidFill>
                    <a:srgbClr val="9C20EE"/>
                  </a:solidFill>
                  <a:highlight>
                    <a:srgbClr val="EFEFEF"/>
                  </a:highlight>
                  <a:latin typeface="Consolas"/>
                  <a:ea typeface="Consolas"/>
                  <a:cs typeface="Consolas"/>
                  <a:sym typeface="Consolas"/>
                </a:rPr>
                <a:t>public</a:t>
              </a:r>
              <a:r>
                <a:rPr lang="en" sz="1900">
                  <a:solidFill>
                    <a:schemeClr val="dk1"/>
                  </a:solidFill>
                  <a:highlight>
                    <a:srgbClr val="EFEFEF"/>
                  </a:highlight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" sz="1900">
                  <a:solidFill>
                    <a:srgbClr val="208920"/>
                  </a:solidFill>
                  <a:highlight>
                    <a:srgbClr val="EFEFEF"/>
                  </a:highlight>
                  <a:latin typeface="Consolas"/>
                  <a:ea typeface="Consolas"/>
                  <a:cs typeface="Consolas"/>
                  <a:sym typeface="Consolas"/>
                </a:rPr>
                <a:t>void</a:t>
              </a:r>
              <a:r>
                <a:rPr lang="en" sz="1900">
                  <a:solidFill>
                    <a:schemeClr val="dk1"/>
                  </a:solidFill>
                  <a:highlight>
                    <a:srgbClr val="EFEFEF"/>
                  </a:highlight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" sz="1900">
                  <a:solidFill>
                    <a:schemeClr val="dk1"/>
                  </a:solidFill>
                  <a:highlight>
                    <a:srgbClr val="EFEFEF"/>
                  </a:highlight>
                  <a:latin typeface="Consolas"/>
                  <a:ea typeface="Consolas"/>
                  <a:cs typeface="Consolas"/>
                  <a:sym typeface="Consolas"/>
                </a:rPr>
                <a:t>makeNoise</a:t>
              </a:r>
              <a:r>
                <a:rPr lang="en" sz="1900">
                  <a:solidFill>
                    <a:schemeClr val="dk1"/>
                  </a:solidFill>
                  <a:highlight>
                    <a:srgbClr val="EFEFEF"/>
                  </a:highlight>
                  <a:latin typeface="Consolas"/>
                  <a:ea typeface="Consolas"/>
                  <a:cs typeface="Consolas"/>
                  <a:sym typeface="Consolas"/>
                </a:rPr>
                <a:t>() {</a:t>
              </a:r>
              <a:endParaRPr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900">
                  <a:solidFill>
                    <a:schemeClr val="dk1"/>
                  </a:solidFill>
                  <a:highlight>
                    <a:srgbClr val="EFEFEF"/>
                  </a:highlight>
                  <a:latin typeface="Consolas"/>
                  <a:ea typeface="Consolas"/>
                  <a:cs typeface="Consolas"/>
                  <a:sym typeface="Consolas"/>
                </a:rPr>
                <a:t>    System.out.print(“oink”);</a:t>
              </a:r>
              <a:endParaRPr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900">
                  <a:solidFill>
                    <a:schemeClr val="dk1"/>
                  </a:solidFill>
                  <a:highlight>
                    <a:srgbClr val="EFEFEF"/>
                  </a:highlight>
                  <a:latin typeface="Consolas"/>
                  <a:ea typeface="Consolas"/>
                  <a:cs typeface="Consolas"/>
                  <a:sym typeface="Consolas"/>
                </a:rPr>
                <a:t>   }</a:t>
              </a:r>
              <a:endParaRPr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900">
                  <a:solidFill>
                    <a:schemeClr val="dk1"/>
                  </a:solidFill>
                  <a:highlight>
                    <a:srgbClr val="EFEFEF"/>
                  </a:highlight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06" name="Google Shape;206;p28"/>
            <p:cNvSpPr txBox="1"/>
            <p:nvPr/>
          </p:nvSpPr>
          <p:spPr>
            <a:xfrm>
              <a:off x="4974025" y="5636975"/>
              <a:ext cx="3264000" cy="35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latin typeface="Consolas"/>
                  <a:ea typeface="Consolas"/>
                  <a:cs typeface="Consolas"/>
                  <a:sym typeface="Consolas"/>
                </a:rPr>
                <a:t>Pig</a:t>
              </a:r>
              <a:r>
                <a:rPr lang="en" sz="2000">
                  <a:solidFill>
                    <a:srgbClr val="BE0712"/>
                  </a:solidFill>
                  <a:latin typeface="Calibri"/>
                  <a:ea typeface="Calibri"/>
                  <a:cs typeface="Calibri"/>
                  <a:sym typeface="Calibri"/>
                </a:rPr>
                <a:t> overrides </a:t>
              </a:r>
              <a:r>
                <a:rPr lang="en" sz="2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makeNoise()</a:t>
              </a:r>
              <a:endParaRPr sz="2000">
                <a:solidFill>
                  <a:srgbClr val="BE071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7" name="Google Shape;207;p28"/>
          <p:cNvSpPr txBox="1"/>
          <p:nvPr>
            <p:ph idx="1" type="body"/>
          </p:nvPr>
        </p:nvSpPr>
        <p:spPr>
          <a:xfrm>
            <a:off x="243000" y="556500"/>
            <a:ext cx="8807100" cy="152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a “subclass” has a method with the exact same signature as in the        “superclass”, we say the subclass </a:t>
            </a:r>
            <a:r>
              <a:rPr b="1" lang="en"/>
              <a:t>overrides</a:t>
            </a:r>
            <a:r>
              <a:rPr lang="en"/>
              <a:t> the method.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Animal</a:t>
            </a:r>
            <a:r>
              <a:rPr lang="en"/>
              <a:t>’s sub</a:t>
            </a:r>
            <a:r>
              <a:rPr lang="en"/>
              <a:t>class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Pig</a:t>
            </a:r>
            <a:r>
              <a:rPr lang="en"/>
              <a:t> overrides the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makeNoise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lang="en"/>
              <a:t> method.</a:t>
            </a:r>
            <a:endParaRPr/>
          </a:p>
        </p:txBody>
      </p:sp>
      <p:grpSp>
        <p:nvGrpSpPr>
          <p:cNvPr id="208" name="Google Shape;208;p28"/>
          <p:cNvGrpSpPr/>
          <p:nvPr/>
        </p:nvGrpSpPr>
        <p:grpSpPr>
          <a:xfrm>
            <a:off x="4531000" y="3625650"/>
            <a:ext cx="4578000" cy="1409075"/>
            <a:chOff x="4531000" y="3625650"/>
            <a:chExt cx="4578000" cy="1409075"/>
          </a:xfrm>
        </p:grpSpPr>
        <p:sp>
          <p:nvSpPr>
            <p:cNvPr id="209" name="Google Shape;209;p28"/>
            <p:cNvSpPr txBox="1"/>
            <p:nvPr/>
          </p:nvSpPr>
          <p:spPr>
            <a:xfrm>
              <a:off x="4531000" y="3625650"/>
              <a:ext cx="4578000" cy="11595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900">
                  <a:solidFill>
                    <a:srgbClr val="9C20EE"/>
                  </a:solidFill>
                  <a:highlight>
                    <a:srgbClr val="EFEFEF"/>
                  </a:highlight>
                  <a:latin typeface="Consolas"/>
                  <a:ea typeface="Consolas"/>
                  <a:cs typeface="Consolas"/>
                  <a:sym typeface="Consolas"/>
                </a:rPr>
                <a:t>public class</a:t>
              </a:r>
              <a:r>
                <a:rPr lang="en" sz="1900">
                  <a:solidFill>
                    <a:schemeClr val="dk1"/>
                  </a:solidFill>
                  <a:highlight>
                    <a:srgbClr val="EFEFEF"/>
                  </a:highlight>
                  <a:latin typeface="Consolas"/>
                  <a:ea typeface="Consolas"/>
                  <a:cs typeface="Consolas"/>
                  <a:sym typeface="Consolas"/>
                </a:rPr>
                <a:t> Math </a:t>
              </a:r>
              <a:r>
                <a:rPr b="1" lang="en" sz="1900">
                  <a:solidFill>
                    <a:schemeClr val="dk1"/>
                  </a:solidFill>
                  <a:highlight>
                    <a:srgbClr val="EFEFEF"/>
                  </a:highlight>
                  <a:latin typeface="Consolas"/>
                  <a:ea typeface="Consolas"/>
                  <a:cs typeface="Consolas"/>
                  <a:sym typeface="Consolas"/>
                </a:rPr>
                <a:t>{</a:t>
              </a:r>
              <a:endParaRPr b="1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900">
                  <a:solidFill>
                    <a:srgbClr val="0000FF"/>
                  </a:solidFill>
                  <a:highlight>
                    <a:srgbClr val="EFEFEF"/>
                  </a:highlight>
                  <a:latin typeface="Consolas"/>
                  <a:ea typeface="Consolas"/>
                  <a:cs typeface="Consolas"/>
                  <a:sym typeface="Consolas"/>
                </a:rPr>
                <a:t>   </a:t>
              </a:r>
              <a:r>
                <a:rPr b="1" lang="en" sz="1900">
                  <a:solidFill>
                    <a:srgbClr val="9C20EE"/>
                  </a:solidFill>
                  <a:highlight>
                    <a:srgbClr val="EFEFEF"/>
                  </a:highlight>
                  <a:latin typeface="Consolas"/>
                  <a:ea typeface="Consolas"/>
                  <a:cs typeface="Consolas"/>
                  <a:sym typeface="Consolas"/>
                </a:rPr>
                <a:t>public</a:t>
              </a:r>
              <a:r>
                <a:rPr lang="en" sz="1900">
                  <a:solidFill>
                    <a:schemeClr val="dk1"/>
                  </a:solidFill>
                  <a:highlight>
                    <a:srgbClr val="EFEFEF"/>
                  </a:highlight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" sz="1900">
                  <a:solidFill>
                    <a:srgbClr val="208920"/>
                  </a:solidFill>
                  <a:highlight>
                    <a:srgbClr val="EFEFEF"/>
                  </a:highlight>
                  <a:latin typeface="Consolas"/>
                  <a:ea typeface="Consolas"/>
                  <a:cs typeface="Consolas"/>
                  <a:sym typeface="Consolas"/>
                </a:rPr>
                <a:t>int</a:t>
              </a:r>
              <a:r>
                <a:rPr lang="en" sz="1900">
                  <a:solidFill>
                    <a:schemeClr val="dk1"/>
                  </a:solidFill>
                  <a:highlight>
                    <a:srgbClr val="EFEFEF"/>
                  </a:highlight>
                  <a:latin typeface="Consolas"/>
                  <a:ea typeface="Consolas"/>
                  <a:cs typeface="Consolas"/>
                  <a:sym typeface="Consolas"/>
                </a:rPr>
                <a:t>    abs(int a)</a:t>
              </a:r>
              <a:endParaRPr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900">
                  <a:solidFill>
                    <a:srgbClr val="0000FF"/>
                  </a:solidFill>
                  <a:highlight>
                    <a:srgbClr val="EFEFEF"/>
                  </a:highlight>
                  <a:latin typeface="Consolas"/>
                  <a:ea typeface="Consolas"/>
                  <a:cs typeface="Consolas"/>
                  <a:sym typeface="Consolas"/>
                </a:rPr>
                <a:t>   </a:t>
              </a:r>
              <a:r>
                <a:rPr b="1" lang="en" sz="1900">
                  <a:solidFill>
                    <a:srgbClr val="9C20EE"/>
                  </a:solidFill>
                  <a:highlight>
                    <a:srgbClr val="EFEFEF"/>
                  </a:highlight>
                  <a:latin typeface="Consolas"/>
                  <a:ea typeface="Consolas"/>
                  <a:cs typeface="Consolas"/>
                  <a:sym typeface="Consolas"/>
                </a:rPr>
                <a:t>public</a:t>
              </a:r>
              <a:r>
                <a:rPr lang="en" sz="1900">
                  <a:solidFill>
                    <a:schemeClr val="dk1"/>
                  </a:solidFill>
                  <a:highlight>
                    <a:srgbClr val="EFEFEF"/>
                  </a:highlight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" sz="1900">
                  <a:solidFill>
                    <a:srgbClr val="208920"/>
                  </a:solidFill>
                  <a:highlight>
                    <a:srgbClr val="EFEFEF"/>
                  </a:highlight>
                  <a:latin typeface="Consolas"/>
                  <a:ea typeface="Consolas"/>
                  <a:cs typeface="Consolas"/>
                  <a:sym typeface="Consolas"/>
                </a:rPr>
                <a:t>double</a:t>
              </a:r>
              <a:r>
                <a:rPr lang="en" sz="1900">
                  <a:solidFill>
                    <a:schemeClr val="dk1"/>
                  </a:solidFill>
                  <a:highlight>
                    <a:srgbClr val="EFEFEF"/>
                  </a:highlight>
                  <a:latin typeface="Consolas"/>
                  <a:ea typeface="Consolas"/>
                  <a:cs typeface="Consolas"/>
                  <a:sym typeface="Consolas"/>
                </a:rPr>
                <a:t> abs(double a)</a:t>
              </a:r>
              <a:endParaRPr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10" name="Google Shape;210;p28"/>
            <p:cNvSpPr txBox="1"/>
            <p:nvPr/>
          </p:nvSpPr>
          <p:spPr>
            <a:xfrm>
              <a:off x="5461875" y="4675625"/>
              <a:ext cx="2192700" cy="35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9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abs</a:t>
              </a:r>
              <a:r>
                <a:rPr lang="en" sz="19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" sz="19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is </a:t>
              </a:r>
              <a:r>
                <a:rPr lang="en" sz="2000">
                  <a:solidFill>
                    <a:srgbClr val="BE0712"/>
                  </a:solidFill>
                  <a:latin typeface="Calibri"/>
                  <a:ea typeface="Calibri"/>
                  <a:cs typeface="Calibri"/>
                  <a:sym typeface="Calibri"/>
                </a:rPr>
                <a:t>overloaded</a:t>
              </a:r>
              <a:endParaRPr sz="2000">
                <a:solidFill>
                  <a:srgbClr val="BE071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1" name="Google Shape;211;p28"/>
          <p:cNvSpPr txBox="1"/>
          <p:nvPr/>
        </p:nvSpPr>
        <p:spPr>
          <a:xfrm>
            <a:off x="239025" y="1559850"/>
            <a:ext cx="85962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Methods with the same name but different signatures are </a:t>
            </a:r>
            <a:r>
              <a:rPr b="1"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overloaded</a:t>
            </a: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9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Optional </a:t>
            </a:r>
            <a:r>
              <a:rPr lang="en"/>
              <a:t>Step 2B: Adding the @Override Annotation</a:t>
            </a:r>
            <a:endParaRPr/>
          </a:p>
        </p:txBody>
      </p:sp>
      <p:sp>
        <p:nvSpPr>
          <p:cNvPr id="217" name="Google Shape;217;p29"/>
          <p:cNvSpPr txBox="1"/>
          <p:nvPr>
            <p:ph idx="1" type="body"/>
          </p:nvPr>
        </p:nvSpPr>
        <p:spPr>
          <a:xfrm>
            <a:off x="243000" y="556500"/>
            <a:ext cx="8443800" cy="41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 61b, we’ll always mark every overriding method with the </a:t>
            </a:r>
            <a:r>
              <a:rPr b="1" lang="en"/>
              <a:t>@Override</a:t>
            </a:r>
            <a:r>
              <a:rPr lang="en"/>
              <a:t> annotation.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Example: Mark AList.java’s overriding methods with </a:t>
            </a:r>
            <a:r>
              <a:rPr b="1" lang="en"/>
              <a:t>@Override</a:t>
            </a:r>
            <a:r>
              <a:rPr lang="en"/>
              <a:t>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The only effect of this tag is that the code won’t compile if it is not actually an overriding method.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9"/>
          <p:cNvSpPr txBox="1"/>
          <p:nvPr/>
        </p:nvSpPr>
        <p:spPr>
          <a:xfrm>
            <a:off x="342900" y="2859275"/>
            <a:ext cx="8373000" cy="19254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class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AList&lt;Item&gt; 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implements</a:t>
            </a: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List61B&lt;Item&gt;{</a:t>
            </a:r>
            <a:endParaRPr b="1"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...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9C20EE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900">
                <a:solidFill>
                  <a:srgbClr val="0000FF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 sz="1900">
              <a:solidFill>
                <a:srgbClr val="0000FF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FF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addLast(Item x) {    </a:t>
            </a:r>
            <a:endParaRPr b="1" sz="1900">
              <a:solidFill>
                <a:srgbClr val="9C20EE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...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endParaRPr b="1" sz="1900">
              <a:solidFill>
                <a:srgbClr val="9C20EE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9" name="Google Shape;219;p29"/>
          <p:cNvSpPr/>
          <p:nvPr/>
        </p:nvSpPr>
        <p:spPr>
          <a:xfrm>
            <a:off x="5973175" y="3518138"/>
            <a:ext cx="2355300" cy="31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List61B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9"/>
          <p:cNvSpPr/>
          <p:nvPr/>
        </p:nvSpPr>
        <p:spPr>
          <a:xfrm>
            <a:off x="7395025" y="4211375"/>
            <a:ext cx="981000" cy="333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SLList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1" name="Google Shape;221;p29"/>
          <p:cNvCxnSpPr>
            <a:stCxn id="219" idx="2"/>
            <a:endCxn id="220" idx="0"/>
          </p:cNvCxnSpPr>
          <p:nvPr/>
        </p:nvCxnSpPr>
        <p:spPr>
          <a:xfrm>
            <a:off x="7150825" y="3835538"/>
            <a:ext cx="734700" cy="375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2" name="Google Shape;222;p29"/>
          <p:cNvSpPr/>
          <p:nvPr/>
        </p:nvSpPr>
        <p:spPr>
          <a:xfrm>
            <a:off x="5935350" y="4211375"/>
            <a:ext cx="1037700" cy="333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AList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3" name="Google Shape;223;p29"/>
          <p:cNvCxnSpPr>
            <a:stCxn id="219" idx="2"/>
            <a:endCxn id="222" idx="0"/>
          </p:cNvCxnSpPr>
          <p:nvPr/>
        </p:nvCxnSpPr>
        <p:spPr>
          <a:xfrm flipH="1">
            <a:off x="6454225" y="3835538"/>
            <a:ext cx="696600" cy="375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0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 Overriding</a:t>
            </a:r>
            <a:endParaRPr/>
          </a:p>
        </p:txBody>
      </p:sp>
      <p:sp>
        <p:nvSpPr>
          <p:cNvPr id="229" name="Google Shape;229;p30"/>
          <p:cNvSpPr txBox="1"/>
          <p:nvPr>
            <p:ph idx="1" type="body"/>
          </p:nvPr>
        </p:nvSpPr>
        <p:spPr>
          <a:xfrm>
            <a:off x="243000" y="556500"/>
            <a:ext cx="8443800" cy="41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a subclass has a method with the exact same signature as in the        superclass, we say the subclass </a:t>
            </a:r>
            <a:r>
              <a:rPr b="1" lang="en"/>
              <a:t>overrides</a:t>
            </a:r>
            <a:r>
              <a:rPr lang="en"/>
              <a:t> the method. 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Even if you don’t write @Override, subclass still overrides the method.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@Override is just an optional reminder that you’re overriding.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Why use @Override?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Main reason: Protects against typos.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If you say @Override, but it the method isn’t actually overriding anything, you’ll get a compile error.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e.g. </a:t>
            </a:r>
            <a:r>
              <a:rPr b="1" lang="en" sz="1900">
                <a:solidFill>
                  <a:srgbClr val="9C20EE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9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900">
                <a:solidFill>
                  <a:srgbClr val="208920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900">
                <a:latin typeface="Consolas"/>
                <a:ea typeface="Consolas"/>
                <a:cs typeface="Consolas"/>
                <a:sym typeface="Consolas"/>
              </a:rPr>
              <a:t> addLats(Item x)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Consolas"/>
              <a:buChar char="●"/>
            </a:pPr>
            <a:r>
              <a:rPr lang="en"/>
              <a:t>Reminds programmer that method definition came from somewhere higher up in the inheritance hierarchy.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1"/>
          <p:cNvSpPr txBox="1"/>
          <p:nvPr>
            <p:ph type="title"/>
          </p:nvPr>
        </p:nvSpPr>
        <p:spPr>
          <a:xfrm>
            <a:off x="928950" y="2062800"/>
            <a:ext cx="7286100" cy="101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Interface Inheritance</a:t>
            </a:r>
            <a:endParaRPr sz="48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2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Interface Inheritance</a:t>
            </a:r>
            <a:endParaRPr/>
          </a:p>
        </p:txBody>
      </p:sp>
      <p:sp>
        <p:nvSpPr>
          <p:cNvPr id="240" name="Google Shape;240;p32"/>
          <p:cNvSpPr txBox="1"/>
          <p:nvPr>
            <p:ph idx="1" type="body"/>
          </p:nvPr>
        </p:nvSpPr>
        <p:spPr>
          <a:xfrm>
            <a:off x="243000" y="556500"/>
            <a:ext cx="8443800" cy="44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Specifying the capabilities of a subclass using the </a:t>
            </a:r>
            <a:r>
              <a:rPr b="1" lang="en"/>
              <a:t>implements                        </a:t>
            </a:r>
            <a:r>
              <a:rPr lang="en"/>
              <a:t>keyword is known as </a:t>
            </a:r>
            <a:r>
              <a:rPr b="1" lang="en" u="sng"/>
              <a:t>interface inheritance</a:t>
            </a:r>
            <a:r>
              <a:rPr lang="en"/>
              <a:t>.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Interface: The list of all method signatures.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Inheritance: The subclass “inherits” the interface from a superclass.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Specifies what the subclass can do, but not how.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Subclasses </a:t>
            </a:r>
            <a:r>
              <a:rPr lang="en" u="sng"/>
              <a:t>must</a:t>
            </a:r>
            <a:r>
              <a:rPr lang="en"/>
              <a:t> override all of these methods!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Will fail to compile otherwise.</a:t>
            </a:r>
            <a:endParaRPr/>
          </a:p>
        </p:txBody>
      </p:sp>
      <p:sp>
        <p:nvSpPr>
          <p:cNvPr id="241" name="Google Shape;241;p32"/>
          <p:cNvSpPr/>
          <p:nvPr/>
        </p:nvSpPr>
        <p:spPr>
          <a:xfrm>
            <a:off x="5973175" y="2603738"/>
            <a:ext cx="2355300" cy="31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List61B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32"/>
          <p:cNvSpPr/>
          <p:nvPr/>
        </p:nvSpPr>
        <p:spPr>
          <a:xfrm>
            <a:off x="7395025" y="3296975"/>
            <a:ext cx="981000" cy="333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SLList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3" name="Google Shape;243;p32"/>
          <p:cNvCxnSpPr>
            <a:stCxn id="241" idx="2"/>
            <a:endCxn id="242" idx="0"/>
          </p:cNvCxnSpPr>
          <p:nvPr/>
        </p:nvCxnSpPr>
        <p:spPr>
          <a:xfrm>
            <a:off x="7150825" y="2921138"/>
            <a:ext cx="734700" cy="375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4" name="Google Shape;244;p32"/>
          <p:cNvSpPr/>
          <p:nvPr/>
        </p:nvSpPr>
        <p:spPr>
          <a:xfrm>
            <a:off x="5935350" y="3296975"/>
            <a:ext cx="1037700" cy="333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AList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5" name="Google Shape;245;p32"/>
          <p:cNvCxnSpPr>
            <a:stCxn id="241" idx="2"/>
            <a:endCxn id="244" idx="0"/>
          </p:cNvCxnSpPr>
          <p:nvPr/>
        </p:nvCxnSpPr>
        <p:spPr>
          <a:xfrm flipH="1">
            <a:off x="6454225" y="2921138"/>
            <a:ext cx="696600" cy="375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6" name="Google Shape;246;p32"/>
          <p:cNvSpPr txBox="1"/>
          <p:nvPr/>
        </p:nvSpPr>
        <p:spPr>
          <a:xfrm>
            <a:off x="342900" y="3173325"/>
            <a:ext cx="4457100" cy="17610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interface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List61B&lt;Item&gt;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addFirst(Item x);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...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proo();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9C20EE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7" name="Google Shape;247;p32"/>
          <p:cNvSpPr txBox="1"/>
          <p:nvPr/>
        </p:nvSpPr>
        <p:spPr>
          <a:xfrm>
            <a:off x="5243150" y="4165827"/>
            <a:ext cx="35187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If </a:t>
            </a:r>
            <a:r>
              <a:rPr lang="en">
                <a:solidFill>
                  <a:srgbClr val="BE0712"/>
                </a:solidFill>
                <a:latin typeface="Consolas"/>
                <a:ea typeface="Consolas"/>
                <a:cs typeface="Consolas"/>
                <a:sym typeface="Consolas"/>
              </a:rPr>
              <a:t>AList</a:t>
            </a:r>
            <a:r>
              <a:rPr lang="en">
                <a:solidFill>
                  <a:srgbClr val="BE0712"/>
                </a:solidFill>
              </a:rPr>
              <a:t> doesn’t have a </a:t>
            </a:r>
            <a:r>
              <a:rPr lang="en">
                <a:solidFill>
                  <a:srgbClr val="BE0712"/>
                </a:solidFill>
                <a:latin typeface="Consolas"/>
                <a:ea typeface="Consolas"/>
                <a:cs typeface="Consolas"/>
                <a:sym typeface="Consolas"/>
              </a:rPr>
              <a:t>proo()</a:t>
            </a:r>
            <a:r>
              <a:rPr lang="en">
                <a:solidFill>
                  <a:srgbClr val="BE0712"/>
                </a:solidFill>
              </a:rPr>
              <a:t> method, </a:t>
            </a:r>
            <a:r>
              <a:rPr lang="en">
                <a:solidFill>
                  <a:srgbClr val="BE0712"/>
                </a:solidFill>
                <a:latin typeface="Consolas"/>
                <a:ea typeface="Consolas"/>
                <a:cs typeface="Consolas"/>
                <a:sym typeface="Consolas"/>
              </a:rPr>
              <a:t>AList</a:t>
            </a:r>
            <a:r>
              <a:rPr lang="en">
                <a:solidFill>
                  <a:srgbClr val="BE0712"/>
                </a:solidFill>
              </a:rPr>
              <a:t> will not compile!</a:t>
            </a:r>
            <a:endParaRPr>
              <a:solidFill>
                <a:srgbClr val="BE0712"/>
              </a:solidFill>
            </a:endParaRPr>
          </a:p>
        </p:txBody>
      </p:sp>
      <p:cxnSp>
        <p:nvCxnSpPr>
          <p:cNvPr id="248" name="Google Shape;248;p32"/>
          <p:cNvCxnSpPr/>
          <p:nvPr/>
        </p:nvCxnSpPr>
        <p:spPr>
          <a:xfrm rot="10800000">
            <a:off x="6484950" y="3729875"/>
            <a:ext cx="0" cy="475200"/>
          </a:xfrm>
          <a:prstGeom prst="straightConnector1">
            <a:avLst/>
          </a:prstGeom>
          <a:noFill/>
          <a:ln cap="flat" cmpd="sng" w="9525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3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Interface Inheritance</a:t>
            </a:r>
            <a:endParaRPr/>
          </a:p>
        </p:txBody>
      </p:sp>
      <p:sp>
        <p:nvSpPr>
          <p:cNvPr id="254" name="Google Shape;254;p33"/>
          <p:cNvSpPr txBox="1"/>
          <p:nvPr>
            <p:ph idx="1" type="body"/>
          </p:nvPr>
        </p:nvSpPr>
        <p:spPr>
          <a:xfrm>
            <a:off x="243000" y="556500"/>
            <a:ext cx="8443800" cy="44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Specifying the capabilities of a subclass using the </a:t>
            </a:r>
            <a:r>
              <a:rPr b="1" lang="en"/>
              <a:t>implements                        </a:t>
            </a:r>
            <a:r>
              <a:rPr lang="en"/>
              <a:t>keyword is known as </a:t>
            </a:r>
            <a:r>
              <a:rPr b="1" lang="en" u="sng"/>
              <a:t>interface inheritance</a:t>
            </a:r>
            <a:r>
              <a:rPr lang="en"/>
              <a:t>.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Interface: The list of all method signatures.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Inheritance: The subclass “inherits” the interface.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Specifies what the subclass can do, but not how.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Subclasses </a:t>
            </a:r>
            <a:r>
              <a:rPr lang="en" u="sng"/>
              <a:t>must</a:t>
            </a:r>
            <a:r>
              <a:rPr lang="en"/>
              <a:t> override all of these methods!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Such relationships can be multi-generational.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Figure: Interfaces in white, classes in green.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We’ll talk about this in a later lecture.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Interface inheritance is a powerful tool for generalizing code.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WordUtils.longest</a:t>
            </a:r>
            <a:r>
              <a:rPr lang="en"/>
              <a:t> works on SLLists, ALists, and even lists that have not yet been invented!</a:t>
            </a:r>
            <a:endParaRPr/>
          </a:p>
        </p:txBody>
      </p:sp>
      <p:sp>
        <p:nvSpPr>
          <p:cNvPr id="255" name="Google Shape;255;p33"/>
          <p:cNvSpPr/>
          <p:nvPr/>
        </p:nvSpPr>
        <p:spPr>
          <a:xfrm>
            <a:off x="6380275" y="1910500"/>
            <a:ext cx="1541100" cy="31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Collection61B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33"/>
          <p:cNvSpPr/>
          <p:nvPr/>
        </p:nvSpPr>
        <p:spPr>
          <a:xfrm>
            <a:off x="5973175" y="2603738"/>
            <a:ext cx="2355300" cy="31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List61B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33"/>
          <p:cNvSpPr/>
          <p:nvPr/>
        </p:nvSpPr>
        <p:spPr>
          <a:xfrm>
            <a:off x="7395025" y="3296975"/>
            <a:ext cx="981000" cy="333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SLList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8" name="Google Shape;258;p33"/>
          <p:cNvCxnSpPr>
            <a:stCxn id="255" idx="2"/>
            <a:endCxn id="256" idx="0"/>
          </p:cNvCxnSpPr>
          <p:nvPr/>
        </p:nvCxnSpPr>
        <p:spPr>
          <a:xfrm>
            <a:off x="7150825" y="2227900"/>
            <a:ext cx="0" cy="375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9" name="Google Shape;259;p33"/>
          <p:cNvCxnSpPr>
            <a:stCxn id="256" idx="2"/>
            <a:endCxn id="257" idx="0"/>
          </p:cNvCxnSpPr>
          <p:nvPr/>
        </p:nvCxnSpPr>
        <p:spPr>
          <a:xfrm>
            <a:off x="7150825" y="2921138"/>
            <a:ext cx="734700" cy="375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0" name="Google Shape;260;p33"/>
          <p:cNvSpPr/>
          <p:nvPr/>
        </p:nvSpPr>
        <p:spPr>
          <a:xfrm>
            <a:off x="5935350" y="3296975"/>
            <a:ext cx="1037700" cy="333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AList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1" name="Google Shape;261;p33"/>
          <p:cNvCxnSpPr>
            <a:stCxn id="256" idx="2"/>
            <a:endCxn id="260" idx="0"/>
          </p:cNvCxnSpPr>
          <p:nvPr/>
        </p:nvCxnSpPr>
        <p:spPr>
          <a:xfrm flipH="1">
            <a:off x="6454225" y="2921138"/>
            <a:ext cx="696600" cy="375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4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Copying the Bits</a:t>
            </a:r>
            <a:endParaRPr/>
          </a:p>
        </p:txBody>
      </p:sp>
      <p:sp>
        <p:nvSpPr>
          <p:cNvPr id="267" name="Google Shape;267;p34"/>
          <p:cNvSpPr txBox="1"/>
          <p:nvPr>
            <p:ph idx="1" type="body"/>
          </p:nvPr>
        </p:nvSpPr>
        <p:spPr>
          <a:xfrm>
            <a:off x="243000" y="556500"/>
            <a:ext cx="8443800" cy="20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Two seemingly contradictory facts: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#1: When you set x = y or pass a parameter, you’re just copying the bits.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#2: A memory box can only hold 64 bit addresses for the appropriate type.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e.g. 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/>
              <a:t> can never hold the 64 bit address of a 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Dog</a:t>
            </a:r>
            <a:r>
              <a:rPr lang="en"/>
              <a:t>.</a:t>
            </a:r>
            <a:endParaRPr/>
          </a:p>
        </p:txBody>
      </p:sp>
      <p:sp>
        <p:nvSpPr>
          <p:cNvPr id="268" name="Google Shape;268;p34"/>
          <p:cNvSpPr txBox="1"/>
          <p:nvPr/>
        </p:nvSpPr>
        <p:spPr>
          <a:xfrm>
            <a:off x="163919" y="2177797"/>
            <a:ext cx="8373000" cy="13956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static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String longest(</a:t>
            </a: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List61B&lt;String&gt; list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	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maxDex = 0;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 = 0; i &lt; list.size(); i += 1)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...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9" name="Google Shape;269;p34"/>
          <p:cNvSpPr txBox="1"/>
          <p:nvPr/>
        </p:nvSpPr>
        <p:spPr>
          <a:xfrm>
            <a:off x="647700" y="3462571"/>
            <a:ext cx="8373000" cy="16146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static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main(String[] args)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List&lt;String&gt; a1 = 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AList&lt;String&gt;();</a:t>
            </a:r>
            <a:endParaRPr b="1"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a1.addLast(</a:t>
            </a:r>
            <a:r>
              <a:rPr lang="en" sz="1900">
                <a:solidFill>
                  <a:srgbClr val="BD8D8B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"horse"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WordUtils.longest(</a:t>
            </a: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9C20EE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0" name="Google Shape;270;p34"/>
          <p:cNvSpPr/>
          <p:nvPr/>
        </p:nvSpPr>
        <p:spPr>
          <a:xfrm>
            <a:off x="4199850" y="2658150"/>
            <a:ext cx="3007700" cy="1953725"/>
          </a:xfrm>
          <a:custGeom>
            <a:rect b="b" l="l" r="r" t="t"/>
            <a:pathLst>
              <a:path extrusionOk="0" h="78149" w="120308">
                <a:moveTo>
                  <a:pt x="0" y="78149"/>
                </a:moveTo>
                <a:cubicBezTo>
                  <a:pt x="15772" y="77174"/>
                  <a:pt x="74605" y="75845"/>
                  <a:pt x="94630" y="72301"/>
                </a:cubicBezTo>
                <a:cubicBezTo>
                  <a:pt x="114655" y="68757"/>
                  <a:pt x="121477" y="65124"/>
                  <a:pt x="120148" y="56884"/>
                </a:cubicBezTo>
                <a:cubicBezTo>
                  <a:pt x="118819" y="48644"/>
                  <a:pt x="92061" y="32341"/>
                  <a:pt x="86656" y="22860"/>
                </a:cubicBezTo>
                <a:cubicBezTo>
                  <a:pt x="81251" y="13379"/>
                  <a:pt x="87542" y="3810"/>
                  <a:pt x="87719" y="0"/>
                </a:cubicBezTo>
              </a:path>
            </a:pathLst>
          </a:cu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271" name="Google Shape;271;p34"/>
          <p:cNvSpPr txBox="1"/>
          <p:nvPr/>
        </p:nvSpPr>
        <p:spPr>
          <a:xfrm>
            <a:off x="7336475" y="3721400"/>
            <a:ext cx="1741200" cy="8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BE0712"/>
                </a:solidFill>
              </a:rPr>
              <a:t>How can we copy the bits in </a:t>
            </a:r>
            <a:r>
              <a:rPr b="1" lang="en" sz="1600">
                <a:solidFill>
                  <a:srgbClr val="BE0712"/>
                </a:solidFill>
              </a:rPr>
              <a:t>a</a:t>
            </a:r>
            <a:r>
              <a:rPr b="1" lang="en" sz="1600">
                <a:solidFill>
                  <a:srgbClr val="BE0712"/>
                </a:solidFill>
              </a:rPr>
              <a:t>1</a:t>
            </a:r>
            <a:r>
              <a:rPr lang="en" sz="1600">
                <a:solidFill>
                  <a:srgbClr val="BE0712"/>
                </a:solidFill>
              </a:rPr>
              <a:t> to </a:t>
            </a:r>
            <a:r>
              <a:rPr b="1" lang="en" sz="1600">
                <a:solidFill>
                  <a:srgbClr val="BE0712"/>
                </a:solidFill>
              </a:rPr>
              <a:t>list</a:t>
            </a:r>
            <a:r>
              <a:rPr lang="en" sz="1600">
                <a:solidFill>
                  <a:srgbClr val="BE0712"/>
                </a:solidFill>
              </a:rPr>
              <a:t>?</a:t>
            </a:r>
            <a:endParaRPr sz="1600">
              <a:solidFill>
                <a:srgbClr val="BE0712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5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Copying the Bits</a:t>
            </a:r>
            <a:endParaRPr/>
          </a:p>
        </p:txBody>
      </p:sp>
      <p:sp>
        <p:nvSpPr>
          <p:cNvPr id="277" name="Google Shape;277;p35"/>
          <p:cNvSpPr txBox="1"/>
          <p:nvPr>
            <p:ph idx="1" type="body"/>
          </p:nvPr>
        </p:nvSpPr>
        <p:spPr>
          <a:xfrm>
            <a:off x="243000" y="556500"/>
            <a:ext cx="8443800" cy="20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Answer: If X is a superclass of Y, then memory boxes for X may contain Y.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An AList is-a List.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Therefore List variables can hold ALList addresses.</a:t>
            </a:r>
            <a:endParaRPr/>
          </a:p>
        </p:txBody>
      </p:sp>
      <p:sp>
        <p:nvSpPr>
          <p:cNvPr id="278" name="Google Shape;278;p35"/>
          <p:cNvSpPr txBox="1"/>
          <p:nvPr/>
        </p:nvSpPr>
        <p:spPr>
          <a:xfrm>
            <a:off x="163919" y="2177797"/>
            <a:ext cx="8373000" cy="13956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static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String longest(</a:t>
            </a: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List61B&lt;String&gt; list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	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maxDex = 0;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 = 0; i &lt; list.size(); i += 1)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...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9" name="Google Shape;279;p35"/>
          <p:cNvSpPr txBox="1"/>
          <p:nvPr/>
        </p:nvSpPr>
        <p:spPr>
          <a:xfrm>
            <a:off x="647700" y="3462571"/>
            <a:ext cx="8373000" cy="16146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static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main(String[] args)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AList&lt;String&gt; a1 = 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AList&lt;String&gt;();</a:t>
            </a:r>
            <a:endParaRPr b="1"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a1.addLast(</a:t>
            </a:r>
            <a:r>
              <a:rPr lang="en" sz="1900">
                <a:solidFill>
                  <a:srgbClr val="BD8D8B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"horse"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WordUtils.longest(</a:t>
            </a: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a1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9C20EE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0" name="Google Shape;280;p35"/>
          <p:cNvSpPr txBox="1"/>
          <p:nvPr/>
        </p:nvSpPr>
        <p:spPr>
          <a:xfrm>
            <a:off x="7336475" y="3721400"/>
            <a:ext cx="1741200" cy="8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BE0712"/>
                </a:solidFill>
              </a:rPr>
              <a:t>How can we copy the bits in </a:t>
            </a:r>
            <a:r>
              <a:rPr b="1" lang="en" sz="1600">
                <a:solidFill>
                  <a:srgbClr val="BE0712"/>
                </a:solidFill>
              </a:rPr>
              <a:t>a</a:t>
            </a:r>
            <a:r>
              <a:rPr b="1" lang="en" sz="1600">
                <a:solidFill>
                  <a:srgbClr val="BE0712"/>
                </a:solidFill>
              </a:rPr>
              <a:t>1</a:t>
            </a:r>
            <a:r>
              <a:rPr lang="en" sz="1600">
                <a:solidFill>
                  <a:srgbClr val="BE0712"/>
                </a:solidFill>
              </a:rPr>
              <a:t> to </a:t>
            </a:r>
            <a:r>
              <a:rPr b="1" lang="en" sz="1600">
                <a:solidFill>
                  <a:srgbClr val="BE0712"/>
                </a:solidFill>
              </a:rPr>
              <a:t>list</a:t>
            </a:r>
            <a:r>
              <a:rPr lang="en" sz="1600">
                <a:solidFill>
                  <a:srgbClr val="BE0712"/>
                </a:solidFill>
              </a:rPr>
              <a:t>?</a:t>
            </a:r>
            <a:endParaRPr sz="1600">
              <a:solidFill>
                <a:srgbClr val="BE0712"/>
              </a:solidFill>
            </a:endParaRPr>
          </a:p>
        </p:txBody>
      </p:sp>
      <p:sp>
        <p:nvSpPr>
          <p:cNvPr id="281" name="Google Shape;281;p35"/>
          <p:cNvSpPr/>
          <p:nvPr/>
        </p:nvSpPr>
        <p:spPr>
          <a:xfrm>
            <a:off x="4199850" y="2658150"/>
            <a:ext cx="3007700" cy="1953725"/>
          </a:xfrm>
          <a:custGeom>
            <a:rect b="b" l="l" r="r" t="t"/>
            <a:pathLst>
              <a:path extrusionOk="0" h="78149" w="120308">
                <a:moveTo>
                  <a:pt x="0" y="78149"/>
                </a:moveTo>
                <a:cubicBezTo>
                  <a:pt x="15772" y="77174"/>
                  <a:pt x="74605" y="75845"/>
                  <a:pt x="94630" y="72301"/>
                </a:cubicBezTo>
                <a:cubicBezTo>
                  <a:pt x="114655" y="68757"/>
                  <a:pt x="121477" y="65124"/>
                  <a:pt x="120148" y="56884"/>
                </a:cubicBezTo>
                <a:cubicBezTo>
                  <a:pt x="118819" y="48644"/>
                  <a:pt x="92061" y="32341"/>
                  <a:pt x="86656" y="22860"/>
                </a:cubicBezTo>
                <a:cubicBezTo>
                  <a:pt x="81251" y="13379"/>
                  <a:pt x="87542" y="3810"/>
                  <a:pt x="87719" y="0"/>
                </a:cubicBezTo>
              </a:path>
            </a:pathLst>
          </a:cu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2E9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6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Question: </a:t>
            </a:r>
            <a:r>
              <a:rPr lang="en"/>
              <a:t>http://shoutkey.com</a:t>
            </a:r>
            <a:r>
              <a:rPr lang="en">
                <a:solidFill>
                  <a:srgbClr val="208920"/>
                </a:solidFill>
              </a:rPr>
              <a:t>/leash</a:t>
            </a:r>
            <a:endParaRPr>
              <a:solidFill>
                <a:srgbClr val="208920"/>
              </a:solidFill>
            </a:endParaRPr>
          </a:p>
        </p:txBody>
      </p:sp>
      <p:sp>
        <p:nvSpPr>
          <p:cNvPr id="287" name="Google Shape;287;p36"/>
          <p:cNvSpPr txBox="1"/>
          <p:nvPr>
            <p:ph idx="1" type="body"/>
          </p:nvPr>
        </p:nvSpPr>
        <p:spPr>
          <a:xfrm>
            <a:off x="243000" y="556500"/>
            <a:ext cx="8443800" cy="31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Will the code below compile? If so, what happens when it runs?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AutoNum type="alphaLcPeriod"/>
            </a:pPr>
            <a:r>
              <a:rPr lang="en"/>
              <a:t>Will not compile.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"/>
              <a:t>Will compile, but will cause an error at runtime on the </a:t>
            </a:r>
            <a:r>
              <a:rPr b="1" lang="en"/>
              <a:t>new</a:t>
            </a:r>
            <a:r>
              <a:rPr lang="en"/>
              <a:t> line.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"/>
              <a:t>When it runs, an </a:t>
            </a:r>
            <a:r>
              <a:rPr lang="en">
                <a:solidFill>
                  <a:srgbClr val="208920"/>
                </a:solidFill>
                <a:latin typeface="Consolas"/>
                <a:ea typeface="Consolas"/>
                <a:cs typeface="Consolas"/>
                <a:sym typeface="Consolas"/>
              </a:rPr>
              <a:t>SLList</a:t>
            </a:r>
            <a:r>
              <a:rPr lang="en"/>
              <a:t> is created and its address is stored in the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someList</a:t>
            </a:r>
            <a:r>
              <a:rPr lang="en"/>
              <a:t> variable, but it crashes on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someList.addFirst()</a:t>
            </a:r>
            <a:r>
              <a:rPr lang="en"/>
              <a:t> since the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lang="en"/>
              <a:t> class doesn’t implement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addFirst</a:t>
            </a:r>
            <a:r>
              <a:rPr lang="en"/>
              <a:t>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"/>
              <a:t>When it runs, an </a:t>
            </a:r>
            <a:r>
              <a:rPr lang="en">
                <a:solidFill>
                  <a:srgbClr val="208920"/>
                </a:solidFill>
                <a:latin typeface="Consolas"/>
                <a:ea typeface="Consolas"/>
                <a:cs typeface="Consolas"/>
                <a:sym typeface="Consolas"/>
              </a:rPr>
              <a:t>SLList</a:t>
            </a:r>
            <a:r>
              <a:rPr lang="en"/>
              <a:t> is created and its address is stored in the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someList</a:t>
            </a:r>
            <a:r>
              <a:rPr lang="en"/>
              <a:t> variable. Then the string “elk” is inserted into the </a:t>
            </a:r>
            <a:r>
              <a:rPr lang="en">
                <a:solidFill>
                  <a:srgbClr val="208920"/>
                </a:solidFill>
                <a:latin typeface="Consolas"/>
                <a:ea typeface="Consolas"/>
                <a:cs typeface="Consolas"/>
                <a:sym typeface="Consolas"/>
              </a:rPr>
              <a:t>SLList </a:t>
            </a:r>
            <a:r>
              <a:rPr lang="en"/>
              <a:t>referred to by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addFirst</a:t>
            </a:r>
            <a:r>
              <a:rPr lang="en"/>
              <a:t>.</a:t>
            </a:r>
            <a:endParaRPr/>
          </a:p>
        </p:txBody>
      </p:sp>
      <p:sp>
        <p:nvSpPr>
          <p:cNvPr id="288" name="Google Shape;288;p36"/>
          <p:cNvSpPr txBox="1"/>
          <p:nvPr/>
        </p:nvSpPr>
        <p:spPr>
          <a:xfrm>
            <a:off x="940975" y="3695700"/>
            <a:ext cx="7352400" cy="13494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static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main(String[] args)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List61B&lt;String&gt; someList = 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SLList&lt;String&gt;();	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someList.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addFirst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900">
                <a:solidFill>
                  <a:srgbClr val="BD8D8B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"elk"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7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294" name="Google Shape;294;p37"/>
          <p:cNvSpPr txBox="1"/>
          <p:nvPr>
            <p:ph idx="1" type="body"/>
          </p:nvPr>
        </p:nvSpPr>
        <p:spPr>
          <a:xfrm>
            <a:off x="243000" y="556500"/>
            <a:ext cx="8443800" cy="31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Will the code below compile? If so, what happens when it runs?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AutoNum type="alphaLcPeriod"/>
            </a:pPr>
            <a:r>
              <a:rPr lang="en"/>
              <a:t>Will not compile.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"/>
              <a:t>Will compile, but will cause an error at runtime on the </a:t>
            </a:r>
            <a:r>
              <a:rPr b="1" lang="en"/>
              <a:t>new</a:t>
            </a:r>
            <a:r>
              <a:rPr lang="en"/>
              <a:t> line.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"/>
              <a:t>When it runs, an </a:t>
            </a:r>
            <a:r>
              <a:rPr lang="en">
                <a:solidFill>
                  <a:srgbClr val="208920"/>
                </a:solidFill>
                <a:latin typeface="Consolas"/>
                <a:ea typeface="Consolas"/>
                <a:cs typeface="Consolas"/>
                <a:sym typeface="Consolas"/>
              </a:rPr>
              <a:t>SLList</a:t>
            </a:r>
            <a:r>
              <a:rPr lang="en"/>
              <a:t> is created and its address is stored in the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someList</a:t>
            </a:r>
            <a:r>
              <a:rPr lang="en"/>
              <a:t> variable, but it crashes on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someList.addFirst()</a:t>
            </a:r>
            <a:r>
              <a:rPr lang="en"/>
              <a:t> since the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lang="en"/>
              <a:t> class doesn’t implement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addFirst</a:t>
            </a:r>
            <a:r>
              <a:rPr lang="en"/>
              <a:t>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b="1" lang="en"/>
              <a:t>When it runs, an </a:t>
            </a:r>
            <a:r>
              <a:rPr b="1" lang="en">
                <a:solidFill>
                  <a:srgbClr val="208920"/>
                </a:solidFill>
                <a:latin typeface="Consolas"/>
                <a:ea typeface="Consolas"/>
                <a:cs typeface="Consolas"/>
                <a:sym typeface="Consolas"/>
              </a:rPr>
              <a:t>SLList</a:t>
            </a:r>
            <a:r>
              <a:rPr b="1" lang="en"/>
              <a:t> is created and its address is stored in the 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someList</a:t>
            </a:r>
            <a:r>
              <a:rPr b="1" lang="en"/>
              <a:t> variable. Then the string “elk” is inserted into the </a:t>
            </a:r>
            <a:r>
              <a:rPr b="1" lang="en">
                <a:solidFill>
                  <a:srgbClr val="208920"/>
                </a:solidFill>
                <a:latin typeface="Consolas"/>
                <a:ea typeface="Consolas"/>
                <a:cs typeface="Consolas"/>
                <a:sym typeface="Consolas"/>
              </a:rPr>
              <a:t>SLList </a:t>
            </a:r>
            <a:r>
              <a:rPr b="1" lang="en"/>
              <a:t>referred to by 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addFirst</a:t>
            </a:r>
            <a:r>
              <a:rPr b="1" lang="en"/>
              <a:t>.</a:t>
            </a:r>
            <a:endParaRPr b="1"/>
          </a:p>
        </p:txBody>
      </p:sp>
      <p:sp>
        <p:nvSpPr>
          <p:cNvPr id="295" name="Google Shape;295;p37"/>
          <p:cNvSpPr txBox="1"/>
          <p:nvPr/>
        </p:nvSpPr>
        <p:spPr>
          <a:xfrm>
            <a:off x="940975" y="3695700"/>
            <a:ext cx="7352400" cy="13494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static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main(String[] args)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List61B&lt;String&gt; someList = 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SLList&lt;String&gt;();	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someList.addFirst(</a:t>
            </a:r>
            <a:r>
              <a:rPr lang="en" sz="1900">
                <a:solidFill>
                  <a:srgbClr val="BD8D8B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"elk"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8"/>
          <p:cNvSpPr txBox="1"/>
          <p:nvPr>
            <p:ph type="title"/>
          </p:nvPr>
        </p:nvSpPr>
        <p:spPr>
          <a:xfrm>
            <a:off x="928950" y="1966125"/>
            <a:ext cx="7286100" cy="164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Implementation Inheritance: Default Methods</a:t>
            </a:r>
            <a:endParaRPr sz="48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9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 Inheritance</a:t>
            </a:r>
            <a:endParaRPr/>
          </a:p>
        </p:txBody>
      </p:sp>
      <p:sp>
        <p:nvSpPr>
          <p:cNvPr id="306" name="Google Shape;306;p39"/>
          <p:cNvSpPr txBox="1"/>
          <p:nvPr>
            <p:ph idx="1" type="body"/>
          </p:nvPr>
        </p:nvSpPr>
        <p:spPr>
          <a:xfrm>
            <a:off x="243000" y="556500"/>
            <a:ext cx="8465400" cy="41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Interface inheritance: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Subclass inherits signatures, but NOT implementation.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For better or worse, Java also allows </a:t>
            </a:r>
            <a:r>
              <a:rPr b="1" lang="en" u="sng"/>
              <a:t>implementation inheritance</a:t>
            </a:r>
            <a:r>
              <a:rPr lang="en"/>
              <a:t>.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Subclasses can inherit signatures AND implementation.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Use the </a:t>
            </a:r>
            <a:r>
              <a:rPr b="1" lang="en"/>
              <a:t>default </a:t>
            </a:r>
            <a:r>
              <a:rPr lang="en"/>
              <a:t>keyword to spe</a:t>
            </a:r>
            <a:r>
              <a:rPr lang="en"/>
              <a:t>cify a method </a:t>
            </a:r>
            <a:r>
              <a:rPr lang="en"/>
              <a:t>that subclasses</a:t>
            </a:r>
            <a:r>
              <a:rPr lang="en"/>
              <a:t> should inherit from an </a:t>
            </a:r>
            <a:r>
              <a:rPr b="1" lang="en"/>
              <a:t>interface.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Example: Let’s add a default print() method to List61B.java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0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Default Method Example: print()</a:t>
            </a:r>
            <a:endParaRPr/>
          </a:p>
        </p:txBody>
      </p:sp>
      <p:sp>
        <p:nvSpPr>
          <p:cNvPr id="312" name="Google Shape;312;p40"/>
          <p:cNvSpPr txBox="1"/>
          <p:nvPr/>
        </p:nvSpPr>
        <p:spPr>
          <a:xfrm>
            <a:off x="342900" y="674275"/>
            <a:ext cx="8373000" cy="4431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interface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List61B&lt;Item&gt;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addFirst(Item x);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addLast(Item y);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Item getFirst();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Item getLast();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Item removeLast();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Item get(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i);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insert(Item x, 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position);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size(); 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default public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print()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for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 = 0; i &lt; size(); i += 1)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   System.out.print(get(i) + </a:t>
            </a:r>
            <a:r>
              <a:rPr lang="en" sz="1900">
                <a:solidFill>
                  <a:srgbClr val="BD8D8B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" "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}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System.out.println();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900">
              <a:solidFill>
                <a:srgbClr val="9C20EE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2E9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1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Question: shoutkey.com</a:t>
            </a:r>
            <a:r>
              <a:rPr lang="en">
                <a:solidFill>
                  <a:srgbClr val="208920"/>
                </a:solidFill>
              </a:rPr>
              <a:t>/pomelo</a:t>
            </a:r>
            <a:endParaRPr>
              <a:solidFill>
                <a:srgbClr val="208920"/>
              </a:solidFill>
            </a:endParaRPr>
          </a:p>
        </p:txBody>
      </p:sp>
      <p:sp>
        <p:nvSpPr>
          <p:cNvPr id="318" name="Google Shape;318;p41"/>
          <p:cNvSpPr txBox="1"/>
          <p:nvPr>
            <p:ph idx="1" type="body"/>
          </p:nvPr>
        </p:nvSpPr>
        <p:spPr>
          <a:xfrm>
            <a:off x="243000" y="556500"/>
            <a:ext cx="8443800" cy="41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the print() method efficient?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AutoNum type="alphaLcPeriod"/>
            </a:pPr>
            <a:r>
              <a:rPr lang="en"/>
              <a:t>Inefficient for AList and SLList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"/>
              <a:t>Efficient for AList, inefficient for SLList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"/>
              <a:t>Inefficient for AList, efficient for SLList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"/>
              <a:t>Efficient for both AList and SLList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9" name="Google Shape;319;p41"/>
          <p:cNvSpPr txBox="1"/>
          <p:nvPr/>
        </p:nvSpPr>
        <p:spPr>
          <a:xfrm>
            <a:off x="342900" y="2348900"/>
            <a:ext cx="8373000" cy="27210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interface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List61B&lt;Item&gt;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...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default public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print()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for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 = 0; i &lt; size(); i += 1)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   System.out.print(get(i) + </a:t>
            </a:r>
            <a:r>
              <a:rPr lang="en" sz="1900">
                <a:solidFill>
                  <a:srgbClr val="BD8D8B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" "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}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System.out.println();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EFEFEF"/>
                </a:highlight>
              </a:rPr>
              <a:t> </a:t>
            </a:r>
            <a:endParaRPr sz="1100">
              <a:solidFill>
                <a:schemeClr val="dk1"/>
              </a:solidFill>
              <a:highlight>
                <a:srgbClr val="EFEFE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9C20EE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2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325" name="Google Shape;325;p42"/>
          <p:cNvSpPr txBox="1"/>
          <p:nvPr>
            <p:ph idx="1" type="body"/>
          </p:nvPr>
        </p:nvSpPr>
        <p:spPr>
          <a:xfrm>
            <a:off x="243000" y="556500"/>
            <a:ext cx="8443800" cy="41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the print() method efficient?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AutoNum type="alphaLcPeriod"/>
            </a:pPr>
            <a:r>
              <a:rPr lang="en"/>
              <a:t>Inefficient for AList and SLList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b="1" lang="en"/>
              <a:t>Efficient for AList, inefficient for SLList</a:t>
            </a:r>
            <a:endParaRPr b="1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"/>
              <a:t>Inefficient for AList, efficient for SLList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"/>
              <a:t>Efficient for both AList and SLList</a:t>
            </a:r>
            <a:endParaRPr/>
          </a:p>
        </p:txBody>
      </p:sp>
      <p:sp>
        <p:nvSpPr>
          <p:cNvPr id="326" name="Google Shape;326;p42"/>
          <p:cNvSpPr txBox="1"/>
          <p:nvPr/>
        </p:nvSpPr>
        <p:spPr>
          <a:xfrm>
            <a:off x="342900" y="2348900"/>
            <a:ext cx="8373000" cy="27210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interface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List61B&lt;Item&gt;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...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default public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print()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for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 = 0; i &lt; size(); i += 1)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   System.out.print(</a:t>
            </a: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get(i)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lang="en" sz="1900">
                <a:solidFill>
                  <a:srgbClr val="BD8D8B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" "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}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System.out.println();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EFEFEF"/>
                </a:highlight>
              </a:rPr>
              <a:t> </a:t>
            </a:r>
            <a:endParaRPr sz="1100">
              <a:solidFill>
                <a:schemeClr val="dk1"/>
              </a:solidFill>
              <a:highlight>
                <a:srgbClr val="EFEFE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9C20EE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27" name="Google Shape;327;p42"/>
          <p:cNvCxnSpPr/>
          <p:nvPr/>
        </p:nvCxnSpPr>
        <p:spPr>
          <a:xfrm rot="10800000">
            <a:off x="4589425" y="3930125"/>
            <a:ext cx="458400" cy="26460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8" name="Google Shape;328;p42"/>
          <p:cNvSpPr txBox="1"/>
          <p:nvPr/>
        </p:nvSpPr>
        <p:spPr>
          <a:xfrm>
            <a:off x="5107175" y="4097075"/>
            <a:ext cx="3269400" cy="6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get has to seek all the way to the given item for SLists.</a:t>
            </a:r>
            <a:endParaRPr>
              <a:solidFill>
                <a:srgbClr val="BE0712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3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Overriding Default Methods</a:t>
            </a:r>
            <a:endParaRPr/>
          </a:p>
        </p:txBody>
      </p:sp>
      <p:sp>
        <p:nvSpPr>
          <p:cNvPr id="334" name="Google Shape;334;p43"/>
          <p:cNvSpPr txBox="1"/>
          <p:nvPr>
            <p:ph idx="1" type="body"/>
          </p:nvPr>
        </p:nvSpPr>
        <p:spPr>
          <a:xfrm>
            <a:off x="243000" y="556500"/>
            <a:ext cx="8443800" cy="41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you don’t like a default method, you can override it.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Any call to print() on an SLList will use this method instead of default.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Use (optional) @Override to catch typos like 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public void pirnt()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43"/>
          <p:cNvSpPr txBox="1"/>
          <p:nvPr/>
        </p:nvSpPr>
        <p:spPr>
          <a:xfrm>
            <a:off x="342900" y="1927150"/>
            <a:ext cx="8373000" cy="31428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interface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SLList&lt;Item&gt; implements 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900">
                <a:solidFill>
                  <a:srgbClr val="0000FF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 b="1" sz="1900">
              <a:solidFill>
                <a:srgbClr val="9C20EE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public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print()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(Node p = sentinel.next; p != null; p = p.next)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	      System.out.print(p.item + </a:t>
            </a:r>
            <a:r>
              <a:rPr lang="en" sz="1900">
                <a:solidFill>
                  <a:srgbClr val="BD8D8B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" "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);     	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	   }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	   System.out.println();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EFEFEF"/>
                </a:highlight>
              </a:rPr>
              <a:t> </a:t>
            </a:r>
            <a:endParaRPr sz="1100">
              <a:solidFill>
                <a:schemeClr val="dk1"/>
              </a:solidFill>
              <a:highlight>
                <a:srgbClr val="EFEFE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9C20EE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4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341" name="Google Shape;341;p44"/>
          <p:cNvSpPr txBox="1"/>
          <p:nvPr>
            <p:ph idx="1" type="body"/>
          </p:nvPr>
        </p:nvSpPr>
        <p:spPr>
          <a:xfrm>
            <a:off x="243000" y="556500"/>
            <a:ext cx="8635200" cy="41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 that if X is a superclass of Y, then an X variable can hold a reference to a Y.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Which print method do you think will run when the code below executes?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List.print()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SLList.print()</a:t>
            </a:r>
            <a:endParaRPr/>
          </a:p>
        </p:txBody>
      </p:sp>
      <p:sp>
        <p:nvSpPr>
          <p:cNvPr id="342" name="Google Shape;342;p44"/>
          <p:cNvSpPr txBox="1"/>
          <p:nvPr/>
        </p:nvSpPr>
        <p:spPr>
          <a:xfrm>
            <a:off x="744275" y="2815850"/>
            <a:ext cx="7456200" cy="2232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static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main(String[] args)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List61B&lt;String&gt; someList = 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SLList&lt;String&gt;();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someList.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addLast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900">
                <a:solidFill>
                  <a:srgbClr val="BD8D8B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"elk"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someList.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addLast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900">
                <a:solidFill>
                  <a:srgbClr val="BD8D8B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"are"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someList.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addLast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900">
                <a:solidFill>
                  <a:srgbClr val="BD8D8B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"watching"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someList.print();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EFEFEF"/>
              </a:highlight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5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348" name="Google Shape;348;p45"/>
          <p:cNvSpPr txBox="1"/>
          <p:nvPr>
            <p:ph idx="1" type="body"/>
          </p:nvPr>
        </p:nvSpPr>
        <p:spPr>
          <a:xfrm>
            <a:off x="243000" y="556500"/>
            <a:ext cx="8635200" cy="41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 that if X is a superclass of Y, then an X variable can hold a reference to a Y.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Which print method do you think will run when the code below executes?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List.print()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/>
              <a:t>SLList.print() : And this is the sensible choice. But how does it work?</a:t>
            </a:r>
            <a:endParaRPr b="1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Before we can answer that, we need new terms: static and dynamic type.</a:t>
            </a:r>
            <a:endParaRPr/>
          </a:p>
        </p:txBody>
      </p:sp>
      <p:sp>
        <p:nvSpPr>
          <p:cNvPr id="349" name="Google Shape;349;p45"/>
          <p:cNvSpPr txBox="1"/>
          <p:nvPr/>
        </p:nvSpPr>
        <p:spPr>
          <a:xfrm>
            <a:off x="744275" y="2815850"/>
            <a:ext cx="7456200" cy="2232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static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main(String[] args)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List61B&lt;String&gt; someList = 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SLList&lt;String&gt;();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someList.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addLast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900">
                <a:solidFill>
                  <a:srgbClr val="BD8D8B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"elk"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someList.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addLast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900">
                <a:solidFill>
                  <a:srgbClr val="BD8D8B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"are"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someList.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addLast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900">
                <a:solidFill>
                  <a:srgbClr val="BD8D8B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"watching"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someList.print();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EFEFEF"/>
              </a:highlight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6"/>
          <p:cNvSpPr txBox="1"/>
          <p:nvPr>
            <p:ph type="title"/>
          </p:nvPr>
        </p:nvSpPr>
        <p:spPr>
          <a:xfrm>
            <a:off x="928950" y="1803000"/>
            <a:ext cx="7286100" cy="153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Static and Dynamic Type, Dynamic Method Selection</a:t>
            </a:r>
            <a:endParaRPr sz="48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7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Static Type vs. Dynamic Type</a:t>
            </a:r>
            <a:endParaRPr/>
          </a:p>
        </p:txBody>
      </p:sp>
      <p:sp>
        <p:nvSpPr>
          <p:cNvPr id="360" name="Google Shape;360;p47"/>
          <p:cNvSpPr txBox="1"/>
          <p:nvPr>
            <p:ph idx="1" type="body"/>
          </p:nvPr>
        </p:nvSpPr>
        <p:spPr>
          <a:xfrm>
            <a:off x="243000" y="556500"/>
            <a:ext cx="7342500" cy="20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Every variable in Java has a “compile-time type”, a.k.a. “static type”.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This is the type specified at </a:t>
            </a:r>
            <a:r>
              <a:rPr b="1" lang="en"/>
              <a:t>declaration</a:t>
            </a:r>
            <a:r>
              <a:rPr lang="en"/>
              <a:t>. Never changes!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Variables also have a “run-time type”, a.k.a. “dynamic type”.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This is the type specified at </a:t>
            </a:r>
            <a:r>
              <a:rPr b="1" lang="en"/>
              <a:t>instantiation</a:t>
            </a:r>
            <a:r>
              <a:rPr lang="en"/>
              <a:t> (e.g. when using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/>
              <a:t>).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Equal to the type of the object being pointed at.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47"/>
          <p:cNvSpPr txBox="1"/>
          <p:nvPr/>
        </p:nvSpPr>
        <p:spPr>
          <a:xfrm>
            <a:off x="58475" y="2815850"/>
            <a:ext cx="5580300" cy="2167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static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main(String[] args)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LivingThing lt1;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lt1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Fox();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Animal a1 = lt1;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Fox h1 = 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 Fox();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lt1 = 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Squid();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EFEFEF"/>
              </a:highlight>
            </a:endParaRPr>
          </a:p>
        </p:txBody>
      </p:sp>
      <p:cxnSp>
        <p:nvCxnSpPr>
          <p:cNvPr id="362" name="Google Shape;362;p47"/>
          <p:cNvCxnSpPr/>
          <p:nvPr/>
        </p:nvCxnSpPr>
        <p:spPr>
          <a:xfrm flipH="1" rot="10800000">
            <a:off x="5911475" y="3157006"/>
            <a:ext cx="3123900" cy="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3" name="Google Shape;363;p47"/>
          <p:cNvCxnSpPr/>
          <p:nvPr/>
        </p:nvCxnSpPr>
        <p:spPr>
          <a:xfrm>
            <a:off x="6657700" y="2996831"/>
            <a:ext cx="0" cy="174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4" name="Google Shape;364;p47"/>
          <p:cNvCxnSpPr/>
          <p:nvPr/>
        </p:nvCxnSpPr>
        <p:spPr>
          <a:xfrm>
            <a:off x="7922875" y="3030281"/>
            <a:ext cx="0" cy="175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5" name="Google Shape;365;p47"/>
          <p:cNvSpPr txBox="1"/>
          <p:nvPr/>
        </p:nvSpPr>
        <p:spPr>
          <a:xfrm>
            <a:off x="6677963" y="3278656"/>
            <a:ext cx="14076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LivingThing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6" name="Google Shape;366;p47"/>
          <p:cNvSpPr/>
          <p:nvPr/>
        </p:nvSpPr>
        <p:spPr>
          <a:xfrm>
            <a:off x="6021227" y="3214756"/>
            <a:ext cx="521100" cy="4488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47"/>
          <p:cNvSpPr txBox="1"/>
          <p:nvPr/>
        </p:nvSpPr>
        <p:spPr>
          <a:xfrm>
            <a:off x="7935602" y="3278656"/>
            <a:ext cx="7716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null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8" name="Google Shape;368;p47"/>
          <p:cNvSpPr txBox="1"/>
          <p:nvPr/>
        </p:nvSpPr>
        <p:spPr>
          <a:xfrm>
            <a:off x="6775200" y="2845306"/>
            <a:ext cx="15351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Static Type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47"/>
          <p:cNvSpPr txBox="1"/>
          <p:nvPr/>
        </p:nvSpPr>
        <p:spPr>
          <a:xfrm>
            <a:off x="7860025" y="2845306"/>
            <a:ext cx="12126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Dynamic </a:t>
            </a:r>
            <a:r>
              <a:rPr lang="en">
                <a:latin typeface="Calibri"/>
                <a:ea typeface="Calibri"/>
                <a:cs typeface="Calibri"/>
                <a:sym typeface="Calibri"/>
              </a:rPr>
              <a:t>Type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0" name="Google Shape;370;p47"/>
          <p:cNvCxnSpPr/>
          <p:nvPr/>
        </p:nvCxnSpPr>
        <p:spPr>
          <a:xfrm>
            <a:off x="268600" y="3353425"/>
            <a:ext cx="203100" cy="0"/>
          </a:xfrm>
          <a:prstGeom prst="straightConnector1">
            <a:avLst/>
          </a:prstGeom>
          <a:noFill/>
          <a:ln cap="flat" cmpd="sng" w="9525">
            <a:solidFill>
              <a:srgbClr val="AC202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1" name="Google Shape;371;p47"/>
          <p:cNvSpPr txBox="1"/>
          <p:nvPr/>
        </p:nvSpPr>
        <p:spPr>
          <a:xfrm>
            <a:off x="5580875" y="3244775"/>
            <a:ext cx="5211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lt1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2" name="Google Shape;372;p47"/>
          <p:cNvSpPr txBox="1"/>
          <p:nvPr/>
        </p:nvSpPr>
        <p:spPr>
          <a:xfrm>
            <a:off x="5954894" y="3139889"/>
            <a:ext cx="8229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Consolas"/>
                <a:ea typeface="Consolas"/>
                <a:cs typeface="Consolas"/>
                <a:sym typeface="Consolas"/>
              </a:rPr>
              <a:t>LivingThing</a:t>
            </a:r>
            <a:endParaRPr sz="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3" name="Google Shape;373;p47"/>
          <p:cNvSpPr txBox="1"/>
          <p:nvPr/>
        </p:nvSpPr>
        <p:spPr>
          <a:xfrm>
            <a:off x="3599925" y="4328600"/>
            <a:ext cx="2176200" cy="5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Technically requires a “cast”. See next lecture.</a:t>
            </a:r>
            <a:endParaRPr>
              <a:solidFill>
                <a:srgbClr val="BE0712"/>
              </a:solidFill>
            </a:endParaRPr>
          </a:p>
        </p:txBody>
      </p:sp>
      <p:cxnSp>
        <p:nvCxnSpPr>
          <p:cNvPr id="374" name="Google Shape;374;p47"/>
          <p:cNvCxnSpPr/>
          <p:nvPr/>
        </p:nvCxnSpPr>
        <p:spPr>
          <a:xfrm rot="10800000">
            <a:off x="2775550" y="3988175"/>
            <a:ext cx="848400" cy="503400"/>
          </a:xfrm>
          <a:prstGeom prst="straightConnector1">
            <a:avLst/>
          </a:prstGeom>
          <a:noFill/>
          <a:ln cap="flat" cmpd="sng" w="9525">
            <a:solidFill>
              <a:srgbClr val="AC202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8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Static Type vs. Dynamic Type</a:t>
            </a:r>
            <a:endParaRPr/>
          </a:p>
        </p:txBody>
      </p:sp>
      <p:sp>
        <p:nvSpPr>
          <p:cNvPr id="380" name="Google Shape;380;p48"/>
          <p:cNvSpPr txBox="1"/>
          <p:nvPr>
            <p:ph idx="1" type="body"/>
          </p:nvPr>
        </p:nvSpPr>
        <p:spPr>
          <a:xfrm>
            <a:off x="243000" y="556500"/>
            <a:ext cx="7342500" cy="20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Every variable in Java has a “compile-time type”, a.k.a. “static type”.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This is the type specified at </a:t>
            </a:r>
            <a:r>
              <a:rPr b="1" lang="en"/>
              <a:t>declaration</a:t>
            </a:r>
            <a:r>
              <a:rPr lang="en"/>
              <a:t>. </a:t>
            </a:r>
            <a:r>
              <a:rPr lang="en"/>
              <a:t>Never changes!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Variables also have a “run-time type”, a.k.a. “dynamic type”.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This is the type specified at </a:t>
            </a:r>
            <a:r>
              <a:rPr b="1" lang="en"/>
              <a:t>instantiation</a:t>
            </a:r>
            <a:r>
              <a:rPr lang="en"/>
              <a:t> (e.g. when using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/>
              <a:t>).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Equal to the type of the object being pointed at.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48"/>
          <p:cNvSpPr txBox="1"/>
          <p:nvPr/>
        </p:nvSpPr>
        <p:spPr>
          <a:xfrm>
            <a:off x="58475" y="2815850"/>
            <a:ext cx="5580300" cy="2167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static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main(String[] args)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LivingThing lt1;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lt1 = 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Fox();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Animal a1 = lt1;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Fox h1 = new Fox();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lt1 = 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Squid();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900">
              <a:solidFill>
                <a:srgbClr val="9C20EE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82" name="Google Shape;382;p48"/>
          <p:cNvCxnSpPr/>
          <p:nvPr/>
        </p:nvCxnSpPr>
        <p:spPr>
          <a:xfrm flipH="1" rot="10800000">
            <a:off x="5911475" y="3157006"/>
            <a:ext cx="3123900" cy="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3" name="Google Shape;383;p48"/>
          <p:cNvCxnSpPr/>
          <p:nvPr/>
        </p:nvCxnSpPr>
        <p:spPr>
          <a:xfrm>
            <a:off x="6657700" y="2996831"/>
            <a:ext cx="0" cy="174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4" name="Google Shape;384;p48"/>
          <p:cNvCxnSpPr/>
          <p:nvPr/>
        </p:nvCxnSpPr>
        <p:spPr>
          <a:xfrm>
            <a:off x="7922875" y="3030281"/>
            <a:ext cx="0" cy="175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5" name="Google Shape;385;p48"/>
          <p:cNvSpPr txBox="1"/>
          <p:nvPr/>
        </p:nvSpPr>
        <p:spPr>
          <a:xfrm>
            <a:off x="6677963" y="3278656"/>
            <a:ext cx="14076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LivingThing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6" name="Google Shape;386;p48"/>
          <p:cNvSpPr/>
          <p:nvPr/>
        </p:nvSpPr>
        <p:spPr>
          <a:xfrm>
            <a:off x="6021227" y="3214756"/>
            <a:ext cx="521100" cy="4488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48"/>
          <p:cNvSpPr txBox="1"/>
          <p:nvPr/>
        </p:nvSpPr>
        <p:spPr>
          <a:xfrm>
            <a:off x="7935602" y="3278656"/>
            <a:ext cx="7716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Fox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8" name="Google Shape;388;p48"/>
          <p:cNvSpPr txBox="1"/>
          <p:nvPr/>
        </p:nvSpPr>
        <p:spPr>
          <a:xfrm>
            <a:off x="6775200" y="2845306"/>
            <a:ext cx="15351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Static Type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48"/>
          <p:cNvSpPr txBox="1"/>
          <p:nvPr/>
        </p:nvSpPr>
        <p:spPr>
          <a:xfrm>
            <a:off x="7860025" y="2845306"/>
            <a:ext cx="12126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Dynamic Type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0" name="Google Shape;390;p48"/>
          <p:cNvCxnSpPr/>
          <p:nvPr/>
        </p:nvCxnSpPr>
        <p:spPr>
          <a:xfrm>
            <a:off x="268600" y="3625163"/>
            <a:ext cx="203100" cy="0"/>
          </a:xfrm>
          <a:prstGeom prst="straightConnector1">
            <a:avLst/>
          </a:prstGeom>
          <a:noFill/>
          <a:ln cap="flat" cmpd="sng" w="9525">
            <a:solidFill>
              <a:srgbClr val="AC202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391" name="Google Shape;391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2889" y="3530705"/>
            <a:ext cx="429625" cy="429625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48"/>
          <p:cNvSpPr/>
          <p:nvPr/>
        </p:nvSpPr>
        <p:spPr>
          <a:xfrm>
            <a:off x="6125925" y="3306200"/>
            <a:ext cx="2598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FE2F3"/>
              </a:solidFill>
            </a:endParaRPr>
          </a:p>
        </p:txBody>
      </p:sp>
      <p:cxnSp>
        <p:nvCxnSpPr>
          <p:cNvPr id="393" name="Google Shape;393;p48"/>
          <p:cNvCxnSpPr>
            <a:stCxn id="392" idx="2"/>
            <a:endCxn id="391" idx="3"/>
          </p:cNvCxnSpPr>
          <p:nvPr/>
        </p:nvCxnSpPr>
        <p:spPr>
          <a:xfrm rot="5400000">
            <a:off x="5682525" y="3172100"/>
            <a:ext cx="283200" cy="8634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4" name="Google Shape;394;p48"/>
          <p:cNvSpPr txBox="1"/>
          <p:nvPr/>
        </p:nvSpPr>
        <p:spPr>
          <a:xfrm>
            <a:off x="5580880" y="3244775"/>
            <a:ext cx="5211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lt1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5" name="Google Shape;395;p48"/>
          <p:cNvSpPr txBox="1"/>
          <p:nvPr/>
        </p:nvSpPr>
        <p:spPr>
          <a:xfrm>
            <a:off x="5954894" y="3139889"/>
            <a:ext cx="8229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Consolas"/>
                <a:ea typeface="Consolas"/>
                <a:cs typeface="Consolas"/>
                <a:sym typeface="Consolas"/>
              </a:rPr>
              <a:t>LivingThing</a:t>
            </a:r>
            <a:endParaRPr sz="6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9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Static Type vs. Dynamic Type</a:t>
            </a:r>
            <a:endParaRPr/>
          </a:p>
        </p:txBody>
      </p:sp>
      <p:sp>
        <p:nvSpPr>
          <p:cNvPr id="401" name="Google Shape;401;p49"/>
          <p:cNvSpPr txBox="1"/>
          <p:nvPr>
            <p:ph idx="1" type="body"/>
          </p:nvPr>
        </p:nvSpPr>
        <p:spPr>
          <a:xfrm>
            <a:off x="243000" y="556500"/>
            <a:ext cx="7342500" cy="20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Every variable in Java has a “compile-time type”, a.k.a. “static type”.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This is the type specified at </a:t>
            </a:r>
            <a:r>
              <a:rPr b="1" lang="en"/>
              <a:t>declaration</a:t>
            </a:r>
            <a:r>
              <a:rPr lang="en"/>
              <a:t>. </a:t>
            </a:r>
            <a:r>
              <a:rPr lang="en"/>
              <a:t>Never changes!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Variables also have a “run-time type”, a.k.a. “dynamic type”.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This is the type specified at </a:t>
            </a:r>
            <a:r>
              <a:rPr b="1" lang="en"/>
              <a:t>instantiation</a:t>
            </a:r>
            <a:r>
              <a:rPr lang="en"/>
              <a:t> (e.g. when using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/>
              <a:t>).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Equal to the type of the object being pointed at.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49"/>
          <p:cNvSpPr txBox="1"/>
          <p:nvPr/>
        </p:nvSpPr>
        <p:spPr>
          <a:xfrm>
            <a:off x="58475" y="2815850"/>
            <a:ext cx="5580300" cy="2167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static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main(String[] args)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LivingThing lt1;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lt1 = 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Fox();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Animal a1 = lt1;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Fox h1 = new Fox();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lt1 = 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Squid();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900">
              <a:solidFill>
                <a:srgbClr val="9C20EE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03" name="Google Shape;403;p49"/>
          <p:cNvCxnSpPr/>
          <p:nvPr/>
        </p:nvCxnSpPr>
        <p:spPr>
          <a:xfrm flipH="1" rot="10800000">
            <a:off x="5911475" y="3157006"/>
            <a:ext cx="3123900" cy="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4" name="Google Shape;404;p49"/>
          <p:cNvCxnSpPr/>
          <p:nvPr/>
        </p:nvCxnSpPr>
        <p:spPr>
          <a:xfrm>
            <a:off x="6657700" y="2996831"/>
            <a:ext cx="0" cy="174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5" name="Google Shape;405;p49"/>
          <p:cNvCxnSpPr/>
          <p:nvPr/>
        </p:nvCxnSpPr>
        <p:spPr>
          <a:xfrm>
            <a:off x="7922875" y="3030281"/>
            <a:ext cx="0" cy="175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6" name="Google Shape;406;p49"/>
          <p:cNvSpPr txBox="1"/>
          <p:nvPr/>
        </p:nvSpPr>
        <p:spPr>
          <a:xfrm>
            <a:off x="6677963" y="3278656"/>
            <a:ext cx="14076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LivingThing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7" name="Google Shape;407;p49"/>
          <p:cNvSpPr/>
          <p:nvPr/>
        </p:nvSpPr>
        <p:spPr>
          <a:xfrm>
            <a:off x="6021227" y="3214756"/>
            <a:ext cx="521100" cy="4488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49"/>
          <p:cNvSpPr txBox="1"/>
          <p:nvPr/>
        </p:nvSpPr>
        <p:spPr>
          <a:xfrm>
            <a:off x="7935602" y="3278656"/>
            <a:ext cx="7716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Fox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9" name="Google Shape;409;p49"/>
          <p:cNvSpPr txBox="1"/>
          <p:nvPr/>
        </p:nvSpPr>
        <p:spPr>
          <a:xfrm>
            <a:off x="6775200" y="2845306"/>
            <a:ext cx="15351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Static Type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49"/>
          <p:cNvSpPr txBox="1"/>
          <p:nvPr/>
        </p:nvSpPr>
        <p:spPr>
          <a:xfrm>
            <a:off x="7860025" y="2845306"/>
            <a:ext cx="12126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Dynamic Type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1" name="Google Shape;411;p49"/>
          <p:cNvCxnSpPr/>
          <p:nvPr/>
        </p:nvCxnSpPr>
        <p:spPr>
          <a:xfrm>
            <a:off x="268600" y="3920517"/>
            <a:ext cx="203100" cy="0"/>
          </a:xfrm>
          <a:prstGeom prst="straightConnector1">
            <a:avLst/>
          </a:prstGeom>
          <a:noFill/>
          <a:ln cap="flat" cmpd="sng" w="9525">
            <a:solidFill>
              <a:srgbClr val="AC202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12" name="Google Shape;412;p49"/>
          <p:cNvSpPr txBox="1"/>
          <p:nvPr/>
        </p:nvSpPr>
        <p:spPr>
          <a:xfrm>
            <a:off x="6677963" y="3792313"/>
            <a:ext cx="7716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Animal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3" name="Google Shape;413;p49"/>
          <p:cNvSpPr txBox="1"/>
          <p:nvPr/>
        </p:nvSpPr>
        <p:spPr>
          <a:xfrm>
            <a:off x="7935602" y="3792313"/>
            <a:ext cx="7716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Fox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4" name="Google Shape;414;p49"/>
          <p:cNvSpPr/>
          <p:nvPr/>
        </p:nvSpPr>
        <p:spPr>
          <a:xfrm>
            <a:off x="6021227" y="3728413"/>
            <a:ext cx="521100" cy="4488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5" name="Google Shape;415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2889" y="3530705"/>
            <a:ext cx="429625" cy="429625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49"/>
          <p:cNvSpPr/>
          <p:nvPr/>
        </p:nvSpPr>
        <p:spPr>
          <a:xfrm>
            <a:off x="6125925" y="3306200"/>
            <a:ext cx="2598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FE2F3"/>
              </a:solidFill>
            </a:endParaRPr>
          </a:p>
        </p:txBody>
      </p:sp>
      <p:cxnSp>
        <p:nvCxnSpPr>
          <p:cNvPr id="417" name="Google Shape;417;p49"/>
          <p:cNvCxnSpPr>
            <a:stCxn id="416" idx="2"/>
            <a:endCxn id="415" idx="3"/>
          </p:cNvCxnSpPr>
          <p:nvPr/>
        </p:nvCxnSpPr>
        <p:spPr>
          <a:xfrm rot="5400000">
            <a:off x="5682525" y="3172100"/>
            <a:ext cx="283200" cy="8634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18" name="Google Shape;418;p49"/>
          <p:cNvSpPr/>
          <p:nvPr/>
        </p:nvSpPr>
        <p:spPr>
          <a:xfrm>
            <a:off x="6151875" y="3874825"/>
            <a:ext cx="2598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FE2F3"/>
              </a:solidFill>
            </a:endParaRPr>
          </a:p>
        </p:txBody>
      </p:sp>
      <p:cxnSp>
        <p:nvCxnSpPr>
          <p:cNvPr id="419" name="Google Shape;419;p49"/>
          <p:cNvCxnSpPr>
            <a:stCxn id="418" idx="2"/>
            <a:endCxn id="415" idx="2"/>
          </p:cNvCxnSpPr>
          <p:nvPr/>
        </p:nvCxnSpPr>
        <p:spPr>
          <a:xfrm flipH="1" rot="5400000">
            <a:off x="5694525" y="3443575"/>
            <a:ext cx="70500" cy="1104000"/>
          </a:xfrm>
          <a:prstGeom prst="curvedConnector3">
            <a:avLst>
              <a:gd fmla="val -337766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0" name="Google Shape;420;p49"/>
          <p:cNvSpPr txBox="1"/>
          <p:nvPr/>
        </p:nvSpPr>
        <p:spPr>
          <a:xfrm>
            <a:off x="5580880" y="3244775"/>
            <a:ext cx="5211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lt1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1" name="Google Shape;421;p49"/>
          <p:cNvSpPr txBox="1"/>
          <p:nvPr/>
        </p:nvSpPr>
        <p:spPr>
          <a:xfrm>
            <a:off x="5626630" y="3743075"/>
            <a:ext cx="4296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a1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2" name="Google Shape;422;p49"/>
          <p:cNvSpPr txBox="1"/>
          <p:nvPr/>
        </p:nvSpPr>
        <p:spPr>
          <a:xfrm>
            <a:off x="5954894" y="3139889"/>
            <a:ext cx="8229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Consolas"/>
                <a:ea typeface="Consolas"/>
                <a:cs typeface="Consolas"/>
                <a:sym typeface="Consolas"/>
              </a:rPr>
              <a:t>LivingThing</a:t>
            </a:r>
            <a:endParaRPr sz="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3" name="Google Shape;423;p49"/>
          <p:cNvSpPr txBox="1"/>
          <p:nvPr/>
        </p:nvSpPr>
        <p:spPr>
          <a:xfrm>
            <a:off x="5965608" y="3653395"/>
            <a:ext cx="5211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Consolas"/>
                <a:ea typeface="Consolas"/>
                <a:cs typeface="Consolas"/>
                <a:sym typeface="Consolas"/>
              </a:rPr>
              <a:t>Animal</a:t>
            </a:r>
            <a:endParaRPr sz="6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0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Static Type vs. Dynamic Type</a:t>
            </a:r>
            <a:endParaRPr/>
          </a:p>
        </p:txBody>
      </p:sp>
      <p:sp>
        <p:nvSpPr>
          <p:cNvPr id="429" name="Google Shape;429;p50"/>
          <p:cNvSpPr txBox="1"/>
          <p:nvPr>
            <p:ph idx="1" type="body"/>
          </p:nvPr>
        </p:nvSpPr>
        <p:spPr>
          <a:xfrm>
            <a:off x="243000" y="556500"/>
            <a:ext cx="7342500" cy="20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Every variable in Java has a “compile-time type”, a.k.a. “static type”.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This is the type specified at </a:t>
            </a:r>
            <a:r>
              <a:rPr b="1" lang="en"/>
              <a:t>declaration</a:t>
            </a:r>
            <a:r>
              <a:rPr lang="en"/>
              <a:t>. Never changes!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Variables also have a “run-time type”, a.k.a. “dynamic type”.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This is the type specified at </a:t>
            </a:r>
            <a:r>
              <a:rPr b="1" lang="en"/>
              <a:t>instantiation</a:t>
            </a:r>
            <a:r>
              <a:rPr lang="en"/>
              <a:t> (e.g. when using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/>
              <a:t>).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Equal to the type of the object being pointed at.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50"/>
          <p:cNvSpPr txBox="1"/>
          <p:nvPr/>
        </p:nvSpPr>
        <p:spPr>
          <a:xfrm>
            <a:off x="58475" y="2815850"/>
            <a:ext cx="5580300" cy="2167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static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main(String[] args)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LivingThing lt1;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lt1 = 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Fox();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Animal a1 = lt1;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Fox h1 = new Fox();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lt1 = 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Squid();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900">
              <a:solidFill>
                <a:srgbClr val="9C20EE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9C20EE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31" name="Google Shape;431;p50"/>
          <p:cNvCxnSpPr/>
          <p:nvPr/>
        </p:nvCxnSpPr>
        <p:spPr>
          <a:xfrm flipH="1" rot="10800000">
            <a:off x="5911475" y="3157006"/>
            <a:ext cx="3123900" cy="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2" name="Google Shape;432;p50"/>
          <p:cNvCxnSpPr/>
          <p:nvPr/>
        </p:nvCxnSpPr>
        <p:spPr>
          <a:xfrm>
            <a:off x="6657700" y="2996831"/>
            <a:ext cx="0" cy="174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3" name="Google Shape;433;p50"/>
          <p:cNvCxnSpPr/>
          <p:nvPr/>
        </p:nvCxnSpPr>
        <p:spPr>
          <a:xfrm>
            <a:off x="7922875" y="3030281"/>
            <a:ext cx="0" cy="175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4" name="Google Shape;434;p50"/>
          <p:cNvSpPr txBox="1"/>
          <p:nvPr/>
        </p:nvSpPr>
        <p:spPr>
          <a:xfrm>
            <a:off x="6677963" y="3278656"/>
            <a:ext cx="14076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LivingThing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5" name="Google Shape;435;p50"/>
          <p:cNvSpPr/>
          <p:nvPr/>
        </p:nvSpPr>
        <p:spPr>
          <a:xfrm>
            <a:off x="6021227" y="3214756"/>
            <a:ext cx="521100" cy="4488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50"/>
          <p:cNvSpPr txBox="1"/>
          <p:nvPr/>
        </p:nvSpPr>
        <p:spPr>
          <a:xfrm>
            <a:off x="7935602" y="3278656"/>
            <a:ext cx="7716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Fox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7" name="Google Shape;437;p50"/>
          <p:cNvSpPr txBox="1"/>
          <p:nvPr/>
        </p:nvSpPr>
        <p:spPr>
          <a:xfrm>
            <a:off x="6775200" y="2845306"/>
            <a:ext cx="15351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Static Type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50"/>
          <p:cNvSpPr txBox="1"/>
          <p:nvPr/>
        </p:nvSpPr>
        <p:spPr>
          <a:xfrm>
            <a:off x="7860025" y="2845306"/>
            <a:ext cx="12126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Dynamic Type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9" name="Google Shape;439;p50"/>
          <p:cNvCxnSpPr/>
          <p:nvPr/>
        </p:nvCxnSpPr>
        <p:spPr>
          <a:xfrm>
            <a:off x="268600" y="4210518"/>
            <a:ext cx="203100" cy="0"/>
          </a:xfrm>
          <a:prstGeom prst="straightConnector1">
            <a:avLst/>
          </a:prstGeom>
          <a:noFill/>
          <a:ln cap="flat" cmpd="sng" w="9525">
            <a:solidFill>
              <a:srgbClr val="AC202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0" name="Google Shape;440;p50"/>
          <p:cNvSpPr txBox="1"/>
          <p:nvPr/>
        </p:nvSpPr>
        <p:spPr>
          <a:xfrm>
            <a:off x="5580880" y="3244775"/>
            <a:ext cx="5211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lt1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1" name="Google Shape;441;p50"/>
          <p:cNvSpPr txBox="1"/>
          <p:nvPr/>
        </p:nvSpPr>
        <p:spPr>
          <a:xfrm>
            <a:off x="6677963" y="3792313"/>
            <a:ext cx="7716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Animal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2" name="Google Shape;442;p50"/>
          <p:cNvSpPr txBox="1"/>
          <p:nvPr/>
        </p:nvSpPr>
        <p:spPr>
          <a:xfrm>
            <a:off x="7935602" y="3792313"/>
            <a:ext cx="7716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Fox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3" name="Google Shape;443;p50"/>
          <p:cNvSpPr txBox="1"/>
          <p:nvPr/>
        </p:nvSpPr>
        <p:spPr>
          <a:xfrm>
            <a:off x="6677963" y="4305970"/>
            <a:ext cx="7716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Fox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4" name="Google Shape;444;p50"/>
          <p:cNvSpPr/>
          <p:nvPr/>
        </p:nvSpPr>
        <p:spPr>
          <a:xfrm>
            <a:off x="6021227" y="3728413"/>
            <a:ext cx="521100" cy="4488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50"/>
          <p:cNvSpPr/>
          <p:nvPr/>
        </p:nvSpPr>
        <p:spPr>
          <a:xfrm>
            <a:off x="6021227" y="4242070"/>
            <a:ext cx="521100" cy="4488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50"/>
          <p:cNvSpPr txBox="1"/>
          <p:nvPr/>
        </p:nvSpPr>
        <p:spPr>
          <a:xfrm>
            <a:off x="7935602" y="4305970"/>
            <a:ext cx="7716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Fox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7" name="Google Shape;447;p50"/>
          <p:cNvSpPr txBox="1"/>
          <p:nvPr/>
        </p:nvSpPr>
        <p:spPr>
          <a:xfrm>
            <a:off x="5626630" y="3743075"/>
            <a:ext cx="4296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a1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8" name="Google Shape;448;p50"/>
          <p:cNvSpPr txBox="1"/>
          <p:nvPr/>
        </p:nvSpPr>
        <p:spPr>
          <a:xfrm>
            <a:off x="5626630" y="4287082"/>
            <a:ext cx="4296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h1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49" name="Google Shape;449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2889" y="3530705"/>
            <a:ext cx="429625" cy="429625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50"/>
          <p:cNvSpPr/>
          <p:nvPr/>
        </p:nvSpPr>
        <p:spPr>
          <a:xfrm>
            <a:off x="6125925" y="3306200"/>
            <a:ext cx="2598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FE2F3"/>
              </a:solidFill>
            </a:endParaRPr>
          </a:p>
        </p:txBody>
      </p:sp>
      <p:cxnSp>
        <p:nvCxnSpPr>
          <p:cNvPr id="451" name="Google Shape;451;p50"/>
          <p:cNvCxnSpPr>
            <a:stCxn id="450" idx="2"/>
            <a:endCxn id="449" idx="3"/>
          </p:cNvCxnSpPr>
          <p:nvPr/>
        </p:nvCxnSpPr>
        <p:spPr>
          <a:xfrm rot="5400000">
            <a:off x="5682525" y="3172100"/>
            <a:ext cx="283200" cy="8634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52" name="Google Shape;452;p50"/>
          <p:cNvSpPr/>
          <p:nvPr/>
        </p:nvSpPr>
        <p:spPr>
          <a:xfrm>
            <a:off x="6151875" y="3874825"/>
            <a:ext cx="2598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FE2F3"/>
              </a:solidFill>
            </a:endParaRPr>
          </a:p>
        </p:txBody>
      </p:sp>
      <p:cxnSp>
        <p:nvCxnSpPr>
          <p:cNvPr id="453" name="Google Shape;453;p50"/>
          <p:cNvCxnSpPr>
            <a:stCxn id="452" idx="2"/>
            <a:endCxn id="449" idx="2"/>
          </p:cNvCxnSpPr>
          <p:nvPr/>
        </p:nvCxnSpPr>
        <p:spPr>
          <a:xfrm flipH="1" rot="5400000">
            <a:off x="5694525" y="3443575"/>
            <a:ext cx="70500" cy="1104000"/>
          </a:xfrm>
          <a:prstGeom prst="curvedConnector3">
            <a:avLst>
              <a:gd fmla="val -337766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54" name="Google Shape;454;p50"/>
          <p:cNvSpPr/>
          <p:nvPr/>
        </p:nvSpPr>
        <p:spPr>
          <a:xfrm>
            <a:off x="6135575" y="4386525"/>
            <a:ext cx="2598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FE2F3"/>
              </a:solidFill>
            </a:endParaRPr>
          </a:p>
        </p:txBody>
      </p:sp>
      <p:cxnSp>
        <p:nvCxnSpPr>
          <p:cNvPr id="455" name="Google Shape;455;p50"/>
          <p:cNvCxnSpPr>
            <a:stCxn id="454" idx="2"/>
            <a:endCxn id="456" idx="3"/>
          </p:cNvCxnSpPr>
          <p:nvPr/>
        </p:nvCxnSpPr>
        <p:spPr>
          <a:xfrm flipH="1" rot="5400000">
            <a:off x="5183975" y="3461025"/>
            <a:ext cx="214500" cy="1948500"/>
          </a:xfrm>
          <a:prstGeom prst="curvedConnector4">
            <a:avLst>
              <a:gd fmla="val -111014" name="adj1"/>
              <a:gd fmla="val 5333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57" name="Google Shape;457;p50"/>
          <p:cNvSpPr txBox="1"/>
          <p:nvPr/>
        </p:nvSpPr>
        <p:spPr>
          <a:xfrm>
            <a:off x="5954894" y="3139889"/>
            <a:ext cx="8229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Consolas"/>
                <a:ea typeface="Consolas"/>
                <a:cs typeface="Consolas"/>
                <a:sym typeface="Consolas"/>
              </a:rPr>
              <a:t>LivingThing</a:t>
            </a:r>
            <a:endParaRPr sz="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8" name="Google Shape;458;p50"/>
          <p:cNvSpPr txBox="1"/>
          <p:nvPr/>
        </p:nvSpPr>
        <p:spPr>
          <a:xfrm>
            <a:off x="5965608" y="3653395"/>
            <a:ext cx="5211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Consolas"/>
                <a:ea typeface="Consolas"/>
                <a:cs typeface="Consolas"/>
                <a:sym typeface="Consolas"/>
              </a:rPr>
              <a:t>Animal</a:t>
            </a:r>
            <a:endParaRPr sz="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9" name="Google Shape;459;p50"/>
          <p:cNvSpPr txBox="1"/>
          <p:nvPr/>
        </p:nvSpPr>
        <p:spPr>
          <a:xfrm>
            <a:off x="5960875" y="4172677"/>
            <a:ext cx="5211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Consolas"/>
                <a:ea typeface="Consolas"/>
                <a:cs typeface="Consolas"/>
                <a:sym typeface="Consolas"/>
              </a:rPr>
              <a:t>Fox</a:t>
            </a:r>
            <a:endParaRPr sz="6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56" name="Google Shape;456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7464" y="4113330"/>
            <a:ext cx="429625" cy="42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51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Static Type vs. Dynamic Type</a:t>
            </a:r>
            <a:endParaRPr/>
          </a:p>
        </p:txBody>
      </p:sp>
      <p:sp>
        <p:nvSpPr>
          <p:cNvPr id="465" name="Google Shape;465;p51"/>
          <p:cNvSpPr txBox="1"/>
          <p:nvPr>
            <p:ph idx="1" type="body"/>
          </p:nvPr>
        </p:nvSpPr>
        <p:spPr>
          <a:xfrm>
            <a:off x="243000" y="556500"/>
            <a:ext cx="7342500" cy="20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Every variable in Java has a “compile-time type”, a.k.a. “static type”.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This is the type specified at </a:t>
            </a:r>
            <a:r>
              <a:rPr b="1" lang="en"/>
              <a:t>declaration</a:t>
            </a:r>
            <a:r>
              <a:rPr lang="en"/>
              <a:t>. Never changes!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Variables also have a “run-time type”, a.k.a. “dynamic type”.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This is the type specified at </a:t>
            </a:r>
            <a:r>
              <a:rPr b="1" lang="en"/>
              <a:t>instantiation</a:t>
            </a:r>
            <a:r>
              <a:rPr lang="en"/>
              <a:t> (e.g. when using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/>
              <a:t>).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Equal to the type of the object being pointed at.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51"/>
          <p:cNvSpPr txBox="1"/>
          <p:nvPr/>
        </p:nvSpPr>
        <p:spPr>
          <a:xfrm>
            <a:off x="58475" y="2815850"/>
            <a:ext cx="5580300" cy="2167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static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main(String[] args)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LivingThing lt1;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lt1 = 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Fox();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Animal a1 = lt1;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Fox h1 = 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 Fox();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lt1 = 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Squid();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900">
              <a:solidFill>
                <a:srgbClr val="9C20EE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9C20EE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67" name="Google Shape;467;p51"/>
          <p:cNvCxnSpPr/>
          <p:nvPr/>
        </p:nvCxnSpPr>
        <p:spPr>
          <a:xfrm>
            <a:off x="5894475" y="3157000"/>
            <a:ext cx="3141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8" name="Google Shape;468;p51"/>
          <p:cNvCxnSpPr/>
          <p:nvPr/>
        </p:nvCxnSpPr>
        <p:spPr>
          <a:xfrm>
            <a:off x="6657700" y="2996831"/>
            <a:ext cx="0" cy="174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9" name="Google Shape;469;p51"/>
          <p:cNvCxnSpPr/>
          <p:nvPr/>
        </p:nvCxnSpPr>
        <p:spPr>
          <a:xfrm>
            <a:off x="7922875" y="3030281"/>
            <a:ext cx="0" cy="175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0" name="Google Shape;470;p51"/>
          <p:cNvSpPr txBox="1"/>
          <p:nvPr/>
        </p:nvSpPr>
        <p:spPr>
          <a:xfrm>
            <a:off x="6677963" y="3278656"/>
            <a:ext cx="14076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LivingThing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71" name="Google Shape;471;p51"/>
          <p:cNvSpPr/>
          <p:nvPr/>
        </p:nvSpPr>
        <p:spPr>
          <a:xfrm>
            <a:off x="6021227" y="3214756"/>
            <a:ext cx="521100" cy="4488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51"/>
          <p:cNvSpPr txBox="1"/>
          <p:nvPr/>
        </p:nvSpPr>
        <p:spPr>
          <a:xfrm>
            <a:off x="7935602" y="3278656"/>
            <a:ext cx="7716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Squid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73" name="Google Shape;473;p51"/>
          <p:cNvSpPr txBox="1"/>
          <p:nvPr/>
        </p:nvSpPr>
        <p:spPr>
          <a:xfrm>
            <a:off x="6775200" y="2845306"/>
            <a:ext cx="15351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Static Type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51"/>
          <p:cNvSpPr txBox="1"/>
          <p:nvPr/>
        </p:nvSpPr>
        <p:spPr>
          <a:xfrm>
            <a:off x="7860025" y="2845306"/>
            <a:ext cx="12126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Dynamic Type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5" name="Google Shape;475;p51"/>
          <p:cNvCxnSpPr/>
          <p:nvPr/>
        </p:nvCxnSpPr>
        <p:spPr>
          <a:xfrm>
            <a:off x="268600" y="4505871"/>
            <a:ext cx="203100" cy="0"/>
          </a:xfrm>
          <a:prstGeom prst="straightConnector1">
            <a:avLst/>
          </a:prstGeom>
          <a:noFill/>
          <a:ln cap="flat" cmpd="sng" w="9525">
            <a:solidFill>
              <a:srgbClr val="AC202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6" name="Google Shape;476;p51"/>
          <p:cNvSpPr txBox="1"/>
          <p:nvPr/>
        </p:nvSpPr>
        <p:spPr>
          <a:xfrm>
            <a:off x="5580880" y="3244775"/>
            <a:ext cx="5211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lt1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77" name="Google Shape;477;p51"/>
          <p:cNvSpPr txBox="1"/>
          <p:nvPr/>
        </p:nvSpPr>
        <p:spPr>
          <a:xfrm>
            <a:off x="6677963" y="3792313"/>
            <a:ext cx="7716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Animal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78" name="Google Shape;478;p51"/>
          <p:cNvSpPr txBox="1"/>
          <p:nvPr/>
        </p:nvSpPr>
        <p:spPr>
          <a:xfrm>
            <a:off x="7935602" y="3792313"/>
            <a:ext cx="7716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Fox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79" name="Google Shape;479;p51"/>
          <p:cNvSpPr txBox="1"/>
          <p:nvPr/>
        </p:nvSpPr>
        <p:spPr>
          <a:xfrm>
            <a:off x="6677963" y="4305970"/>
            <a:ext cx="7716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Fox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0" name="Google Shape;480;p51"/>
          <p:cNvSpPr/>
          <p:nvPr/>
        </p:nvSpPr>
        <p:spPr>
          <a:xfrm>
            <a:off x="6021227" y="3728413"/>
            <a:ext cx="521100" cy="4488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51"/>
          <p:cNvSpPr/>
          <p:nvPr/>
        </p:nvSpPr>
        <p:spPr>
          <a:xfrm>
            <a:off x="6021227" y="4242070"/>
            <a:ext cx="521100" cy="4488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51"/>
          <p:cNvSpPr txBox="1"/>
          <p:nvPr/>
        </p:nvSpPr>
        <p:spPr>
          <a:xfrm>
            <a:off x="7935602" y="4305970"/>
            <a:ext cx="7716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Fox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3" name="Google Shape;483;p51"/>
          <p:cNvSpPr txBox="1"/>
          <p:nvPr/>
        </p:nvSpPr>
        <p:spPr>
          <a:xfrm>
            <a:off x="5626630" y="3743075"/>
            <a:ext cx="4296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a1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4" name="Google Shape;484;p51"/>
          <p:cNvSpPr txBox="1"/>
          <p:nvPr/>
        </p:nvSpPr>
        <p:spPr>
          <a:xfrm>
            <a:off x="5626630" y="4287082"/>
            <a:ext cx="4296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h1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85" name="Google Shape;485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2889" y="3530705"/>
            <a:ext cx="429625" cy="429625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51"/>
          <p:cNvSpPr/>
          <p:nvPr/>
        </p:nvSpPr>
        <p:spPr>
          <a:xfrm>
            <a:off x="6050988" y="3419350"/>
            <a:ext cx="2598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FE2F3"/>
              </a:solidFill>
            </a:endParaRPr>
          </a:p>
        </p:txBody>
      </p:sp>
      <p:sp>
        <p:nvSpPr>
          <p:cNvPr id="487" name="Google Shape;487;p51"/>
          <p:cNvSpPr/>
          <p:nvPr/>
        </p:nvSpPr>
        <p:spPr>
          <a:xfrm>
            <a:off x="6151875" y="3874825"/>
            <a:ext cx="2598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FE2F3"/>
              </a:solidFill>
            </a:endParaRPr>
          </a:p>
        </p:txBody>
      </p:sp>
      <p:cxnSp>
        <p:nvCxnSpPr>
          <p:cNvPr id="488" name="Google Shape;488;p51"/>
          <p:cNvCxnSpPr>
            <a:stCxn id="487" idx="2"/>
            <a:endCxn id="485" idx="2"/>
          </p:cNvCxnSpPr>
          <p:nvPr/>
        </p:nvCxnSpPr>
        <p:spPr>
          <a:xfrm flipH="1" rot="5400000">
            <a:off x="5694525" y="3443575"/>
            <a:ext cx="70500" cy="1104000"/>
          </a:xfrm>
          <a:prstGeom prst="curvedConnector3">
            <a:avLst>
              <a:gd fmla="val -337766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89" name="Google Shape;489;p51"/>
          <p:cNvSpPr/>
          <p:nvPr/>
        </p:nvSpPr>
        <p:spPr>
          <a:xfrm>
            <a:off x="6135575" y="4386525"/>
            <a:ext cx="2598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FE2F3"/>
              </a:solidFill>
            </a:endParaRPr>
          </a:p>
        </p:txBody>
      </p:sp>
      <p:pic>
        <p:nvPicPr>
          <p:cNvPr id="490" name="Google Shape;490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946053">
            <a:off x="3176983" y="3282965"/>
            <a:ext cx="372834" cy="6624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91" name="Google Shape;491;p51"/>
          <p:cNvCxnSpPr>
            <a:stCxn id="486" idx="0"/>
            <a:endCxn id="490" idx="2"/>
          </p:cNvCxnSpPr>
          <p:nvPr/>
        </p:nvCxnSpPr>
        <p:spPr>
          <a:xfrm rot="5400000">
            <a:off x="4560288" y="2312350"/>
            <a:ext cx="513600" cy="2727600"/>
          </a:xfrm>
          <a:prstGeom prst="curvedConnector5">
            <a:avLst>
              <a:gd fmla="val -24791" name="adj1"/>
              <a:gd fmla="val 71280" name="adj2"/>
              <a:gd fmla="val 87403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2" name="Google Shape;492;p51"/>
          <p:cNvSpPr txBox="1"/>
          <p:nvPr/>
        </p:nvSpPr>
        <p:spPr>
          <a:xfrm>
            <a:off x="5954894" y="3139889"/>
            <a:ext cx="8229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Consolas"/>
                <a:ea typeface="Consolas"/>
                <a:cs typeface="Consolas"/>
                <a:sym typeface="Consolas"/>
              </a:rPr>
              <a:t>LivingThing</a:t>
            </a:r>
            <a:endParaRPr sz="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3" name="Google Shape;493;p51"/>
          <p:cNvSpPr txBox="1"/>
          <p:nvPr/>
        </p:nvSpPr>
        <p:spPr>
          <a:xfrm>
            <a:off x="5965608" y="3653395"/>
            <a:ext cx="5211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Consolas"/>
                <a:ea typeface="Consolas"/>
                <a:cs typeface="Consolas"/>
                <a:sym typeface="Consolas"/>
              </a:rPr>
              <a:t>Animal</a:t>
            </a:r>
            <a:endParaRPr sz="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4" name="Google Shape;494;p51"/>
          <p:cNvSpPr txBox="1"/>
          <p:nvPr/>
        </p:nvSpPr>
        <p:spPr>
          <a:xfrm>
            <a:off x="5960875" y="4172677"/>
            <a:ext cx="5211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Consolas"/>
                <a:ea typeface="Consolas"/>
                <a:cs typeface="Consolas"/>
                <a:sym typeface="Consolas"/>
              </a:rPr>
              <a:t>Fox</a:t>
            </a:r>
            <a:endParaRPr sz="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95" name="Google Shape;495;p51"/>
          <p:cNvCxnSpPr>
            <a:stCxn id="489" idx="2"/>
            <a:endCxn id="496" idx="3"/>
          </p:cNvCxnSpPr>
          <p:nvPr/>
        </p:nvCxnSpPr>
        <p:spPr>
          <a:xfrm flipH="1" rot="5400000">
            <a:off x="5183975" y="3461025"/>
            <a:ext cx="214500" cy="1948500"/>
          </a:xfrm>
          <a:prstGeom prst="curvedConnector4">
            <a:avLst>
              <a:gd fmla="val -111014" name="adj1"/>
              <a:gd fmla="val 5333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496" name="Google Shape;496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7464" y="4113330"/>
            <a:ext cx="429625" cy="42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52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Dynamic Method Selection For Overridden Methods</a:t>
            </a:r>
            <a:endParaRPr/>
          </a:p>
        </p:txBody>
      </p:sp>
      <p:sp>
        <p:nvSpPr>
          <p:cNvPr id="502" name="Google Shape;502;p52"/>
          <p:cNvSpPr txBox="1"/>
          <p:nvPr>
            <p:ph idx="1" type="body"/>
          </p:nvPr>
        </p:nvSpPr>
        <p:spPr>
          <a:xfrm>
            <a:off x="243000" y="556500"/>
            <a:ext cx="8443800" cy="41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Suppose we call a method of an object using a variable with: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compile-time type X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run-time type Y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Then if Y </a:t>
            </a:r>
            <a:r>
              <a:rPr b="1" lang="en"/>
              <a:t>overrides</a:t>
            </a:r>
            <a:r>
              <a:rPr lang="en"/>
              <a:t> the method, Y’s method is used instead.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This is known as “dynamic method selection”.</a:t>
            </a:r>
            <a:endParaRPr/>
          </a:p>
        </p:txBody>
      </p:sp>
      <p:sp>
        <p:nvSpPr>
          <p:cNvPr id="503" name="Google Shape;503;p52"/>
          <p:cNvSpPr txBox="1"/>
          <p:nvPr/>
        </p:nvSpPr>
        <p:spPr>
          <a:xfrm>
            <a:off x="134675" y="2815850"/>
            <a:ext cx="6128100" cy="2232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static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main(String[] args)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List61B&lt;String&gt; s1= 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SLList&lt;String&gt;();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someList.addLast(</a:t>
            </a:r>
            <a:r>
              <a:rPr lang="en" sz="1900">
                <a:solidFill>
                  <a:srgbClr val="BD8D8B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"elk"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someList.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addLast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900">
                <a:solidFill>
                  <a:srgbClr val="BD8D8B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"are"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someList.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addLast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900">
                <a:solidFill>
                  <a:srgbClr val="BD8D8B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"watching"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someList.print();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EFEFEF"/>
              </a:highlight>
            </a:endParaRPr>
          </a:p>
        </p:txBody>
      </p:sp>
      <p:cxnSp>
        <p:nvCxnSpPr>
          <p:cNvPr id="504" name="Google Shape;504;p52"/>
          <p:cNvCxnSpPr/>
          <p:nvPr/>
        </p:nvCxnSpPr>
        <p:spPr>
          <a:xfrm flipH="1">
            <a:off x="5587575" y="2427700"/>
            <a:ext cx="1246800" cy="127500"/>
          </a:xfrm>
          <a:prstGeom prst="straightConnector1">
            <a:avLst/>
          </a:prstGeom>
          <a:noFill/>
          <a:ln cap="flat" cmpd="sng" w="9525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05" name="Google Shape;505;p52"/>
          <p:cNvSpPr txBox="1"/>
          <p:nvPr/>
        </p:nvSpPr>
        <p:spPr>
          <a:xfrm>
            <a:off x="6787200" y="2158450"/>
            <a:ext cx="23568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This term is a </a:t>
            </a:r>
            <a:r>
              <a:rPr lang="en">
                <a:solidFill>
                  <a:srgbClr val="BE0712"/>
                </a:solidFill>
              </a:rPr>
              <a:t>b</a:t>
            </a:r>
            <a:r>
              <a:rPr lang="en">
                <a:solidFill>
                  <a:srgbClr val="BE0712"/>
                </a:solidFill>
              </a:rPr>
              <a:t>it obscure.</a:t>
            </a:r>
            <a:endParaRPr>
              <a:solidFill>
                <a:srgbClr val="BE0712"/>
              </a:solidFill>
            </a:endParaRPr>
          </a:p>
        </p:txBody>
      </p:sp>
      <p:sp>
        <p:nvSpPr>
          <p:cNvPr id="506" name="Google Shape;506;p52"/>
          <p:cNvSpPr/>
          <p:nvPr/>
        </p:nvSpPr>
        <p:spPr>
          <a:xfrm>
            <a:off x="6329102" y="3732706"/>
            <a:ext cx="521100" cy="4488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52"/>
          <p:cNvSpPr txBox="1"/>
          <p:nvPr/>
        </p:nvSpPr>
        <p:spPr>
          <a:xfrm>
            <a:off x="6262769" y="3657839"/>
            <a:ext cx="8229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Consolas"/>
                <a:ea typeface="Consolas"/>
                <a:cs typeface="Consolas"/>
                <a:sym typeface="Consolas"/>
              </a:rPr>
              <a:t>List61B</a:t>
            </a:r>
            <a:endParaRPr sz="6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08" name="Google Shape;508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34375" y="2942936"/>
            <a:ext cx="2060586" cy="464150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52"/>
          <p:cNvSpPr/>
          <p:nvPr/>
        </p:nvSpPr>
        <p:spPr>
          <a:xfrm>
            <a:off x="6598863" y="3854300"/>
            <a:ext cx="2598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FE2F3"/>
              </a:solidFill>
            </a:endParaRPr>
          </a:p>
        </p:txBody>
      </p:sp>
      <p:cxnSp>
        <p:nvCxnSpPr>
          <p:cNvPr id="510" name="Google Shape;510;p52"/>
          <p:cNvCxnSpPr>
            <a:stCxn id="509" idx="3"/>
            <a:endCxn id="508" idx="1"/>
          </p:cNvCxnSpPr>
          <p:nvPr/>
        </p:nvCxnSpPr>
        <p:spPr>
          <a:xfrm rot="10800000">
            <a:off x="6834363" y="3175100"/>
            <a:ext cx="24300" cy="757200"/>
          </a:xfrm>
          <a:prstGeom prst="curvedConnector5">
            <a:avLst>
              <a:gd fmla="val -979938" name="adj1"/>
              <a:gd fmla="val 39832" name="adj2"/>
              <a:gd fmla="val 1079887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11" name="Google Shape;511;p52"/>
          <p:cNvSpPr txBox="1"/>
          <p:nvPr/>
        </p:nvSpPr>
        <p:spPr>
          <a:xfrm>
            <a:off x="6282918" y="4310231"/>
            <a:ext cx="14076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List61B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12" name="Google Shape;512;p52"/>
          <p:cNvSpPr txBox="1"/>
          <p:nvPr/>
        </p:nvSpPr>
        <p:spPr>
          <a:xfrm>
            <a:off x="7519554" y="4305507"/>
            <a:ext cx="7716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SLList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13" name="Google Shape;513;p52"/>
          <p:cNvSpPr txBox="1"/>
          <p:nvPr/>
        </p:nvSpPr>
        <p:spPr>
          <a:xfrm>
            <a:off x="6231631" y="4084706"/>
            <a:ext cx="15351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Static Type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52"/>
          <p:cNvSpPr txBox="1"/>
          <p:nvPr/>
        </p:nvSpPr>
        <p:spPr>
          <a:xfrm>
            <a:off x="7316456" y="4084706"/>
            <a:ext cx="12126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Dynamic Type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53"/>
          <p:cNvSpPr txBox="1"/>
          <p:nvPr>
            <p:ph type="title"/>
          </p:nvPr>
        </p:nvSpPr>
        <p:spPr>
          <a:xfrm>
            <a:off x="928950" y="1457700"/>
            <a:ext cx="7286100" cy="222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More Dynamic Method Selection, Overloading vs. Overriding</a:t>
            </a:r>
            <a:endParaRPr sz="48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54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Dynamic Method Selection Puzzle</a:t>
            </a:r>
            <a:endParaRPr/>
          </a:p>
        </p:txBody>
      </p:sp>
      <p:sp>
        <p:nvSpPr>
          <p:cNvPr id="525" name="Google Shape;525;p54"/>
          <p:cNvSpPr txBox="1"/>
          <p:nvPr>
            <p:ph idx="1" type="body"/>
          </p:nvPr>
        </p:nvSpPr>
        <p:spPr>
          <a:xfrm>
            <a:off x="243000" y="556500"/>
            <a:ext cx="844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Suppose we have classes defined below. Try to predict the results.</a:t>
            </a:r>
            <a:endParaRPr/>
          </a:p>
        </p:txBody>
      </p:sp>
      <p:sp>
        <p:nvSpPr>
          <p:cNvPr id="526" name="Google Shape;526;p54"/>
          <p:cNvSpPr txBox="1"/>
          <p:nvPr/>
        </p:nvSpPr>
        <p:spPr>
          <a:xfrm>
            <a:off x="162000" y="1144150"/>
            <a:ext cx="4990200" cy="26490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interface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Animal {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default 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greet(Animal a) {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print(</a:t>
            </a:r>
            <a:r>
              <a:rPr lang="en" sz="1800">
                <a:solidFill>
                  <a:srgbClr val="BD8D8B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"hello animal"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); }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default 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sniff(Animal a) {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print(</a:t>
            </a:r>
            <a:r>
              <a:rPr lang="en" sz="1800">
                <a:solidFill>
                  <a:srgbClr val="BD8D8B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"sniff animal"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); }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default 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flatter(Animal a) {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print(</a:t>
            </a:r>
            <a:r>
              <a:rPr lang="en" sz="1800">
                <a:solidFill>
                  <a:srgbClr val="BD8D8B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"u r cool animal"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); }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highlight>
                <a:srgbClr val="EFEFEF"/>
              </a:highlight>
            </a:endParaRPr>
          </a:p>
        </p:txBody>
      </p:sp>
      <p:sp>
        <p:nvSpPr>
          <p:cNvPr id="527" name="Google Shape;527;p54"/>
          <p:cNvSpPr txBox="1"/>
          <p:nvPr/>
        </p:nvSpPr>
        <p:spPr>
          <a:xfrm>
            <a:off x="4359775" y="1692636"/>
            <a:ext cx="4724400" cy="2025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class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Dog 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implements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Animal {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sniff(Animal a) {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print(</a:t>
            </a:r>
            <a:r>
              <a:rPr lang="en" sz="1800">
                <a:solidFill>
                  <a:srgbClr val="BD8D8B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"dog sniff animal"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); }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flatter(Dog a) {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print(</a:t>
            </a:r>
            <a:r>
              <a:rPr lang="en" sz="1800">
                <a:solidFill>
                  <a:srgbClr val="BD8D8B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"u r cool dog"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); }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highlight>
                <a:srgbClr val="EFEFEF"/>
              </a:highlight>
            </a:endParaRPr>
          </a:p>
        </p:txBody>
      </p:sp>
      <p:sp>
        <p:nvSpPr>
          <p:cNvPr id="528" name="Google Shape;528;p54"/>
          <p:cNvSpPr txBox="1"/>
          <p:nvPr/>
        </p:nvSpPr>
        <p:spPr>
          <a:xfrm>
            <a:off x="2309825" y="3231925"/>
            <a:ext cx="4809300" cy="18627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Animal a = 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Dog();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Dog d = 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Dog();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a.greet(d);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a.sniff(d);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d.flatter(d);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a.flatter(d);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55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Dynamic Method Selection Puzzle</a:t>
            </a:r>
            <a:endParaRPr/>
          </a:p>
        </p:txBody>
      </p:sp>
      <p:sp>
        <p:nvSpPr>
          <p:cNvPr id="534" name="Google Shape;534;p55"/>
          <p:cNvSpPr txBox="1"/>
          <p:nvPr>
            <p:ph idx="1" type="body"/>
          </p:nvPr>
        </p:nvSpPr>
        <p:spPr>
          <a:xfrm>
            <a:off x="243000" y="556500"/>
            <a:ext cx="844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Suppose we have classes defined below. Try to predict the results.</a:t>
            </a:r>
            <a:endParaRPr/>
          </a:p>
        </p:txBody>
      </p:sp>
      <p:sp>
        <p:nvSpPr>
          <p:cNvPr id="535" name="Google Shape;535;p55"/>
          <p:cNvSpPr txBox="1"/>
          <p:nvPr/>
        </p:nvSpPr>
        <p:spPr>
          <a:xfrm>
            <a:off x="162000" y="1144150"/>
            <a:ext cx="4990200" cy="26490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interface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Animal {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default </a:t>
            </a:r>
            <a:r>
              <a:rPr b="1"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1"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greet(Animal a) {</a:t>
            </a:r>
            <a:endParaRPr b="1"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print(</a:t>
            </a:r>
            <a:r>
              <a:rPr b="1" lang="en" sz="1800">
                <a:solidFill>
                  <a:srgbClr val="BD8D8B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"hello animal"</a:t>
            </a:r>
            <a:r>
              <a:rPr b="1"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); }</a:t>
            </a:r>
            <a:endParaRPr b="1"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default 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sniff(Animal a) {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print(</a:t>
            </a:r>
            <a:r>
              <a:rPr lang="en" sz="1800">
                <a:solidFill>
                  <a:srgbClr val="BD8D8B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"sniff animal"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); }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default 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flatter(Animal a) {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print(</a:t>
            </a:r>
            <a:r>
              <a:rPr lang="en" sz="1800">
                <a:solidFill>
                  <a:srgbClr val="BD8D8B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"u r cool animal"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); }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highlight>
                <a:srgbClr val="EFEFEF"/>
              </a:highlight>
            </a:endParaRPr>
          </a:p>
        </p:txBody>
      </p:sp>
      <p:sp>
        <p:nvSpPr>
          <p:cNvPr id="536" name="Google Shape;536;p55"/>
          <p:cNvSpPr txBox="1"/>
          <p:nvPr/>
        </p:nvSpPr>
        <p:spPr>
          <a:xfrm>
            <a:off x="4359775" y="1692636"/>
            <a:ext cx="4724400" cy="2025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class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Dog 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implements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Animal {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sniff(Animal a) {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print(</a:t>
            </a:r>
            <a:r>
              <a:rPr lang="en" sz="1800">
                <a:solidFill>
                  <a:srgbClr val="BD8D8B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"dog sniff animal"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); }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flatter(Dog a) {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print(</a:t>
            </a:r>
            <a:r>
              <a:rPr lang="en" sz="1800">
                <a:solidFill>
                  <a:srgbClr val="BD8D8B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"u r cool dog"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); }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highlight>
                <a:srgbClr val="EFEFEF"/>
              </a:highlight>
            </a:endParaRPr>
          </a:p>
        </p:txBody>
      </p:sp>
      <p:sp>
        <p:nvSpPr>
          <p:cNvPr id="537" name="Google Shape;537;p55"/>
          <p:cNvSpPr txBox="1"/>
          <p:nvPr/>
        </p:nvSpPr>
        <p:spPr>
          <a:xfrm>
            <a:off x="2309825" y="3231925"/>
            <a:ext cx="4809300" cy="18627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Animal a = 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Dog();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Dog d = 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Dog();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a.greet(d);</a:t>
            </a:r>
            <a:r>
              <a:rPr b="1"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// "hello animal"</a:t>
            </a:r>
            <a:endParaRPr b="1"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a.sniff(d);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d.flatter(d);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a.flatter(d);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56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Dynamic Method Selection Puzzle</a:t>
            </a:r>
            <a:endParaRPr/>
          </a:p>
        </p:txBody>
      </p:sp>
      <p:sp>
        <p:nvSpPr>
          <p:cNvPr id="543" name="Google Shape;543;p56"/>
          <p:cNvSpPr txBox="1"/>
          <p:nvPr>
            <p:ph idx="1" type="body"/>
          </p:nvPr>
        </p:nvSpPr>
        <p:spPr>
          <a:xfrm>
            <a:off x="243000" y="556500"/>
            <a:ext cx="844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Suppose we have classes defined below. Try to predict the results.</a:t>
            </a:r>
            <a:endParaRPr/>
          </a:p>
        </p:txBody>
      </p:sp>
      <p:sp>
        <p:nvSpPr>
          <p:cNvPr id="544" name="Google Shape;544;p56"/>
          <p:cNvSpPr txBox="1"/>
          <p:nvPr/>
        </p:nvSpPr>
        <p:spPr>
          <a:xfrm>
            <a:off x="162000" y="1144150"/>
            <a:ext cx="4990200" cy="26490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interface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Animal {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default 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greet(Animal a) {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print(</a:t>
            </a:r>
            <a:r>
              <a:rPr lang="en" sz="1800">
                <a:solidFill>
                  <a:srgbClr val="BD8D8B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"hello animal"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); }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default 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sniff(Animal a) {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print(</a:t>
            </a:r>
            <a:r>
              <a:rPr lang="en" sz="1800">
                <a:solidFill>
                  <a:srgbClr val="BD8D8B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"sniff animal"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); }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default 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flatter(Animal a) {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print(</a:t>
            </a:r>
            <a:r>
              <a:rPr lang="en" sz="1800">
                <a:solidFill>
                  <a:srgbClr val="BD8D8B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"u r cool animal"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); }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highlight>
                <a:srgbClr val="EFEFEF"/>
              </a:highlight>
            </a:endParaRPr>
          </a:p>
        </p:txBody>
      </p:sp>
      <p:sp>
        <p:nvSpPr>
          <p:cNvPr id="545" name="Google Shape;545;p56"/>
          <p:cNvSpPr txBox="1"/>
          <p:nvPr/>
        </p:nvSpPr>
        <p:spPr>
          <a:xfrm>
            <a:off x="4359775" y="1692636"/>
            <a:ext cx="4724400" cy="2025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class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Dog 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implements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Animal {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1"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sniff(Animal a) {</a:t>
            </a:r>
            <a:endParaRPr b="1"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print(</a:t>
            </a:r>
            <a:r>
              <a:rPr b="1" lang="en" sz="1800">
                <a:solidFill>
                  <a:srgbClr val="BD8D8B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"dog sniff animal"</a:t>
            </a:r>
            <a:r>
              <a:rPr b="1"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); }</a:t>
            </a:r>
            <a:endParaRPr b="1"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flatter(Dog a) {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print(</a:t>
            </a:r>
            <a:r>
              <a:rPr lang="en" sz="1800">
                <a:solidFill>
                  <a:srgbClr val="BD8D8B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"u r cool dog"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); }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highlight>
                <a:srgbClr val="EFEFEF"/>
              </a:highlight>
            </a:endParaRPr>
          </a:p>
        </p:txBody>
      </p:sp>
      <p:sp>
        <p:nvSpPr>
          <p:cNvPr id="546" name="Google Shape;546;p56"/>
          <p:cNvSpPr txBox="1"/>
          <p:nvPr/>
        </p:nvSpPr>
        <p:spPr>
          <a:xfrm>
            <a:off x="2309825" y="3231925"/>
            <a:ext cx="4809300" cy="18627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Animal a = 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Dog();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Dog d = 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Dog();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a.greet(d);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// "hello animal"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a.sniff(d);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// </a:t>
            </a:r>
            <a:r>
              <a:rPr b="1"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b="1"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dog sniff animal</a:t>
            </a:r>
            <a:r>
              <a:rPr b="1"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endParaRPr b="1"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d.flatter(d);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a.flatter(d);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57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Dynamic Method Selection Puzzle</a:t>
            </a:r>
            <a:endParaRPr/>
          </a:p>
        </p:txBody>
      </p:sp>
      <p:sp>
        <p:nvSpPr>
          <p:cNvPr id="552" name="Google Shape;552;p57"/>
          <p:cNvSpPr txBox="1"/>
          <p:nvPr>
            <p:ph idx="1" type="body"/>
          </p:nvPr>
        </p:nvSpPr>
        <p:spPr>
          <a:xfrm>
            <a:off x="243000" y="556500"/>
            <a:ext cx="844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Suppose we have classes defined below. Try to predict the results.</a:t>
            </a:r>
            <a:endParaRPr/>
          </a:p>
        </p:txBody>
      </p:sp>
      <p:sp>
        <p:nvSpPr>
          <p:cNvPr id="553" name="Google Shape;553;p57"/>
          <p:cNvSpPr txBox="1"/>
          <p:nvPr/>
        </p:nvSpPr>
        <p:spPr>
          <a:xfrm>
            <a:off x="162000" y="1144150"/>
            <a:ext cx="4990200" cy="26490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interface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Animal {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default 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greet(Animal a) {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print(</a:t>
            </a:r>
            <a:r>
              <a:rPr lang="en" sz="1800">
                <a:solidFill>
                  <a:srgbClr val="BD8D8B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"hello animal"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); }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default 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sniff(Animal a) {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print(</a:t>
            </a:r>
            <a:r>
              <a:rPr lang="en" sz="1800">
                <a:solidFill>
                  <a:srgbClr val="BD8D8B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"sniff animal"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); }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default 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flatter(Animal a) {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print(</a:t>
            </a:r>
            <a:r>
              <a:rPr lang="en" sz="1800">
                <a:solidFill>
                  <a:srgbClr val="BD8D8B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"u r cool animal"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); }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highlight>
                <a:srgbClr val="EFEFEF"/>
              </a:highlight>
            </a:endParaRPr>
          </a:p>
        </p:txBody>
      </p:sp>
      <p:sp>
        <p:nvSpPr>
          <p:cNvPr id="554" name="Google Shape;554;p57"/>
          <p:cNvSpPr txBox="1"/>
          <p:nvPr/>
        </p:nvSpPr>
        <p:spPr>
          <a:xfrm>
            <a:off x="4359775" y="1692636"/>
            <a:ext cx="4724400" cy="2025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class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Dog 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implements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Animal {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sniff(Animal a) {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print(</a:t>
            </a:r>
            <a:r>
              <a:rPr lang="en" sz="1800">
                <a:solidFill>
                  <a:srgbClr val="BD8D8B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"dog sniff animal"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); }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1"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flatter(Dog a) {</a:t>
            </a:r>
            <a:endParaRPr b="1"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print(</a:t>
            </a:r>
            <a:r>
              <a:rPr b="1" lang="en" sz="1800">
                <a:solidFill>
                  <a:srgbClr val="BD8D8B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"u r cool dog"</a:t>
            </a:r>
            <a:r>
              <a:rPr b="1"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); }</a:t>
            </a:r>
            <a:endParaRPr b="1"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highlight>
                <a:srgbClr val="EFEFEF"/>
              </a:highlight>
            </a:endParaRPr>
          </a:p>
        </p:txBody>
      </p:sp>
      <p:sp>
        <p:nvSpPr>
          <p:cNvPr id="555" name="Google Shape;555;p57"/>
          <p:cNvSpPr txBox="1"/>
          <p:nvPr/>
        </p:nvSpPr>
        <p:spPr>
          <a:xfrm>
            <a:off x="2309825" y="3231925"/>
            <a:ext cx="4809300" cy="18627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Animal a = 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Dog();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Dog d = 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Dog();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a.greet(d);   // "hello animal"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a.sniff(d);   // "dog sniff animal"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d.flatter(d); // "u r cool dog"</a:t>
            </a:r>
            <a:endParaRPr b="1"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a.flatter(d);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58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Dynamic Method Selection Puzzle</a:t>
            </a:r>
            <a:endParaRPr/>
          </a:p>
        </p:txBody>
      </p:sp>
      <p:sp>
        <p:nvSpPr>
          <p:cNvPr id="561" name="Google Shape;561;p58"/>
          <p:cNvSpPr txBox="1"/>
          <p:nvPr>
            <p:ph idx="1" type="body"/>
          </p:nvPr>
        </p:nvSpPr>
        <p:spPr>
          <a:xfrm>
            <a:off x="243000" y="556500"/>
            <a:ext cx="844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Suppose we have classes defined below. Try to predict the results.</a:t>
            </a:r>
            <a:endParaRPr/>
          </a:p>
        </p:txBody>
      </p:sp>
      <p:sp>
        <p:nvSpPr>
          <p:cNvPr id="562" name="Google Shape;562;p58"/>
          <p:cNvSpPr txBox="1"/>
          <p:nvPr/>
        </p:nvSpPr>
        <p:spPr>
          <a:xfrm>
            <a:off x="162000" y="1144150"/>
            <a:ext cx="4990200" cy="26490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interface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Animal {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default 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greet(Animal a) {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print(</a:t>
            </a:r>
            <a:r>
              <a:rPr lang="en" sz="1800">
                <a:solidFill>
                  <a:srgbClr val="BD8D8B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"hello animal"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); }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default 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sniff(Animal a) {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print(</a:t>
            </a:r>
            <a:r>
              <a:rPr lang="en" sz="1800">
                <a:solidFill>
                  <a:srgbClr val="BD8D8B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"sniff animal"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); }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default </a:t>
            </a:r>
            <a:r>
              <a:rPr b="1"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1"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flatter(Animal a) {</a:t>
            </a:r>
            <a:endParaRPr b="1"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print(</a:t>
            </a:r>
            <a:r>
              <a:rPr b="1" lang="en" sz="1800">
                <a:solidFill>
                  <a:srgbClr val="BD8D8B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"u r cool animal"</a:t>
            </a:r>
            <a:r>
              <a:rPr b="1"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); }</a:t>
            </a:r>
            <a:endParaRPr b="1"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highlight>
                <a:srgbClr val="EFEFEF"/>
              </a:highlight>
            </a:endParaRPr>
          </a:p>
        </p:txBody>
      </p:sp>
      <p:sp>
        <p:nvSpPr>
          <p:cNvPr id="563" name="Google Shape;563;p58"/>
          <p:cNvSpPr txBox="1"/>
          <p:nvPr/>
        </p:nvSpPr>
        <p:spPr>
          <a:xfrm>
            <a:off x="4359775" y="1692636"/>
            <a:ext cx="4724400" cy="2025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class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Dog 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implements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Animal {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sniff(Animal a) {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print(</a:t>
            </a:r>
            <a:r>
              <a:rPr lang="en" sz="1800">
                <a:solidFill>
                  <a:srgbClr val="BD8D8B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"dog sniff animal"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); }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flatter(Dog a) {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print(</a:t>
            </a:r>
            <a:r>
              <a:rPr lang="en" sz="1800">
                <a:solidFill>
                  <a:srgbClr val="BD8D8B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"u r cool dog"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); }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highlight>
                <a:srgbClr val="EFEFEF"/>
              </a:highlight>
            </a:endParaRPr>
          </a:p>
        </p:txBody>
      </p:sp>
      <p:sp>
        <p:nvSpPr>
          <p:cNvPr id="564" name="Google Shape;564;p58"/>
          <p:cNvSpPr txBox="1"/>
          <p:nvPr/>
        </p:nvSpPr>
        <p:spPr>
          <a:xfrm>
            <a:off x="2309825" y="3231925"/>
            <a:ext cx="4809300" cy="18627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Animal a = 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Dog();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Dog d = 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Dog();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a.greet(d);   // "hello animal"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a.sniff(d);   // "dog sniff animal"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d.flatter(d); // "u r cool dog"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a.flatter(d); // “u r cool animal”</a:t>
            </a:r>
            <a:endParaRPr b="1"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65" name="Google Shape;565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06000" y="3071900"/>
            <a:ext cx="1538000" cy="20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58"/>
          <p:cNvSpPr txBox="1"/>
          <p:nvPr/>
        </p:nvSpPr>
        <p:spPr>
          <a:xfrm>
            <a:off x="295025" y="3945375"/>
            <a:ext cx="1916400" cy="10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flatter</a:t>
            </a: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 is </a:t>
            </a:r>
            <a:r>
              <a:rPr lang="en" sz="2000" u="sng">
                <a:solidFill>
                  <a:srgbClr val="BE0712"/>
                </a:solidFill>
                <a:latin typeface="Calibri"/>
                <a:ea typeface="Calibri"/>
                <a:cs typeface="Calibri"/>
                <a:sym typeface="Calibri"/>
              </a:rPr>
              <a:t>overloaded</a:t>
            </a: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, not </a:t>
            </a:r>
            <a:r>
              <a:rPr lang="en" sz="2000">
                <a:solidFill>
                  <a:srgbClr val="BE0712"/>
                </a:solidFill>
                <a:latin typeface="Calibri"/>
                <a:ea typeface="Calibri"/>
                <a:cs typeface="Calibri"/>
                <a:sym typeface="Calibri"/>
              </a:rPr>
              <a:t>overridden</a:t>
            </a: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!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59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Method Selection Algorithm</a:t>
            </a:r>
            <a:endParaRPr/>
          </a:p>
        </p:txBody>
      </p:sp>
      <p:sp>
        <p:nvSpPr>
          <p:cNvPr id="572" name="Google Shape;572;p59"/>
          <p:cNvSpPr txBox="1"/>
          <p:nvPr>
            <p:ph idx="1" type="body"/>
          </p:nvPr>
        </p:nvSpPr>
        <p:spPr>
          <a:xfrm>
            <a:off x="243000" y="556500"/>
            <a:ext cx="8484000" cy="41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Consider the function call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foo.bar(x1)</a:t>
            </a:r>
            <a:r>
              <a:rPr lang="en"/>
              <a:t>, where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foo</a:t>
            </a:r>
            <a:r>
              <a:rPr lang="en"/>
              <a:t> has static                            type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TPrime</a:t>
            </a:r>
            <a:r>
              <a:rPr lang="en"/>
              <a:t>, and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x1</a:t>
            </a:r>
            <a:r>
              <a:rPr lang="en"/>
              <a:t> has static type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At compile time, the compiler verifies that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TPrime</a:t>
            </a:r>
            <a:r>
              <a:rPr lang="en"/>
              <a:t> has a method that can handle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"/>
              <a:t>. It then records the signature of this method.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Note: If there are multiple methods that can handle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"/>
              <a:t>, the compiler records the “most specific” one. For example, if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"/>
              <a:t>=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Dog</a:t>
            </a:r>
            <a:r>
              <a:rPr lang="en"/>
              <a:t>, and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TPrime</a:t>
            </a:r>
            <a:r>
              <a:rPr lang="en"/>
              <a:t> has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bar(Dog)</a:t>
            </a:r>
            <a:r>
              <a:rPr lang="en"/>
              <a:t> and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bar(Animal)</a:t>
            </a:r>
            <a:r>
              <a:rPr lang="en"/>
              <a:t>, it will record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bar(Dog)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At runtime, if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foo</a:t>
            </a:r>
            <a:r>
              <a:rPr lang="en"/>
              <a:t>’s dynamic type overrides the </a:t>
            </a:r>
            <a:r>
              <a:rPr lang="en" u="sng"/>
              <a:t>recorded signature</a:t>
            </a:r>
            <a:r>
              <a:rPr lang="en"/>
              <a:t>, use the overridden method. Otherwise, use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TPrime</a:t>
            </a:r>
            <a:r>
              <a:rPr lang="en"/>
              <a:t>’s version of the method.</a:t>
            </a:r>
            <a:endParaRPr/>
          </a:p>
        </p:txBody>
      </p:sp>
      <p:sp>
        <p:nvSpPr>
          <p:cNvPr id="573" name="Google Shape;573;p59"/>
          <p:cNvSpPr txBox="1"/>
          <p:nvPr/>
        </p:nvSpPr>
        <p:spPr>
          <a:xfrm>
            <a:off x="2389898" y="4735008"/>
            <a:ext cx="60891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We did not see this in our lecture puzzle, but see study guide for more!</a:t>
            </a:r>
            <a:endParaRPr>
              <a:solidFill>
                <a:srgbClr val="BE0712"/>
              </a:solidFill>
            </a:endParaRPr>
          </a:p>
        </p:txBody>
      </p:sp>
      <p:sp>
        <p:nvSpPr>
          <p:cNvPr id="574" name="Google Shape;574;p59"/>
          <p:cNvSpPr txBox="1"/>
          <p:nvPr/>
        </p:nvSpPr>
        <p:spPr>
          <a:xfrm>
            <a:off x="348485" y="2543358"/>
            <a:ext cx="199200" cy="1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75" name="Google Shape;575;p59"/>
          <p:cNvCxnSpPr>
            <a:stCxn id="576" idx="1"/>
            <a:endCxn id="574" idx="1"/>
          </p:cNvCxnSpPr>
          <p:nvPr/>
        </p:nvCxnSpPr>
        <p:spPr>
          <a:xfrm rot="10800000">
            <a:off x="348605" y="2642901"/>
            <a:ext cx="2024100" cy="2293800"/>
          </a:xfrm>
          <a:prstGeom prst="bentConnector3">
            <a:avLst>
              <a:gd fmla="val 111770" name="adj1"/>
            </a:avLst>
          </a:prstGeom>
          <a:noFill/>
          <a:ln cap="flat" cmpd="sng" w="9525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76" name="Google Shape;576;p59"/>
          <p:cNvSpPr txBox="1"/>
          <p:nvPr/>
        </p:nvSpPr>
        <p:spPr>
          <a:xfrm>
            <a:off x="2372705" y="4808151"/>
            <a:ext cx="199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60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Dynamic Method Selection Puzzle</a:t>
            </a:r>
            <a:endParaRPr/>
          </a:p>
        </p:txBody>
      </p:sp>
      <p:sp>
        <p:nvSpPr>
          <p:cNvPr id="582" name="Google Shape;582;p60"/>
          <p:cNvSpPr txBox="1"/>
          <p:nvPr>
            <p:ph idx="1" type="body"/>
          </p:nvPr>
        </p:nvSpPr>
        <p:spPr>
          <a:xfrm>
            <a:off x="243000" y="556500"/>
            <a:ext cx="844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Suppose we have classes defined below. Try to predict the results.</a:t>
            </a:r>
            <a:endParaRPr/>
          </a:p>
        </p:txBody>
      </p:sp>
      <p:sp>
        <p:nvSpPr>
          <p:cNvPr id="583" name="Google Shape;583;p60"/>
          <p:cNvSpPr txBox="1"/>
          <p:nvPr/>
        </p:nvSpPr>
        <p:spPr>
          <a:xfrm>
            <a:off x="162000" y="1144150"/>
            <a:ext cx="4990200" cy="26490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interface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Animal {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default 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greet(Animal a) {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print(</a:t>
            </a:r>
            <a:r>
              <a:rPr lang="en" sz="1800">
                <a:solidFill>
                  <a:srgbClr val="BD8D8B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"hello animal"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); }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default 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sniff(Animal a) {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print(</a:t>
            </a:r>
            <a:r>
              <a:rPr lang="en" sz="1800">
                <a:solidFill>
                  <a:srgbClr val="BD8D8B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"sniff animal"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); }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default </a:t>
            </a:r>
            <a:r>
              <a:rPr b="1"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1"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flatter(Animal a) {</a:t>
            </a:r>
            <a:endParaRPr b="1"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print(</a:t>
            </a:r>
            <a:r>
              <a:rPr b="1" lang="en" sz="1800">
                <a:solidFill>
                  <a:srgbClr val="BD8D8B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"u r cool animal"</a:t>
            </a:r>
            <a:r>
              <a:rPr b="1"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); }</a:t>
            </a:r>
            <a:endParaRPr b="1"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highlight>
                <a:srgbClr val="EFEFEF"/>
              </a:highlight>
            </a:endParaRPr>
          </a:p>
        </p:txBody>
      </p:sp>
      <p:sp>
        <p:nvSpPr>
          <p:cNvPr id="584" name="Google Shape;584;p60"/>
          <p:cNvSpPr txBox="1"/>
          <p:nvPr/>
        </p:nvSpPr>
        <p:spPr>
          <a:xfrm>
            <a:off x="4359775" y="1767300"/>
            <a:ext cx="4724400" cy="2025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class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Dog 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implements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Animal {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sniff(Animal a) {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print(</a:t>
            </a:r>
            <a:r>
              <a:rPr lang="en" sz="1800">
                <a:solidFill>
                  <a:srgbClr val="BD8D8B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"dog sniff animal"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); }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flatter(Dog a) {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print(</a:t>
            </a:r>
            <a:r>
              <a:rPr lang="en" sz="1800">
                <a:solidFill>
                  <a:srgbClr val="BD8D8B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"u r cool dog"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); }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highlight>
                <a:srgbClr val="EFEFEF"/>
              </a:highlight>
            </a:endParaRPr>
          </a:p>
        </p:txBody>
      </p:sp>
      <p:sp>
        <p:nvSpPr>
          <p:cNvPr id="585" name="Google Shape;585;p60"/>
          <p:cNvSpPr txBox="1"/>
          <p:nvPr/>
        </p:nvSpPr>
        <p:spPr>
          <a:xfrm>
            <a:off x="2309825" y="3441250"/>
            <a:ext cx="2883600" cy="1068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Animal a = 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Dog();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Dog d = 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Dog();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a.flatter(d);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86" name="Google Shape;586;p60"/>
          <p:cNvSpPr txBox="1"/>
          <p:nvPr/>
        </p:nvSpPr>
        <p:spPr>
          <a:xfrm>
            <a:off x="1194675" y="4517800"/>
            <a:ext cx="6246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Compiler asks “Is there a method in </a:t>
            </a:r>
            <a:r>
              <a:rPr lang="en">
                <a:solidFill>
                  <a:srgbClr val="BE0712"/>
                </a:solidFill>
                <a:latin typeface="Consolas"/>
                <a:ea typeface="Consolas"/>
                <a:cs typeface="Consolas"/>
                <a:sym typeface="Consolas"/>
              </a:rPr>
              <a:t>Animal</a:t>
            </a:r>
            <a:r>
              <a:rPr lang="en">
                <a:solidFill>
                  <a:srgbClr val="BE0712"/>
                </a:solidFill>
              </a:rPr>
              <a:t> that can handle </a:t>
            </a:r>
            <a:r>
              <a:rPr lang="en">
                <a:solidFill>
                  <a:srgbClr val="BE0712"/>
                </a:solidFill>
                <a:latin typeface="Consolas"/>
                <a:ea typeface="Consolas"/>
                <a:cs typeface="Consolas"/>
                <a:sym typeface="Consolas"/>
              </a:rPr>
              <a:t>Dog</a:t>
            </a:r>
            <a:r>
              <a:rPr lang="en">
                <a:solidFill>
                  <a:srgbClr val="BE0712"/>
                </a:solidFill>
              </a:rPr>
              <a:t>? Yes! </a:t>
            </a:r>
            <a:r>
              <a:rPr lang="en">
                <a:solidFill>
                  <a:srgbClr val="BE0712"/>
                </a:solidFill>
                <a:latin typeface="Consolas"/>
                <a:ea typeface="Consolas"/>
                <a:cs typeface="Consolas"/>
                <a:sym typeface="Consolas"/>
              </a:rPr>
              <a:t>flatter(Animal a)</a:t>
            </a:r>
            <a:r>
              <a:rPr lang="en">
                <a:solidFill>
                  <a:srgbClr val="BE0712"/>
                </a:solidFill>
              </a:rPr>
              <a:t>”. It then records the signature </a:t>
            </a:r>
            <a:r>
              <a:rPr lang="en">
                <a:solidFill>
                  <a:srgbClr val="BE0712"/>
                </a:solidFill>
                <a:latin typeface="Consolas"/>
                <a:ea typeface="Consolas"/>
                <a:cs typeface="Consolas"/>
                <a:sym typeface="Consolas"/>
              </a:rPr>
              <a:t>flatter(Animal a)</a:t>
            </a:r>
            <a:r>
              <a:rPr lang="en">
                <a:solidFill>
                  <a:srgbClr val="BE0712"/>
                </a:solidFill>
              </a:rPr>
              <a:t>.</a:t>
            </a:r>
            <a:endParaRPr>
              <a:solidFill>
                <a:srgbClr val="BE0712"/>
              </a:solidFill>
            </a:endParaRPr>
          </a:p>
        </p:txBody>
      </p:sp>
      <p:sp>
        <p:nvSpPr>
          <p:cNvPr id="587" name="Google Shape;587;p60"/>
          <p:cNvSpPr txBox="1"/>
          <p:nvPr/>
        </p:nvSpPr>
        <p:spPr>
          <a:xfrm>
            <a:off x="2190186" y="4260613"/>
            <a:ext cx="315300" cy="1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88" name="Google Shape;588;p60"/>
          <p:cNvCxnSpPr>
            <a:stCxn id="586" idx="1"/>
            <a:endCxn id="587" idx="1"/>
          </p:cNvCxnSpPr>
          <p:nvPr/>
        </p:nvCxnSpPr>
        <p:spPr>
          <a:xfrm flipH="1" rot="10800000">
            <a:off x="1194675" y="4322950"/>
            <a:ext cx="995400" cy="488700"/>
          </a:xfrm>
          <a:prstGeom prst="bentConnector3">
            <a:avLst>
              <a:gd fmla="val -23923" name="adj1"/>
            </a:avLst>
          </a:prstGeom>
          <a:noFill/>
          <a:ln cap="flat" cmpd="sng" w="9525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61"/>
          <p:cNvSpPr txBox="1"/>
          <p:nvPr>
            <p:ph type="title"/>
          </p:nvPr>
        </p:nvSpPr>
        <p:spPr>
          <a:xfrm>
            <a:off x="928950" y="1371600"/>
            <a:ext cx="7286100" cy="240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Interface vs. Implementation Inheritance</a:t>
            </a:r>
            <a:endParaRPr sz="480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62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Interface vs. Implementation Inheritance</a:t>
            </a:r>
            <a:endParaRPr/>
          </a:p>
        </p:txBody>
      </p:sp>
      <p:sp>
        <p:nvSpPr>
          <p:cNvPr id="599" name="Google Shape;599;p62"/>
          <p:cNvSpPr txBox="1"/>
          <p:nvPr>
            <p:ph idx="1" type="body"/>
          </p:nvPr>
        </p:nvSpPr>
        <p:spPr>
          <a:xfrm>
            <a:off x="243000" y="556500"/>
            <a:ext cx="8443800" cy="443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Interface Inheritance (a.k.a. what):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Allows you to generalize code in a powerful, simple way.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Implementation Inheritance (a.k.a. how):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Allows code-reuse: Subclasses can rely on superclasses or interfaces.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Example: print() implemented in List61B.java.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Gives another dimension of control to subclass designers: Can decide whether or not to override default implementations.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Important:</a:t>
            </a:r>
            <a:r>
              <a:rPr lang="en"/>
              <a:t> In both cases, we specify “is-a” relationships, not “has-a”.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Good: Dog implements Animal, SLList implements List61B.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Bad: Cat implements Claw, </a:t>
            </a:r>
            <a:r>
              <a:rPr lang="en"/>
              <a:t>Set</a:t>
            </a:r>
            <a:r>
              <a:rPr lang="en"/>
              <a:t> implements SLList.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63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Dangers of Implementation Inheritance</a:t>
            </a:r>
            <a:endParaRPr/>
          </a:p>
        </p:txBody>
      </p:sp>
      <p:sp>
        <p:nvSpPr>
          <p:cNvPr id="605" name="Google Shape;605;p63"/>
          <p:cNvSpPr txBox="1"/>
          <p:nvPr>
            <p:ph idx="1" type="body"/>
          </p:nvPr>
        </p:nvSpPr>
        <p:spPr>
          <a:xfrm>
            <a:off x="243000" y="556500"/>
            <a:ext cx="8443800" cy="41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Particular Dangers of Implementation Inheritance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Makes it harder to keep track of where something was actually implemented (though a good IDE makes this better).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Rules for resolving conflicts can be arcane. Won’t cover in 61B.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Example: What if two interfaces both give conflicting default methods?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Encourages overly complex code (especially with novices).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Common mistake: Has-a vs. Is-a!</a:t>
            </a:r>
            <a:endParaRPr/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/>
              <a:t>Breaks encapsulation!</a:t>
            </a:r>
            <a:endParaRPr/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What is encapsulation? See next week.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64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Terminology Summary</a:t>
            </a:r>
            <a:endParaRPr/>
          </a:p>
        </p:txBody>
      </p:sp>
      <p:sp>
        <p:nvSpPr>
          <p:cNvPr id="611" name="Google Shape;611;p64"/>
          <p:cNvSpPr txBox="1"/>
          <p:nvPr>
            <p:ph idx="1" type="body"/>
          </p:nvPr>
        </p:nvSpPr>
        <p:spPr>
          <a:xfrm>
            <a:off x="243000" y="556500"/>
            <a:ext cx="8443800" cy="41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"/>
              <a:t>New terms from this lecture:</a:t>
            </a:r>
            <a:endParaRPr/>
          </a:p>
          <a:p>
            <a:pPr indent="-3556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Overloading</a:t>
            </a:r>
            <a:endParaRPr/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Hypernym</a:t>
            </a:r>
            <a:endParaRPr/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Hyponym</a:t>
            </a:r>
            <a:endParaRPr/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Overriding</a:t>
            </a:r>
            <a:endParaRPr/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Interface Inheritance</a:t>
            </a:r>
            <a:endParaRPr/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Implementation Inheritance</a:t>
            </a:r>
            <a:endParaRPr/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Static Type, a.k.a. Compile-time Type</a:t>
            </a:r>
            <a:endParaRPr/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Dynamic Type, a.k.a. Run-time Type</a:t>
            </a:r>
            <a:endParaRPr/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Dynamic Method Selection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