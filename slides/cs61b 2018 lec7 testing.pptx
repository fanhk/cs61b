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6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4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7" r:id="rId36"/>
    <p:sldId id="288" r:id="rId37"/>
    <p:sldId id="289" r:id="rId38"/>
    <p:sldId id="290" r:id="rId39"/>
    <p:sldId id="291" r:id="rId40"/>
    <p:sldId id="292" r:id="rId41"/>
    <p:sldId id="293" r:id="rId42"/>
    <p:sldId id="294" r:id="rId43"/>
    <p:sldId id="295" r:id="rId44"/>
  </p:sldIdLst>
  <p:sldSz cy="5143500" cx="9144000"/>
  <p:notesSz cx="6858000" cy="9144000"/>
  <p:embeddedFontLst>
    <p:embeddedFont>
      <p:font typeface="Ubuntu Mono"/>
      <p:regular r:id="rId45"/>
      <p:bold r:id="rId46"/>
      <p:italic r:id="rId47"/>
      <p:boldItalic r:id="rId4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6.xml"/><Relationship Id="rId20" Type="http://schemas.openxmlformats.org/officeDocument/2006/relationships/slide" Target="slides/slide16.xml"/><Relationship Id="rId42" Type="http://schemas.openxmlformats.org/officeDocument/2006/relationships/slide" Target="slides/slide38.xml"/><Relationship Id="rId41" Type="http://schemas.openxmlformats.org/officeDocument/2006/relationships/slide" Target="slides/slide37.xml"/><Relationship Id="rId22" Type="http://schemas.openxmlformats.org/officeDocument/2006/relationships/slide" Target="slides/slide18.xml"/><Relationship Id="rId44" Type="http://schemas.openxmlformats.org/officeDocument/2006/relationships/slide" Target="slides/slide40.xml"/><Relationship Id="rId21" Type="http://schemas.openxmlformats.org/officeDocument/2006/relationships/slide" Target="slides/slide17.xml"/><Relationship Id="rId43" Type="http://schemas.openxmlformats.org/officeDocument/2006/relationships/slide" Target="slides/slide39.xml"/><Relationship Id="rId24" Type="http://schemas.openxmlformats.org/officeDocument/2006/relationships/slide" Target="slides/slide20.xml"/><Relationship Id="rId46" Type="http://schemas.openxmlformats.org/officeDocument/2006/relationships/font" Target="fonts/UbuntuMono-bold.fntdata"/><Relationship Id="rId23" Type="http://schemas.openxmlformats.org/officeDocument/2006/relationships/slide" Target="slides/slide19.xml"/><Relationship Id="rId45" Type="http://schemas.openxmlformats.org/officeDocument/2006/relationships/font" Target="fonts/UbuntuMono-regular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slide" Target="slides/slide22.xml"/><Relationship Id="rId48" Type="http://schemas.openxmlformats.org/officeDocument/2006/relationships/font" Target="fonts/UbuntuMono-boldItalic.fntdata"/><Relationship Id="rId25" Type="http://schemas.openxmlformats.org/officeDocument/2006/relationships/slide" Target="slides/slide21.xml"/><Relationship Id="rId47" Type="http://schemas.openxmlformats.org/officeDocument/2006/relationships/font" Target="fonts/UbuntuMono-italic.fntdata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slide" Target="slides/slide25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11" Type="http://schemas.openxmlformats.org/officeDocument/2006/relationships/slide" Target="slides/slide7.xml"/><Relationship Id="rId33" Type="http://schemas.openxmlformats.org/officeDocument/2006/relationships/slide" Target="slides/slide29.xml"/><Relationship Id="rId10" Type="http://schemas.openxmlformats.org/officeDocument/2006/relationships/slide" Target="slides/slide6.xml"/><Relationship Id="rId32" Type="http://schemas.openxmlformats.org/officeDocument/2006/relationships/slide" Target="slides/slide28.xml"/><Relationship Id="rId13" Type="http://schemas.openxmlformats.org/officeDocument/2006/relationships/slide" Target="slides/slide9.xml"/><Relationship Id="rId35" Type="http://schemas.openxmlformats.org/officeDocument/2006/relationships/slide" Target="slides/slide31.xml"/><Relationship Id="rId12" Type="http://schemas.openxmlformats.org/officeDocument/2006/relationships/slide" Target="slides/slide8.xml"/><Relationship Id="rId34" Type="http://schemas.openxmlformats.org/officeDocument/2006/relationships/slide" Target="slides/slide30.xml"/><Relationship Id="rId15" Type="http://schemas.openxmlformats.org/officeDocument/2006/relationships/slide" Target="slides/slide11.xml"/><Relationship Id="rId37" Type="http://schemas.openxmlformats.org/officeDocument/2006/relationships/slide" Target="slides/slide33.xml"/><Relationship Id="rId14" Type="http://schemas.openxmlformats.org/officeDocument/2006/relationships/slide" Target="slides/slide10.xml"/><Relationship Id="rId36" Type="http://schemas.openxmlformats.org/officeDocument/2006/relationships/slide" Target="slides/slide32.xml"/><Relationship Id="rId17" Type="http://schemas.openxmlformats.org/officeDocument/2006/relationships/slide" Target="slides/slide13.xml"/><Relationship Id="rId39" Type="http://schemas.openxmlformats.org/officeDocument/2006/relationships/slide" Target="slides/slide35.xml"/><Relationship Id="rId16" Type="http://schemas.openxmlformats.org/officeDocument/2006/relationships/slide" Target="slides/slide12.xml"/><Relationship Id="rId38" Type="http://schemas.openxmlformats.org/officeDocument/2006/relationships/slide" Target="slides/slide34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g3996ea012_0156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" name="Google Shape;29;g3996ea012_01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g306494d801_13_4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" name="Google Shape;35;g306494d801_13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g2f4c92038c_0_0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" name="Google Shape;41;g2f4c92038c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6 minutes</a:t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" name="Google Shape;47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http://www.vet.upenn.edu/images/default-source/news-and-events/equimagine2.jpg?sfvrsn=0</a:t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g2f830da6fb_0_0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" name="Google Shape;54;g2f830da6f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61cf28088_00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61cf28088_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2f830da6fb_0_216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2f830da6fb_0_2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4150!</a:t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1c5071a2aa_0_55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1c5071a2aa_0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Minecraft dog</a:t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1c5071a2aa_0_77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1c5071a2aa_0_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Minecraft dog</a:t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1c5071a2aa_0_100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1c5071a2aa_0_1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2f830da6fb_0_190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2f830da6fb_0_1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Minecraft dog</a:t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1c5071a2aa_0_254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1c5071a2aa_0_2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Minecraft dog</a:t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61e554d22_16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61e554d22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6d7b9e15c_074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6d7b9e15c_0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20 minutes to get here going slow.</a:t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2f830da6fb_0_97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" name="Google Shape;180;g2f830da6fb_0_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20 minutes to get here going slow.</a:t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g2f830da6fb_0_172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3" name="Google Shape;233;g2f830da6fb_0_1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20 minutes to get here going slow.</a:t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g10978e4be9_2_0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2" name="Google Shape;252;g10978e4be9_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35 total minutes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http://watchout4snakes.com/wo4snakes/Random/RandomPhrase</a:t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1c5071a2aa_0_374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2" name="Google Shape;262;g1c5071a2aa_0_3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35 total minutes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http://watchout4snakes.com/wo4snakes/Random/RandomPhrase</a:t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g1c5071a2aa_0_384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2" name="Google Shape;272;g1c5071a2aa_0_3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35 total minutes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http://watchout4snakes.com/wo4snakes/Random/RandomPhrase</a:t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g2f830da6fb_0_236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3" name="Google Shape;283;g2f830da6fb_0_2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35 total minutes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http://watchout4snakes.com/wo4snakes/Random/RandomPhrase</a:t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g2f830da6fb_0_153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7" name="Google Shape;297;g2f830da6fb_0_1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20 minutes to get here going slow.</a:t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g1c5071a2aa_0_446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6" name="Google Shape;316;g1c5071a2aa_0_4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20 minutes to get here going slow.</a:t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g10978e4be9_0_31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6" name="Google Shape;336;g10978e4be9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g61e554d22_110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2" name="Google Shape;342;g61e554d22_1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g6d7b9e15c_0179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7" name="Google Shape;347;g6d7b9e15c_01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g10978e4be9_2_22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3" name="Google Shape;353;g10978e4be9_2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g10978e4be9_2_17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2" name="Google Shape;362;g10978e4be9_2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g61e554d22_11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8" name="Google Shape;368;g61e554d22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g1c5071a2aa_0_222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3" name="Google Shape;373;g1c5071a2aa_0_2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g6d7b9e15c_061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4" name="Google Shape;384;g6d7b9e15c_0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g1c5071a2aa_0_104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3" name="Google Shape;393;g1c5071a2aa_0_1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11 minutes showing good way to test, not including this slide.</a:t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0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g6d7b9e15c_054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2" name="Google Shape;412;g6d7b9e15c_0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9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g6d7b9e15c_067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1" name="Google Shape;421;g6d7b9e15c_0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7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g1c5071a2aa_0_181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9" name="Google Shape;429;g1c5071a2aa_0_1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https://thumbs.dreamstime.com/x/business-person-eating-pizza-computer-8427611.jpg</a:t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g6d7b9e15c_0122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3" name="Google Shape;453;g6d7b9e15c_01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7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g1c54d240ea_6_78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9" name="Google Shape;459;g1c54d240ea_6_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2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g1c54d240ea_6_2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4" name="Google Shape;464;g1c54d240ea_6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9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g1c54d240ea_6_83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1" name="Google Shape;471;g1c54d240ea_6_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6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g61e554d22_137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8" name="Google Shape;478;g61e554d22_1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2" name="Shape 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Google Shape;483;g1c5071a2aa_0_69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4" name="Google Shape;484;g1c5071a2aa_0_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https://www.fluffybooru.org/post/view/40111</a:t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"/>
          <p:cNvSpPr txBox="1"/>
          <p:nvPr>
            <p:ph type="ctrTitle"/>
          </p:nvPr>
        </p:nvSpPr>
        <p:spPr>
          <a:xfrm>
            <a:off x="211425" y="1941275"/>
            <a:ext cx="5206200" cy="784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BE0712"/>
              </a:buClr>
              <a:buSzPts val="3200"/>
              <a:buFont typeface="Calibri"/>
              <a:buNone/>
              <a:defRPr b="1" i="0" sz="3200" u="none" cap="none" strike="noStrike">
                <a:solidFill>
                  <a:srgbClr val="BE071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b="1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b="1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b="1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b="1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b="1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b="1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b="1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b="1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161925" y="2612325"/>
            <a:ext cx="5380800" cy="7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Calibri"/>
              <a:buNone/>
              <a:defRPr b="0" i="0" sz="24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Arial"/>
              <a:buNone/>
              <a:defRPr b="0" i="0" sz="3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Arial"/>
              <a:buNone/>
              <a:defRPr b="0" i="0" sz="3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Arial"/>
              <a:buNone/>
              <a:defRPr b="0" i="0" sz="3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Arial"/>
              <a:buNone/>
              <a:defRPr b="0" i="0" sz="3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Arial"/>
              <a:buNone/>
              <a:defRPr b="0" i="0" sz="3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Arial"/>
              <a:buNone/>
              <a:defRPr b="0" i="0" sz="3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Arial"/>
              <a:buNone/>
              <a:defRPr b="0" i="0" sz="3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Arial"/>
              <a:buNone/>
              <a:defRPr b="0" i="0" sz="3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cxnSp>
        <p:nvCxnSpPr>
          <p:cNvPr id="13" name="Google Shape;13;p2"/>
          <p:cNvCxnSpPr/>
          <p:nvPr/>
        </p:nvCxnSpPr>
        <p:spPr>
          <a:xfrm>
            <a:off x="290700" y="2669200"/>
            <a:ext cx="8443800" cy="0"/>
          </a:xfrm>
          <a:prstGeom prst="straightConnector1">
            <a:avLst/>
          </a:prstGeom>
          <a:noFill/>
          <a:ln cap="flat" cmpd="sng" w="19050">
            <a:solidFill>
              <a:srgbClr val="1072BD"/>
            </a:solidFill>
            <a:prstDash val="dot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 txBox="1"/>
          <p:nvPr>
            <p:ph type="title"/>
          </p:nvPr>
        </p:nvSpPr>
        <p:spPr>
          <a:xfrm>
            <a:off x="166800" y="92501"/>
            <a:ext cx="8229600" cy="495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Clr>
                <a:srgbClr val="BE0712"/>
              </a:buClr>
              <a:buSzPts val="2400"/>
              <a:buFont typeface="Calibri"/>
              <a:buNone/>
              <a:defRPr b="1" sz="2400">
                <a:solidFill>
                  <a:srgbClr val="BE071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3600"/>
              <a:buFont typeface="Arial"/>
              <a:buNone/>
              <a:defRPr b="1" sz="3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3600"/>
              <a:buFont typeface="Arial"/>
              <a:buNone/>
              <a:defRPr b="1" sz="3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3600"/>
              <a:buFont typeface="Arial"/>
              <a:buNone/>
              <a:defRPr b="1" sz="3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3600"/>
              <a:buFont typeface="Arial"/>
              <a:buNone/>
              <a:defRPr b="1" sz="3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3600"/>
              <a:buFont typeface="Arial"/>
              <a:buNone/>
              <a:defRPr b="1" sz="3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3600"/>
              <a:buFont typeface="Arial"/>
              <a:buNone/>
              <a:defRPr b="1" sz="3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3600"/>
              <a:buFont typeface="Arial"/>
              <a:buNone/>
              <a:defRPr b="1" sz="3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3600"/>
              <a:buFont typeface="Arial"/>
              <a:buNone/>
              <a:defRPr b="1" sz="3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cxnSp>
        <p:nvCxnSpPr>
          <p:cNvPr id="16" name="Google Shape;16;p3"/>
          <p:cNvCxnSpPr/>
          <p:nvPr/>
        </p:nvCxnSpPr>
        <p:spPr>
          <a:xfrm>
            <a:off x="243000" y="587800"/>
            <a:ext cx="8443800" cy="0"/>
          </a:xfrm>
          <a:prstGeom prst="straightConnector1">
            <a:avLst/>
          </a:prstGeom>
          <a:noFill/>
          <a:ln cap="flat" cmpd="sng" w="19050">
            <a:solidFill>
              <a:srgbClr val="1072BD"/>
            </a:solidFill>
            <a:prstDash val="dot"/>
            <a:round/>
            <a:headEnd len="med" w="med" type="none"/>
            <a:tailEnd len="med" w="med" type="none"/>
          </a:ln>
        </p:spPr>
      </p:cxnSp>
      <p:sp>
        <p:nvSpPr>
          <p:cNvPr id="17" name="Google Shape;17;p3"/>
          <p:cNvSpPr txBox="1"/>
          <p:nvPr>
            <p:ph idx="1" type="body"/>
          </p:nvPr>
        </p:nvSpPr>
        <p:spPr>
          <a:xfrm>
            <a:off x="243000" y="556500"/>
            <a:ext cx="8443800" cy="415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55600" lvl="0" marL="457200" rtl="0">
              <a:spcBef>
                <a:spcPts val="600"/>
              </a:spcBef>
              <a:spcAft>
                <a:spcPts val="0"/>
              </a:spcAft>
              <a:buSzPts val="2000"/>
              <a:buFont typeface="Calibri"/>
              <a:buChar char="●"/>
              <a:defRPr sz="2000">
                <a:latin typeface="Calibri"/>
                <a:ea typeface="Calibri"/>
                <a:cs typeface="Calibri"/>
                <a:sym typeface="Calibri"/>
              </a:defRPr>
            </a:lvl1pPr>
            <a:lvl2pPr indent="-355600" lvl="1" marL="914400" rtl="0">
              <a:spcBef>
                <a:spcPts val="0"/>
              </a:spcBef>
              <a:spcAft>
                <a:spcPts val="0"/>
              </a:spcAft>
              <a:buSzPts val="2000"/>
              <a:buFont typeface="Calibri"/>
              <a:buChar char="○"/>
              <a:defRPr sz="2000"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rtl="0">
              <a:spcBef>
                <a:spcPts val="0"/>
              </a:spcBef>
              <a:spcAft>
                <a:spcPts val="0"/>
              </a:spcAft>
              <a:buSzPts val="1800"/>
              <a:buFont typeface="Calibri"/>
              <a:buChar char="■"/>
              <a:defRPr sz="1800"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Font typeface="Calibri"/>
              <a:buChar char="●"/>
              <a:defRPr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Font typeface="Calibri"/>
              <a:buChar char="○"/>
              <a:defRPr sz="1800"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Font typeface="Calibri"/>
              <a:buChar char="■"/>
              <a:defRPr sz="1800"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Font typeface="Calibri"/>
              <a:buChar char="●"/>
              <a:defRPr sz="1800"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Font typeface="Calibri"/>
              <a:buChar char="○"/>
              <a:defRPr sz="1800"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Font typeface="Calibri"/>
              <a:buChar char="■"/>
              <a:defRPr sz="1800"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3600"/>
              <a:buFont typeface="Arial"/>
              <a:buNone/>
              <a:defRPr b="1" sz="3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3600"/>
              <a:buFont typeface="Arial"/>
              <a:buNone/>
              <a:defRPr b="1" sz="3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3600"/>
              <a:buFont typeface="Arial"/>
              <a:buNone/>
              <a:defRPr b="1" sz="3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3600"/>
              <a:buFont typeface="Arial"/>
              <a:buNone/>
              <a:defRPr b="1" sz="3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3600"/>
              <a:buFont typeface="Arial"/>
              <a:buNone/>
              <a:defRPr b="1" sz="3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3600"/>
              <a:buFont typeface="Arial"/>
              <a:buNone/>
              <a:defRPr b="1" sz="3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3600"/>
              <a:buFont typeface="Arial"/>
              <a:buNone/>
              <a:defRPr b="1" sz="3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3600"/>
              <a:buFont typeface="Arial"/>
              <a:buNone/>
              <a:defRPr b="1" sz="3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3600"/>
              <a:buFont typeface="Arial"/>
              <a:buNone/>
              <a:defRPr b="1" sz="3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0" name="Google Shape;20;p4"/>
          <p:cNvSpPr txBox="1"/>
          <p:nvPr>
            <p:ph idx="1" type="body"/>
          </p:nvPr>
        </p:nvSpPr>
        <p:spPr>
          <a:xfrm>
            <a:off x="457200" y="1200150"/>
            <a:ext cx="3994500" cy="372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419100" lvl="0" marL="457200" rtl="0">
              <a:spcBef>
                <a:spcPts val="600"/>
              </a:spcBef>
              <a:spcAft>
                <a:spcPts val="0"/>
              </a:spcAft>
              <a:buSzPts val="3000"/>
              <a:buChar char="●"/>
              <a:defRPr/>
            </a:lvl1pPr>
            <a:lvl2pPr indent="-381000" lvl="1" marL="914400" rtl="0"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2pPr>
            <a:lvl3pPr indent="-381000" lvl="2" marL="1371600" rtl="0"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9pPr>
          </a:lstStyle>
          <a:p/>
        </p:txBody>
      </p:sp>
      <p:sp>
        <p:nvSpPr>
          <p:cNvPr id="21" name="Google Shape;21;p4"/>
          <p:cNvSpPr txBox="1"/>
          <p:nvPr>
            <p:ph idx="2" type="body"/>
          </p:nvPr>
        </p:nvSpPr>
        <p:spPr>
          <a:xfrm>
            <a:off x="4692274" y="1200150"/>
            <a:ext cx="3994500" cy="372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419100" lvl="0" marL="457200" rtl="0">
              <a:spcBef>
                <a:spcPts val="600"/>
              </a:spcBef>
              <a:spcAft>
                <a:spcPts val="0"/>
              </a:spcAft>
              <a:buSzPts val="3000"/>
              <a:buChar char="●"/>
              <a:defRPr/>
            </a:lvl1pPr>
            <a:lvl2pPr indent="-381000" lvl="1" marL="914400" rtl="0"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2pPr>
            <a:lvl3pPr indent="-381000" lvl="2" marL="1371600" rtl="0"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5"/>
          <p:cNvSpPr txBox="1"/>
          <p:nvPr>
            <p:ph type="title"/>
          </p:nvPr>
        </p:nvSpPr>
        <p:spPr>
          <a:xfrm>
            <a:off x="928950" y="2143050"/>
            <a:ext cx="72861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BE0712"/>
              </a:buClr>
              <a:buSzPts val="2400"/>
              <a:buFont typeface="Calibri"/>
              <a:buNone/>
              <a:defRPr b="1" sz="2400">
                <a:solidFill>
                  <a:srgbClr val="BE071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3600"/>
              <a:buFont typeface="Arial"/>
              <a:buNone/>
              <a:defRPr b="1" sz="3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3600"/>
              <a:buFont typeface="Arial"/>
              <a:buNone/>
              <a:defRPr b="1" sz="3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3600"/>
              <a:buFont typeface="Arial"/>
              <a:buNone/>
              <a:defRPr b="1" sz="3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3600"/>
              <a:buFont typeface="Arial"/>
              <a:buNone/>
              <a:defRPr b="1" sz="3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3600"/>
              <a:buFont typeface="Arial"/>
              <a:buNone/>
              <a:defRPr b="1" sz="3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3600"/>
              <a:buFont typeface="Arial"/>
              <a:buNone/>
              <a:defRPr b="1" sz="3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3600"/>
              <a:buFont typeface="Arial"/>
              <a:buNone/>
              <a:defRPr b="1" sz="3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3600"/>
              <a:buFont typeface="Arial"/>
              <a:buNone/>
              <a:defRPr b="1" sz="3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 txBox="1"/>
          <p:nvPr>
            <p:ph idx="1" type="body"/>
          </p:nvPr>
        </p:nvSpPr>
        <p:spPr>
          <a:xfrm>
            <a:off x="457200" y="4406309"/>
            <a:ext cx="8229600" cy="51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  <a:defRPr sz="1800">
                <a:solidFill>
                  <a:schemeClr val="dk1"/>
                </a:solidFill>
              </a:defRPr>
            </a:lvl1pPr>
            <a:lvl2pPr indent="-342900" lvl="1" marL="9144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○"/>
              <a:defRPr sz="1800">
                <a:solidFill>
                  <a:schemeClr val="dk1"/>
                </a:solidFill>
              </a:defRPr>
            </a:lvl2pPr>
            <a:lvl3pPr indent="-342900" lvl="2" marL="13716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■"/>
              <a:defRPr sz="1800">
                <a:solidFill>
                  <a:schemeClr val="dk1"/>
                </a:solidFill>
              </a:defRPr>
            </a:lvl3pPr>
            <a:lvl4pPr indent="-342900" lvl="3" marL="18288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  <a:defRPr sz="1800">
                <a:solidFill>
                  <a:schemeClr val="dk1"/>
                </a:solidFill>
              </a:defRPr>
            </a:lvl4pPr>
            <a:lvl5pPr indent="-342900" lvl="4" marL="22860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○"/>
              <a:defRPr sz="1800">
                <a:solidFill>
                  <a:schemeClr val="dk1"/>
                </a:solidFill>
              </a:defRPr>
            </a:lvl5pPr>
            <a:lvl6pPr indent="-342900" lvl="5" marL="27432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■"/>
              <a:defRPr sz="1800">
                <a:solidFill>
                  <a:schemeClr val="dk1"/>
                </a:solidFill>
              </a:defRPr>
            </a:lvl6pPr>
            <a:lvl7pPr indent="-342900" lvl="6" marL="32004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  <a:defRPr sz="1800">
                <a:solidFill>
                  <a:schemeClr val="dk1"/>
                </a:solidFill>
              </a:defRPr>
            </a:lvl7pPr>
            <a:lvl8pPr indent="-342900" lvl="7" marL="36576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○"/>
              <a:defRPr sz="1800">
                <a:solidFill>
                  <a:schemeClr val="dk1"/>
                </a:solidFill>
              </a:defRPr>
            </a:lvl8pPr>
            <a:lvl9pPr indent="-342900" lvl="8" marL="41148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■"/>
              <a:defRPr sz="18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hyperlink" Target="http://datastructur.es" TargetMode="External"/><Relationship Id="rId3" Type="http://schemas.openxmlformats.org/officeDocument/2006/relationships/slideLayout" Target="../slideLayouts/slideLayout1.xml"/><Relationship Id="rId4" Type="http://schemas.openxmlformats.org/officeDocument/2006/relationships/slideLayout" Target="../slideLayouts/slideLayout2.xml"/><Relationship Id="rId9" Type="http://schemas.openxmlformats.org/officeDocument/2006/relationships/theme" Target="../theme/theme2.xml"/><Relationship Id="rId5" Type="http://schemas.openxmlformats.org/officeDocument/2006/relationships/slideLayout" Target="../slideLayouts/slideLayout3.xml"/><Relationship Id="rId6" Type="http://schemas.openxmlformats.org/officeDocument/2006/relationships/slideLayout" Target="../slideLayouts/slideLayout4.xml"/><Relationship Id="rId7" Type="http://schemas.openxmlformats.org/officeDocument/2006/relationships/slideLayout" Target="../slideLayouts/slideLayout5.xml"/><Relationship Id="rId8" Type="http://schemas.openxmlformats.org/officeDocument/2006/relationships/slideLayout" Target="../slideLayouts/slideLayout6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b="1" i="0" sz="3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b="1" i="0" sz="3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b="1" i="0" sz="3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b="1" i="0" sz="3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b="1" i="0" sz="3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b="1" i="0" sz="3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b="1" i="0" sz="3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b="1" i="0" sz="3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b="1" i="0" sz="3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200150"/>
            <a:ext cx="8229600" cy="372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419100" lvl="0" marL="45720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Char char="●"/>
              <a:defRPr b="0" i="0" sz="3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○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81000" lvl="2" marL="1371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■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○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■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○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■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pic>
        <p:nvPicPr>
          <p:cNvPr id="8" name="Google Shape;8;p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8686800" y="4983478"/>
            <a:ext cx="457200" cy="160022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Google Shape;9;p1"/>
          <p:cNvSpPr txBox="1"/>
          <p:nvPr/>
        </p:nvSpPr>
        <p:spPr>
          <a:xfrm>
            <a:off x="8578500" y="4793875"/>
            <a:ext cx="655200" cy="20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 u="sng">
                <a:solidFill>
                  <a:srgbClr val="1155CC"/>
                </a:solidFill>
                <a:latin typeface="Calibri"/>
                <a:ea typeface="Calibri"/>
                <a:cs typeface="Calibri"/>
                <a:sym typeface="Calibri"/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datastructur.es</a:t>
            </a:r>
            <a:endParaRPr sz="6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3"/>
    <p:sldLayoutId id="2147483649" r:id="rId4"/>
    <p:sldLayoutId id="2147483650" r:id="rId5"/>
    <p:sldLayoutId id="2147483651" r:id="rId6"/>
    <p:sldLayoutId id="2147483652" r:id="rId7"/>
    <p:sldLayoutId id="2147483653" r:id="rId8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hyperlink" Target="mailto:auvs.at.berkeley@gmail.com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hyperlink" Target="http://www.youtube.com/watch?v=Sd9H5akiY5M" TargetMode="External"/><Relationship Id="rId4" Type="http://schemas.openxmlformats.org/officeDocument/2006/relationships/image" Target="../media/image4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Relationship Id="rId3" Type="http://schemas.openxmlformats.org/officeDocument/2006/relationships/hyperlink" Target="http://junit.org/junit4/javadoc/4.12/org/junit/Assert.html" TargetMode="Externa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2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9.png"/><Relationship Id="rId4" Type="http://schemas.openxmlformats.org/officeDocument/2006/relationships/image" Target="../media/image5.png"/><Relationship Id="rId5" Type="http://schemas.openxmlformats.org/officeDocument/2006/relationships/hyperlink" Target="http://ryantablada.com/post/red-green-refactor---a-tdd-fairytale" TargetMode="Externa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9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7.png"/><Relationship Id="rId4" Type="http://schemas.openxmlformats.org/officeDocument/2006/relationships/hyperlink" Target="https://thumbs.dreamstime.com/x/business-person-eating-pizza-computer-8427611.jpg" TargetMode="Externa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Relationship Id="rId3" Type="http://schemas.openxmlformats.org/officeDocument/2006/relationships/hyperlink" Target="http://www.automatedtestinginstitute.com/home/images/stories/Functional.jpg" TargetMode="External"/><Relationship Id="rId4" Type="http://schemas.openxmlformats.org/officeDocument/2006/relationships/hyperlink" Target="http://ryantablada.com/post/red-green-refactor---a-tdd-fairytale" TargetMode="Externa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8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8"/>
          <p:cNvSpPr txBox="1"/>
          <p:nvPr>
            <p:ph type="title"/>
          </p:nvPr>
        </p:nvSpPr>
        <p:spPr>
          <a:xfrm>
            <a:off x="166800" y="92501"/>
            <a:ext cx="8229600" cy="495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Announcements</a:t>
            </a:r>
            <a:endParaRPr/>
          </a:p>
        </p:txBody>
      </p:sp>
      <p:sp>
        <p:nvSpPr>
          <p:cNvPr id="32" name="Google Shape;32;p8"/>
          <p:cNvSpPr txBox="1"/>
          <p:nvPr>
            <p:ph idx="1" type="body"/>
          </p:nvPr>
        </p:nvSpPr>
        <p:spPr>
          <a:xfrm>
            <a:off x="243000" y="556500"/>
            <a:ext cx="8443800" cy="415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The slides for this lecture are particularly unhelpful without consulting either the textbook or the web videos. If you feel like you’re missing something you are, see those resources instead.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9"/>
          <p:cNvSpPr txBox="1"/>
          <p:nvPr>
            <p:ph type="title"/>
          </p:nvPr>
        </p:nvSpPr>
        <p:spPr>
          <a:xfrm>
            <a:off x="166800" y="92501"/>
            <a:ext cx="8229600" cy="495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Pre-Announcement</a:t>
            </a:r>
            <a:endParaRPr/>
          </a:p>
        </p:txBody>
      </p:sp>
      <p:sp>
        <p:nvSpPr>
          <p:cNvPr id="38" name="Google Shape;38;p9"/>
          <p:cNvSpPr txBox="1"/>
          <p:nvPr>
            <p:ph idx="1" type="body"/>
          </p:nvPr>
        </p:nvSpPr>
        <p:spPr>
          <a:xfrm>
            <a:off x="243000" y="556500"/>
            <a:ext cx="8443800" cy="415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Project Manager at Autonomous Underwater Vehicles at Berkeley here to say “Join us for sea robots.”</a:t>
            </a:r>
            <a:endParaRPr/>
          </a:p>
          <a:p>
            <a:pPr indent="-355600" lvl="0" marL="457200" rtl="0" algn="l">
              <a:spcBef>
                <a:spcPts val="600"/>
              </a:spcBef>
              <a:spcAft>
                <a:spcPts val="0"/>
              </a:spcAft>
              <a:buSzPts val="2000"/>
              <a:buChar char="●"/>
            </a:pPr>
            <a:r>
              <a:rPr lang="en"/>
              <a:t>Interest in AI, Machine Learning, etc.</a:t>
            </a:r>
            <a:endParaRPr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/>
              <a:t>Email </a:t>
            </a:r>
            <a:r>
              <a:rPr lang="en" u="sng">
                <a:solidFill>
                  <a:schemeClr val="hlink"/>
                </a:solidFill>
                <a:hlinkClick r:id="rId3"/>
              </a:rPr>
              <a:t>auvs.at.berkeley@gmail.com</a:t>
            </a:r>
            <a:endParaRPr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0"/>
          <p:cNvSpPr txBox="1"/>
          <p:nvPr>
            <p:ph type="title"/>
          </p:nvPr>
        </p:nvSpPr>
        <p:spPr>
          <a:xfrm>
            <a:off x="166800" y="92501"/>
            <a:ext cx="8229600" cy="495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Quick Note on Autograders / Debugging</a:t>
            </a:r>
            <a:endParaRPr/>
          </a:p>
        </p:txBody>
      </p:sp>
      <p:sp>
        <p:nvSpPr>
          <p:cNvPr id="44" name="Google Shape;44;p10"/>
          <p:cNvSpPr txBox="1"/>
          <p:nvPr>
            <p:ph idx="1" type="body"/>
          </p:nvPr>
        </p:nvSpPr>
        <p:spPr>
          <a:xfrm>
            <a:off x="243000" y="556500"/>
            <a:ext cx="8680200" cy="415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Autograder is not intended to be your debugging tool.</a:t>
            </a:r>
            <a:endParaRPr/>
          </a:p>
          <a:p>
            <a:pPr indent="-355600" lvl="0" marL="457200" rtl="0" algn="l">
              <a:spcBef>
                <a:spcPts val="600"/>
              </a:spcBef>
              <a:spcAft>
                <a:spcPts val="0"/>
              </a:spcAft>
              <a:buSzPts val="2000"/>
              <a:buChar char="●"/>
            </a:pPr>
            <a:r>
              <a:rPr lang="en"/>
              <a:t>It is a bad habit to rely on teacher provided tools for correctness.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Example: Your LinkedListDeque is failing in the autograder, but works fine when you run the provided </a:t>
            </a:r>
            <a:r>
              <a:rPr lang="en"/>
              <a:t>are passing LinkedListDequeTest</a:t>
            </a:r>
            <a:r>
              <a:rPr lang="en"/>
              <a:t>.java file.</a:t>
            </a:r>
            <a:endParaRPr/>
          </a:p>
          <a:p>
            <a:pPr indent="-355600" lvl="0" marL="457200" rtl="0" algn="l">
              <a:spcBef>
                <a:spcPts val="600"/>
              </a:spcBef>
              <a:spcAft>
                <a:spcPts val="0"/>
              </a:spcAft>
              <a:buSzPts val="2000"/>
              <a:buChar char="●"/>
            </a:pPr>
            <a:r>
              <a:rPr lang="en"/>
              <a:t>Approach #0: Assume the autograder is broken (unlikely but possible).</a:t>
            </a:r>
            <a:endParaRPr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/>
              <a:t>Approach #1: Visually inspect your code for errors. Sometimes works.</a:t>
            </a:r>
            <a:endParaRPr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/>
              <a:t>Approach #2: Ask for help in office hours / Piazza. OK, but slow! </a:t>
            </a:r>
            <a:endParaRPr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/>
              <a:t>Approach #3: Look inside LinkedListDequeTest.java to see how it works. Add your own tests that fail. Set breakpoints and use the visual debugger to figure out what’s going wrong. </a:t>
            </a:r>
            <a:endParaRPr/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n"/>
              <a:t>We’ll be discussing this sort of approach today.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600"/>
                                        <p:tgtEl>
                                          <p:spTgt spid="4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600"/>
                                        <p:tgtEl>
                                          <p:spTgt spid="4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600"/>
                                        <p:tgtEl>
                                          <p:spTgt spid="4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600"/>
                                        <p:tgtEl>
                                          <p:spTgt spid="4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600"/>
                                        <p:tgtEl>
                                          <p:spTgt spid="44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600"/>
                                        <p:tgtEl>
                                          <p:spTgt spid="44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600"/>
                                        <p:tgtEl>
                                          <p:spTgt spid="44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600"/>
                                        <p:tgtEl>
                                          <p:spTgt spid="44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600"/>
                                        <p:tgtEl>
                                          <p:spTgt spid="44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1"/>
          <p:cNvSpPr txBox="1"/>
          <p:nvPr>
            <p:ph type="ctrTitle"/>
          </p:nvPr>
        </p:nvSpPr>
        <p:spPr>
          <a:xfrm>
            <a:off x="211425" y="1941275"/>
            <a:ext cx="5206200" cy="784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CS61B: 2018</a:t>
            </a:r>
            <a:endParaRPr/>
          </a:p>
        </p:txBody>
      </p:sp>
      <p:sp>
        <p:nvSpPr>
          <p:cNvPr id="50" name="Google Shape;50;p11"/>
          <p:cNvSpPr txBox="1"/>
          <p:nvPr>
            <p:ph idx="1" type="subTitle"/>
          </p:nvPr>
        </p:nvSpPr>
        <p:spPr>
          <a:xfrm>
            <a:off x="161925" y="2688525"/>
            <a:ext cx="7038900" cy="163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Lecture 7: Testing</a:t>
            </a:r>
            <a:endParaRPr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A Simple JUnit test</a:t>
            </a:r>
            <a:endParaRPr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Testing Philosophy</a:t>
            </a:r>
            <a:endParaRPr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Selection Sort</a:t>
            </a:r>
            <a:endParaRPr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Simpler JUnit Tests</a:t>
            </a:r>
            <a:endParaRPr/>
          </a:p>
        </p:txBody>
      </p:sp>
      <p:pic>
        <p:nvPicPr>
          <p:cNvPr id="51" name="Google Shape;51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36675" y="118778"/>
            <a:ext cx="4207875" cy="2362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2"/>
          <p:cNvSpPr txBox="1"/>
          <p:nvPr>
            <p:ph type="title"/>
          </p:nvPr>
        </p:nvSpPr>
        <p:spPr>
          <a:xfrm>
            <a:off x="166800" y="92500"/>
            <a:ext cx="8616300" cy="495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Does a Programmer Know That Their Code Works?</a:t>
            </a:r>
            <a:endParaRPr/>
          </a:p>
        </p:txBody>
      </p:sp>
      <p:sp>
        <p:nvSpPr>
          <p:cNvPr id="57" name="Google Shape;57;p12"/>
          <p:cNvSpPr txBox="1"/>
          <p:nvPr>
            <p:ph idx="1" type="body"/>
          </p:nvPr>
        </p:nvSpPr>
        <p:spPr>
          <a:xfrm>
            <a:off x="243000" y="556500"/>
            <a:ext cx="8443800" cy="415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What evidence did you have for Project 0 in 61B?</a:t>
            </a:r>
            <a:endParaRPr/>
          </a:p>
          <a:p>
            <a:pPr indent="-355600" lvl="0" marL="457200" rtl="0" algn="l">
              <a:spcBef>
                <a:spcPts val="600"/>
              </a:spcBef>
              <a:spcAft>
                <a:spcPts val="0"/>
              </a:spcAft>
              <a:buSzPts val="2000"/>
              <a:buChar char="●"/>
            </a:pPr>
            <a:r>
              <a:rPr lang="en"/>
              <a:t>We gave you some tests.</a:t>
            </a:r>
            <a:endParaRPr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/>
              <a:t>Running main and seeing if the planets move around in a proper planetary way.</a:t>
            </a:r>
            <a:endParaRPr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/>
              <a:t>The real MVP: Autograder.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In the real world, programmers believe their code works because of </a:t>
            </a:r>
            <a:r>
              <a:rPr b="1" lang="en"/>
              <a:t>tests they write themselves</a:t>
            </a:r>
            <a:r>
              <a:rPr lang="en"/>
              <a:t>.</a:t>
            </a:r>
            <a:endParaRPr/>
          </a:p>
          <a:p>
            <a:pPr indent="-355600" lvl="0" marL="457200" rtl="0" algn="l">
              <a:spcBef>
                <a:spcPts val="600"/>
              </a:spcBef>
              <a:spcAft>
                <a:spcPts val="0"/>
              </a:spcAft>
              <a:buSzPts val="2000"/>
              <a:buChar char="●"/>
            </a:pPr>
            <a:r>
              <a:rPr lang="en"/>
              <a:t>Knowing that it works for sure is usually impossible.</a:t>
            </a:r>
            <a:endParaRPr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/>
              <a:t>This will be our new way.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5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5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5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5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57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57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57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57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3"/>
          <p:cNvSpPr txBox="1"/>
          <p:nvPr>
            <p:ph type="title"/>
          </p:nvPr>
        </p:nvSpPr>
        <p:spPr>
          <a:xfrm>
            <a:off x="166800" y="92500"/>
            <a:ext cx="8616300" cy="495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Does a Programmer Know That Their Code Works?</a:t>
            </a:r>
            <a:endParaRPr/>
          </a:p>
        </p:txBody>
      </p:sp>
      <p:sp>
        <p:nvSpPr>
          <p:cNvPr id="63" name="Google Shape;63;p13"/>
          <p:cNvSpPr txBox="1"/>
          <p:nvPr>
            <p:ph idx="1" type="body"/>
          </p:nvPr>
        </p:nvSpPr>
        <p:spPr>
          <a:xfrm>
            <a:off x="243000" y="556500"/>
            <a:ext cx="8443800" cy="415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What evidence did you have for Project 0 in 61B?</a:t>
            </a:r>
            <a:endParaRPr/>
          </a:p>
          <a:p>
            <a:pPr indent="-355600" lvl="0" marL="457200" rtl="0" algn="l">
              <a:spcBef>
                <a:spcPts val="600"/>
              </a:spcBef>
              <a:spcAft>
                <a:spcPts val="0"/>
              </a:spcAft>
              <a:buSzPts val="2000"/>
              <a:buChar char="●"/>
            </a:pPr>
            <a:r>
              <a:rPr lang="en"/>
              <a:t>We gave you some tests.</a:t>
            </a:r>
            <a:endParaRPr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/>
              <a:t>Running main and seeing if the planets move around in a proper planetary way.</a:t>
            </a:r>
            <a:endParaRPr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/>
              <a:t>The real MVP: Autograder.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In the real world, programmers believe their code works because of </a:t>
            </a:r>
            <a:r>
              <a:rPr b="1" lang="en"/>
              <a:t>tests they write themselves</a:t>
            </a:r>
            <a:r>
              <a:rPr lang="en"/>
              <a:t>.</a:t>
            </a:r>
            <a:endParaRPr/>
          </a:p>
          <a:p>
            <a:pPr indent="-355600" lvl="0" marL="457200" rtl="0" algn="l">
              <a:spcBef>
                <a:spcPts val="600"/>
              </a:spcBef>
              <a:spcAft>
                <a:spcPts val="0"/>
              </a:spcAft>
              <a:buSzPts val="2000"/>
              <a:buChar char="●"/>
            </a:pPr>
            <a:r>
              <a:rPr lang="en"/>
              <a:t>Knowing that it works for sure is usually impossible.</a:t>
            </a:r>
            <a:endParaRPr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/>
              <a:t>This will be our new way.</a:t>
            </a:r>
            <a:endParaRPr/>
          </a:p>
        </p:txBody>
      </p:sp>
      <p:pic>
        <p:nvPicPr>
          <p:cNvPr id="64" name="Google Shape;64;p13" title="A New Way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598400" y="288600"/>
            <a:ext cx="6088400" cy="4566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4"/>
          <p:cNvSpPr txBox="1"/>
          <p:nvPr>
            <p:ph type="title"/>
          </p:nvPr>
        </p:nvSpPr>
        <p:spPr>
          <a:xfrm>
            <a:off x="166800" y="92501"/>
            <a:ext cx="8229600" cy="495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Sorting: The McGuffin for Our Testing Adventure</a:t>
            </a:r>
            <a:endParaRPr/>
          </a:p>
        </p:txBody>
      </p:sp>
      <p:sp>
        <p:nvSpPr>
          <p:cNvPr id="70" name="Google Shape;70;p14"/>
          <p:cNvSpPr txBox="1"/>
          <p:nvPr>
            <p:ph idx="1" type="body"/>
          </p:nvPr>
        </p:nvSpPr>
        <p:spPr>
          <a:xfrm>
            <a:off x="243000" y="556500"/>
            <a:ext cx="9010800" cy="127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To try out this new way™, we need a task to complete.</a:t>
            </a:r>
            <a:endParaRPr/>
          </a:p>
          <a:p>
            <a:pPr indent="-355600" lvl="0" marL="457200" rtl="0" algn="l">
              <a:spcBef>
                <a:spcPts val="600"/>
              </a:spcBef>
              <a:spcAft>
                <a:spcPts val="0"/>
              </a:spcAft>
              <a:buSzPts val="2000"/>
              <a:buChar char="●"/>
            </a:pPr>
            <a:r>
              <a:rPr lang="en"/>
              <a:t>Let’s try to write a method that sorts arrays of Strings.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14"/>
          <p:cNvSpPr txBox="1"/>
          <p:nvPr/>
        </p:nvSpPr>
        <p:spPr>
          <a:xfrm>
            <a:off x="1119000" y="2006850"/>
            <a:ext cx="6906000" cy="39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x = {“</a:t>
            </a:r>
            <a:r>
              <a:rPr lang="en" sz="1600">
                <a:solidFill>
                  <a:srgbClr val="9900FF"/>
                </a:solidFill>
                <a:latin typeface="Consolas"/>
                <a:ea typeface="Consolas"/>
                <a:cs typeface="Consolas"/>
                <a:sym typeface="Consolas"/>
              </a:rPr>
              <a:t>he</a:t>
            </a: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”, “</a:t>
            </a:r>
            <a:r>
              <a:rPr lang="en" sz="1600">
                <a:solidFill>
                  <a:srgbClr val="9900FF"/>
                </a:solidFill>
                <a:latin typeface="Consolas"/>
                <a:ea typeface="Consolas"/>
                <a:cs typeface="Consolas"/>
                <a:sym typeface="Consolas"/>
              </a:rPr>
              <a:t>is</a:t>
            </a: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”, “</a:t>
            </a:r>
            <a:r>
              <a:rPr lang="en" sz="1600">
                <a:solidFill>
                  <a:srgbClr val="9900FF"/>
                </a:solidFill>
                <a:latin typeface="Consolas"/>
                <a:ea typeface="Consolas"/>
                <a:cs typeface="Consolas"/>
                <a:sym typeface="Consolas"/>
              </a:rPr>
              <a:t>the</a:t>
            </a: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”, “</a:t>
            </a:r>
            <a:r>
              <a:rPr lang="en" sz="1600">
                <a:solidFill>
                  <a:srgbClr val="9900FF"/>
                </a:solidFill>
                <a:latin typeface="Consolas"/>
                <a:ea typeface="Consolas"/>
                <a:cs typeface="Consolas"/>
                <a:sym typeface="Consolas"/>
              </a:rPr>
              <a:t>agoyatis</a:t>
            </a: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”, “</a:t>
            </a:r>
            <a:r>
              <a:rPr lang="en" sz="1600">
                <a:solidFill>
                  <a:srgbClr val="9900FF"/>
                </a:solidFill>
                <a:latin typeface="Consolas"/>
                <a:ea typeface="Consolas"/>
                <a:cs typeface="Consolas"/>
                <a:sym typeface="Consolas"/>
              </a:rPr>
              <a:t>of</a:t>
            </a: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”, “</a:t>
            </a:r>
            <a:r>
              <a:rPr lang="en" sz="1600">
                <a:solidFill>
                  <a:srgbClr val="9900FF"/>
                </a:solidFill>
                <a:latin typeface="Consolas"/>
                <a:ea typeface="Consolas"/>
                <a:cs typeface="Consolas"/>
                <a:sym typeface="Consolas"/>
              </a:rPr>
              <a:t>mr.</a:t>
            </a: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”, “</a:t>
            </a:r>
            <a:r>
              <a:rPr lang="en" sz="1600">
                <a:solidFill>
                  <a:srgbClr val="9900FF"/>
                </a:solidFill>
                <a:latin typeface="Consolas"/>
                <a:ea typeface="Consolas"/>
                <a:cs typeface="Consolas"/>
                <a:sym typeface="Consolas"/>
              </a:rPr>
              <a:t>conchis</a:t>
            </a: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”}</a:t>
            </a:r>
            <a:endParaRPr sz="1800">
              <a:highlight>
                <a:srgbClr val="000000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2" name="Google Shape;72;p14"/>
          <p:cNvSpPr/>
          <p:nvPr/>
        </p:nvSpPr>
        <p:spPr>
          <a:xfrm>
            <a:off x="2784900" y="2844825"/>
            <a:ext cx="3574200" cy="930900"/>
          </a:xfrm>
          <a:prstGeom prst="rect">
            <a:avLst/>
          </a:prstGeom>
          <a:solidFill>
            <a:srgbClr val="C9DAF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public static void sort(String[] x)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3" name="Google Shape;73;p14"/>
          <p:cNvSpPr txBox="1"/>
          <p:nvPr/>
        </p:nvSpPr>
        <p:spPr>
          <a:xfrm>
            <a:off x="1119000" y="4311650"/>
            <a:ext cx="6906000" cy="39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x = {“</a:t>
            </a:r>
            <a:r>
              <a:rPr lang="en" sz="1600">
                <a:solidFill>
                  <a:srgbClr val="9900FF"/>
                </a:solidFill>
                <a:latin typeface="Consolas"/>
                <a:ea typeface="Consolas"/>
                <a:cs typeface="Consolas"/>
                <a:sym typeface="Consolas"/>
              </a:rPr>
              <a:t>agoyatis</a:t>
            </a: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”, “</a:t>
            </a:r>
            <a:r>
              <a:rPr lang="en" sz="1600">
                <a:solidFill>
                  <a:srgbClr val="9900FF"/>
                </a:solidFill>
                <a:latin typeface="Consolas"/>
                <a:ea typeface="Consolas"/>
                <a:cs typeface="Consolas"/>
                <a:sym typeface="Consolas"/>
              </a:rPr>
              <a:t>conchis</a:t>
            </a: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”, “</a:t>
            </a:r>
            <a:r>
              <a:rPr lang="en" sz="1600">
                <a:solidFill>
                  <a:srgbClr val="9900FF"/>
                </a:solidFill>
                <a:latin typeface="Consolas"/>
                <a:ea typeface="Consolas"/>
                <a:cs typeface="Consolas"/>
                <a:sym typeface="Consolas"/>
              </a:rPr>
              <a:t>he</a:t>
            </a: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”, “</a:t>
            </a:r>
            <a:r>
              <a:rPr lang="en" sz="1600">
                <a:solidFill>
                  <a:srgbClr val="9900FF"/>
                </a:solidFill>
                <a:latin typeface="Consolas"/>
                <a:ea typeface="Consolas"/>
                <a:cs typeface="Consolas"/>
                <a:sym typeface="Consolas"/>
              </a:rPr>
              <a:t>is</a:t>
            </a: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”, “</a:t>
            </a:r>
            <a:r>
              <a:rPr lang="en" sz="1600">
                <a:solidFill>
                  <a:srgbClr val="9900FF"/>
                </a:solidFill>
                <a:latin typeface="Consolas"/>
                <a:ea typeface="Consolas"/>
                <a:cs typeface="Consolas"/>
                <a:sym typeface="Consolas"/>
              </a:rPr>
              <a:t>mr.</a:t>
            </a: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”, “</a:t>
            </a:r>
            <a:r>
              <a:rPr lang="en" sz="1600">
                <a:solidFill>
                  <a:srgbClr val="9900FF"/>
                </a:solidFill>
                <a:latin typeface="Consolas"/>
                <a:ea typeface="Consolas"/>
                <a:cs typeface="Consolas"/>
                <a:sym typeface="Consolas"/>
              </a:rPr>
              <a:t>of</a:t>
            </a: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”, “</a:t>
            </a:r>
            <a:r>
              <a:rPr lang="en" sz="1600">
                <a:solidFill>
                  <a:srgbClr val="9900FF"/>
                </a:solidFill>
                <a:latin typeface="Consolas"/>
                <a:ea typeface="Consolas"/>
                <a:cs typeface="Consolas"/>
                <a:sym typeface="Consolas"/>
              </a:rPr>
              <a:t>the</a:t>
            </a: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”}</a:t>
            </a:r>
            <a:endParaRPr sz="1800">
              <a:highlight>
                <a:srgbClr val="000000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74" name="Google Shape;74;p14"/>
          <p:cNvCxnSpPr>
            <a:stCxn id="71" idx="2"/>
            <a:endCxn id="72" idx="0"/>
          </p:cNvCxnSpPr>
          <p:nvPr/>
        </p:nvCxnSpPr>
        <p:spPr>
          <a:xfrm>
            <a:off x="4572000" y="2405250"/>
            <a:ext cx="0" cy="439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5" name="Google Shape;75;p14"/>
          <p:cNvCxnSpPr>
            <a:stCxn id="72" idx="2"/>
            <a:endCxn id="73" idx="0"/>
          </p:cNvCxnSpPr>
          <p:nvPr/>
        </p:nvCxnSpPr>
        <p:spPr>
          <a:xfrm>
            <a:off x="4572000" y="3775725"/>
            <a:ext cx="0" cy="535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5"/>
          <p:cNvSpPr txBox="1"/>
          <p:nvPr>
            <p:ph type="title"/>
          </p:nvPr>
        </p:nvSpPr>
        <p:spPr>
          <a:xfrm>
            <a:off x="166800" y="92501"/>
            <a:ext cx="8229600" cy="495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Old Way</a:t>
            </a:r>
            <a:endParaRPr/>
          </a:p>
        </p:txBody>
      </p:sp>
      <p:sp>
        <p:nvSpPr>
          <p:cNvPr id="81" name="Google Shape;81;p15"/>
          <p:cNvSpPr/>
          <p:nvPr/>
        </p:nvSpPr>
        <p:spPr>
          <a:xfrm>
            <a:off x="165750" y="3957275"/>
            <a:ext cx="3574200" cy="930900"/>
          </a:xfrm>
          <a:prstGeom prst="rect">
            <a:avLst/>
          </a:prstGeom>
          <a:solidFill>
            <a:srgbClr val="C9DAF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public static void sort(String[] x)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82" name="Google Shape;82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67775" y="2194900"/>
            <a:ext cx="1649051" cy="15943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83" name="Google Shape;83;p15"/>
          <p:cNvCxnSpPr>
            <a:stCxn id="82" idx="1"/>
            <a:endCxn id="81" idx="0"/>
          </p:cNvCxnSpPr>
          <p:nvPr/>
        </p:nvCxnSpPr>
        <p:spPr>
          <a:xfrm flipH="1">
            <a:off x="1952975" y="2992063"/>
            <a:ext cx="1114800" cy="965100"/>
          </a:xfrm>
          <a:prstGeom prst="bentConnector2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84" name="Google Shape;84;p15"/>
          <p:cNvSpPr txBox="1"/>
          <p:nvPr/>
        </p:nvSpPr>
        <p:spPr>
          <a:xfrm>
            <a:off x="2764825" y="2024888"/>
            <a:ext cx="1145100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Autograder</a:t>
            </a:r>
            <a:endParaRPr/>
          </a:p>
        </p:txBody>
      </p:sp>
      <p:grpSp>
        <p:nvGrpSpPr>
          <p:cNvPr id="85" name="Google Shape;85;p15"/>
          <p:cNvGrpSpPr/>
          <p:nvPr/>
        </p:nvGrpSpPr>
        <p:grpSpPr>
          <a:xfrm>
            <a:off x="4652291" y="92488"/>
            <a:ext cx="4407300" cy="2958000"/>
            <a:chOff x="3296375" y="92488"/>
            <a:chExt cx="4407300" cy="2958000"/>
          </a:xfrm>
        </p:grpSpPr>
        <p:sp>
          <p:nvSpPr>
            <p:cNvPr id="86" name="Google Shape;86;p15"/>
            <p:cNvSpPr/>
            <p:nvPr/>
          </p:nvSpPr>
          <p:spPr>
            <a:xfrm flipH="1">
              <a:off x="3296375" y="92488"/>
              <a:ext cx="4407300" cy="2958000"/>
            </a:xfrm>
            <a:prstGeom prst="flowChartMagneticTape">
              <a:avLst/>
            </a:prstGeom>
            <a:solidFill>
              <a:srgbClr val="FFFFFF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87" name="Google Shape;87;p1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3983766" y="587799"/>
              <a:ext cx="3102900" cy="1827601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300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6"/>
          <p:cNvSpPr txBox="1"/>
          <p:nvPr>
            <p:ph type="title"/>
          </p:nvPr>
        </p:nvSpPr>
        <p:spPr>
          <a:xfrm>
            <a:off x="166800" y="92501"/>
            <a:ext cx="8229600" cy="495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New Way</a:t>
            </a:r>
            <a:endParaRPr/>
          </a:p>
        </p:txBody>
      </p:sp>
      <p:sp>
        <p:nvSpPr>
          <p:cNvPr id="93" name="Google Shape;93;p16"/>
          <p:cNvSpPr txBox="1"/>
          <p:nvPr/>
        </p:nvSpPr>
        <p:spPr>
          <a:xfrm>
            <a:off x="3867518" y="2433527"/>
            <a:ext cx="1145100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Your Test</a:t>
            </a:r>
            <a:endParaRPr/>
          </a:p>
        </p:txBody>
      </p:sp>
      <p:sp>
        <p:nvSpPr>
          <p:cNvPr id="94" name="Google Shape;94;p16"/>
          <p:cNvSpPr/>
          <p:nvPr/>
        </p:nvSpPr>
        <p:spPr>
          <a:xfrm>
            <a:off x="3203468" y="2776440"/>
            <a:ext cx="2473200" cy="427500"/>
          </a:xfrm>
          <a:prstGeom prst="rect">
            <a:avLst/>
          </a:prstGeom>
          <a:solidFill>
            <a:srgbClr val="B6D7A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void testSort()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95" name="Google Shape;95;p16"/>
          <p:cNvCxnSpPr>
            <a:stCxn id="94" idx="1"/>
            <a:endCxn id="96" idx="0"/>
          </p:cNvCxnSpPr>
          <p:nvPr/>
        </p:nvCxnSpPr>
        <p:spPr>
          <a:xfrm flipH="1">
            <a:off x="1952768" y="2990190"/>
            <a:ext cx="1250700" cy="967200"/>
          </a:xfrm>
          <a:prstGeom prst="bentConnector2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96" name="Google Shape;96;p16"/>
          <p:cNvSpPr/>
          <p:nvPr/>
        </p:nvSpPr>
        <p:spPr>
          <a:xfrm>
            <a:off x="165750" y="3957275"/>
            <a:ext cx="3574200" cy="930900"/>
          </a:xfrm>
          <a:prstGeom prst="rect">
            <a:avLst/>
          </a:prstGeom>
          <a:solidFill>
            <a:srgbClr val="C9DAF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public static void sort(String[] x)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97" name="Google Shape;97;p16"/>
          <p:cNvSpPr txBox="1"/>
          <p:nvPr>
            <p:ph idx="1" type="body"/>
          </p:nvPr>
        </p:nvSpPr>
        <p:spPr>
          <a:xfrm>
            <a:off x="243000" y="556500"/>
            <a:ext cx="8365800" cy="111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</a:rPr>
              <a:t>In this lecture we’ll write </a:t>
            </a:r>
            <a:r>
              <a:rPr lang="en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sort</a:t>
            </a:r>
            <a:r>
              <a:rPr lang="en">
                <a:solidFill>
                  <a:srgbClr val="000000"/>
                </a:solidFill>
              </a:rPr>
              <a:t>, as well as our own test for </a:t>
            </a:r>
            <a:r>
              <a:rPr lang="en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sort</a:t>
            </a:r>
            <a:r>
              <a:rPr lang="en">
                <a:solidFill>
                  <a:srgbClr val="000000"/>
                </a:solidFill>
              </a:rPr>
              <a:t>.</a:t>
            </a:r>
            <a:endParaRPr>
              <a:solidFill>
                <a:srgbClr val="000000"/>
              </a:solidFill>
            </a:endParaRPr>
          </a:p>
          <a:p>
            <a:pPr indent="-355600" lvl="0" marL="457200" rtl="0" algn="l"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000"/>
              <a:buChar char="●"/>
            </a:pPr>
            <a:r>
              <a:rPr lang="en">
                <a:solidFill>
                  <a:srgbClr val="000000"/>
                </a:solidFill>
              </a:rPr>
              <a:t>Even crazier idea: We’ll start by writing </a:t>
            </a:r>
            <a:r>
              <a:rPr lang="en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testSort</a:t>
            </a:r>
            <a:r>
              <a:rPr lang="en">
                <a:solidFill>
                  <a:srgbClr val="000000"/>
                </a:solidFill>
              </a:rPr>
              <a:t> first!</a:t>
            </a:r>
            <a:endParaRPr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9EAD3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7"/>
          <p:cNvSpPr txBox="1"/>
          <p:nvPr>
            <p:ph type="title"/>
          </p:nvPr>
        </p:nvSpPr>
        <p:spPr>
          <a:xfrm>
            <a:off x="928950" y="2143050"/>
            <a:ext cx="7286100" cy="857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/>
              <a:t>Ad Hoc Testing vs. JUnit</a:t>
            </a:r>
            <a:endParaRPr sz="48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8"/>
          <p:cNvSpPr txBox="1"/>
          <p:nvPr>
            <p:ph type="title"/>
          </p:nvPr>
        </p:nvSpPr>
        <p:spPr>
          <a:xfrm>
            <a:off x="166800" y="92501"/>
            <a:ext cx="8229600" cy="495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Ad-Hoc Testing is Tedious</a:t>
            </a:r>
            <a:endParaRPr/>
          </a:p>
        </p:txBody>
      </p:sp>
      <p:sp>
        <p:nvSpPr>
          <p:cNvPr id="108" name="Google Shape;108;p18"/>
          <p:cNvSpPr/>
          <p:nvPr/>
        </p:nvSpPr>
        <p:spPr>
          <a:xfrm>
            <a:off x="1745550" y="2097250"/>
            <a:ext cx="3574200" cy="930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public static void sort(String[] inputs)</a:t>
            </a:r>
            <a:endParaRPr sz="18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09" name="Google Shape;109;p18"/>
          <p:cNvSpPr txBox="1"/>
          <p:nvPr/>
        </p:nvSpPr>
        <p:spPr>
          <a:xfrm>
            <a:off x="301950" y="667250"/>
            <a:ext cx="8540100" cy="42105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public class</a:t>
            </a:r>
            <a:r>
              <a:rPr lang="en" sz="11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TestSort {</a:t>
            </a:r>
            <a:endParaRPr sz="11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i="1" lang="en" sz="1100">
                <a:solidFill>
                  <a:srgbClr val="AC2020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/** Tests the sort method of the Sort class. */</a:t>
            </a:r>
            <a:endParaRPr i="1" sz="1100">
              <a:solidFill>
                <a:srgbClr val="AC2020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b="1" lang="en" sz="11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public static</a:t>
            </a:r>
            <a:r>
              <a:rPr lang="en" sz="11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100">
                <a:solidFill>
                  <a:srgbClr val="208920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void</a:t>
            </a:r>
            <a:r>
              <a:rPr lang="en" sz="11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testSort() {</a:t>
            </a:r>
            <a:endParaRPr sz="11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     String[] input = {</a:t>
            </a:r>
            <a:r>
              <a:rPr lang="en" sz="1100">
                <a:solidFill>
                  <a:srgbClr val="BD8D8B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"beware"</a:t>
            </a:r>
            <a:r>
              <a:rPr lang="en" sz="11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, </a:t>
            </a:r>
            <a:r>
              <a:rPr lang="en" sz="1100">
                <a:solidFill>
                  <a:srgbClr val="BD8D8B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"of"</a:t>
            </a:r>
            <a:r>
              <a:rPr lang="en" sz="11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" sz="1100">
                <a:solidFill>
                  <a:srgbClr val="BD8D8B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"falling"</a:t>
            </a:r>
            <a:r>
              <a:rPr lang="en" sz="11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" sz="1100">
                <a:solidFill>
                  <a:srgbClr val="BD8D8B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"rocks"</a:t>
            </a:r>
            <a:r>
              <a:rPr lang="en" sz="11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};</a:t>
            </a:r>
            <a:endParaRPr sz="11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     String[] expected = {</a:t>
            </a:r>
            <a:r>
              <a:rPr lang="en" sz="1100">
                <a:solidFill>
                  <a:srgbClr val="BD8D8B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"beware"</a:t>
            </a:r>
            <a:r>
              <a:rPr lang="en" sz="11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, </a:t>
            </a:r>
            <a:r>
              <a:rPr lang="en" sz="1100">
                <a:solidFill>
                  <a:srgbClr val="BD8D8B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"falling"</a:t>
            </a:r>
            <a:r>
              <a:rPr lang="en" sz="11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" sz="1100">
                <a:solidFill>
                  <a:srgbClr val="BD8D8B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"of"</a:t>
            </a:r>
            <a:r>
              <a:rPr lang="en" sz="11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" sz="1100">
                <a:solidFill>
                  <a:srgbClr val="BD8D8B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"rocks"</a:t>
            </a:r>
            <a:r>
              <a:rPr lang="en" sz="11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};</a:t>
            </a:r>
            <a:endParaRPr sz="11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     Sort.sort(input);</a:t>
            </a:r>
            <a:endParaRPr sz="11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endParaRPr sz="11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b="1" lang="en" sz="11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for</a:t>
            </a:r>
            <a:r>
              <a:rPr lang="en" sz="11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(</a:t>
            </a:r>
            <a:r>
              <a:rPr lang="en" sz="1100">
                <a:solidFill>
                  <a:srgbClr val="208920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" sz="11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i = 0; i &lt; input.length; i += 1) {</a:t>
            </a:r>
            <a:endParaRPr sz="11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 	      </a:t>
            </a:r>
            <a:r>
              <a:rPr b="1" lang="en" sz="11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if</a:t>
            </a:r>
            <a:r>
              <a:rPr lang="en" sz="11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(!input[i].equals(expected[i])) {</a:t>
            </a:r>
            <a:endParaRPr sz="11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 	          System.out.println(</a:t>
            </a:r>
            <a:r>
              <a:rPr lang="en" sz="1100">
                <a:solidFill>
                  <a:srgbClr val="BD8D8B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"Mismatch at position "</a:t>
            </a:r>
            <a:r>
              <a:rPr lang="en" sz="11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+ i + </a:t>
            </a:r>
            <a:r>
              <a:rPr lang="en" sz="1100">
                <a:solidFill>
                  <a:srgbClr val="BD8D8B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", expected: '"</a:t>
            </a:r>
            <a:r>
              <a:rPr lang="en" sz="11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+ expected[i] + </a:t>
            </a:r>
            <a:endParaRPr sz="11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rgbClr val="BD8D8B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                          "', but got '"</a:t>
            </a:r>
            <a:r>
              <a:rPr lang="en" sz="11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+ input[i] + </a:t>
            </a:r>
            <a:r>
              <a:rPr lang="en" sz="1100">
                <a:solidFill>
                  <a:srgbClr val="BD8D8B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"'"</a:t>
            </a:r>
            <a:r>
              <a:rPr lang="en" sz="11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);</a:t>
            </a:r>
            <a:endParaRPr sz="11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 	          </a:t>
            </a:r>
            <a:r>
              <a:rPr b="1" lang="en" sz="11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return</a:t>
            </a:r>
            <a:r>
              <a:rPr lang="en" sz="11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1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	      }</a:t>
            </a:r>
            <a:endParaRPr sz="11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     }</a:t>
            </a:r>
            <a:endParaRPr sz="11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 }</a:t>
            </a:r>
            <a:endParaRPr sz="11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endParaRPr sz="11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b="1" lang="en" sz="11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public static</a:t>
            </a:r>
            <a:r>
              <a:rPr lang="en" sz="11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100">
                <a:solidFill>
                  <a:srgbClr val="208920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void</a:t>
            </a:r>
            <a:r>
              <a:rPr lang="en" sz="11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main(String[] args) {</a:t>
            </a:r>
            <a:endParaRPr sz="11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	  testSort();</a:t>
            </a:r>
            <a:endParaRPr sz="11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 }</a:t>
            </a:r>
            <a:endParaRPr sz="11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1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1100">
              <a:solidFill>
                <a:srgbClr val="AC2020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10" name="Google Shape;110;p18"/>
          <p:cNvSpPr/>
          <p:nvPr/>
        </p:nvSpPr>
        <p:spPr>
          <a:xfrm>
            <a:off x="973850" y="2026412"/>
            <a:ext cx="6939900" cy="1441800"/>
          </a:xfrm>
          <a:prstGeom prst="rect">
            <a:avLst/>
          </a:prstGeom>
          <a:noFill/>
          <a:ln cap="flat" cmpd="sng" w="19050">
            <a:solidFill>
              <a:srgbClr val="BE071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11" name="Google Shape;111;p18"/>
          <p:cNvCxnSpPr/>
          <p:nvPr/>
        </p:nvCxnSpPr>
        <p:spPr>
          <a:xfrm flipH="1">
            <a:off x="6486152" y="1487473"/>
            <a:ext cx="387600" cy="444300"/>
          </a:xfrm>
          <a:prstGeom prst="straightConnector1">
            <a:avLst/>
          </a:prstGeom>
          <a:noFill/>
          <a:ln cap="flat" cmpd="sng" w="19050">
            <a:solidFill>
              <a:srgbClr val="BE071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12" name="Google Shape;112;p18"/>
          <p:cNvSpPr txBox="1"/>
          <p:nvPr/>
        </p:nvSpPr>
        <p:spPr>
          <a:xfrm>
            <a:off x="5748050" y="891807"/>
            <a:ext cx="2874300" cy="69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E0712"/>
                </a:solidFill>
              </a:rPr>
              <a:t>JUnit saves us the trouble of writing code like this (and more!).</a:t>
            </a:r>
            <a:endParaRPr>
              <a:solidFill>
                <a:srgbClr val="BE0712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9"/>
          <p:cNvSpPr txBox="1"/>
          <p:nvPr>
            <p:ph type="title"/>
          </p:nvPr>
        </p:nvSpPr>
        <p:spPr>
          <a:xfrm>
            <a:off x="166800" y="92501"/>
            <a:ext cx="8229600" cy="495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JUnit: A Library for Making Testing Easier (example below)</a:t>
            </a:r>
            <a:endParaRPr/>
          </a:p>
        </p:txBody>
      </p:sp>
      <p:sp>
        <p:nvSpPr>
          <p:cNvPr id="118" name="Google Shape;118;p19"/>
          <p:cNvSpPr/>
          <p:nvPr/>
        </p:nvSpPr>
        <p:spPr>
          <a:xfrm>
            <a:off x="1745550" y="2097250"/>
            <a:ext cx="3574200" cy="930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public static void sort(String[] inputs)</a:t>
            </a:r>
            <a:endParaRPr sz="18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19" name="Google Shape;119;p19"/>
          <p:cNvSpPr txBox="1"/>
          <p:nvPr/>
        </p:nvSpPr>
        <p:spPr>
          <a:xfrm>
            <a:off x="301950" y="667250"/>
            <a:ext cx="8540100" cy="42105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public class</a:t>
            </a:r>
            <a:r>
              <a:rPr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TestSort {</a:t>
            </a:r>
            <a:endParaRPr sz="19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i="1" lang="en" sz="1900">
                <a:solidFill>
                  <a:srgbClr val="AC2020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/** Tests the sort method of the Sort class. */</a:t>
            </a:r>
            <a:r>
              <a:rPr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</a:t>
            </a:r>
            <a:endParaRPr sz="19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public static</a:t>
            </a:r>
            <a:r>
              <a:rPr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testSort() {</a:t>
            </a:r>
            <a:endParaRPr sz="19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 String[] input = {</a:t>
            </a:r>
            <a:r>
              <a:rPr lang="en" sz="1900">
                <a:solidFill>
                  <a:srgbClr val="BD8D8B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"cows"</a:t>
            </a:r>
            <a:r>
              <a:rPr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" sz="1900">
                <a:solidFill>
                  <a:srgbClr val="BD8D8B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"dwell"</a:t>
            </a:r>
            <a:r>
              <a:rPr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" sz="1900">
                <a:solidFill>
                  <a:srgbClr val="BD8D8B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"above"</a:t>
            </a:r>
            <a:r>
              <a:rPr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" sz="1900">
                <a:solidFill>
                  <a:srgbClr val="BD8D8B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"clouds"</a:t>
            </a:r>
            <a:r>
              <a:rPr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};</a:t>
            </a:r>
            <a:endParaRPr sz="19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 String[] expected = {</a:t>
            </a:r>
            <a:r>
              <a:rPr lang="en" sz="1900">
                <a:solidFill>
                  <a:srgbClr val="BD8D8B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"above"</a:t>
            </a:r>
            <a:r>
              <a:rPr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" sz="1900">
                <a:solidFill>
                  <a:srgbClr val="BD8D8B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"cows"</a:t>
            </a:r>
            <a:r>
              <a:rPr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" sz="1900">
                <a:solidFill>
                  <a:srgbClr val="BD8D8B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"clouds"</a:t>
            </a:r>
            <a:r>
              <a:rPr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" sz="1900">
                <a:solidFill>
                  <a:srgbClr val="BD8D8B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"dwell"</a:t>
            </a:r>
            <a:r>
              <a:rPr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};</a:t>
            </a:r>
            <a:endParaRPr sz="19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 Sort.sort(input);</a:t>
            </a:r>
            <a:endParaRPr sz="19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endParaRPr sz="19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 org.junit.Assert.assertArrayEquals(expected, input);</a:t>
            </a:r>
            <a:endParaRPr sz="19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}</a:t>
            </a:r>
            <a:endParaRPr sz="19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endParaRPr sz="19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b="1" lang="en" sz="19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public static</a:t>
            </a:r>
            <a:r>
              <a:rPr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900">
                <a:solidFill>
                  <a:srgbClr val="208920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void</a:t>
            </a:r>
            <a:r>
              <a:rPr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main(String[] args) {</a:t>
            </a:r>
            <a:endParaRPr sz="19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 testSort();</a:t>
            </a:r>
            <a:endParaRPr sz="19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}</a:t>
            </a:r>
            <a:endParaRPr sz="19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}</a:t>
            </a:r>
            <a:endParaRPr i="1" sz="1900">
              <a:solidFill>
                <a:srgbClr val="AC2020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9EAD3"/>
        </a:solidFill>
      </p:bgPr>
    </p:bg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0"/>
          <p:cNvSpPr txBox="1"/>
          <p:nvPr>
            <p:ph type="title"/>
          </p:nvPr>
        </p:nvSpPr>
        <p:spPr>
          <a:xfrm>
            <a:off x="928950" y="2143050"/>
            <a:ext cx="7286100" cy="857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/>
              <a:t>Selection Sort</a:t>
            </a:r>
            <a:endParaRPr sz="48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1"/>
          <p:cNvSpPr txBox="1"/>
          <p:nvPr>
            <p:ph type="title"/>
          </p:nvPr>
        </p:nvSpPr>
        <p:spPr>
          <a:xfrm>
            <a:off x="166800" y="92501"/>
            <a:ext cx="8229600" cy="495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Back to Sorting: Selection Sort</a:t>
            </a:r>
            <a:endParaRPr/>
          </a:p>
        </p:txBody>
      </p:sp>
      <p:sp>
        <p:nvSpPr>
          <p:cNvPr id="130" name="Google Shape;130;p21"/>
          <p:cNvSpPr txBox="1"/>
          <p:nvPr>
            <p:ph idx="1" type="body"/>
          </p:nvPr>
        </p:nvSpPr>
        <p:spPr>
          <a:xfrm>
            <a:off x="243000" y="556500"/>
            <a:ext cx="8443800" cy="150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Selection sorting a list of N items:</a:t>
            </a:r>
            <a:endParaRPr/>
          </a:p>
          <a:p>
            <a:pPr indent="-355600" lvl="0" marL="457200" rtl="0" algn="l">
              <a:spcBef>
                <a:spcPts val="600"/>
              </a:spcBef>
              <a:spcAft>
                <a:spcPts val="0"/>
              </a:spcAft>
              <a:buSzPts val="2000"/>
              <a:buChar char="●"/>
            </a:pPr>
            <a:r>
              <a:rPr lang="en"/>
              <a:t>Find the smallest item.</a:t>
            </a:r>
            <a:endParaRPr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/>
              <a:t>Move it to the front.</a:t>
            </a:r>
            <a:endParaRPr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/>
              <a:t>Selection sort the remaining N-1 items (without touching front item!).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21"/>
          <p:cNvSpPr txBox="1"/>
          <p:nvPr/>
        </p:nvSpPr>
        <p:spPr>
          <a:xfrm>
            <a:off x="76075" y="4732200"/>
            <a:ext cx="5729400" cy="36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As an aside: Can prove correctness of this sort using invariants.</a:t>
            </a:r>
            <a:endParaRPr/>
          </a:p>
        </p:txBody>
      </p:sp>
      <p:grpSp>
        <p:nvGrpSpPr>
          <p:cNvPr id="132" name="Google Shape;132;p21"/>
          <p:cNvGrpSpPr/>
          <p:nvPr/>
        </p:nvGrpSpPr>
        <p:grpSpPr>
          <a:xfrm>
            <a:off x="3373850" y="2226248"/>
            <a:ext cx="1815500" cy="307200"/>
            <a:chOff x="6770625" y="2787998"/>
            <a:chExt cx="1815500" cy="307200"/>
          </a:xfrm>
        </p:grpSpPr>
        <p:sp>
          <p:nvSpPr>
            <p:cNvPr id="133" name="Google Shape;133;p21"/>
            <p:cNvSpPr/>
            <p:nvPr/>
          </p:nvSpPr>
          <p:spPr>
            <a:xfrm>
              <a:off x="6770625" y="2787998"/>
              <a:ext cx="307200" cy="307200"/>
            </a:xfrm>
            <a:prstGeom prst="rect">
              <a:avLst/>
            </a:prstGeom>
            <a:solidFill>
              <a:srgbClr val="B1DD8B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latin typeface="Calibri"/>
                  <a:ea typeface="Calibri"/>
                  <a:cs typeface="Calibri"/>
                  <a:sym typeface="Calibri"/>
                </a:rPr>
                <a:t>6</a:t>
              </a:r>
              <a:endParaRPr sz="1800"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4" name="Google Shape;134;p21"/>
            <p:cNvSpPr/>
            <p:nvPr/>
          </p:nvSpPr>
          <p:spPr>
            <a:xfrm>
              <a:off x="7071825" y="2787998"/>
              <a:ext cx="307200" cy="307200"/>
            </a:xfrm>
            <a:prstGeom prst="rect">
              <a:avLst/>
            </a:prstGeom>
            <a:solidFill>
              <a:srgbClr val="B1DD8B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latin typeface="Calibri"/>
                  <a:ea typeface="Calibri"/>
                  <a:cs typeface="Calibri"/>
                  <a:sym typeface="Calibri"/>
                </a:rPr>
                <a:t>3</a:t>
              </a:r>
              <a:endParaRPr sz="1800"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5" name="Google Shape;135;p21"/>
            <p:cNvSpPr/>
            <p:nvPr/>
          </p:nvSpPr>
          <p:spPr>
            <a:xfrm>
              <a:off x="7375602" y="2787998"/>
              <a:ext cx="307200" cy="307200"/>
            </a:xfrm>
            <a:prstGeom prst="rect">
              <a:avLst/>
            </a:prstGeom>
            <a:solidFill>
              <a:srgbClr val="B1DD8B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latin typeface="Calibri"/>
                  <a:ea typeface="Calibri"/>
                  <a:cs typeface="Calibri"/>
                  <a:sym typeface="Calibri"/>
                </a:rPr>
                <a:t>7</a:t>
              </a:r>
              <a:endParaRPr sz="1800"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6" name="Google Shape;136;p21"/>
            <p:cNvSpPr/>
            <p:nvPr/>
          </p:nvSpPr>
          <p:spPr>
            <a:xfrm>
              <a:off x="7676802" y="2787998"/>
              <a:ext cx="307200" cy="307200"/>
            </a:xfrm>
            <a:prstGeom prst="rect">
              <a:avLst/>
            </a:prstGeom>
            <a:solidFill>
              <a:srgbClr val="B1DD8B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 sz="1800"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7" name="Google Shape;137;p21"/>
            <p:cNvSpPr/>
            <p:nvPr/>
          </p:nvSpPr>
          <p:spPr>
            <a:xfrm>
              <a:off x="7977724" y="2787998"/>
              <a:ext cx="307200" cy="307200"/>
            </a:xfrm>
            <a:prstGeom prst="rect">
              <a:avLst/>
            </a:prstGeom>
            <a:solidFill>
              <a:srgbClr val="B1DD8B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latin typeface="Calibri"/>
                  <a:ea typeface="Calibri"/>
                  <a:cs typeface="Calibri"/>
                  <a:sym typeface="Calibri"/>
                </a:rPr>
                <a:t>8</a:t>
              </a:r>
              <a:endParaRPr sz="1800"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8" name="Google Shape;138;p21"/>
            <p:cNvSpPr/>
            <p:nvPr/>
          </p:nvSpPr>
          <p:spPr>
            <a:xfrm>
              <a:off x="8278924" y="2787998"/>
              <a:ext cx="307200" cy="307200"/>
            </a:xfrm>
            <a:prstGeom prst="rect">
              <a:avLst/>
            </a:prstGeom>
            <a:solidFill>
              <a:srgbClr val="B1DD8B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800"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 b="1" sz="1800"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39" name="Google Shape;139;p21"/>
          <p:cNvSpPr/>
          <p:nvPr/>
        </p:nvSpPr>
        <p:spPr>
          <a:xfrm>
            <a:off x="3373850" y="2632823"/>
            <a:ext cx="307200" cy="307200"/>
          </a:xfrm>
          <a:prstGeom prst="rect">
            <a:avLst/>
          </a:prstGeom>
          <a:solidFill>
            <a:srgbClr val="F3F3F3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1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21"/>
          <p:cNvSpPr/>
          <p:nvPr/>
        </p:nvSpPr>
        <p:spPr>
          <a:xfrm>
            <a:off x="3675050" y="2632823"/>
            <a:ext cx="307200" cy="307200"/>
          </a:xfrm>
          <a:prstGeom prst="rect">
            <a:avLst/>
          </a:prstGeom>
          <a:solidFill>
            <a:srgbClr val="B1DD8B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3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21"/>
          <p:cNvSpPr/>
          <p:nvPr/>
        </p:nvSpPr>
        <p:spPr>
          <a:xfrm>
            <a:off x="3978827" y="2632823"/>
            <a:ext cx="307200" cy="307200"/>
          </a:xfrm>
          <a:prstGeom prst="rect">
            <a:avLst/>
          </a:prstGeom>
          <a:solidFill>
            <a:srgbClr val="B1DD8B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7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21"/>
          <p:cNvSpPr/>
          <p:nvPr/>
        </p:nvSpPr>
        <p:spPr>
          <a:xfrm>
            <a:off x="4280027" y="2632823"/>
            <a:ext cx="307200" cy="307200"/>
          </a:xfrm>
          <a:prstGeom prst="rect">
            <a:avLst/>
          </a:prstGeom>
          <a:solidFill>
            <a:srgbClr val="B1DD8B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latin typeface="Calibri"/>
                <a:ea typeface="Calibri"/>
                <a:cs typeface="Calibri"/>
                <a:sym typeface="Calibri"/>
              </a:rPr>
              <a:t>2</a:t>
            </a:r>
            <a:endParaRPr b="1"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21"/>
          <p:cNvSpPr/>
          <p:nvPr/>
        </p:nvSpPr>
        <p:spPr>
          <a:xfrm>
            <a:off x="4580949" y="2632823"/>
            <a:ext cx="307200" cy="307200"/>
          </a:xfrm>
          <a:prstGeom prst="rect">
            <a:avLst/>
          </a:prstGeom>
          <a:solidFill>
            <a:srgbClr val="B1DD8B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8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21"/>
          <p:cNvSpPr/>
          <p:nvPr/>
        </p:nvSpPr>
        <p:spPr>
          <a:xfrm>
            <a:off x="4882149" y="2632823"/>
            <a:ext cx="307200" cy="307200"/>
          </a:xfrm>
          <a:prstGeom prst="rect">
            <a:avLst/>
          </a:prstGeom>
          <a:solidFill>
            <a:srgbClr val="B1DD8B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6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45" name="Google Shape;145;p21"/>
          <p:cNvGrpSpPr/>
          <p:nvPr/>
        </p:nvGrpSpPr>
        <p:grpSpPr>
          <a:xfrm>
            <a:off x="3373850" y="3035748"/>
            <a:ext cx="1815500" cy="307200"/>
            <a:chOff x="6770625" y="3626198"/>
            <a:chExt cx="1815500" cy="307200"/>
          </a:xfrm>
        </p:grpSpPr>
        <p:sp>
          <p:nvSpPr>
            <p:cNvPr id="146" name="Google Shape;146;p21"/>
            <p:cNvSpPr/>
            <p:nvPr/>
          </p:nvSpPr>
          <p:spPr>
            <a:xfrm>
              <a:off x="6770625" y="3626198"/>
              <a:ext cx="307200" cy="307200"/>
            </a:xfrm>
            <a:prstGeom prst="rect">
              <a:avLst/>
            </a:prstGeom>
            <a:solidFill>
              <a:srgbClr val="EFEFEF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 sz="1800"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7" name="Google Shape;147;p21"/>
            <p:cNvSpPr/>
            <p:nvPr/>
          </p:nvSpPr>
          <p:spPr>
            <a:xfrm>
              <a:off x="7071825" y="3626198"/>
              <a:ext cx="307200" cy="307200"/>
            </a:xfrm>
            <a:prstGeom prst="rect">
              <a:avLst/>
            </a:prstGeom>
            <a:solidFill>
              <a:srgbClr val="EFEFEF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 sz="1800"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8" name="Google Shape;148;p21"/>
            <p:cNvSpPr/>
            <p:nvPr/>
          </p:nvSpPr>
          <p:spPr>
            <a:xfrm>
              <a:off x="7375602" y="3626198"/>
              <a:ext cx="307200" cy="307200"/>
            </a:xfrm>
            <a:prstGeom prst="rect">
              <a:avLst/>
            </a:prstGeom>
            <a:solidFill>
              <a:srgbClr val="B1DD8B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latin typeface="Calibri"/>
                  <a:ea typeface="Calibri"/>
                  <a:cs typeface="Calibri"/>
                  <a:sym typeface="Calibri"/>
                </a:rPr>
                <a:t>7</a:t>
              </a:r>
              <a:endParaRPr sz="1800"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9" name="Google Shape;149;p21"/>
            <p:cNvSpPr/>
            <p:nvPr/>
          </p:nvSpPr>
          <p:spPr>
            <a:xfrm>
              <a:off x="7676802" y="3626198"/>
              <a:ext cx="307200" cy="307200"/>
            </a:xfrm>
            <a:prstGeom prst="rect">
              <a:avLst/>
            </a:prstGeom>
            <a:solidFill>
              <a:srgbClr val="B1DD8B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800">
                  <a:latin typeface="Calibri"/>
                  <a:ea typeface="Calibri"/>
                  <a:cs typeface="Calibri"/>
                  <a:sym typeface="Calibri"/>
                </a:rPr>
                <a:t>3</a:t>
              </a:r>
              <a:endParaRPr b="1" sz="1800"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0" name="Google Shape;150;p21"/>
            <p:cNvSpPr/>
            <p:nvPr/>
          </p:nvSpPr>
          <p:spPr>
            <a:xfrm>
              <a:off x="7977724" y="3626198"/>
              <a:ext cx="307200" cy="307200"/>
            </a:xfrm>
            <a:prstGeom prst="rect">
              <a:avLst/>
            </a:prstGeom>
            <a:solidFill>
              <a:srgbClr val="B1DD8B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latin typeface="Calibri"/>
                  <a:ea typeface="Calibri"/>
                  <a:cs typeface="Calibri"/>
                  <a:sym typeface="Calibri"/>
                </a:rPr>
                <a:t>8</a:t>
              </a:r>
              <a:endParaRPr sz="1800"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1" name="Google Shape;151;p21"/>
            <p:cNvSpPr/>
            <p:nvPr/>
          </p:nvSpPr>
          <p:spPr>
            <a:xfrm>
              <a:off x="8278924" y="3626198"/>
              <a:ext cx="307200" cy="307200"/>
            </a:xfrm>
            <a:prstGeom prst="rect">
              <a:avLst/>
            </a:prstGeom>
            <a:solidFill>
              <a:srgbClr val="B1DD8B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latin typeface="Calibri"/>
                  <a:ea typeface="Calibri"/>
                  <a:cs typeface="Calibri"/>
                  <a:sym typeface="Calibri"/>
                </a:rPr>
                <a:t>6</a:t>
              </a:r>
              <a:endParaRPr sz="1800"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52" name="Google Shape;152;p21"/>
          <p:cNvGrpSpPr/>
          <p:nvPr/>
        </p:nvGrpSpPr>
        <p:grpSpPr>
          <a:xfrm>
            <a:off x="3373850" y="3440498"/>
            <a:ext cx="1815500" cy="307200"/>
            <a:chOff x="6770625" y="4032773"/>
            <a:chExt cx="1815500" cy="307200"/>
          </a:xfrm>
        </p:grpSpPr>
        <p:sp>
          <p:nvSpPr>
            <p:cNvPr id="153" name="Google Shape;153;p21"/>
            <p:cNvSpPr/>
            <p:nvPr/>
          </p:nvSpPr>
          <p:spPr>
            <a:xfrm>
              <a:off x="6770625" y="4032773"/>
              <a:ext cx="307200" cy="307200"/>
            </a:xfrm>
            <a:prstGeom prst="rect">
              <a:avLst/>
            </a:prstGeom>
            <a:solidFill>
              <a:srgbClr val="F3F3F3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 sz="1800"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4" name="Google Shape;154;p21"/>
            <p:cNvSpPr/>
            <p:nvPr/>
          </p:nvSpPr>
          <p:spPr>
            <a:xfrm>
              <a:off x="7071825" y="4032773"/>
              <a:ext cx="307200" cy="307200"/>
            </a:xfrm>
            <a:prstGeom prst="rect">
              <a:avLst/>
            </a:prstGeom>
            <a:solidFill>
              <a:srgbClr val="EFEFEF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 sz="1800"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5" name="Google Shape;155;p21"/>
            <p:cNvSpPr/>
            <p:nvPr/>
          </p:nvSpPr>
          <p:spPr>
            <a:xfrm>
              <a:off x="7375602" y="4032773"/>
              <a:ext cx="307200" cy="307200"/>
            </a:xfrm>
            <a:prstGeom prst="rect">
              <a:avLst/>
            </a:prstGeom>
            <a:solidFill>
              <a:srgbClr val="EFEFEF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latin typeface="Calibri"/>
                  <a:ea typeface="Calibri"/>
                  <a:cs typeface="Calibri"/>
                  <a:sym typeface="Calibri"/>
                </a:rPr>
                <a:t>3</a:t>
              </a:r>
              <a:endParaRPr sz="1800"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6" name="Google Shape;156;p21"/>
            <p:cNvSpPr/>
            <p:nvPr/>
          </p:nvSpPr>
          <p:spPr>
            <a:xfrm>
              <a:off x="7676802" y="4032773"/>
              <a:ext cx="307200" cy="307200"/>
            </a:xfrm>
            <a:prstGeom prst="rect">
              <a:avLst/>
            </a:prstGeom>
            <a:solidFill>
              <a:srgbClr val="B1DD8B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latin typeface="Calibri"/>
                  <a:ea typeface="Calibri"/>
                  <a:cs typeface="Calibri"/>
                  <a:sym typeface="Calibri"/>
                </a:rPr>
                <a:t>7</a:t>
              </a:r>
              <a:endParaRPr sz="1800"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7" name="Google Shape;157;p21"/>
            <p:cNvSpPr/>
            <p:nvPr/>
          </p:nvSpPr>
          <p:spPr>
            <a:xfrm>
              <a:off x="7977724" y="4032773"/>
              <a:ext cx="307200" cy="307200"/>
            </a:xfrm>
            <a:prstGeom prst="rect">
              <a:avLst/>
            </a:prstGeom>
            <a:solidFill>
              <a:srgbClr val="B1DD8B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latin typeface="Calibri"/>
                  <a:ea typeface="Calibri"/>
                  <a:cs typeface="Calibri"/>
                  <a:sym typeface="Calibri"/>
                </a:rPr>
                <a:t>8</a:t>
              </a:r>
              <a:endParaRPr sz="1800"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8" name="Google Shape;158;p21"/>
            <p:cNvSpPr/>
            <p:nvPr/>
          </p:nvSpPr>
          <p:spPr>
            <a:xfrm>
              <a:off x="8278924" y="4032773"/>
              <a:ext cx="307200" cy="307200"/>
            </a:xfrm>
            <a:prstGeom prst="rect">
              <a:avLst/>
            </a:prstGeom>
            <a:solidFill>
              <a:srgbClr val="B1DD8B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800">
                  <a:latin typeface="Calibri"/>
                  <a:ea typeface="Calibri"/>
                  <a:cs typeface="Calibri"/>
                  <a:sym typeface="Calibri"/>
                </a:rPr>
                <a:t>6</a:t>
              </a:r>
              <a:endParaRPr b="1" sz="1800"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59" name="Google Shape;159;p21"/>
          <p:cNvGrpSpPr/>
          <p:nvPr/>
        </p:nvGrpSpPr>
        <p:grpSpPr>
          <a:xfrm>
            <a:off x="3373850" y="3845248"/>
            <a:ext cx="1815500" cy="307200"/>
            <a:chOff x="6770625" y="4406998"/>
            <a:chExt cx="1815500" cy="307200"/>
          </a:xfrm>
        </p:grpSpPr>
        <p:sp>
          <p:nvSpPr>
            <p:cNvPr id="160" name="Google Shape;160;p21"/>
            <p:cNvSpPr/>
            <p:nvPr/>
          </p:nvSpPr>
          <p:spPr>
            <a:xfrm>
              <a:off x="6770625" y="4406998"/>
              <a:ext cx="307200" cy="307200"/>
            </a:xfrm>
            <a:prstGeom prst="rect">
              <a:avLst/>
            </a:prstGeom>
            <a:solidFill>
              <a:srgbClr val="F3F3F3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 sz="1800"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1" name="Google Shape;161;p21"/>
            <p:cNvSpPr/>
            <p:nvPr/>
          </p:nvSpPr>
          <p:spPr>
            <a:xfrm>
              <a:off x="7071825" y="4406998"/>
              <a:ext cx="307200" cy="307200"/>
            </a:xfrm>
            <a:prstGeom prst="rect">
              <a:avLst/>
            </a:prstGeom>
            <a:solidFill>
              <a:srgbClr val="EFEFEF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 sz="1800"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2" name="Google Shape;162;p21"/>
            <p:cNvSpPr/>
            <p:nvPr/>
          </p:nvSpPr>
          <p:spPr>
            <a:xfrm>
              <a:off x="7375602" y="4406998"/>
              <a:ext cx="307200" cy="307200"/>
            </a:xfrm>
            <a:prstGeom prst="rect">
              <a:avLst/>
            </a:prstGeom>
            <a:solidFill>
              <a:srgbClr val="EFEFEF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latin typeface="Calibri"/>
                  <a:ea typeface="Calibri"/>
                  <a:cs typeface="Calibri"/>
                  <a:sym typeface="Calibri"/>
                </a:rPr>
                <a:t>3</a:t>
              </a:r>
              <a:endParaRPr sz="1800"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3" name="Google Shape;163;p21"/>
            <p:cNvSpPr/>
            <p:nvPr/>
          </p:nvSpPr>
          <p:spPr>
            <a:xfrm>
              <a:off x="7676802" y="4406998"/>
              <a:ext cx="307200" cy="307200"/>
            </a:xfrm>
            <a:prstGeom prst="rect">
              <a:avLst/>
            </a:prstGeom>
            <a:solidFill>
              <a:srgbClr val="EFEFEF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latin typeface="Calibri"/>
                  <a:ea typeface="Calibri"/>
                  <a:cs typeface="Calibri"/>
                  <a:sym typeface="Calibri"/>
                </a:rPr>
                <a:t>6</a:t>
              </a:r>
              <a:endParaRPr sz="1800"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4" name="Google Shape;164;p21"/>
            <p:cNvSpPr/>
            <p:nvPr/>
          </p:nvSpPr>
          <p:spPr>
            <a:xfrm>
              <a:off x="7977724" y="4406998"/>
              <a:ext cx="307200" cy="307200"/>
            </a:xfrm>
            <a:prstGeom prst="rect">
              <a:avLst/>
            </a:prstGeom>
            <a:solidFill>
              <a:srgbClr val="B1DD8B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latin typeface="Calibri"/>
                  <a:ea typeface="Calibri"/>
                  <a:cs typeface="Calibri"/>
                  <a:sym typeface="Calibri"/>
                </a:rPr>
                <a:t>8</a:t>
              </a:r>
              <a:endParaRPr sz="1800"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5" name="Google Shape;165;p21"/>
            <p:cNvSpPr/>
            <p:nvPr/>
          </p:nvSpPr>
          <p:spPr>
            <a:xfrm>
              <a:off x="8278924" y="4406998"/>
              <a:ext cx="307200" cy="307200"/>
            </a:xfrm>
            <a:prstGeom prst="rect">
              <a:avLst/>
            </a:prstGeom>
            <a:solidFill>
              <a:srgbClr val="B1DD8B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800">
                  <a:latin typeface="Calibri"/>
                  <a:ea typeface="Calibri"/>
                  <a:cs typeface="Calibri"/>
                  <a:sym typeface="Calibri"/>
                </a:rPr>
                <a:t>7</a:t>
              </a:r>
              <a:endParaRPr b="1" sz="1800"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66" name="Google Shape;166;p21"/>
          <p:cNvGrpSpPr/>
          <p:nvPr/>
        </p:nvGrpSpPr>
        <p:grpSpPr>
          <a:xfrm>
            <a:off x="3373850" y="4250445"/>
            <a:ext cx="1815500" cy="307200"/>
            <a:chOff x="6770625" y="4406998"/>
            <a:chExt cx="1815500" cy="307200"/>
          </a:xfrm>
        </p:grpSpPr>
        <p:sp>
          <p:nvSpPr>
            <p:cNvPr id="167" name="Google Shape;167;p21"/>
            <p:cNvSpPr/>
            <p:nvPr/>
          </p:nvSpPr>
          <p:spPr>
            <a:xfrm>
              <a:off x="6770625" y="4406998"/>
              <a:ext cx="307200" cy="307200"/>
            </a:xfrm>
            <a:prstGeom prst="rect">
              <a:avLst/>
            </a:prstGeom>
            <a:solidFill>
              <a:srgbClr val="F3F3F3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 sz="1800"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8" name="Google Shape;168;p21"/>
            <p:cNvSpPr/>
            <p:nvPr/>
          </p:nvSpPr>
          <p:spPr>
            <a:xfrm>
              <a:off x="7071825" y="4406998"/>
              <a:ext cx="307200" cy="307200"/>
            </a:xfrm>
            <a:prstGeom prst="rect">
              <a:avLst/>
            </a:prstGeom>
            <a:solidFill>
              <a:srgbClr val="EFEFEF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 sz="1800"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9" name="Google Shape;169;p21"/>
            <p:cNvSpPr/>
            <p:nvPr/>
          </p:nvSpPr>
          <p:spPr>
            <a:xfrm>
              <a:off x="7375602" y="4406998"/>
              <a:ext cx="307200" cy="307200"/>
            </a:xfrm>
            <a:prstGeom prst="rect">
              <a:avLst/>
            </a:prstGeom>
            <a:solidFill>
              <a:srgbClr val="EFEFEF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latin typeface="Calibri"/>
                  <a:ea typeface="Calibri"/>
                  <a:cs typeface="Calibri"/>
                  <a:sym typeface="Calibri"/>
                </a:rPr>
                <a:t>3</a:t>
              </a:r>
              <a:endParaRPr sz="1800"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0" name="Google Shape;170;p21"/>
            <p:cNvSpPr/>
            <p:nvPr/>
          </p:nvSpPr>
          <p:spPr>
            <a:xfrm>
              <a:off x="7676802" y="4406998"/>
              <a:ext cx="307200" cy="307200"/>
            </a:xfrm>
            <a:prstGeom prst="rect">
              <a:avLst/>
            </a:prstGeom>
            <a:solidFill>
              <a:srgbClr val="EFEFEF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latin typeface="Calibri"/>
                  <a:ea typeface="Calibri"/>
                  <a:cs typeface="Calibri"/>
                  <a:sym typeface="Calibri"/>
                </a:rPr>
                <a:t>6</a:t>
              </a:r>
              <a:endParaRPr sz="1800"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1" name="Google Shape;171;p21"/>
            <p:cNvSpPr/>
            <p:nvPr/>
          </p:nvSpPr>
          <p:spPr>
            <a:xfrm>
              <a:off x="7977724" y="4406998"/>
              <a:ext cx="307200" cy="307200"/>
            </a:xfrm>
            <a:prstGeom prst="rect">
              <a:avLst/>
            </a:prstGeom>
            <a:solidFill>
              <a:srgbClr val="EFEFEF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latin typeface="Calibri"/>
                  <a:ea typeface="Calibri"/>
                  <a:cs typeface="Calibri"/>
                  <a:sym typeface="Calibri"/>
                </a:rPr>
                <a:t>7</a:t>
              </a:r>
              <a:endParaRPr sz="1800"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2" name="Google Shape;172;p21"/>
            <p:cNvSpPr/>
            <p:nvPr/>
          </p:nvSpPr>
          <p:spPr>
            <a:xfrm>
              <a:off x="8278924" y="4406998"/>
              <a:ext cx="307200" cy="307200"/>
            </a:xfrm>
            <a:prstGeom prst="rect">
              <a:avLst/>
            </a:prstGeom>
            <a:solidFill>
              <a:srgbClr val="EFEFEF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latin typeface="Calibri"/>
                  <a:ea typeface="Calibri"/>
                  <a:cs typeface="Calibri"/>
                  <a:sym typeface="Calibri"/>
                </a:rPr>
                <a:t>8</a:t>
              </a:r>
              <a:endParaRPr sz="1800"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73" name="Google Shape;173;p21"/>
          <p:cNvSpPr txBox="1"/>
          <p:nvPr/>
        </p:nvSpPr>
        <p:spPr>
          <a:xfrm>
            <a:off x="5001693" y="2117900"/>
            <a:ext cx="307200" cy="23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*</a:t>
            </a:r>
            <a:endParaRPr/>
          </a:p>
        </p:txBody>
      </p:sp>
      <p:sp>
        <p:nvSpPr>
          <p:cNvPr id="174" name="Google Shape;174;p21"/>
          <p:cNvSpPr txBox="1"/>
          <p:nvPr/>
        </p:nvSpPr>
        <p:spPr>
          <a:xfrm>
            <a:off x="4397693" y="2530312"/>
            <a:ext cx="307200" cy="23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*</a:t>
            </a:r>
            <a:endParaRPr/>
          </a:p>
        </p:txBody>
      </p:sp>
      <p:sp>
        <p:nvSpPr>
          <p:cNvPr id="175" name="Google Shape;175;p21"/>
          <p:cNvSpPr txBox="1"/>
          <p:nvPr/>
        </p:nvSpPr>
        <p:spPr>
          <a:xfrm>
            <a:off x="4397693" y="2934950"/>
            <a:ext cx="307200" cy="23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*</a:t>
            </a:r>
            <a:endParaRPr/>
          </a:p>
        </p:txBody>
      </p:sp>
      <p:sp>
        <p:nvSpPr>
          <p:cNvPr id="176" name="Google Shape;176;p21"/>
          <p:cNvSpPr txBox="1"/>
          <p:nvPr/>
        </p:nvSpPr>
        <p:spPr>
          <a:xfrm>
            <a:off x="5006420" y="3328767"/>
            <a:ext cx="307200" cy="23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*</a:t>
            </a:r>
            <a:endParaRPr/>
          </a:p>
        </p:txBody>
      </p:sp>
      <p:sp>
        <p:nvSpPr>
          <p:cNvPr id="177" name="Google Shape;177;p21"/>
          <p:cNvSpPr txBox="1"/>
          <p:nvPr/>
        </p:nvSpPr>
        <p:spPr>
          <a:xfrm>
            <a:off x="4998078" y="3747692"/>
            <a:ext cx="307200" cy="23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*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22"/>
          <p:cNvSpPr txBox="1"/>
          <p:nvPr>
            <p:ph type="title"/>
          </p:nvPr>
        </p:nvSpPr>
        <p:spPr>
          <a:xfrm>
            <a:off x="166800" y="92501"/>
            <a:ext cx="8229600" cy="495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Back to Sorting: Selection Sort</a:t>
            </a:r>
            <a:endParaRPr/>
          </a:p>
        </p:txBody>
      </p:sp>
      <p:sp>
        <p:nvSpPr>
          <p:cNvPr id="183" name="Google Shape;183;p22"/>
          <p:cNvSpPr txBox="1"/>
          <p:nvPr>
            <p:ph idx="1" type="body"/>
          </p:nvPr>
        </p:nvSpPr>
        <p:spPr>
          <a:xfrm>
            <a:off x="243000" y="556500"/>
            <a:ext cx="8443800" cy="150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Selection sorting a list of N items:</a:t>
            </a:r>
            <a:endParaRPr/>
          </a:p>
          <a:p>
            <a:pPr indent="-355600" lvl="0" marL="457200" rtl="0" algn="l">
              <a:spcBef>
                <a:spcPts val="600"/>
              </a:spcBef>
              <a:spcAft>
                <a:spcPts val="0"/>
              </a:spcAft>
              <a:buSzPts val="2000"/>
              <a:buChar char="●"/>
            </a:pPr>
            <a:r>
              <a:rPr lang="en"/>
              <a:t>Find the smallest item.</a:t>
            </a:r>
            <a:endParaRPr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/>
              <a:t>Move it to the front.</a:t>
            </a:r>
            <a:endParaRPr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/>
              <a:t>Selection sort the remaining N-1 items (without touching front item!).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84" name="Google Shape;184;p22"/>
          <p:cNvGrpSpPr/>
          <p:nvPr/>
        </p:nvGrpSpPr>
        <p:grpSpPr>
          <a:xfrm>
            <a:off x="6583825" y="2292423"/>
            <a:ext cx="1815500" cy="307200"/>
            <a:chOff x="6770625" y="2787998"/>
            <a:chExt cx="1815500" cy="307200"/>
          </a:xfrm>
        </p:grpSpPr>
        <p:sp>
          <p:nvSpPr>
            <p:cNvPr id="185" name="Google Shape;185;p22"/>
            <p:cNvSpPr/>
            <p:nvPr/>
          </p:nvSpPr>
          <p:spPr>
            <a:xfrm>
              <a:off x="6770625" y="2787998"/>
              <a:ext cx="307200" cy="307200"/>
            </a:xfrm>
            <a:prstGeom prst="rect">
              <a:avLst/>
            </a:prstGeom>
            <a:solidFill>
              <a:srgbClr val="B1DD8B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latin typeface="Calibri"/>
                  <a:ea typeface="Calibri"/>
                  <a:cs typeface="Calibri"/>
                  <a:sym typeface="Calibri"/>
                </a:rPr>
                <a:t>6</a:t>
              </a:r>
              <a:endParaRPr sz="1800"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6" name="Google Shape;186;p22"/>
            <p:cNvSpPr/>
            <p:nvPr/>
          </p:nvSpPr>
          <p:spPr>
            <a:xfrm>
              <a:off x="7071825" y="2787998"/>
              <a:ext cx="307200" cy="307200"/>
            </a:xfrm>
            <a:prstGeom prst="rect">
              <a:avLst/>
            </a:prstGeom>
            <a:solidFill>
              <a:srgbClr val="B1DD8B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latin typeface="Calibri"/>
                  <a:ea typeface="Calibri"/>
                  <a:cs typeface="Calibri"/>
                  <a:sym typeface="Calibri"/>
                </a:rPr>
                <a:t>3</a:t>
              </a:r>
              <a:endParaRPr sz="1800"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7" name="Google Shape;187;p22"/>
            <p:cNvSpPr/>
            <p:nvPr/>
          </p:nvSpPr>
          <p:spPr>
            <a:xfrm>
              <a:off x="7375602" y="2787998"/>
              <a:ext cx="307200" cy="307200"/>
            </a:xfrm>
            <a:prstGeom prst="rect">
              <a:avLst/>
            </a:prstGeom>
            <a:solidFill>
              <a:srgbClr val="B1DD8B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latin typeface="Calibri"/>
                  <a:ea typeface="Calibri"/>
                  <a:cs typeface="Calibri"/>
                  <a:sym typeface="Calibri"/>
                </a:rPr>
                <a:t>7</a:t>
              </a:r>
              <a:endParaRPr sz="1800"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8" name="Google Shape;188;p22"/>
            <p:cNvSpPr/>
            <p:nvPr/>
          </p:nvSpPr>
          <p:spPr>
            <a:xfrm>
              <a:off x="7676802" y="2787998"/>
              <a:ext cx="307200" cy="307200"/>
            </a:xfrm>
            <a:prstGeom prst="rect">
              <a:avLst/>
            </a:prstGeom>
            <a:solidFill>
              <a:srgbClr val="B1DD8B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 sz="1800"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9" name="Google Shape;189;p22"/>
            <p:cNvSpPr/>
            <p:nvPr/>
          </p:nvSpPr>
          <p:spPr>
            <a:xfrm>
              <a:off x="7977724" y="2787998"/>
              <a:ext cx="307200" cy="307200"/>
            </a:xfrm>
            <a:prstGeom prst="rect">
              <a:avLst/>
            </a:prstGeom>
            <a:solidFill>
              <a:srgbClr val="B1DD8B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latin typeface="Calibri"/>
                  <a:ea typeface="Calibri"/>
                  <a:cs typeface="Calibri"/>
                  <a:sym typeface="Calibri"/>
                </a:rPr>
                <a:t>8</a:t>
              </a:r>
              <a:endParaRPr sz="1800"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0" name="Google Shape;190;p22"/>
            <p:cNvSpPr/>
            <p:nvPr/>
          </p:nvSpPr>
          <p:spPr>
            <a:xfrm>
              <a:off x="8278924" y="2787998"/>
              <a:ext cx="307200" cy="307200"/>
            </a:xfrm>
            <a:prstGeom prst="rect">
              <a:avLst/>
            </a:prstGeom>
            <a:solidFill>
              <a:srgbClr val="B1DD8B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800"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 b="1" sz="1800"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91" name="Google Shape;191;p22"/>
          <p:cNvSpPr/>
          <p:nvPr/>
        </p:nvSpPr>
        <p:spPr>
          <a:xfrm>
            <a:off x="6583825" y="2698998"/>
            <a:ext cx="307200" cy="307200"/>
          </a:xfrm>
          <a:prstGeom prst="rect">
            <a:avLst/>
          </a:prstGeom>
          <a:solidFill>
            <a:srgbClr val="F3F3F3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1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22"/>
          <p:cNvSpPr/>
          <p:nvPr/>
        </p:nvSpPr>
        <p:spPr>
          <a:xfrm>
            <a:off x="6885025" y="2698998"/>
            <a:ext cx="307200" cy="307200"/>
          </a:xfrm>
          <a:prstGeom prst="rect">
            <a:avLst/>
          </a:prstGeom>
          <a:solidFill>
            <a:srgbClr val="B1DD8B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3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22"/>
          <p:cNvSpPr/>
          <p:nvPr/>
        </p:nvSpPr>
        <p:spPr>
          <a:xfrm>
            <a:off x="7188802" y="2698998"/>
            <a:ext cx="307200" cy="307200"/>
          </a:xfrm>
          <a:prstGeom prst="rect">
            <a:avLst/>
          </a:prstGeom>
          <a:solidFill>
            <a:srgbClr val="B1DD8B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7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22"/>
          <p:cNvSpPr/>
          <p:nvPr/>
        </p:nvSpPr>
        <p:spPr>
          <a:xfrm>
            <a:off x="7490002" y="2698998"/>
            <a:ext cx="307200" cy="307200"/>
          </a:xfrm>
          <a:prstGeom prst="rect">
            <a:avLst/>
          </a:prstGeom>
          <a:solidFill>
            <a:srgbClr val="B1DD8B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latin typeface="Calibri"/>
                <a:ea typeface="Calibri"/>
                <a:cs typeface="Calibri"/>
                <a:sym typeface="Calibri"/>
              </a:rPr>
              <a:t>2</a:t>
            </a:r>
            <a:endParaRPr b="1"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22"/>
          <p:cNvSpPr/>
          <p:nvPr/>
        </p:nvSpPr>
        <p:spPr>
          <a:xfrm>
            <a:off x="7790924" y="2698998"/>
            <a:ext cx="307200" cy="307200"/>
          </a:xfrm>
          <a:prstGeom prst="rect">
            <a:avLst/>
          </a:prstGeom>
          <a:solidFill>
            <a:srgbClr val="B1DD8B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8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22"/>
          <p:cNvSpPr/>
          <p:nvPr/>
        </p:nvSpPr>
        <p:spPr>
          <a:xfrm>
            <a:off x="8092124" y="2698998"/>
            <a:ext cx="307200" cy="307200"/>
          </a:xfrm>
          <a:prstGeom prst="rect">
            <a:avLst/>
          </a:prstGeom>
          <a:solidFill>
            <a:srgbClr val="B1DD8B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6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97" name="Google Shape;197;p22"/>
          <p:cNvGrpSpPr/>
          <p:nvPr/>
        </p:nvGrpSpPr>
        <p:grpSpPr>
          <a:xfrm>
            <a:off x="6583825" y="3101923"/>
            <a:ext cx="1815500" cy="307200"/>
            <a:chOff x="6770625" y="3626198"/>
            <a:chExt cx="1815500" cy="307200"/>
          </a:xfrm>
        </p:grpSpPr>
        <p:sp>
          <p:nvSpPr>
            <p:cNvPr id="198" name="Google Shape;198;p22"/>
            <p:cNvSpPr/>
            <p:nvPr/>
          </p:nvSpPr>
          <p:spPr>
            <a:xfrm>
              <a:off x="6770625" y="3626198"/>
              <a:ext cx="307200" cy="307200"/>
            </a:xfrm>
            <a:prstGeom prst="rect">
              <a:avLst/>
            </a:prstGeom>
            <a:solidFill>
              <a:srgbClr val="EFEFEF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 sz="1800"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9" name="Google Shape;199;p22"/>
            <p:cNvSpPr/>
            <p:nvPr/>
          </p:nvSpPr>
          <p:spPr>
            <a:xfrm>
              <a:off x="7071825" y="3626198"/>
              <a:ext cx="307200" cy="307200"/>
            </a:xfrm>
            <a:prstGeom prst="rect">
              <a:avLst/>
            </a:prstGeom>
            <a:solidFill>
              <a:srgbClr val="EFEFEF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 sz="1800"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0" name="Google Shape;200;p22"/>
            <p:cNvSpPr/>
            <p:nvPr/>
          </p:nvSpPr>
          <p:spPr>
            <a:xfrm>
              <a:off x="7375602" y="3626198"/>
              <a:ext cx="307200" cy="307200"/>
            </a:xfrm>
            <a:prstGeom prst="rect">
              <a:avLst/>
            </a:prstGeom>
            <a:solidFill>
              <a:srgbClr val="B1DD8B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latin typeface="Calibri"/>
                  <a:ea typeface="Calibri"/>
                  <a:cs typeface="Calibri"/>
                  <a:sym typeface="Calibri"/>
                </a:rPr>
                <a:t>7</a:t>
              </a:r>
              <a:endParaRPr sz="1800"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1" name="Google Shape;201;p22"/>
            <p:cNvSpPr/>
            <p:nvPr/>
          </p:nvSpPr>
          <p:spPr>
            <a:xfrm>
              <a:off x="7676802" y="3626198"/>
              <a:ext cx="307200" cy="307200"/>
            </a:xfrm>
            <a:prstGeom prst="rect">
              <a:avLst/>
            </a:prstGeom>
            <a:solidFill>
              <a:srgbClr val="B1DD8B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800">
                  <a:latin typeface="Calibri"/>
                  <a:ea typeface="Calibri"/>
                  <a:cs typeface="Calibri"/>
                  <a:sym typeface="Calibri"/>
                </a:rPr>
                <a:t>3</a:t>
              </a:r>
              <a:endParaRPr b="1" sz="1800"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2" name="Google Shape;202;p22"/>
            <p:cNvSpPr/>
            <p:nvPr/>
          </p:nvSpPr>
          <p:spPr>
            <a:xfrm>
              <a:off x="7977724" y="3626198"/>
              <a:ext cx="307200" cy="307200"/>
            </a:xfrm>
            <a:prstGeom prst="rect">
              <a:avLst/>
            </a:prstGeom>
            <a:solidFill>
              <a:srgbClr val="B1DD8B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latin typeface="Calibri"/>
                  <a:ea typeface="Calibri"/>
                  <a:cs typeface="Calibri"/>
                  <a:sym typeface="Calibri"/>
                </a:rPr>
                <a:t>8</a:t>
              </a:r>
              <a:endParaRPr sz="1800"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3" name="Google Shape;203;p22"/>
            <p:cNvSpPr/>
            <p:nvPr/>
          </p:nvSpPr>
          <p:spPr>
            <a:xfrm>
              <a:off x="8278924" y="3626198"/>
              <a:ext cx="307200" cy="307200"/>
            </a:xfrm>
            <a:prstGeom prst="rect">
              <a:avLst/>
            </a:prstGeom>
            <a:solidFill>
              <a:srgbClr val="B1DD8B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latin typeface="Calibri"/>
                  <a:ea typeface="Calibri"/>
                  <a:cs typeface="Calibri"/>
                  <a:sym typeface="Calibri"/>
                </a:rPr>
                <a:t>6</a:t>
              </a:r>
              <a:endParaRPr sz="1800"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04" name="Google Shape;204;p22"/>
          <p:cNvGrpSpPr/>
          <p:nvPr/>
        </p:nvGrpSpPr>
        <p:grpSpPr>
          <a:xfrm>
            <a:off x="6583825" y="3506673"/>
            <a:ext cx="1815500" cy="307200"/>
            <a:chOff x="6770625" y="4032773"/>
            <a:chExt cx="1815500" cy="307200"/>
          </a:xfrm>
        </p:grpSpPr>
        <p:sp>
          <p:nvSpPr>
            <p:cNvPr id="205" name="Google Shape;205;p22"/>
            <p:cNvSpPr/>
            <p:nvPr/>
          </p:nvSpPr>
          <p:spPr>
            <a:xfrm>
              <a:off x="6770625" y="4032773"/>
              <a:ext cx="307200" cy="307200"/>
            </a:xfrm>
            <a:prstGeom prst="rect">
              <a:avLst/>
            </a:prstGeom>
            <a:solidFill>
              <a:srgbClr val="F3F3F3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 sz="1800"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6" name="Google Shape;206;p22"/>
            <p:cNvSpPr/>
            <p:nvPr/>
          </p:nvSpPr>
          <p:spPr>
            <a:xfrm>
              <a:off x="7071825" y="4032773"/>
              <a:ext cx="307200" cy="307200"/>
            </a:xfrm>
            <a:prstGeom prst="rect">
              <a:avLst/>
            </a:prstGeom>
            <a:solidFill>
              <a:srgbClr val="EFEFEF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 sz="1800"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7" name="Google Shape;207;p22"/>
            <p:cNvSpPr/>
            <p:nvPr/>
          </p:nvSpPr>
          <p:spPr>
            <a:xfrm>
              <a:off x="7375602" y="4032773"/>
              <a:ext cx="307200" cy="307200"/>
            </a:xfrm>
            <a:prstGeom prst="rect">
              <a:avLst/>
            </a:prstGeom>
            <a:solidFill>
              <a:srgbClr val="EFEFEF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latin typeface="Calibri"/>
                  <a:ea typeface="Calibri"/>
                  <a:cs typeface="Calibri"/>
                  <a:sym typeface="Calibri"/>
                </a:rPr>
                <a:t>3</a:t>
              </a:r>
              <a:endParaRPr sz="1800"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8" name="Google Shape;208;p22"/>
            <p:cNvSpPr/>
            <p:nvPr/>
          </p:nvSpPr>
          <p:spPr>
            <a:xfrm>
              <a:off x="7676802" y="4032773"/>
              <a:ext cx="307200" cy="307200"/>
            </a:xfrm>
            <a:prstGeom prst="rect">
              <a:avLst/>
            </a:prstGeom>
            <a:solidFill>
              <a:srgbClr val="B1DD8B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latin typeface="Calibri"/>
                  <a:ea typeface="Calibri"/>
                  <a:cs typeface="Calibri"/>
                  <a:sym typeface="Calibri"/>
                </a:rPr>
                <a:t>7</a:t>
              </a:r>
              <a:endParaRPr sz="1800"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9" name="Google Shape;209;p22"/>
            <p:cNvSpPr/>
            <p:nvPr/>
          </p:nvSpPr>
          <p:spPr>
            <a:xfrm>
              <a:off x="7977724" y="4032773"/>
              <a:ext cx="307200" cy="307200"/>
            </a:xfrm>
            <a:prstGeom prst="rect">
              <a:avLst/>
            </a:prstGeom>
            <a:solidFill>
              <a:srgbClr val="B1DD8B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latin typeface="Calibri"/>
                  <a:ea typeface="Calibri"/>
                  <a:cs typeface="Calibri"/>
                  <a:sym typeface="Calibri"/>
                </a:rPr>
                <a:t>8</a:t>
              </a:r>
              <a:endParaRPr sz="1800"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0" name="Google Shape;210;p22"/>
            <p:cNvSpPr/>
            <p:nvPr/>
          </p:nvSpPr>
          <p:spPr>
            <a:xfrm>
              <a:off x="8278924" y="4032773"/>
              <a:ext cx="307200" cy="307200"/>
            </a:xfrm>
            <a:prstGeom prst="rect">
              <a:avLst/>
            </a:prstGeom>
            <a:solidFill>
              <a:srgbClr val="B1DD8B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800">
                  <a:latin typeface="Calibri"/>
                  <a:ea typeface="Calibri"/>
                  <a:cs typeface="Calibri"/>
                  <a:sym typeface="Calibri"/>
                </a:rPr>
                <a:t>6</a:t>
              </a:r>
              <a:endParaRPr b="1" sz="1800"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11" name="Google Shape;211;p22"/>
          <p:cNvGrpSpPr/>
          <p:nvPr/>
        </p:nvGrpSpPr>
        <p:grpSpPr>
          <a:xfrm>
            <a:off x="6583825" y="3911423"/>
            <a:ext cx="1815500" cy="307200"/>
            <a:chOff x="6770625" y="4406998"/>
            <a:chExt cx="1815500" cy="307200"/>
          </a:xfrm>
        </p:grpSpPr>
        <p:sp>
          <p:nvSpPr>
            <p:cNvPr id="212" name="Google Shape;212;p22"/>
            <p:cNvSpPr/>
            <p:nvPr/>
          </p:nvSpPr>
          <p:spPr>
            <a:xfrm>
              <a:off x="6770625" y="4406998"/>
              <a:ext cx="307200" cy="307200"/>
            </a:xfrm>
            <a:prstGeom prst="rect">
              <a:avLst/>
            </a:prstGeom>
            <a:solidFill>
              <a:srgbClr val="F3F3F3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 sz="1800"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3" name="Google Shape;213;p22"/>
            <p:cNvSpPr/>
            <p:nvPr/>
          </p:nvSpPr>
          <p:spPr>
            <a:xfrm>
              <a:off x="7071825" y="4406998"/>
              <a:ext cx="307200" cy="307200"/>
            </a:xfrm>
            <a:prstGeom prst="rect">
              <a:avLst/>
            </a:prstGeom>
            <a:solidFill>
              <a:srgbClr val="EFEFEF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 sz="1800"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4" name="Google Shape;214;p22"/>
            <p:cNvSpPr/>
            <p:nvPr/>
          </p:nvSpPr>
          <p:spPr>
            <a:xfrm>
              <a:off x="7375602" y="4406998"/>
              <a:ext cx="307200" cy="307200"/>
            </a:xfrm>
            <a:prstGeom prst="rect">
              <a:avLst/>
            </a:prstGeom>
            <a:solidFill>
              <a:srgbClr val="EFEFEF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latin typeface="Calibri"/>
                  <a:ea typeface="Calibri"/>
                  <a:cs typeface="Calibri"/>
                  <a:sym typeface="Calibri"/>
                </a:rPr>
                <a:t>3</a:t>
              </a:r>
              <a:endParaRPr sz="1800"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5" name="Google Shape;215;p22"/>
            <p:cNvSpPr/>
            <p:nvPr/>
          </p:nvSpPr>
          <p:spPr>
            <a:xfrm>
              <a:off x="7676802" y="4406998"/>
              <a:ext cx="307200" cy="307200"/>
            </a:xfrm>
            <a:prstGeom prst="rect">
              <a:avLst/>
            </a:prstGeom>
            <a:solidFill>
              <a:srgbClr val="EFEFEF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latin typeface="Calibri"/>
                  <a:ea typeface="Calibri"/>
                  <a:cs typeface="Calibri"/>
                  <a:sym typeface="Calibri"/>
                </a:rPr>
                <a:t>6</a:t>
              </a:r>
              <a:endParaRPr sz="1800"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6" name="Google Shape;216;p22"/>
            <p:cNvSpPr/>
            <p:nvPr/>
          </p:nvSpPr>
          <p:spPr>
            <a:xfrm>
              <a:off x="7977724" y="4406998"/>
              <a:ext cx="307200" cy="307200"/>
            </a:xfrm>
            <a:prstGeom prst="rect">
              <a:avLst/>
            </a:prstGeom>
            <a:solidFill>
              <a:srgbClr val="B1DD8B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latin typeface="Calibri"/>
                  <a:ea typeface="Calibri"/>
                  <a:cs typeface="Calibri"/>
                  <a:sym typeface="Calibri"/>
                </a:rPr>
                <a:t>8</a:t>
              </a:r>
              <a:endParaRPr sz="1800"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7" name="Google Shape;217;p22"/>
            <p:cNvSpPr/>
            <p:nvPr/>
          </p:nvSpPr>
          <p:spPr>
            <a:xfrm>
              <a:off x="8278924" y="4406998"/>
              <a:ext cx="307200" cy="307200"/>
            </a:xfrm>
            <a:prstGeom prst="rect">
              <a:avLst/>
            </a:prstGeom>
            <a:solidFill>
              <a:srgbClr val="B1DD8B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800">
                  <a:latin typeface="Calibri"/>
                  <a:ea typeface="Calibri"/>
                  <a:cs typeface="Calibri"/>
                  <a:sym typeface="Calibri"/>
                </a:rPr>
                <a:t>7</a:t>
              </a:r>
              <a:endParaRPr b="1" sz="1800"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18" name="Google Shape;218;p22"/>
          <p:cNvGrpSpPr/>
          <p:nvPr/>
        </p:nvGrpSpPr>
        <p:grpSpPr>
          <a:xfrm>
            <a:off x="6583825" y="4316620"/>
            <a:ext cx="1815500" cy="307200"/>
            <a:chOff x="6770625" y="4406998"/>
            <a:chExt cx="1815500" cy="307200"/>
          </a:xfrm>
        </p:grpSpPr>
        <p:sp>
          <p:nvSpPr>
            <p:cNvPr id="219" name="Google Shape;219;p22"/>
            <p:cNvSpPr/>
            <p:nvPr/>
          </p:nvSpPr>
          <p:spPr>
            <a:xfrm>
              <a:off x="6770625" y="4406998"/>
              <a:ext cx="307200" cy="307200"/>
            </a:xfrm>
            <a:prstGeom prst="rect">
              <a:avLst/>
            </a:prstGeom>
            <a:solidFill>
              <a:srgbClr val="F3F3F3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 sz="1800"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0" name="Google Shape;220;p22"/>
            <p:cNvSpPr/>
            <p:nvPr/>
          </p:nvSpPr>
          <p:spPr>
            <a:xfrm>
              <a:off x="7071825" y="4406998"/>
              <a:ext cx="307200" cy="307200"/>
            </a:xfrm>
            <a:prstGeom prst="rect">
              <a:avLst/>
            </a:prstGeom>
            <a:solidFill>
              <a:srgbClr val="EFEFEF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 sz="1800"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1" name="Google Shape;221;p22"/>
            <p:cNvSpPr/>
            <p:nvPr/>
          </p:nvSpPr>
          <p:spPr>
            <a:xfrm>
              <a:off x="7375602" y="4406998"/>
              <a:ext cx="307200" cy="307200"/>
            </a:xfrm>
            <a:prstGeom prst="rect">
              <a:avLst/>
            </a:prstGeom>
            <a:solidFill>
              <a:srgbClr val="EFEFEF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latin typeface="Calibri"/>
                  <a:ea typeface="Calibri"/>
                  <a:cs typeface="Calibri"/>
                  <a:sym typeface="Calibri"/>
                </a:rPr>
                <a:t>3</a:t>
              </a:r>
              <a:endParaRPr sz="1800"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2" name="Google Shape;222;p22"/>
            <p:cNvSpPr/>
            <p:nvPr/>
          </p:nvSpPr>
          <p:spPr>
            <a:xfrm>
              <a:off x="7676802" y="4406998"/>
              <a:ext cx="307200" cy="307200"/>
            </a:xfrm>
            <a:prstGeom prst="rect">
              <a:avLst/>
            </a:prstGeom>
            <a:solidFill>
              <a:srgbClr val="EFEFEF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latin typeface="Calibri"/>
                  <a:ea typeface="Calibri"/>
                  <a:cs typeface="Calibri"/>
                  <a:sym typeface="Calibri"/>
                </a:rPr>
                <a:t>6</a:t>
              </a:r>
              <a:endParaRPr sz="1800"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3" name="Google Shape;223;p22"/>
            <p:cNvSpPr/>
            <p:nvPr/>
          </p:nvSpPr>
          <p:spPr>
            <a:xfrm>
              <a:off x="7977724" y="4406998"/>
              <a:ext cx="307200" cy="307200"/>
            </a:xfrm>
            <a:prstGeom prst="rect">
              <a:avLst/>
            </a:prstGeom>
            <a:solidFill>
              <a:srgbClr val="EFEFEF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latin typeface="Calibri"/>
                  <a:ea typeface="Calibri"/>
                  <a:cs typeface="Calibri"/>
                  <a:sym typeface="Calibri"/>
                </a:rPr>
                <a:t>7</a:t>
              </a:r>
              <a:endParaRPr sz="1800"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4" name="Google Shape;224;p22"/>
            <p:cNvSpPr/>
            <p:nvPr/>
          </p:nvSpPr>
          <p:spPr>
            <a:xfrm>
              <a:off x="8278924" y="4406998"/>
              <a:ext cx="307200" cy="307200"/>
            </a:xfrm>
            <a:prstGeom prst="rect">
              <a:avLst/>
            </a:prstGeom>
            <a:solidFill>
              <a:srgbClr val="EFEFEF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latin typeface="Calibri"/>
                  <a:ea typeface="Calibri"/>
                  <a:cs typeface="Calibri"/>
                  <a:sym typeface="Calibri"/>
                </a:rPr>
                <a:t>8</a:t>
              </a:r>
              <a:endParaRPr sz="1800"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25" name="Google Shape;225;p22"/>
          <p:cNvSpPr txBox="1"/>
          <p:nvPr/>
        </p:nvSpPr>
        <p:spPr>
          <a:xfrm>
            <a:off x="8211668" y="2184075"/>
            <a:ext cx="307200" cy="23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*</a:t>
            </a:r>
            <a:endParaRPr/>
          </a:p>
        </p:txBody>
      </p:sp>
      <p:sp>
        <p:nvSpPr>
          <p:cNvPr id="226" name="Google Shape;226;p22"/>
          <p:cNvSpPr txBox="1"/>
          <p:nvPr/>
        </p:nvSpPr>
        <p:spPr>
          <a:xfrm>
            <a:off x="7607668" y="2596487"/>
            <a:ext cx="307200" cy="23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*</a:t>
            </a:r>
            <a:endParaRPr/>
          </a:p>
        </p:txBody>
      </p:sp>
      <p:sp>
        <p:nvSpPr>
          <p:cNvPr id="227" name="Google Shape;227;p22"/>
          <p:cNvSpPr txBox="1"/>
          <p:nvPr/>
        </p:nvSpPr>
        <p:spPr>
          <a:xfrm>
            <a:off x="7607668" y="3001125"/>
            <a:ext cx="307200" cy="23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*</a:t>
            </a:r>
            <a:endParaRPr/>
          </a:p>
        </p:txBody>
      </p:sp>
      <p:sp>
        <p:nvSpPr>
          <p:cNvPr id="228" name="Google Shape;228;p22"/>
          <p:cNvSpPr txBox="1"/>
          <p:nvPr/>
        </p:nvSpPr>
        <p:spPr>
          <a:xfrm>
            <a:off x="8216395" y="3394942"/>
            <a:ext cx="307200" cy="23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*</a:t>
            </a:r>
            <a:endParaRPr/>
          </a:p>
        </p:txBody>
      </p:sp>
      <p:sp>
        <p:nvSpPr>
          <p:cNvPr id="229" name="Google Shape;229;p22"/>
          <p:cNvSpPr txBox="1"/>
          <p:nvPr/>
        </p:nvSpPr>
        <p:spPr>
          <a:xfrm>
            <a:off x="8208053" y="3813867"/>
            <a:ext cx="307200" cy="23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*</a:t>
            </a:r>
            <a:endParaRPr/>
          </a:p>
        </p:txBody>
      </p:sp>
      <p:sp>
        <p:nvSpPr>
          <p:cNvPr id="230" name="Google Shape;230;p22"/>
          <p:cNvSpPr txBox="1"/>
          <p:nvPr/>
        </p:nvSpPr>
        <p:spPr>
          <a:xfrm>
            <a:off x="252250" y="2387425"/>
            <a:ext cx="6174000" cy="262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Let’s try implementing this.</a:t>
            </a:r>
            <a:endParaRPr b="1"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5600" lvl="0" marL="45720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●"/>
            </a:pPr>
            <a:r>
              <a:rPr lang="en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I’ll try to simulate as closely as possible how I think students might approach this problem to show how TDD helps.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Not shown in details in these slides. See lecture video.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23"/>
          <p:cNvSpPr txBox="1"/>
          <p:nvPr>
            <p:ph type="title"/>
          </p:nvPr>
        </p:nvSpPr>
        <p:spPr>
          <a:xfrm>
            <a:off x="166800" y="92501"/>
            <a:ext cx="8229600" cy="495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The Evolution of Our Design</a:t>
            </a:r>
            <a:endParaRPr/>
          </a:p>
        </p:txBody>
      </p:sp>
      <p:sp>
        <p:nvSpPr>
          <p:cNvPr id="236" name="Google Shape;236;p23"/>
          <p:cNvSpPr txBox="1"/>
          <p:nvPr>
            <p:ph idx="1" type="body"/>
          </p:nvPr>
        </p:nvSpPr>
        <p:spPr>
          <a:xfrm>
            <a:off x="243000" y="556500"/>
            <a:ext cx="8443800" cy="326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Created testSort:</a:t>
            </a:r>
            <a:endParaRPr/>
          </a:p>
          <a:p>
            <a:pPr indent="0" lvl="0" marL="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Created a sort skeleton:</a:t>
            </a:r>
            <a:endParaRPr/>
          </a:p>
          <a:p>
            <a:pPr indent="0" lvl="0" marL="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Created testFindSmallest:</a:t>
            </a:r>
            <a:endParaRPr/>
          </a:p>
          <a:p>
            <a:pPr indent="0" lvl="0" marL="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Created findSmallest:</a:t>
            </a:r>
            <a:endParaRPr/>
          </a:p>
          <a:p>
            <a:pPr indent="0" lvl="0" marL="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Created testSwap:</a:t>
            </a:r>
            <a:endParaRPr/>
          </a:p>
          <a:p>
            <a:pPr indent="0" lvl="0" marL="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Created swap:</a:t>
            </a:r>
            <a:endParaRPr/>
          </a:p>
          <a:p>
            <a:pPr indent="0" lvl="0" marL="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Changed findSmallest:</a:t>
            </a:r>
            <a:endParaRPr/>
          </a:p>
        </p:txBody>
      </p:sp>
      <p:sp>
        <p:nvSpPr>
          <p:cNvPr id="237" name="Google Shape;237;p23"/>
          <p:cNvSpPr/>
          <p:nvPr/>
        </p:nvSpPr>
        <p:spPr>
          <a:xfrm>
            <a:off x="3195500" y="1539222"/>
            <a:ext cx="3058500" cy="3783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Ubuntu Mono"/>
                <a:ea typeface="Ubuntu Mono"/>
                <a:cs typeface="Ubuntu Mono"/>
                <a:sym typeface="Ubuntu Mono"/>
              </a:rPr>
              <a:t>testFindSmallest()</a:t>
            </a:r>
            <a:endParaRPr sz="1800">
              <a:latin typeface="Ubuntu Mono"/>
              <a:ea typeface="Ubuntu Mono"/>
              <a:cs typeface="Ubuntu Mono"/>
              <a:sym typeface="Ubuntu Mono"/>
            </a:endParaRPr>
          </a:p>
        </p:txBody>
      </p:sp>
      <p:sp>
        <p:nvSpPr>
          <p:cNvPr id="238" name="Google Shape;238;p23"/>
          <p:cNvSpPr/>
          <p:nvPr/>
        </p:nvSpPr>
        <p:spPr>
          <a:xfrm>
            <a:off x="3195500" y="1983050"/>
            <a:ext cx="4732500" cy="378300"/>
          </a:xfrm>
          <a:prstGeom prst="roundRect">
            <a:avLst>
              <a:gd fmla="val 16667" name="adj"/>
            </a:avLst>
          </a:prstGeom>
          <a:solidFill>
            <a:srgbClr val="C9DAF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latin typeface="Ubuntu Mono"/>
                <a:ea typeface="Ubuntu Mono"/>
                <a:cs typeface="Ubuntu Mono"/>
                <a:sym typeface="Ubuntu Mono"/>
              </a:rPr>
              <a:t>String </a:t>
            </a:r>
            <a:r>
              <a:rPr lang="en" sz="1800">
                <a:latin typeface="Ubuntu Mono"/>
                <a:ea typeface="Ubuntu Mono"/>
                <a:cs typeface="Ubuntu Mono"/>
                <a:sym typeface="Ubuntu Mono"/>
              </a:rPr>
              <a:t>findSmallest(String[] input)</a:t>
            </a:r>
            <a:endParaRPr sz="1800">
              <a:latin typeface="Ubuntu Mono"/>
              <a:ea typeface="Ubuntu Mono"/>
              <a:cs typeface="Ubuntu Mono"/>
              <a:sym typeface="Ubuntu Mono"/>
            </a:endParaRPr>
          </a:p>
        </p:txBody>
      </p:sp>
      <p:sp>
        <p:nvSpPr>
          <p:cNvPr id="239" name="Google Shape;239;p23"/>
          <p:cNvSpPr/>
          <p:nvPr/>
        </p:nvSpPr>
        <p:spPr>
          <a:xfrm>
            <a:off x="3195500" y="2436625"/>
            <a:ext cx="3058500" cy="3783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Ubuntu Mono"/>
                <a:ea typeface="Ubuntu Mono"/>
                <a:cs typeface="Ubuntu Mono"/>
                <a:sym typeface="Ubuntu Mono"/>
              </a:rPr>
              <a:t>testSwap()</a:t>
            </a:r>
            <a:endParaRPr sz="1800">
              <a:latin typeface="Ubuntu Mono"/>
              <a:ea typeface="Ubuntu Mono"/>
              <a:cs typeface="Ubuntu Mono"/>
              <a:sym typeface="Ubuntu Mono"/>
            </a:endParaRPr>
          </a:p>
        </p:txBody>
      </p:sp>
      <p:sp>
        <p:nvSpPr>
          <p:cNvPr id="240" name="Google Shape;240;p23"/>
          <p:cNvSpPr/>
          <p:nvPr/>
        </p:nvSpPr>
        <p:spPr>
          <a:xfrm>
            <a:off x="3195500" y="2890200"/>
            <a:ext cx="4732500" cy="378300"/>
          </a:xfrm>
          <a:prstGeom prst="roundRect">
            <a:avLst>
              <a:gd fmla="val 16667" name="adj"/>
            </a:avLst>
          </a:prstGeom>
          <a:solidFill>
            <a:srgbClr val="C9DAF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Ubuntu Mono"/>
                <a:ea typeface="Ubuntu Mono"/>
                <a:cs typeface="Ubuntu Mono"/>
                <a:sym typeface="Ubuntu Mono"/>
              </a:rPr>
              <a:t>swap(String[] input, int a, int b)</a:t>
            </a:r>
            <a:endParaRPr sz="1800">
              <a:latin typeface="Ubuntu Mono"/>
              <a:ea typeface="Ubuntu Mono"/>
              <a:cs typeface="Ubuntu Mono"/>
              <a:sym typeface="Ubuntu Mono"/>
            </a:endParaRPr>
          </a:p>
        </p:txBody>
      </p:sp>
      <p:sp>
        <p:nvSpPr>
          <p:cNvPr id="241" name="Google Shape;241;p23"/>
          <p:cNvSpPr/>
          <p:nvPr/>
        </p:nvSpPr>
        <p:spPr>
          <a:xfrm>
            <a:off x="3195500" y="652447"/>
            <a:ext cx="3058500" cy="3783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Ubuntu Mono"/>
                <a:ea typeface="Ubuntu Mono"/>
                <a:cs typeface="Ubuntu Mono"/>
                <a:sym typeface="Ubuntu Mono"/>
              </a:rPr>
              <a:t>testSort()</a:t>
            </a:r>
            <a:endParaRPr sz="1800">
              <a:latin typeface="Ubuntu Mono"/>
              <a:ea typeface="Ubuntu Mono"/>
              <a:cs typeface="Ubuntu Mono"/>
              <a:sym typeface="Ubuntu Mono"/>
            </a:endParaRPr>
          </a:p>
        </p:txBody>
      </p:sp>
      <p:sp>
        <p:nvSpPr>
          <p:cNvPr id="242" name="Google Shape;242;p23"/>
          <p:cNvSpPr/>
          <p:nvPr/>
        </p:nvSpPr>
        <p:spPr>
          <a:xfrm>
            <a:off x="3195500" y="1095400"/>
            <a:ext cx="3058500" cy="378300"/>
          </a:xfrm>
          <a:prstGeom prst="roundRect">
            <a:avLst>
              <a:gd fmla="val 16667" name="adj"/>
            </a:avLst>
          </a:prstGeom>
          <a:solidFill>
            <a:srgbClr val="C9DAF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Ubuntu Mono"/>
                <a:ea typeface="Ubuntu Mono"/>
                <a:cs typeface="Ubuntu Mono"/>
                <a:sym typeface="Ubuntu Mono"/>
              </a:rPr>
              <a:t>sort(String[] inputs)</a:t>
            </a:r>
            <a:endParaRPr sz="1800">
              <a:latin typeface="Ubuntu Mono"/>
              <a:ea typeface="Ubuntu Mono"/>
              <a:cs typeface="Ubuntu Mono"/>
              <a:sym typeface="Ubuntu Mono"/>
            </a:endParaRPr>
          </a:p>
        </p:txBody>
      </p:sp>
      <p:sp>
        <p:nvSpPr>
          <p:cNvPr id="243" name="Google Shape;243;p23"/>
          <p:cNvSpPr/>
          <p:nvPr/>
        </p:nvSpPr>
        <p:spPr>
          <a:xfrm>
            <a:off x="3195500" y="3343775"/>
            <a:ext cx="3880200" cy="378300"/>
          </a:xfrm>
          <a:prstGeom prst="roundRect">
            <a:avLst>
              <a:gd fmla="val 16667" name="adj"/>
            </a:avLst>
          </a:prstGeom>
          <a:solidFill>
            <a:srgbClr val="C9DAF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latin typeface="Ubuntu Mono"/>
                <a:ea typeface="Ubuntu Mono"/>
                <a:cs typeface="Ubuntu Mono"/>
                <a:sym typeface="Ubuntu Mono"/>
              </a:rPr>
              <a:t>int </a:t>
            </a:r>
            <a:r>
              <a:rPr lang="en" sz="1800">
                <a:latin typeface="Ubuntu Mono"/>
                <a:ea typeface="Ubuntu Mono"/>
                <a:cs typeface="Ubuntu Mono"/>
                <a:sym typeface="Ubuntu Mono"/>
              </a:rPr>
              <a:t>findSmallest(String[] input)</a:t>
            </a:r>
            <a:endParaRPr sz="1800">
              <a:latin typeface="Ubuntu Mono"/>
              <a:ea typeface="Ubuntu Mono"/>
              <a:cs typeface="Ubuntu Mono"/>
              <a:sym typeface="Ubuntu Mono"/>
            </a:endParaRPr>
          </a:p>
        </p:txBody>
      </p:sp>
      <p:cxnSp>
        <p:nvCxnSpPr>
          <p:cNvPr id="244" name="Google Shape;244;p23"/>
          <p:cNvCxnSpPr/>
          <p:nvPr/>
        </p:nvCxnSpPr>
        <p:spPr>
          <a:xfrm flipH="1">
            <a:off x="6655425" y="1473700"/>
            <a:ext cx="317700" cy="438600"/>
          </a:xfrm>
          <a:prstGeom prst="straightConnector1">
            <a:avLst/>
          </a:prstGeom>
          <a:noFill/>
          <a:ln cap="flat" cmpd="sng" w="19050">
            <a:solidFill>
              <a:srgbClr val="AC202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45" name="Google Shape;245;p23"/>
          <p:cNvSpPr txBox="1"/>
          <p:nvPr/>
        </p:nvSpPr>
        <p:spPr>
          <a:xfrm>
            <a:off x="6973125" y="751000"/>
            <a:ext cx="1852500" cy="78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AC2020"/>
                </a:solidFill>
              </a:rPr>
              <a:t>Used Google to figure out how to compare strings.</a:t>
            </a:r>
            <a:endParaRPr>
              <a:solidFill>
                <a:srgbClr val="AC2020"/>
              </a:solidFill>
            </a:endParaRPr>
          </a:p>
        </p:txBody>
      </p:sp>
      <p:sp>
        <p:nvSpPr>
          <p:cNvPr id="246" name="Google Shape;246;p23"/>
          <p:cNvSpPr txBox="1"/>
          <p:nvPr/>
        </p:nvSpPr>
        <p:spPr>
          <a:xfrm>
            <a:off x="7213200" y="2406475"/>
            <a:ext cx="19308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AC2020"/>
                </a:solidFill>
              </a:rPr>
              <a:t>Used debugger to fix.</a:t>
            </a:r>
            <a:endParaRPr>
              <a:solidFill>
                <a:srgbClr val="AC2020"/>
              </a:solidFill>
            </a:endParaRPr>
          </a:p>
        </p:txBody>
      </p:sp>
      <p:cxnSp>
        <p:nvCxnSpPr>
          <p:cNvPr id="247" name="Google Shape;247;p23"/>
          <p:cNvCxnSpPr/>
          <p:nvPr/>
        </p:nvCxnSpPr>
        <p:spPr>
          <a:xfrm>
            <a:off x="8442314" y="2806800"/>
            <a:ext cx="0" cy="252300"/>
          </a:xfrm>
          <a:prstGeom prst="straightConnector1">
            <a:avLst/>
          </a:prstGeom>
          <a:noFill/>
          <a:ln cap="flat" cmpd="sng" w="19050">
            <a:solidFill>
              <a:srgbClr val="AC202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48" name="Google Shape;248;p23"/>
          <p:cNvCxnSpPr/>
          <p:nvPr/>
        </p:nvCxnSpPr>
        <p:spPr>
          <a:xfrm rot="10800000">
            <a:off x="8179200" y="3058975"/>
            <a:ext cx="263100" cy="0"/>
          </a:xfrm>
          <a:prstGeom prst="straightConnector1">
            <a:avLst/>
          </a:prstGeom>
          <a:noFill/>
          <a:ln cap="flat" cmpd="sng" w="19050">
            <a:solidFill>
              <a:srgbClr val="AC202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49" name="Google Shape;249;p23"/>
          <p:cNvSpPr txBox="1"/>
          <p:nvPr>
            <p:ph idx="1" type="body"/>
          </p:nvPr>
        </p:nvSpPr>
        <p:spPr>
          <a:xfrm>
            <a:off x="166800" y="4061700"/>
            <a:ext cx="8443800" cy="99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Now we have all the </a:t>
            </a:r>
            <a:r>
              <a:rPr lang="en">
                <a:solidFill>
                  <a:srgbClr val="0000FF"/>
                </a:solidFill>
              </a:rPr>
              <a:t>helper methods</a:t>
            </a:r>
            <a:r>
              <a:rPr lang="en"/>
              <a:t> we need, as well as </a:t>
            </a:r>
            <a:r>
              <a:rPr lang="en">
                <a:solidFill>
                  <a:srgbClr val="38761D"/>
                </a:solidFill>
              </a:rPr>
              <a:t>tests</a:t>
            </a:r>
            <a:r>
              <a:rPr lang="en"/>
              <a:t> that make us pretty sure that they work! All that’s left is to write the 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sort</a:t>
            </a:r>
            <a:r>
              <a:rPr lang="en"/>
              <a:t> method itself.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C9DAF8"/>
        </a:solidFill>
      </p:bgPr>
    </p:bg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24"/>
          <p:cNvSpPr txBox="1"/>
          <p:nvPr>
            <p:ph type="title"/>
          </p:nvPr>
        </p:nvSpPr>
        <p:spPr>
          <a:xfrm>
            <a:off x="166800" y="92501"/>
            <a:ext cx="8229600" cy="495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Very Tricky Problem</a:t>
            </a:r>
            <a:endParaRPr/>
          </a:p>
        </p:txBody>
      </p:sp>
      <p:sp>
        <p:nvSpPr>
          <p:cNvPr id="255" name="Google Shape;255;p24"/>
          <p:cNvSpPr txBox="1"/>
          <p:nvPr>
            <p:ph idx="1" type="body"/>
          </p:nvPr>
        </p:nvSpPr>
        <p:spPr>
          <a:xfrm>
            <a:off x="243000" y="556500"/>
            <a:ext cx="8443800" cy="415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Without changing the signature of </a:t>
            </a: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public static void sort(String[] a)</a:t>
            </a:r>
            <a:r>
              <a:rPr lang="en"/>
              <a:t>, how can we use recursion? What might the recursive call look like?</a:t>
            </a:r>
            <a:endParaRPr/>
          </a:p>
        </p:txBody>
      </p:sp>
      <p:sp>
        <p:nvSpPr>
          <p:cNvPr id="256" name="Google Shape;256;p24"/>
          <p:cNvSpPr/>
          <p:nvPr/>
        </p:nvSpPr>
        <p:spPr>
          <a:xfrm rot="-5400000">
            <a:off x="6093379" y="-1470750"/>
            <a:ext cx="149400" cy="4356300"/>
          </a:xfrm>
          <a:prstGeom prst="rightBrace">
            <a:avLst>
              <a:gd fmla="val 8333" name="adj1"/>
              <a:gd fmla="val 50000" name="adj2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BE0712"/>
              </a:solidFill>
            </a:endParaRPr>
          </a:p>
        </p:txBody>
      </p:sp>
      <p:sp>
        <p:nvSpPr>
          <p:cNvPr id="257" name="Google Shape;257;p24"/>
          <p:cNvSpPr txBox="1"/>
          <p:nvPr/>
        </p:nvSpPr>
        <p:spPr>
          <a:xfrm>
            <a:off x="6731850" y="170975"/>
            <a:ext cx="1777200" cy="14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E0712"/>
                </a:solidFill>
              </a:rPr>
              <a:t>method signature</a:t>
            </a:r>
            <a:endParaRPr>
              <a:solidFill>
                <a:srgbClr val="BE0712"/>
              </a:solidFill>
            </a:endParaRPr>
          </a:p>
        </p:txBody>
      </p:sp>
      <p:cxnSp>
        <p:nvCxnSpPr>
          <p:cNvPr id="258" name="Google Shape;258;p24"/>
          <p:cNvCxnSpPr/>
          <p:nvPr/>
        </p:nvCxnSpPr>
        <p:spPr>
          <a:xfrm flipH="1">
            <a:off x="7192875" y="523850"/>
            <a:ext cx="135600" cy="149400"/>
          </a:xfrm>
          <a:prstGeom prst="straightConnector1">
            <a:avLst/>
          </a:prstGeom>
          <a:noFill/>
          <a:ln cap="flat" cmpd="sng" w="19050">
            <a:solidFill>
              <a:srgbClr val="BE071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59" name="Google Shape;259;p24"/>
          <p:cNvSpPr txBox="1"/>
          <p:nvPr/>
        </p:nvSpPr>
        <p:spPr>
          <a:xfrm>
            <a:off x="619500" y="1423575"/>
            <a:ext cx="7690800" cy="18984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public static</a:t>
            </a:r>
            <a:r>
              <a:rPr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void sort(String[] x) {</a:t>
            </a:r>
            <a:endParaRPr sz="19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n" sz="1900">
                <a:solidFill>
                  <a:srgbClr val="208920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smallest = findSmallest(x);</a:t>
            </a:r>
            <a:endParaRPr sz="19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swap(inputs, 0, smallest);</a:t>
            </a:r>
            <a:endParaRPr sz="19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i="1" lang="en" sz="1900">
                <a:solidFill>
                  <a:srgbClr val="AC2020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// recursive call??</a:t>
            </a:r>
            <a:endParaRPr i="1" sz="1900">
              <a:solidFill>
                <a:srgbClr val="AC2020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9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1900">
              <a:solidFill>
                <a:srgbClr val="AC2020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25"/>
          <p:cNvSpPr txBox="1"/>
          <p:nvPr>
            <p:ph type="title"/>
          </p:nvPr>
        </p:nvSpPr>
        <p:spPr>
          <a:xfrm>
            <a:off x="166800" y="92501"/>
            <a:ext cx="8229600" cy="495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Very Tricky Problem: Bad But Tempting Solution</a:t>
            </a:r>
            <a:endParaRPr/>
          </a:p>
        </p:txBody>
      </p:sp>
      <p:sp>
        <p:nvSpPr>
          <p:cNvPr id="265" name="Google Shape;265;p25"/>
          <p:cNvSpPr txBox="1"/>
          <p:nvPr>
            <p:ph idx="1" type="body"/>
          </p:nvPr>
        </p:nvSpPr>
        <p:spPr>
          <a:xfrm>
            <a:off x="243000" y="556500"/>
            <a:ext cx="8443800" cy="415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Without changing the signature of </a:t>
            </a: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public static void sort(String[] a)</a:t>
            </a:r>
            <a:r>
              <a:rPr lang="en"/>
              <a:t>, how can we use recursion? What might the recursive call look like?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Some languages support sub-indexing into arrays. Java does not.</a:t>
            </a:r>
            <a:endParaRPr/>
          </a:p>
          <a:p>
            <a:pPr indent="-355600" lvl="0" marL="457200" rtl="0" algn="l">
              <a:spcBef>
                <a:spcPts val="600"/>
              </a:spcBef>
              <a:spcAft>
                <a:spcPts val="0"/>
              </a:spcAft>
              <a:buSzPts val="2000"/>
              <a:buChar char="●"/>
            </a:pPr>
            <a:r>
              <a:rPr lang="en"/>
              <a:t>Bottom line: No way to get address of the middle of an array.</a:t>
            </a:r>
            <a:endParaRPr/>
          </a:p>
        </p:txBody>
      </p:sp>
      <p:sp>
        <p:nvSpPr>
          <p:cNvPr id="266" name="Google Shape;266;p25"/>
          <p:cNvSpPr/>
          <p:nvPr/>
        </p:nvSpPr>
        <p:spPr>
          <a:xfrm rot="-5400000">
            <a:off x="6093379" y="-1470750"/>
            <a:ext cx="149400" cy="4356300"/>
          </a:xfrm>
          <a:prstGeom prst="rightBrace">
            <a:avLst>
              <a:gd fmla="val 8333" name="adj1"/>
              <a:gd fmla="val 50000" name="adj2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BE0712"/>
              </a:solidFill>
            </a:endParaRPr>
          </a:p>
        </p:txBody>
      </p:sp>
      <p:sp>
        <p:nvSpPr>
          <p:cNvPr id="267" name="Google Shape;267;p25"/>
          <p:cNvSpPr txBox="1"/>
          <p:nvPr/>
        </p:nvSpPr>
        <p:spPr>
          <a:xfrm>
            <a:off x="6731850" y="170975"/>
            <a:ext cx="1777200" cy="14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E0712"/>
                </a:solidFill>
              </a:rPr>
              <a:t>method signature</a:t>
            </a:r>
            <a:endParaRPr>
              <a:solidFill>
                <a:srgbClr val="BE0712"/>
              </a:solidFill>
            </a:endParaRPr>
          </a:p>
        </p:txBody>
      </p:sp>
      <p:cxnSp>
        <p:nvCxnSpPr>
          <p:cNvPr id="268" name="Google Shape;268;p25"/>
          <p:cNvCxnSpPr/>
          <p:nvPr/>
        </p:nvCxnSpPr>
        <p:spPr>
          <a:xfrm flipH="1">
            <a:off x="7192875" y="523850"/>
            <a:ext cx="135600" cy="149400"/>
          </a:xfrm>
          <a:prstGeom prst="straightConnector1">
            <a:avLst/>
          </a:prstGeom>
          <a:noFill/>
          <a:ln cap="flat" cmpd="sng" w="19050">
            <a:solidFill>
              <a:srgbClr val="BE071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69" name="Google Shape;269;p25"/>
          <p:cNvSpPr txBox="1"/>
          <p:nvPr/>
        </p:nvSpPr>
        <p:spPr>
          <a:xfrm>
            <a:off x="619500" y="1423575"/>
            <a:ext cx="7690800" cy="18984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public static</a:t>
            </a:r>
            <a:r>
              <a:rPr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void sort(String[] x) {</a:t>
            </a:r>
            <a:endParaRPr sz="19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n" sz="1900">
                <a:solidFill>
                  <a:srgbClr val="208920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smallest = findSmallest(x);</a:t>
            </a:r>
            <a:endParaRPr sz="19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swap(inputs, 0, smallest);</a:t>
            </a:r>
            <a:endParaRPr sz="19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n" sz="1900">
                <a:solidFill>
                  <a:srgbClr val="AC2020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sort(x[1:]); ← Would be nice, but not possible!</a:t>
            </a:r>
            <a:endParaRPr sz="19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}</a:t>
            </a:r>
            <a:endParaRPr i="1" sz="1900">
              <a:solidFill>
                <a:srgbClr val="AC2020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26"/>
          <p:cNvSpPr txBox="1"/>
          <p:nvPr>
            <p:ph type="title"/>
          </p:nvPr>
        </p:nvSpPr>
        <p:spPr>
          <a:xfrm>
            <a:off x="166800" y="92501"/>
            <a:ext cx="8229600" cy="495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Very Tricky Problem: Good Solution</a:t>
            </a:r>
            <a:endParaRPr/>
          </a:p>
        </p:txBody>
      </p:sp>
      <p:sp>
        <p:nvSpPr>
          <p:cNvPr id="275" name="Google Shape;275;p26"/>
          <p:cNvSpPr txBox="1"/>
          <p:nvPr>
            <p:ph idx="1" type="body"/>
          </p:nvPr>
        </p:nvSpPr>
        <p:spPr>
          <a:xfrm>
            <a:off x="243000" y="556500"/>
            <a:ext cx="8443800" cy="415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Without changing the signature of </a:t>
            </a: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public static void sort(String[] a)</a:t>
            </a:r>
            <a:r>
              <a:rPr lang="en"/>
              <a:t>, how can we use recursion? What might the recursive call look like?</a:t>
            </a:r>
            <a:endParaRPr/>
          </a:p>
        </p:txBody>
      </p:sp>
      <p:sp>
        <p:nvSpPr>
          <p:cNvPr id="276" name="Google Shape;276;p26"/>
          <p:cNvSpPr/>
          <p:nvPr/>
        </p:nvSpPr>
        <p:spPr>
          <a:xfrm rot="-5400000">
            <a:off x="6093379" y="-1470750"/>
            <a:ext cx="149400" cy="4356300"/>
          </a:xfrm>
          <a:prstGeom prst="rightBrace">
            <a:avLst>
              <a:gd fmla="val 8333" name="adj1"/>
              <a:gd fmla="val 50000" name="adj2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BE0712"/>
              </a:solidFill>
            </a:endParaRPr>
          </a:p>
        </p:txBody>
      </p:sp>
      <p:sp>
        <p:nvSpPr>
          <p:cNvPr id="277" name="Google Shape;277;p26"/>
          <p:cNvSpPr txBox="1"/>
          <p:nvPr/>
        </p:nvSpPr>
        <p:spPr>
          <a:xfrm>
            <a:off x="6731850" y="170975"/>
            <a:ext cx="1777200" cy="14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E0712"/>
                </a:solidFill>
              </a:rPr>
              <a:t>method signature</a:t>
            </a:r>
            <a:endParaRPr>
              <a:solidFill>
                <a:srgbClr val="BE0712"/>
              </a:solidFill>
            </a:endParaRPr>
          </a:p>
        </p:txBody>
      </p:sp>
      <p:cxnSp>
        <p:nvCxnSpPr>
          <p:cNvPr id="278" name="Google Shape;278;p26"/>
          <p:cNvCxnSpPr/>
          <p:nvPr/>
        </p:nvCxnSpPr>
        <p:spPr>
          <a:xfrm flipH="1">
            <a:off x="7192875" y="523850"/>
            <a:ext cx="135600" cy="149400"/>
          </a:xfrm>
          <a:prstGeom prst="straightConnector1">
            <a:avLst/>
          </a:prstGeom>
          <a:noFill/>
          <a:ln cap="flat" cmpd="sng" w="19050">
            <a:solidFill>
              <a:srgbClr val="BE071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79" name="Google Shape;279;p26"/>
          <p:cNvSpPr txBox="1"/>
          <p:nvPr/>
        </p:nvSpPr>
        <p:spPr>
          <a:xfrm>
            <a:off x="619500" y="2812250"/>
            <a:ext cx="7690800" cy="22098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/** Destructively sorts x starting at index k */</a:t>
            </a:r>
            <a:endParaRPr b="1" sz="1900">
              <a:solidFill>
                <a:srgbClr val="9C20EE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public static</a:t>
            </a:r>
            <a:r>
              <a:rPr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void sort(String[] x, int k) {</a:t>
            </a:r>
            <a:endParaRPr sz="19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...</a:t>
            </a:r>
            <a:endParaRPr sz="19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900">
                <a:solidFill>
                  <a:srgbClr val="AC2020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sort(x, k + 1);</a:t>
            </a:r>
            <a:endParaRPr sz="1900">
              <a:solidFill>
                <a:srgbClr val="AC2020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}</a:t>
            </a:r>
            <a:endParaRPr i="1" sz="1900">
              <a:solidFill>
                <a:srgbClr val="AC2020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80" name="Google Shape;280;p26"/>
          <p:cNvSpPr txBox="1"/>
          <p:nvPr/>
        </p:nvSpPr>
        <p:spPr>
          <a:xfrm>
            <a:off x="619500" y="1423575"/>
            <a:ext cx="7690800" cy="12522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public static</a:t>
            </a:r>
            <a:r>
              <a:rPr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void sort(String[] x) {</a:t>
            </a:r>
            <a:endParaRPr sz="19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n" sz="1900">
                <a:solidFill>
                  <a:srgbClr val="AC2020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sort(x, 0); </a:t>
            </a:r>
            <a:endParaRPr sz="19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}</a:t>
            </a:r>
            <a:endParaRPr i="1" sz="1900">
              <a:solidFill>
                <a:srgbClr val="AC2020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27"/>
          <p:cNvSpPr txBox="1"/>
          <p:nvPr>
            <p:ph type="title"/>
          </p:nvPr>
        </p:nvSpPr>
        <p:spPr>
          <a:xfrm>
            <a:off x="166800" y="92501"/>
            <a:ext cx="8229600" cy="495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Major Design Flaw in findSmallest </a:t>
            </a:r>
            <a:endParaRPr/>
          </a:p>
        </p:txBody>
      </p:sp>
      <p:sp>
        <p:nvSpPr>
          <p:cNvPr id="286" name="Google Shape;286;p27"/>
          <p:cNvSpPr txBox="1"/>
          <p:nvPr>
            <p:ph idx="1" type="body"/>
          </p:nvPr>
        </p:nvSpPr>
        <p:spPr>
          <a:xfrm>
            <a:off x="243000" y="556500"/>
            <a:ext cx="8443800" cy="415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We didn’t properly account for how 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findSmallest</a:t>
            </a:r>
            <a:r>
              <a:rPr lang="en"/>
              <a:t> would be used.</a:t>
            </a:r>
            <a:endParaRPr/>
          </a:p>
          <a:p>
            <a:pPr indent="-355600" lvl="0" marL="457200" rtl="0" algn="l">
              <a:spcBef>
                <a:spcPts val="600"/>
              </a:spcBef>
              <a:spcAft>
                <a:spcPts val="0"/>
              </a:spcAft>
              <a:buSzPts val="2000"/>
              <a:buChar char="●"/>
            </a:pPr>
            <a:r>
              <a:rPr lang="en"/>
              <a:t>Example: Want to find smallest item from among the last 4:</a:t>
            </a:r>
            <a:endParaRPr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/>
              <a:t>We need another parameter so that it’s actually useful for sorting.</a:t>
            </a:r>
            <a:endParaRPr/>
          </a:p>
        </p:txBody>
      </p:sp>
      <p:grpSp>
        <p:nvGrpSpPr>
          <p:cNvPr id="287" name="Google Shape;287;p27"/>
          <p:cNvGrpSpPr/>
          <p:nvPr/>
        </p:nvGrpSpPr>
        <p:grpSpPr>
          <a:xfrm>
            <a:off x="6999824" y="1092738"/>
            <a:ext cx="1815500" cy="307200"/>
            <a:chOff x="6770625" y="3626198"/>
            <a:chExt cx="1815500" cy="307200"/>
          </a:xfrm>
        </p:grpSpPr>
        <p:sp>
          <p:nvSpPr>
            <p:cNvPr id="288" name="Google Shape;288;p27"/>
            <p:cNvSpPr/>
            <p:nvPr/>
          </p:nvSpPr>
          <p:spPr>
            <a:xfrm>
              <a:off x="6770625" y="3626198"/>
              <a:ext cx="307200" cy="307200"/>
            </a:xfrm>
            <a:prstGeom prst="rect">
              <a:avLst/>
            </a:prstGeom>
            <a:solidFill>
              <a:srgbClr val="EFEFEF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 sz="1800"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9" name="Google Shape;289;p27"/>
            <p:cNvSpPr/>
            <p:nvPr/>
          </p:nvSpPr>
          <p:spPr>
            <a:xfrm>
              <a:off x="7071825" y="3626198"/>
              <a:ext cx="307200" cy="307200"/>
            </a:xfrm>
            <a:prstGeom prst="rect">
              <a:avLst/>
            </a:prstGeom>
            <a:solidFill>
              <a:srgbClr val="EFEFEF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 sz="1800"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0" name="Google Shape;290;p27"/>
            <p:cNvSpPr/>
            <p:nvPr/>
          </p:nvSpPr>
          <p:spPr>
            <a:xfrm>
              <a:off x="7375602" y="3626198"/>
              <a:ext cx="307200" cy="307200"/>
            </a:xfrm>
            <a:prstGeom prst="rect">
              <a:avLst/>
            </a:prstGeom>
            <a:solidFill>
              <a:srgbClr val="B1DD8B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latin typeface="Calibri"/>
                  <a:ea typeface="Calibri"/>
                  <a:cs typeface="Calibri"/>
                  <a:sym typeface="Calibri"/>
                </a:rPr>
                <a:t>7</a:t>
              </a:r>
              <a:endParaRPr sz="1800"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1" name="Google Shape;291;p27"/>
            <p:cNvSpPr/>
            <p:nvPr/>
          </p:nvSpPr>
          <p:spPr>
            <a:xfrm>
              <a:off x="7676802" y="3626198"/>
              <a:ext cx="307200" cy="307200"/>
            </a:xfrm>
            <a:prstGeom prst="rect">
              <a:avLst/>
            </a:prstGeom>
            <a:solidFill>
              <a:srgbClr val="B1DD8B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800">
                  <a:latin typeface="Calibri"/>
                  <a:ea typeface="Calibri"/>
                  <a:cs typeface="Calibri"/>
                  <a:sym typeface="Calibri"/>
                </a:rPr>
                <a:t>3</a:t>
              </a:r>
              <a:endParaRPr b="1" sz="1800"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2" name="Google Shape;292;p27"/>
            <p:cNvSpPr/>
            <p:nvPr/>
          </p:nvSpPr>
          <p:spPr>
            <a:xfrm>
              <a:off x="7977724" y="3626198"/>
              <a:ext cx="307200" cy="307200"/>
            </a:xfrm>
            <a:prstGeom prst="rect">
              <a:avLst/>
            </a:prstGeom>
            <a:solidFill>
              <a:srgbClr val="B1DD8B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latin typeface="Calibri"/>
                  <a:ea typeface="Calibri"/>
                  <a:cs typeface="Calibri"/>
                  <a:sym typeface="Calibri"/>
                </a:rPr>
                <a:t>8</a:t>
              </a:r>
              <a:endParaRPr sz="1800"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3" name="Google Shape;293;p27"/>
            <p:cNvSpPr/>
            <p:nvPr/>
          </p:nvSpPr>
          <p:spPr>
            <a:xfrm>
              <a:off x="8278924" y="3626198"/>
              <a:ext cx="307200" cy="307200"/>
            </a:xfrm>
            <a:prstGeom prst="rect">
              <a:avLst/>
            </a:prstGeom>
            <a:solidFill>
              <a:srgbClr val="B1DD8B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latin typeface="Calibri"/>
                  <a:ea typeface="Calibri"/>
                  <a:cs typeface="Calibri"/>
                  <a:sym typeface="Calibri"/>
                </a:rPr>
                <a:t>6</a:t>
              </a:r>
              <a:endParaRPr sz="1800"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94" name="Google Shape;294;p27"/>
          <p:cNvSpPr txBox="1"/>
          <p:nvPr/>
        </p:nvSpPr>
        <p:spPr>
          <a:xfrm>
            <a:off x="8023667" y="991940"/>
            <a:ext cx="307200" cy="23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*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28"/>
          <p:cNvSpPr txBox="1"/>
          <p:nvPr>
            <p:ph type="title"/>
          </p:nvPr>
        </p:nvSpPr>
        <p:spPr>
          <a:xfrm>
            <a:off x="166800" y="92501"/>
            <a:ext cx="8229600" cy="495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The Evolution of our Design</a:t>
            </a:r>
            <a:endParaRPr/>
          </a:p>
        </p:txBody>
      </p:sp>
      <p:sp>
        <p:nvSpPr>
          <p:cNvPr id="300" name="Google Shape;300;p28"/>
          <p:cNvSpPr txBox="1"/>
          <p:nvPr>
            <p:ph idx="1" type="body"/>
          </p:nvPr>
        </p:nvSpPr>
        <p:spPr>
          <a:xfrm>
            <a:off x="243000" y="556500"/>
            <a:ext cx="8443800" cy="450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Created testSort:</a:t>
            </a:r>
            <a:endParaRPr/>
          </a:p>
          <a:p>
            <a:pPr indent="0" lvl="0" marL="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Created a sort skeleton:</a:t>
            </a:r>
            <a:endParaRPr/>
          </a:p>
          <a:p>
            <a:pPr indent="0" lvl="0" marL="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Created testFindSmallest:</a:t>
            </a:r>
            <a:endParaRPr/>
          </a:p>
          <a:p>
            <a:pPr indent="0" lvl="0" marL="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Created findSmallest:</a:t>
            </a:r>
            <a:endParaRPr/>
          </a:p>
          <a:p>
            <a:pPr indent="0" lvl="0" marL="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Created testSwap:</a:t>
            </a:r>
            <a:endParaRPr/>
          </a:p>
          <a:p>
            <a:pPr indent="0" lvl="0" marL="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Created swap:</a:t>
            </a:r>
            <a:endParaRPr/>
          </a:p>
          <a:p>
            <a:pPr indent="0" lvl="0" marL="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Changed findSmallest:</a:t>
            </a:r>
            <a:endParaRPr/>
          </a:p>
          <a:p>
            <a:pPr indent="0" lvl="0" marL="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Added helper method:</a:t>
            </a:r>
            <a:endParaRPr/>
          </a:p>
          <a:p>
            <a:pPr indent="0" lvl="0" marL="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Used debugger to realize fundamental design flaw in 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findSmallest</a:t>
            </a:r>
            <a:endParaRPr/>
          </a:p>
        </p:txBody>
      </p:sp>
      <p:sp>
        <p:nvSpPr>
          <p:cNvPr id="301" name="Google Shape;301;p28"/>
          <p:cNvSpPr/>
          <p:nvPr/>
        </p:nvSpPr>
        <p:spPr>
          <a:xfrm>
            <a:off x="3195500" y="1539222"/>
            <a:ext cx="3058500" cy="3783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Ubuntu Mono"/>
                <a:ea typeface="Ubuntu Mono"/>
                <a:cs typeface="Ubuntu Mono"/>
                <a:sym typeface="Ubuntu Mono"/>
              </a:rPr>
              <a:t>testFindSmallest()</a:t>
            </a:r>
            <a:endParaRPr sz="1800">
              <a:latin typeface="Ubuntu Mono"/>
              <a:ea typeface="Ubuntu Mono"/>
              <a:cs typeface="Ubuntu Mono"/>
              <a:sym typeface="Ubuntu Mono"/>
            </a:endParaRPr>
          </a:p>
        </p:txBody>
      </p:sp>
      <p:sp>
        <p:nvSpPr>
          <p:cNvPr id="302" name="Google Shape;302;p28"/>
          <p:cNvSpPr/>
          <p:nvPr/>
        </p:nvSpPr>
        <p:spPr>
          <a:xfrm>
            <a:off x="3195500" y="1983050"/>
            <a:ext cx="4732500" cy="378300"/>
          </a:xfrm>
          <a:prstGeom prst="roundRect">
            <a:avLst>
              <a:gd fmla="val 16667" name="adj"/>
            </a:avLst>
          </a:prstGeom>
          <a:solidFill>
            <a:srgbClr val="C9DAF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latin typeface="Ubuntu Mono"/>
                <a:ea typeface="Ubuntu Mono"/>
                <a:cs typeface="Ubuntu Mono"/>
                <a:sym typeface="Ubuntu Mono"/>
              </a:rPr>
              <a:t>String </a:t>
            </a:r>
            <a:r>
              <a:rPr lang="en" sz="1800">
                <a:latin typeface="Ubuntu Mono"/>
                <a:ea typeface="Ubuntu Mono"/>
                <a:cs typeface="Ubuntu Mono"/>
                <a:sym typeface="Ubuntu Mono"/>
              </a:rPr>
              <a:t>findSmallest(String[] input)</a:t>
            </a:r>
            <a:endParaRPr sz="1800">
              <a:latin typeface="Ubuntu Mono"/>
              <a:ea typeface="Ubuntu Mono"/>
              <a:cs typeface="Ubuntu Mono"/>
              <a:sym typeface="Ubuntu Mono"/>
            </a:endParaRPr>
          </a:p>
        </p:txBody>
      </p:sp>
      <p:sp>
        <p:nvSpPr>
          <p:cNvPr id="303" name="Google Shape;303;p28"/>
          <p:cNvSpPr/>
          <p:nvPr/>
        </p:nvSpPr>
        <p:spPr>
          <a:xfrm>
            <a:off x="3195500" y="2436625"/>
            <a:ext cx="3058500" cy="3783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Ubuntu Mono"/>
                <a:ea typeface="Ubuntu Mono"/>
                <a:cs typeface="Ubuntu Mono"/>
                <a:sym typeface="Ubuntu Mono"/>
              </a:rPr>
              <a:t>testSwap()</a:t>
            </a:r>
            <a:endParaRPr sz="1800">
              <a:latin typeface="Ubuntu Mono"/>
              <a:ea typeface="Ubuntu Mono"/>
              <a:cs typeface="Ubuntu Mono"/>
              <a:sym typeface="Ubuntu Mono"/>
            </a:endParaRPr>
          </a:p>
        </p:txBody>
      </p:sp>
      <p:sp>
        <p:nvSpPr>
          <p:cNvPr id="304" name="Google Shape;304;p28"/>
          <p:cNvSpPr/>
          <p:nvPr/>
        </p:nvSpPr>
        <p:spPr>
          <a:xfrm>
            <a:off x="3195500" y="2890200"/>
            <a:ext cx="4732500" cy="378300"/>
          </a:xfrm>
          <a:prstGeom prst="roundRect">
            <a:avLst>
              <a:gd fmla="val 16667" name="adj"/>
            </a:avLst>
          </a:prstGeom>
          <a:solidFill>
            <a:srgbClr val="C9DAF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Ubuntu Mono"/>
                <a:ea typeface="Ubuntu Mono"/>
                <a:cs typeface="Ubuntu Mono"/>
                <a:sym typeface="Ubuntu Mono"/>
              </a:rPr>
              <a:t>swap(String[] input, int a, int b)</a:t>
            </a:r>
            <a:endParaRPr sz="1800">
              <a:latin typeface="Ubuntu Mono"/>
              <a:ea typeface="Ubuntu Mono"/>
              <a:cs typeface="Ubuntu Mono"/>
              <a:sym typeface="Ubuntu Mono"/>
            </a:endParaRPr>
          </a:p>
        </p:txBody>
      </p:sp>
      <p:sp>
        <p:nvSpPr>
          <p:cNvPr id="305" name="Google Shape;305;p28"/>
          <p:cNvSpPr/>
          <p:nvPr/>
        </p:nvSpPr>
        <p:spPr>
          <a:xfrm>
            <a:off x="3195500" y="652447"/>
            <a:ext cx="3058500" cy="3783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Ubuntu Mono"/>
                <a:ea typeface="Ubuntu Mono"/>
                <a:cs typeface="Ubuntu Mono"/>
                <a:sym typeface="Ubuntu Mono"/>
              </a:rPr>
              <a:t>testSort()</a:t>
            </a:r>
            <a:endParaRPr sz="1800">
              <a:latin typeface="Ubuntu Mono"/>
              <a:ea typeface="Ubuntu Mono"/>
              <a:cs typeface="Ubuntu Mono"/>
              <a:sym typeface="Ubuntu Mono"/>
            </a:endParaRPr>
          </a:p>
        </p:txBody>
      </p:sp>
      <p:sp>
        <p:nvSpPr>
          <p:cNvPr id="306" name="Google Shape;306;p28"/>
          <p:cNvSpPr/>
          <p:nvPr/>
        </p:nvSpPr>
        <p:spPr>
          <a:xfrm>
            <a:off x="3195500" y="1095400"/>
            <a:ext cx="3058500" cy="378300"/>
          </a:xfrm>
          <a:prstGeom prst="roundRect">
            <a:avLst>
              <a:gd fmla="val 16667" name="adj"/>
            </a:avLst>
          </a:prstGeom>
          <a:solidFill>
            <a:srgbClr val="C9DAF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Ubuntu Mono"/>
                <a:ea typeface="Ubuntu Mono"/>
                <a:cs typeface="Ubuntu Mono"/>
                <a:sym typeface="Ubuntu Mono"/>
              </a:rPr>
              <a:t>sort(String[] inputs)</a:t>
            </a:r>
            <a:endParaRPr sz="1800">
              <a:latin typeface="Ubuntu Mono"/>
              <a:ea typeface="Ubuntu Mono"/>
              <a:cs typeface="Ubuntu Mono"/>
              <a:sym typeface="Ubuntu Mono"/>
            </a:endParaRPr>
          </a:p>
        </p:txBody>
      </p:sp>
      <p:sp>
        <p:nvSpPr>
          <p:cNvPr id="307" name="Google Shape;307;p28"/>
          <p:cNvSpPr/>
          <p:nvPr/>
        </p:nvSpPr>
        <p:spPr>
          <a:xfrm>
            <a:off x="3195500" y="3343775"/>
            <a:ext cx="3880200" cy="378300"/>
          </a:xfrm>
          <a:prstGeom prst="roundRect">
            <a:avLst>
              <a:gd fmla="val 16667" name="adj"/>
            </a:avLst>
          </a:prstGeom>
          <a:solidFill>
            <a:srgbClr val="C9DAF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latin typeface="Ubuntu Mono"/>
                <a:ea typeface="Ubuntu Mono"/>
                <a:cs typeface="Ubuntu Mono"/>
                <a:sym typeface="Ubuntu Mono"/>
              </a:rPr>
              <a:t>int </a:t>
            </a:r>
            <a:r>
              <a:rPr lang="en" sz="1800">
                <a:latin typeface="Ubuntu Mono"/>
                <a:ea typeface="Ubuntu Mono"/>
                <a:cs typeface="Ubuntu Mono"/>
                <a:sym typeface="Ubuntu Mono"/>
              </a:rPr>
              <a:t>findSmallest(String[] input)</a:t>
            </a:r>
            <a:endParaRPr sz="1800">
              <a:latin typeface="Ubuntu Mono"/>
              <a:ea typeface="Ubuntu Mono"/>
              <a:cs typeface="Ubuntu Mono"/>
              <a:sym typeface="Ubuntu Mono"/>
            </a:endParaRPr>
          </a:p>
        </p:txBody>
      </p:sp>
      <p:cxnSp>
        <p:nvCxnSpPr>
          <p:cNvPr id="308" name="Google Shape;308;p28"/>
          <p:cNvCxnSpPr/>
          <p:nvPr/>
        </p:nvCxnSpPr>
        <p:spPr>
          <a:xfrm flipH="1">
            <a:off x="6655425" y="1473700"/>
            <a:ext cx="317700" cy="438600"/>
          </a:xfrm>
          <a:prstGeom prst="straightConnector1">
            <a:avLst/>
          </a:prstGeom>
          <a:noFill/>
          <a:ln cap="flat" cmpd="sng" w="19050">
            <a:solidFill>
              <a:srgbClr val="AC202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09" name="Google Shape;309;p28"/>
          <p:cNvSpPr txBox="1"/>
          <p:nvPr/>
        </p:nvSpPr>
        <p:spPr>
          <a:xfrm>
            <a:off x="6973125" y="751000"/>
            <a:ext cx="1852500" cy="78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AC2020"/>
                </a:solidFill>
              </a:rPr>
              <a:t>Used Google to figure out how to compare strings.</a:t>
            </a:r>
            <a:endParaRPr>
              <a:solidFill>
                <a:srgbClr val="AC2020"/>
              </a:solidFill>
            </a:endParaRPr>
          </a:p>
        </p:txBody>
      </p:sp>
      <p:sp>
        <p:nvSpPr>
          <p:cNvPr id="310" name="Google Shape;310;p28"/>
          <p:cNvSpPr/>
          <p:nvPr/>
        </p:nvSpPr>
        <p:spPr>
          <a:xfrm>
            <a:off x="3195500" y="3797350"/>
            <a:ext cx="3880200" cy="378300"/>
          </a:xfrm>
          <a:prstGeom prst="roundRect">
            <a:avLst>
              <a:gd fmla="val 16667" name="adj"/>
            </a:avLst>
          </a:prstGeom>
          <a:solidFill>
            <a:srgbClr val="C9DAF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Ubuntu Mono"/>
                <a:ea typeface="Ubuntu Mono"/>
                <a:cs typeface="Ubuntu Mono"/>
                <a:sym typeface="Ubuntu Mono"/>
              </a:rPr>
              <a:t>sort(String[] inputs, int k)</a:t>
            </a:r>
            <a:endParaRPr sz="1800">
              <a:latin typeface="Ubuntu Mono"/>
              <a:ea typeface="Ubuntu Mono"/>
              <a:cs typeface="Ubuntu Mono"/>
              <a:sym typeface="Ubuntu Mono"/>
            </a:endParaRPr>
          </a:p>
        </p:txBody>
      </p:sp>
      <p:sp>
        <p:nvSpPr>
          <p:cNvPr id="311" name="Google Shape;311;p28"/>
          <p:cNvSpPr txBox="1"/>
          <p:nvPr/>
        </p:nvSpPr>
        <p:spPr>
          <a:xfrm>
            <a:off x="7213200" y="2406475"/>
            <a:ext cx="19308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AC2020"/>
                </a:solidFill>
              </a:rPr>
              <a:t>Used debugger to fix.</a:t>
            </a:r>
            <a:endParaRPr>
              <a:solidFill>
                <a:srgbClr val="AC2020"/>
              </a:solidFill>
            </a:endParaRPr>
          </a:p>
        </p:txBody>
      </p:sp>
      <p:cxnSp>
        <p:nvCxnSpPr>
          <p:cNvPr id="312" name="Google Shape;312;p28"/>
          <p:cNvCxnSpPr/>
          <p:nvPr/>
        </p:nvCxnSpPr>
        <p:spPr>
          <a:xfrm>
            <a:off x="8442314" y="2806800"/>
            <a:ext cx="0" cy="252300"/>
          </a:xfrm>
          <a:prstGeom prst="straightConnector1">
            <a:avLst/>
          </a:prstGeom>
          <a:noFill/>
          <a:ln cap="flat" cmpd="sng" w="19050">
            <a:solidFill>
              <a:srgbClr val="AC202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13" name="Google Shape;313;p28"/>
          <p:cNvCxnSpPr/>
          <p:nvPr/>
        </p:nvCxnSpPr>
        <p:spPr>
          <a:xfrm rot="10800000">
            <a:off x="8179200" y="3058975"/>
            <a:ext cx="263100" cy="0"/>
          </a:xfrm>
          <a:prstGeom prst="straightConnector1">
            <a:avLst/>
          </a:prstGeom>
          <a:noFill/>
          <a:ln cap="flat" cmpd="sng" w="19050">
            <a:solidFill>
              <a:srgbClr val="AC2020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29"/>
          <p:cNvSpPr txBox="1"/>
          <p:nvPr>
            <p:ph type="title"/>
          </p:nvPr>
        </p:nvSpPr>
        <p:spPr>
          <a:xfrm>
            <a:off x="166800" y="92501"/>
            <a:ext cx="8229600" cy="495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The Evolution of our Design</a:t>
            </a:r>
            <a:endParaRPr/>
          </a:p>
        </p:txBody>
      </p:sp>
      <p:sp>
        <p:nvSpPr>
          <p:cNvPr id="319" name="Google Shape;319;p29"/>
          <p:cNvSpPr txBox="1"/>
          <p:nvPr>
            <p:ph idx="1" type="body"/>
          </p:nvPr>
        </p:nvSpPr>
        <p:spPr>
          <a:xfrm>
            <a:off x="243000" y="556500"/>
            <a:ext cx="8443800" cy="450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Created testSort:</a:t>
            </a:r>
            <a:endParaRPr/>
          </a:p>
          <a:p>
            <a:pPr indent="0" lvl="0" marL="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Created a sort skeleton:</a:t>
            </a:r>
            <a:endParaRPr/>
          </a:p>
          <a:p>
            <a:pPr indent="0" lvl="0" marL="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Created testFindSmallest:</a:t>
            </a:r>
            <a:endParaRPr/>
          </a:p>
          <a:p>
            <a:pPr indent="0" lvl="0" marL="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Created findSmallest:</a:t>
            </a:r>
            <a:endParaRPr/>
          </a:p>
          <a:p>
            <a:pPr indent="0" lvl="0" marL="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Created testSwap:</a:t>
            </a:r>
            <a:endParaRPr/>
          </a:p>
          <a:p>
            <a:pPr indent="0" lvl="0" marL="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Created swap:</a:t>
            </a:r>
            <a:endParaRPr/>
          </a:p>
          <a:p>
            <a:pPr indent="0" lvl="0" marL="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Changed findSmallest:</a:t>
            </a:r>
            <a:endParaRPr/>
          </a:p>
          <a:p>
            <a:pPr indent="0" lvl="0" marL="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Added helper method:</a:t>
            </a:r>
            <a:endParaRPr/>
          </a:p>
          <a:p>
            <a:pPr indent="0" lvl="0" marL="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Used debugger to realize fundamental design flaw in 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findSmallest</a:t>
            </a:r>
            <a:endParaRPr/>
          </a:p>
          <a:p>
            <a:pPr indent="0" lvl="0" marL="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Modified findSmallest:</a:t>
            </a:r>
            <a:endParaRPr/>
          </a:p>
        </p:txBody>
      </p:sp>
      <p:sp>
        <p:nvSpPr>
          <p:cNvPr id="320" name="Google Shape;320;p29"/>
          <p:cNvSpPr/>
          <p:nvPr/>
        </p:nvSpPr>
        <p:spPr>
          <a:xfrm>
            <a:off x="3195500" y="1539222"/>
            <a:ext cx="3058500" cy="3783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Ubuntu Mono"/>
                <a:ea typeface="Ubuntu Mono"/>
                <a:cs typeface="Ubuntu Mono"/>
                <a:sym typeface="Ubuntu Mono"/>
              </a:rPr>
              <a:t>testFindSmallest()</a:t>
            </a:r>
            <a:endParaRPr sz="1800">
              <a:latin typeface="Ubuntu Mono"/>
              <a:ea typeface="Ubuntu Mono"/>
              <a:cs typeface="Ubuntu Mono"/>
              <a:sym typeface="Ubuntu Mono"/>
            </a:endParaRPr>
          </a:p>
        </p:txBody>
      </p:sp>
      <p:sp>
        <p:nvSpPr>
          <p:cNvPr id="321" name="Google Shape;321;p29"/>
          <p:cNvSpPr/>
          <p:nvPr/>
        </p:nvSpPr>
        <p:spPr>
          <a:xfrm>
            <a:off x="3195500" y="1983050"/>
            <a:ext cx="4732500" cy="378300"/>
          </a:xfrm>
          <a:prstGeom prst="roundRect">
            <a:avLst>
              <a:gd fmla="val 16667" name="adj"/>
            </a:avLst>
          </a:prstGeom>
          <a:solidFill>
            <a:srgbClr val="C9DAF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latin typeface="Ubuntu Mono"/>
                <a:ea typeface="Ubuntu Mono"/>
                <a:cs typeface="Ubuntu Mono"/>
                <a:sym typeface="Ubuntu Mono"/>
              </a:rPr>
              <a:t>String </a:t>
            </a:r>
            <a:r>
              <a:rPr lang="en" sz="1800">
                <a:latin typeface="Ubuntu Mono"/>
                <a:ea typeface="Ubuntu Mono"/>
                <a:cs typeface="Ubuntu Mono"/>
                <a:sym typeface="Ubuntu Mono"/>
              </a:rPr>
              <a:t>findSmallest(String[] input)</a:t>
            </a:r>
            <a:endParaRPr sz="1800">
              <a:latin typeface="Ubuntu Mono"/>
              <a:ea typeface="Ubuntu Mono"/>
              <a:cs typeface="Ubuntu Mono"/>
              <a:sym typeface="Ubuntu Mono"/>
            </a:endParaRPr>
          </a:p>
        </p:txBody>
      </p:sp>
      <p:sp>
        <p:nvSpPr>
          <p:cNvPr id="322" name="Google Shape;322;p29"/>
          <p:cNvSpPr/>
          <p:nvPr/>
        </p:nvSpPr>
        <p:spPr>
          <a:xfrm>
            <a:off x="3195500" y="2436625"/>
            <a:ext cx="3058500" cy="3783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Ubuntu Mono"/>
                <a:ea typeface="Ubuntu Mono"/>
                <a:cs typeface="Ubuntu Mono"/>
                <a:sym typeface="Ubuntu Mono"/>
              </a:rPr>
              <a:t>testSwap()</a:t>
            </a:r>
            <a:endParaRPr sz="1800">
              <a:latin typeface="Ubuntu Mono"/>
              <a:ea typeface="Ubuntu Mono"/>
              <a:cs typeface="Ubuntu Mono"/>
              <a:sym typeface="Ubuntu Mono"/>
            </a:endParaRPr>
          </a:p>
        </p:txBody>
      </p:sp>
      <p:sp>
        <p:nvSpPr>
          <p:cNvPr id="323" name="Google Shape;323;p29"/>
          <p:cNvSpPr/>
          <p:nvPr/>
        </p:nvSpPr>
        <p:spPr>
          <a:xfrm>
            <a:off x="3195500" y="2890200"/>
            <a:ext cx="4732500" cy="378300"/>
          </a:xfrm>
          <a:prstGeom prst="roundRect">
            <a:avLst>
              <a:gd fmla="val 16667" name="adj"/>
            </a:avLst>
          </a:prstGeom>
          <a:solidFill>
            <a:srgbClr val="C9DAF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Ubuntu Mono"/>
                <a:ea typeface="Ubuntu Mono"/>
                <a:cs typeface="Ubuntu Mono"/>
                <a:sym typeface="Ubuntu Mono"/>
              </a:rPr>
              <a:t>swap(String[] input, int a, int b)</a:t>
            </a:r>
            <a:endParaRPr sz="1800">
              <a:latin typeface="Ubuntu Mono"/>
              <a:ea typeface="Ubuntu Mono"/>
              <a:cs typeface="Ubuntu Mono"/>
              <a:sym typeface="Ubuntu Mono"/>
            </a:endParaRPr>
          </a:p>
        </p:txBody>
      </p:sp>
      <p:sp>
        <p:nvSpPr>
          <p:cNvPr id="324" name="Google Shape;324;p29"/>
          <p:cNvSpPr/>
          <p:nvPr/>
        </p:nvSpPr>
        <p:spPr>
          <a:xfrm>
            <a:off x="3195500" y="652447"/>
            <a:ext cx="3058500" cy="3783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Ubuntu Mono"/>
                <a:ea typeface="Ubuntu Mono"/>
                <a:cs typeface="Ubuntu Mono"/>
                <a:sym typeface="Ubuntu Mono"/>
              </a:rPr>
              <a:t>testSort()</a:t>
            </a:r>
            <a:endParaRPr sz="1800">
              <a:latin typeface="Ubuntu Mono"/>
              <a:ea typeface="Ubuntu Mono"/>
              <a:cs typeface="Ubuntu Mono"/>
              <a:sym typeface="Ubuntu Mono"/>
            </a:endParaRPr>
          </a:p>
        </p:txBody>
      </p:sp>
      <p:sp>
        <p:nvSpPr>
          <p:cNvPr id="325" name="Google Shape;325;p29"/>
          <p:cNvSpPr/>
          <p:nvPr/>
        </p:nvSpPr>
        <p:spPr>
          <a:xfrm>
            <a:off x="3195500" y="1095400"/>
            <a:ext cx="3058500" cy="378300"/>
          </a:xfrm>
          <a:prstGeom prst="roundRect">
            <a:avLst>
              <a:gd fmla="val 16667" name="adj"/>
            </a:avLst>
          </a:prstGeom>
          <a:solidFill>
            <a:srgbClr val="C9DAF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Ubuntu Mono"/>
                <a:ea typeface="Ubuntu Mono"/>
                <a:cs typeface="Ubuntu Mono"/>
                <a:sym typeface="Ubuntu Mono"/>
              </a:rPr>
              <a:t>sort(String[] inputs)</a:t>
            </a:r>
            <a:endParaRPr sz="1800">
              <a:latin typeface="Ubuntu Mono"/>
              <a:ea typeface="Ubuntu Mono"/>
              <a:cs typeface="Ubuntu Mono"/>
              <a:sym typeface="Ubuntu Mono"/>
            </a:endParaRPr>
          </a:p>
        </p:txBody>
      </p:sp>
      <p:sp>
        <p:nvSpPr>
          <p:cNvPr id="326" name="Google Shape;326;p29"/>
          <p:cNvSpPr/>
          <p:nvPr/>
        </p:nvSpPr>
        <p:spPr>
          <a:xfrm>
            <a:off x="3195500" y="3343775"/>
            <a:ext cx="3880200" cy="378300"/>
          </a:xfrm>
          <a:prstGeom prst="roundRect">
            <a:avLst>
              <a:gd fmla="val 16667" name="adj"/>
            </a:avLst>
          </a:prstGeom>
          <a:solidFill>
            <a:srgbClr val="C9DAF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latin typeface="Ubuntu Mono"/>
                <a:ea typeface="Ubuntu Mono"/>
                <a:cs typeface="Ubuntu Mono"/>
                <a:sym typeface="Ubuntu Mono"/>
              </a:rPr>
              <a:t>int </a:t>
            </a:r>
            <a:r>
              <a:rPr lang="en" sz="1800">
                <a:latin typeface="Ubuntu Mono"/>
                <a:ea typeface="Ubuntu Mono"/>
                <a:cs typeface="Ubuntu Mono"/>
                <a:sym typeface="Ubuntu Mono"/>
              </a:rPr>
              <a:t>findSmallest(String[] input)</a:t>
            </a:r>
            <a:endParaRPr sz="1800">
              <a:latin typeface="Ubuntu Mono"/>
              <a:ea typeface="Ubuntu Mono"/>
              <a:cs typeface="Ubuntu Mono"/>
              <a:sym typeface="Ubuntu Mono"/>
            </a:endParaRPr>
          </a:p>
        </p:txBody>
      </p:sp>
      <p:cxnSp>
        <p:nvCxnSpPr>
          <p:cNvPr id="327" name="Google Shape;327;p29"/>
          <p:cNvCxnSpPr/>
          <p:nvPr/>
        </p:nvCxnSpPr>
        <p:spPr>
          <a:xfrm flipH="1">
            <a:off x="6655425" y="1473700"/>
            <a:ext cx="317700" cy="438600"/>
          </a:xfrm>
          <a:prstGeom prst="straightConnector1">
            <a:avLst/>
          </a:prstGeom>
          <a:noFill/>
          <a:ln cap="flat" cmpd="sng" w="19050">
            <a:solidFill>
              <a:srgbClr val="AC202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28" name="Google Shape;328;p29"/>
          <p:cNvSpPr txBox="1"/>
          <p:nvPr/>
        </p:nvSpPr>
        <p:spPr>
          <a:xfrm>
            <a:off x="6973125" y="751000"/>
            <a:ext cx="1852500" cy="78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AC2020"/>
                </a:solidFill>
              </a:rPr>
              <a:t>Used Google to figure out how to compare strings.</a:t>
            </a:r>
            <a:endParaRPr>
              <a:solidFill>
                <a:srgbClr val="AC2020"/>
              </a:solidFill>
            </a:endParaRPr>
          </a:p>
        </p:txBody>
      </p:sp>
      <p:sp>
        <p:nvSpPr>
          <p:cNvPr id="329" name="Google Shape;329;p29"/>
          <p:cNvSpPr/>
          <p:nvPr/>
        </p:nvSpPr>
        <p:spPr>
          <a:xfrm>
            <a:off x="3195500" y="3797350"/>
            <a:ext cx="3880200" cy="378300"/>
          </a:xfrm>
          <a:prstGeom prst="roundRect">
            <a:avLst>
              <a:gd fmla="val 16667" name="adj"/>
            </a:avLst>
          </a:prstGeom>
          <a:solidFill>
            <a:srgbClr val="C9DAF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Ubuntu Mono"/>
                <a:ea typeface="Ubuntu Mono"/>
                <a:cs typeface="Ubuntu Mono"/>
                <a:sym typeface="Ubuntu Mono"/>
              </a:rPr>
              <a:t>sort(String[] inputs, int k)</a:t>
            </a:r>
            <a:endParaRPr sz="1800">
              <a:latin typeface="Ubuntu Mono"/>
              <a:ea typeface="Ubuntu Mono"/>
              <a:cs typeface="Ubuntu Mono"/>
              <a:sym typeface="Ubuntu Mono"/>
            </a:endParaRPr>
          </a:p>
        </p:txBody>
      </p:sp>
      <p:sp>
        <p:nvSpPr>
          <p:cNvPr id="330" name="Google Shape;330;p29"/>
          <p:cNvSpPr txBox="1"/>
          <p:nvPr/>
        </p:nvSpPr>
        <p:spPr>
          <a:xfrm>
            <a:off x="7213200" y="2406475"/>
            <a:ext cx="19308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AC2020"/>
                </a:solidFill>
              </a:rPr>
              <a:t>Used debugger to fix.</a:t>
            </a:r>
            <a:endParaRPr>
              <a:solidFill>
                <a:srgbClr val="AC2020"/>
              </a:solidFill>
            </a:endParaRPr>
          </a:p>
        </p:txBody>
      </p:sp>
      <p:cxnSp>
        <p:nvCxnSpPr>
          <p:cNvPr id="331" name="Google Shape;331;p29"/>
          <p:cNvCxnSpPr/>
          <p:nvPr/>
        </p:nvCxnSpPr>
        <p:spPr>
          <a:xfrm>
            <a:off x="8442314" y="2806800"/>
            <a:ext cx="0" cy="252300"/>
          </a:xfrm>
          <a:prstGeom prst="straightConnector1">
            <a:avLst/>
          </a:prstGeom>
          <a:noFill/>
          <a:ln cap="flat" cmpd="sng" w="19050">
            <a:solidFill>
              <a:srgbClr val="AC202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32" name="Google Shape;332;p29"/>
          <p:cNvCxnSpPr/>
          <p:nvPr/>
        </p:nvCxnSpPr>
        <p:spPr>
          <a:xfrm rot="10800000">
            <a:off x="8179200" y="3058975"/>
            <a:ext cx="263100" cy="0"/>
          </a:xfrm>
          <a:prstGeom prst="straightConnector1">
            <a:avLst/>
          </a:prstGeom>
          <a:noFill/>
          <a:ln cap="flat" cmpd="sng" w="19050">
            <a:solidFill>
              <a:srgbClr val="AC202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33" name="Google Shape;333;p29"/>
          <p:cNvSpPr/>
          <p:nvPr/>
        </p:nvSpPr>
        <p:spPr>
          <a:xfrm>
            <a:off x="3195500" y="4628300"/>
            <a:ext cx="4732500" cy="378300"/>
          </a:xfrm>
          <a:prstGeom prst="roundRect">
            <a:avLst>
              <a:gd fmla="val 16667" name="adj"/>
            </a:avLst>
          </a:prstGeom>
          <a:solidFill>
            <a:srgbClr val="C9DAF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Ubuntu Mono"/>
                <a:ea typeface="Ubuntu Mono"/>
                <a:cs typeface="Ubuntu Mono"/>
                <a:sym typeface="Ubuntu Mono"/>
              </a:rPr>
              <a:t>int findSmallest(String[] input,</a:t>
            </a:r>
            <a:r>
              <a:rPr b="1" lang="en" sz="1800">
                <a:latin typeface="Ubuntu Mono"/>
                <a:ea typeface="Ubuntu Mono"/>
                <a:cs typeface="Ubuntu Mono"/>
                <a:sym typeface="Ubuntu Mono"/>
              </a:rPr>
              <a:t> int k</a:t>
            </a:r>
            <a:r>
              <a:rPr lang="en" sz="1800">
                <a:latin typeface="Ubuntu Mono"/>
                <a:ea typeface="Ubuntu Mono"/>
                <a:cs typeface="Ubuntu Mono"/>
                <a:sym typeface="Ubuntu Mono"/>
              </a:rPr>
              <a:t>)</a:t>
            </a:r>
            <a:endParaRPr sz="1800">
              <a:latin typeface="Ubuntu Mono"/>
              <a:ea typeface="Ubuntu Mono"/>
              <a:cs typeface="Ubuntu Mono"/>
              <a:sym typeface="Ubuntu Mono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30"/>
          <p:cNvSpPr txBox="1"/>
          <p:nvPr>
            <p:ph type="title"/>
          </p:nvPr>
        </p:nvSpPr>
        <p:spPr>
          <a:xfrm>
            <a:off x="166800" y="92501"/>
            <a:ext cx="8229600" cy="495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And We’re Done!</a:t>
            </a:r>
            <a:endParaRPr/>
          </a:p>
        </p:txBody>
      </p:sp>
      <p:sp>
        <p:nvSpPr>
          <p:cNvPr id="339" name="Google Shape;339;p30"/>
          <p:cNvSpPr txBox="1"/>
          <p:nvPr>
            <p:ph idx="1" type="body"/>
          </p:nvPr>
        </p:nvSpPr>
        <p:spPr>
          <a:xfrm>
            <a:off x="243000" y="556500"/>
            <a:ext cx="8443800" cy="445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Often, development is an incremental process that involves lots of task switching and on the fly design modification.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Tests provide stability and scaffolding.</a:t>
            </a:r>
            <a:endParaRPr/>
          </a:p>
          <a:p>
            <a:pPr indent="-355600" lvl="0" marL="457200" rtl="0" algn="l">
              <a:spcBef>
                <a:spcPts val="600"/>
              </a:spcBef>
              <a:spcAft>
                <a:spcPts val="0"/>
              </a:spcAft>
              <a:buSzPts val="2000"/>
              <a:buChar char="●"/>
            </a:pPr>
            <a:r>
              <a:rPr lang="en"/>
              <a:t>Provide confidence in basic units and mitigate possibility of breaking them.</a:t>
            </a:r>
            <a:endParaRPr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/>
              <a:t>Help you focus on one task at a time.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In larger projects, tests also allow you to safely </a:t>
            </a:r>
            <a:r>
              <a:rPr b="1" lang="en"/>
              <a:t>refactor</a:t>
            </a:r>
            <a:r>
              <a:rPr lang="en"/>
              <a:t>! Sometimes code gets ugly, necessitating redesign and rewrites (see project 2).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One remaining problem: Sure was annoying to have to constantly edit which tests were running. Let’s take care of that.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9EAD3"/>
        </a:solidFill>
      </p:bgPr>
    </p:bg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31"/>
          <p:cNvSpPr txBox="1"/>
          <p:nvPr>
            <p:ph type="title"/>
          </p:nvPr>
        </p:nvSpPr>
        <p:spPr>
          <a:xfrm>
            <a:off x="928950" y="2143050"/>
            <a:ext cx="7286100" cy="857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/>
              <a:t>Simpler JUnit Tests </a:t>
            </a:r>
            <a:endParaRPr sz="48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(using two new syntax tricks)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32"/>
          <p:cNvSpPr txBox="1"/>
          <p:nvPr>
            <p:ph type="title"/>
          </p:nvPr>
        </p:nvSpPr>
        <p:spPr>
          <a:xfrm>
            <a:off x="166800" y="92501"/>
            <a:ext cx="8229600" cy="495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Simple JUnit</a:t>
            </a:r>
            <a:endParaRPr/>
          </a:p>
        </p:txBody>
      </p:sp>
      <p:sp>
        <p:nvSpPr>
          <p:cNvPr id="350" name="Google Shape;350;p32"/>
          <p:cNvSpPr txBox="1"/>
          <p:nvPr>
            <p:ph idx="1" type="body"/>
          </p:nvPr>
        </p:nvSpPr>
        <p:spPr>
          <a:xfrm>
            <a:off x="243000" y="556500"/>
            <a:ext cx="8676900" cy="458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New Syntax #1: </a:t>
            </a:r>
            <a:r>
              <a:rPr lang="en" sz="1600">
                <a:solidFill>
                  <a:srgbClr val="BB4444"/>
                </a:solidFill>
                <a:latin typeface="Consolas"/>
                <a:ea typeface="Consolas"/>
                <a:cs typeface="Consolas"/>
                <a:sym typeface="Consolas"/>
              </a:rPr>
              <a:t>org</a:t>
            </a:r>
            <a:r>
              <a:rPr lang="en" sz="160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en" sz="1600">
                <a:solidFill>
                  <a:srgbClr val="BB4444"/>
                </a:solidFill>
                <a:latin typeface="Consolas"/>
                <a:ea typeface="Consolas"/>
                <a:cs typeface="Consolas"/>
                <a:sym typeface="Consolas"/>
              </a:rPr>
              <a:t>junit</a:t>
            </a:r>
            <a:r>
              <a:rPr lang="en" sz="160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en" sz="1600">
                <a:solidFill>
                  <a:srgbClr val="BB4444"/>
                </a:solidFill>
                <a:latin typeface="Consolas"/>
                <a:ea typeface="Consolas"/>
                <a:cs typeface="Consolas"/>
                <a:sym typeface="Consolas"/>
              </a:rPr>
              <a:t>Assert</a:t>
            </a:r>
            <a:r>
              <a:rPr lang="en" sz="1600"/>
              <a:t>.</a:t>
            </a:r>
            <a:r>
              <a:rPr lang="en" sz="1600">
                <a:solidFill>
                  <a:srgbClr val="BB4444"/>
                </a:solidFill>
                <a:latin typeface="Consolas"/>
                <a:ea typeface="Consolas"/>
                <a:cs typeface="Consolas"/>
                <a:sym typeface="Consolas"/>
              </a:rPr>
              <a:t>assertEquals</a:t>
            </a:r>
            <a:r>
              <a:rPr lang="en" sz="1600"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" sz="1600">
                <a:solidFill>
                  <a:srgbClr val="9900FF"/>
                </a:solidFill>
                <a:latin typeface="Consolas"/>
                <a:ea typeface="Consolas"/>
                <a:cs typeface="Consolas"/>
                <a:sym typeface="Consolas"/>
              </a:rPr>
              <a:t>expected</a:t>
            </a:r>
            <a:r>
              <a:rPr lang="en" sz="1600"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" sz="16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actual</a:t>
            </a:r>
            <a:r>
              <a:rPr lang="en" sz="1600">
                <a:latin typeface="Consolas"/>
                <a:ea typeface="Consolas"/>
                <a:cs typeface="Consolas"/>
                <a:sym typeface="Consolas"/>
              </a:rPr>
              <a:t>);</a:t>
            </a:r>
            <a:endParaRPr/>
          </a:p>
          <a:p>
            <a:pPr indent="-355600" lvl="0" marL="457200" rtl="0" algn="l">
              <a:spcBef>
                <a:spcPts val="600"/>
              </a:spcBef>
              <a:spcAft>
                <a:spcPts val="0"/>
              </a:spcAft>
              <a:buSzPts val="2000"/>
              <a:buChar char="●"/>
            </a:pPr>
            <a:r>
              <a:rPr lang="en"/>
              <a:t>Tests that </a:t>
            </a:r>
            <a:r>
              <a:rPr lang="en">
                <a:solidFill>
                  <a:srgbClr val="9900FF"/>
                </a:solidFill>
                <a:latin typeface="Consolas"/>
                <a:ea typeface="Consolas"/>
                <a:cs typeface="Consolas"/>
                <a:sym typeface="Consolas"/>
              </a:rPr>
              <a:t>expected</a:t>
            </a:r>
            <a:r>
              <a:rPr lang="en"/>
              <a:t> equals </a:t>
            </a:r>
            <a:r>
              <a:rPr lang="en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actual</a:t>
            </a:r>
            <a:r>
              <a:rPr lang="en"/>
              <a:t>.</a:t>
            </a:r>
            <a:endParaRPr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/>
              <a:t>If not, program terminates with verbose message.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We’ve already seen this throughout today.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JUnit does much more:</a:t>
            </a:r>
            <a:endParaRPr/>
          </a:p>
          <a:p>
            <a:pPr indent="-355600" lvl="0" marL="457200" rtl="0" algn="l">
              <a:spcBef>
                <a:spcPts val="600"/>
              </a:spcBef>
              <a:spcAft>
                <a:spcPts val="0"/>
              </a:spcAft>
              <a:buSzPts val="2000"/>
              <a:buChar char="●"/>
            </a:pPr>
            <a:r>
              <a:rPr lang="en"/>
              <a:t>Other methods like </a:t>
            </a:r>
            <a:r>
              <a:rPr lang="en">
                <a:solidFill>
                  <a:srgbClr val="BB4444"/>
                </a:solidFill>
                <a:latin typeface="Consolas"/>
                <a:ea typeface="Consolas"/>
                <a:cs typeface="Consolas"/>
                <a:sym typeface="Consolas"/>
              </a:rPr>
              <a:t>assertEquals</a:t>
            </a:r>
            <a:r>
              <a:rPr lang="en"/>
              <a:t> include </a:t>
            </a:r>
            <a:r>
              <a:rPr lang="en">
                <a:solidFill>
                  <a:srgbClr val="BB4444"/>
                </a:solidFill>
                <a:latin typeface="Consolas"/>
                <a:ea typeface="Consolas"/>
                <a:cs typeface="Consolas"/>
                <a:sym typeface="Consolas"/>
              </a:rPr>
              <a:t>assertFalse</a:t>
            </a:r>
            <a:r>
              <a:rPr lang="en"/>
              <a:t>, </a:t>
            </a:r>
            <a:r>
              <a:rPr lang="en">
                <a:solidFill>
                  <a:srgbClr val="BB4444"/>
                </a:solidFill>
                <a:latin typeface="Consolas"/>
                <a:ea typeface="Consolas"/>
                <a:cs typeface="Consolas"/>
                <a:sym typeface="Consolas"/>
              </a:rPr>
              <a:t>assertNotNull</a:t>
            </a:r>
            <a:r>
              <a:rPr lang="en"/>
              <a:t>, etc., see </a:t>
            </a:r>
            <a:r>
              <a:rPr lang="en" u="sng">
                <a:solidFill>
                  <a:schemeClr val="hlink"/>
                </a:solidFill>
                <a:hlinkClick r:id="rId3"/>
              </a:rPr>
              <a:t>http://junit.org/junit4/javadoc/4.12/org/junit/Assert.html</a:t>
            </a:r>
            <a:endParaRPr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/>
              <a:t>Other more complex behavior to support more sophisticated testing. </a:t>
            </a:r>
            <a:endParaRPr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/>
              <a:t>See lab3.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33"/>
          <p:cNvSpPr txBox="1"/>
          <p:nvPr>
            <p:ph type="title"/>
          </p:nvPr>
        </p:nvSpPr>
        <p:spPr>
          <a:xfrm>
            <a:off x="166800" y="92501"/>
            <a:ext cx="8229600" cy="495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Better JUnit</a:t>
            </a:r>
            <a:endParaRPr/>
          </a:p>
        </p:txBody>
      </p:sp>
      <p:sp>
        <p:nvSpPr>
          <p:cNvPr id="356" name="Google Shape;356;p33"/>
          <p:cNvSpPr txBox="1"/>
          <p:nvPr>
            <p:ph idx="1" type="body"/>
          </p:nvPr>
        </p:nvSpPr>
        <p:spPr>
          <a:xfrm>
            <a:off x="243000" y="556500"/>
            <a:ext cx="8676900" cy="458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The messages output by JUnit are kind of ugly, and invoking each test manually is annoying.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New Syntax #2 (just trust me):</a:t>
            </a:r>
            <a:endParaRPr/>
          </a:p>
          <a:p>
            <a:pPr indent="-355600" lvl="0" marL="457200" rtl="0" algn="l">
              <a:spcBef>
                <a:spcPts val="600"/>
              </a:spcBef>
              <a:spcAft>
                <a:spcPts val="0"/>
              </a:spcAft>
              <a:buSzPts val="2000"/>
              <a:buChar char="●"/>
            </a:pPr>
            <a:r>
              <a:rPr b="1" lang="en"/>
              <a:t>Annotate</a:t>
            </a:r>
            <a:r>
              <a:rPr lang="en"/>
              <a:t> each test with </a:t>
            </a:r>
            <a:r>
              <a:rPr b="1" lang="en" sz="22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@org.junit.Test</a:t>
            </a:r>
            <a:r>
              <a:rPr lang="en"/>
              <a:t>.</a:t>
            </a:r>
            <a:endParaRPr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/>
              <a:t>Change all test methods to non-static.</a:t>
            </a:r>
            <a:endParaRPr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/>
              <a:t>Use a JUnit runner to run all tests and tabulate results.</a:t>
            </a:r>
            <a:endParaRPr/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n"/>
              <a:t>IntelliJ provides a default runner/renderer. OK to delete 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main</a:t>
            </a:r>
            <a:r>
              <a:rPr lang="en"/>
              <a:t>.</a:t>
            </a:r>
            <a:endParaRPr/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n"/>
              <a:t>If you want to use the command line instead, see the jh61b runner in the lab 3 supplement. Not preferred.</a:t>
            </a:r>
            <a:endParaRPr/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n"/>
              <a:t>Rendered output is easier to read, no need to manually invoke tests!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/>
              <a:t>There is a lot of black magic happening here! Just accept it all for now.</a:t>
            </a:r>
            <a:endParaRPr/>
          </a:p>
        </p:txBody>
      </p:sp>
      <p:sp>
        <p:nvSpPr>
          <p:cNvPr id="357" name="Google Shape;357;p33"/>
          <p:cNvSpPr txBox="1"/>
          <p:nvPr/>
        </p:nvSpPr>
        <p:spPr>
          <a:xfrm>
            <a:off x="5876475" y="1136513"/>
            <a:ext cx="3329700" cy="7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E0712"/>
                </a:solidFill>
              </a:rPr>
              <a:t>Yes this is weird, as it implies you’d be instantiating TestSort.java. In fact, JUnit runners do this. I don’t know why.</a:t>
            </a:r>
            <a:endParaRPr>
              <a:solidFill>
                <a:srgbClr val="BE0712"/>
              </a:solidFill>
            </a:endParaRPr>
          </a:p>
        </p:txBody>
      </p:sp>
      <p:sp>
        <p:nvSpPr>
          <p:cNvPr id="358" name="Google Shape;358;p33"/>
          <p:cNvSpPr txBox="1"/>
          <p:nvPr/>
        </p:nvSpPr>
        <p:spPr>
          <a:xfrm>
            <a:off x="4604000" y="2500268"/>
            <a:ext cx="250500" cy="37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59" name="Google Shape;359;p33"/>
          <p:cNvCxnSpPr>
            <a:stCxn id="357" idx="2"/>
            <a:endCxn id="358" idx="3"/>
          </p:cNvCxnSpPr>
          <p:nvPr/>
        </p:nvCxnSpPr>
        <p:spPr>
          <a:xfrm rot="5400000">
            <a:off x="5802075" y="947663"/>
            <a:ext cx="791700" cy="2686800"/>
          </a:xfrm>
          <a:prstGeom prst="bentConnector2">
            <a:avLst/>
          </a:prstGeom>
          <a:noFill/>
          <a:ln cap="flat" cmpd="sng" w="19050">
            <a:solidFill>
              <a:srgbClr val="BE071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34"/>
          <p:cNvSpPr txBox="1"/>
          <p:nvPr>
            <p:ph type="title"/>
          </p:nvPr>
        </p:nvSpPr>
        <p:spPr>
          <a:xfrm>
            <a:off x="166800" y="92501"/>
            <a:ext cx="8229600" cy="495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Even Better JUnit</a:t>
            </a:r>
            <a:endParaRPr/>
          </a:p>
        </p:txBody>
      </p:sp>
      <p:sp>
        <p:nvSpPr>
          <p:cNvPr id="365" name="Google Shape;365;p34"/>
          <p:cNvSpPr txBox="1"/>
          <p:nvPr>
            <p:ph idx="1" type="body"/>
          </p:nvPr>
        </p:nvSpPr>
        <p:spPr>
          <a:xfrm>
            <a:off x="243000" y="556500"/>
            <a:ext cx="8443800" cy="415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It is annoying to type out the name of the library repeatedly, e.g. </a:t>
            </a:r>
            <a:r>
              <a:rPr b="1" lang="en"/>
              <a:t>org.junit.</a:t>
            </a:r>
            <a:r>
              <a:rPr lang="en"/>
              <a:t>Test and </a:t>
            </a:r>
            <a:r>
              <a:rPr b="1" lang="en"/>
              <a:t>org.junit.Assert.</a:t>
            </a:r>
            <a:r>
              <a:rPr lang="en"/>
              <a:t>assertEquals.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New Syntax #3: To avoid this we’ll start every test file with: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lnSpc>
                <a:spcPct val="11079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200">
                <a:solidFill>
                  <a:srgbClr val="AA22FF"/>
                </a:solidFill>
                <a:latin typeface="Consolas"/>
                <a:ea typeface="Consolas"/>
                <a:cs typeface="Consolas"/>
                <a:sym typeface="Consolas"/>
              </a:rPr>
              <a:t>import</a:t>
            </a:r>
            <a:r>
              <a:rPr lang="en" sz="2200"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" sz="22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org.junit.Test</a:t>
            </a:r>
            <a:r>
              <a:rPr lang="en" sz="220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br>
              <a:rPr lang="en" sz="2200">
                <a:latin typeface="Consolas"/>
                <a:ea typeface="Consolas"/>
                <a:cs typeface="Consolas"/>
                <a:sym typeface="Consolas"/>
              </a:rPr>
            </a:br>
            <a:r>
              <a:rPr b="1" lang="en" sz="2200">
                <a:solidFill>
                  <a:srgbClr val="AA22FF"/>
                </a:solidFill>
                <a:latin typeface="Consolas"/>
                <a:ea typeface="Consolas"/>
                <a:cs typeface="Consolas"/>
                <a:sym typeface="Consolas"/>
              </a:rPr>
              <a:t>import</a:t>
            </a:r>
            <a:r>
              <a:rPr lang="en" sz="2200"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" sz="22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static</a:t>
            </a:r>
            <a:r>
              <a:rPr lang="en" sz="2200"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2200">
                <a:solidFill>
                  <a:srgbClr val="BB4444"/>
                </a:solidFill>
                <a:latin typeface="Consolas"/>
                <a:ea typeface="Consolas"/>
                <a:cs typeface="Consolas"/>
                <a:sym typeface="Consolas"/>
              </a:rPr>
              <a:t>org</a:t>
            </a:r>
            <a:r>
              <a:rPr lang="en" sz="220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en" sz="2200">
                <a:solidFill>
                  <a:srgbClr val="BB4444"/>
                </a:solidFill>
                <a:latin typeface="Consolas"/>
                <a:ea typeface="Consolas"/>
                <a:cs typeface="Consolas"/>
                <a:sym typeface="Consolas"/>
              </a:rPr>
              <a:t>junit</a:t>
            </a:r>
            <a:r>
              <a:rPr lang="en" sz="220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en" sz="2200">
                <a:solidFill>
                  <a:srgbClr val="BB4444"/>
                </a:solidFill>
                <a:latin typeface="Consolas"/>
                <a:ea typeface="Consolas"/>
                <a:cs typeface="Consolas"/>
                <a:sym typeface="Consolas"/>
              </a:rPr>
              <a:t>Assert</a:t>
            </a:r>
            <a:r>
              <a:rPr lang="en" sz="220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.*;</a:t>
            </a:r>
            <a:endParaRPr sz="2200">
              <a:solidFill>
                <a:schemeClr val="dk2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This will magically eliminate the need to type ‘</a:t>
            </a:r>
            <a:r>
              <a:rPr lang="en" sz="16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org.junit</a:t>
            </a:r>
            <a:r>
              <a:rPr lang="en"/>
              <a:t>’ or ‘</a:t>
            </a:r>
            <a:r>
              <a:rPr lang="en" sz="1600">
                <a:solidFill>
                  <a:srgbClr val="BB4444"/>
                </a:solidFill>
                <a:latin typeface="Consolas"/>
                <a:ea typeface="Consolas"/>
                <a:cs typeface="Consolas"/>
                <a:sym typeface="Consolas"/>
              </a:rPr>
              <a:t>org</a:t>
            </a:r>
            <a:r>
              <a:rPr lang="en" sz="160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en" sz="1600">
                <a:solidFill>
                  <a:srgbClr val="BB4444"/>
                </a:solidFill>
                <a:latin typeface="Consolas"/>
                <a:ea typeface="Consolas"/>
                <a:cs typeface="Consolas"/>
                <a:sym typeface="Consolas"/>
              </a:rPr>
              <a:t>junit</a:t>
            </a:r>
            <a:r>
              <a:rPr lang="en" sz="160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en" sz="1600">
                <a:solidFill>
                  <a:srgbClr val="BB4444"/>
                </a:solidFill>
                <a:latin typeface="Consolas"/>
                <a:ea typeface="Consolas"/>
                <a:cs typeface="Consolas"/>
                <a:sym typeface="Consolas"/>
              </a:rPr>
              <a:t>Assert</a:t>
            </a:r>
            <a:r>
              <a:rPr lang="en"/>
              <a:t>’ (more after the midterm on what these imports really mean).</a:t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9EAD3"/>
        </a:solidFill>
      </p:bgPr>
    </p:bg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35"/>
          <p:cNvSpPr txBox="1"/>
          <p:nvPr>
            <p:ph type="title"/>
          </p:nvPr>
        </p:nvSpPr>
        <p:spPr>
          <a:xfrm>
            <a:off x="928950" y="1690800"/>
            <a:ext cx="7286100" cy="1761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/>
              <a:t>Testing Philosophy</a:t>
            </a:r>
            <a:endParaRPr sz="48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/>
              <a:t>(Web Video Only)</a:t>
            </a:r>
            <a:endParaRPr sz="480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36"/>
          <p:cNvSpPr txBox="1"/>
          <p:nvPr>
            <p:ph idx="1" type="body"/>
          </p:nvPr>
        </p:nvSpPr>
        <p:spPr>
          <a:xfrm>
            <a:off x="243000" y="556500"/>
            <a:ext cx="4974900" cy="434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Idea: Magic autograder tells you code works.</a:t>
            </a:r>
            <a:endParaRPr/>
          </a:p>
          <a:p>
            <a:pPr indent="-355600" lvl="0" marL="457200" rtl="0" algn="l">
              <a:spcBef>
                <a:spcPts val="600"/>
              </a:spcBef>
              <a:spcAft>
                <a:spcPts val="0"/>
              </a:spcAft>
              <a:buSzPts val="2000"/>
              <a:buChar char="●"/>
            </a:pPr>
            <a:r>
              <a:rPr lang="en"/>
              <a:t>We use JUnit + jh61b libraries.</a:t>
            </a:r>
            <a:endParaRPr/>
          </a:p>
        </p:txBody>
      </p:sp>
      <p:sp>
        <p:nvSpPr>
          <p:cNvPr id="376" name="Google Shape;376;p36"/>
          <p:cNvSpPr txBox="1"/>
          <p:nvPr>
            <p:ph type="title"/>
          </p:nvPr>
        </p:nvSpPr>
        <p:spPr>
          <a:xfrm>
            <a:off x="166800" y="92501"/>
            <a:ext cx="8229600" cy="495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Correctness Tool #1: Autograder</a:t>
            </a:r>
            <a:endParaRPr/>
          </a:p>
        </p:txBody>
      </p:sp>
      <p:sp>
        <p:nvSpPr>
          <p:cNvPr id="377" name="Google Shape;377;p36"/>
          <p:cNvSpPr/>
          <p:nvPr/>
        </p:nvSpPr>
        <p:spPr>
          <a:xfrm>
            <a:off x="7348795" y="3449770"/>
            <a:ext cx="1123800" cy="378300"/>
          </a:xfrm>
          <a:prstGeom prst="roundRect">
            <a:avLst>
              <a:gd fmla="val 16667" name="adj"/>
            </a:avLst>
          </a:prstGeom>
          <a:solidFill>
            <a:srgbClr val="C9DAF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Ubuntu Mono"/>
                <a:ea typeface="Ubuntu Mono"/>
                <a:cs typeface="Ubuntu Mono"/>
                <a:sym typeface="Ubuntu Mono"/>
              </a:rPr>
              <a:t>sort</a:t>
            </a:r>
            <a:endParaRPr sz="1800">
              <a:latin typeface="Ubuntu Mono"/>
              <a:ea typeface="Ubuntu Mono"/>
              <a:cs typeface="Ubuntu Mono"/>
              <a:sym typeface="Ubuntu Mono"/>
            </a:endParaRPr>
          </a:p>
        </p:txBody>
      </p:sp>
      <p:sp>
        <p:nvSpPr>
          <p:cNvPr id="378" name="Google Shape;378;p36"/>
          <p:cNvSpPr txBox="1"/>
          <p:nvPr/>
        </p:nvSpPr>
        <p:spPr>
          <a:xfrm>
            <a:off x="243000" y="1532650"/>
            <a:ext cx="4952400" cy="325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Why?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5600" lvl="0" marL="45720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●"/>
            </a:pPr>
            <a:r>
              <a:rPr lang="en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Less time wasted on “boring” stuff.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●"/>
            </a:pPr>
            <a:r>
              <a:rPr lang="en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Determines your grade.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●"/>
            </a:pPr>
            <a:r>
              <a:rPr lang="en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Gamifies correctness.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Why not?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5600" lvl="0" marL="45720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●"/>
            </a:pPr>
            <a:r>
              <a:rPr lang="en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Autograders don’t exist in real world.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●"/>
            </a:pPr>
            <a:r>
              <a:rPr lang="en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Errors may be hard to understand.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●"/>
            </a:pPr>
            <a:r>
              <a:rPr lang="en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Slow workflow.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●"/>
            </a:pPr>
            <a:r>
              <a:rPr lang="en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 control if grader breaks / misbehaves.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79" name="Google Shape;379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5253108" y="1494975"/>
            <a:ext cx="1677469" cy="1621800"/>
          </a:xfrm>
          <a:prstGeom prst="rect">
            <a:avLst/>
          </a:prstGeom>
          <a:noFill/>
          <a:ln>
            <a:noFill/>
          </a:ln>
        </p:spPr>
      </p:pic>
      <p:sp>
        <p:nvSpPr>
          <p:cNvPr id="380" name="Google Shape;380;p36"/>
          <p:cNvSpPr txBox="1"/>
          <p:nvPr/>
        </p:nvSpPr>
        <p:spPr>
          <a:xfrm>
            <a:off x="5758684" y="3042100"/>
            <a:ext cx="1145100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Autograder</a:t>
            </a:r>
            <a:endParaRPr/>
          </a:p>
        </p:txBody>
      </p:sp>
      <p:cxnSp>
        <p:nvCxnSpPr>
          <p:cNvPr id="381" name="Google Shape;381;p36"/>
          <p:cNvCxnSpPr>
            <a:stCxn id="379" idx="1"/>
            <a:endCxn id="377" idx="0"/>
          </p:cNvCxnSpPr>
          <p:nvPr/>
        </p:nvCxnSpPr>
        <p:spPr>
          <a:xfrm>
            <a:off x="6930577" y="2305875"/>
            <a:ext cx="980100" cy="1143900"/>
          </a:xfrm>
          <a:prstGeom prst="bentConnector2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p37"/>
          <p:cNvSpPr txBox="1"/>
          <p:nvPr>
            <p:ph type="title"/>
          </p:nvPr>
        </p:nvSpPr>
        <p:spPr>
          <a:xfrm>
            <a:off x="166800" y="92501"/>
            <a:ext cx="8229600" cy="495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Autograder Driven Development (ADD)</a:t>
            </a:r>
            <a:endParaRPr/>
          </a:p>
        </p:txBody>
      </p:sp>
      <p:sp>
        <p:nvSpPr>
          <p:cNvPr id="387" name="Google Shape;387;p37"/>
          <p:cNvSpPr txBox="1"/>
          <p:nvPr>
            <p:ph idx="1" type="body"/>
          </p:nvPr>
        </p:nvSpPr>
        <p:spPr>
          <a:xfrm>
            <a:off x="243000" y="556500"/>
            <a:ext cx="8822700" cy="306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The worst way to approach programming:</a:t>
            </a:r>
            <a:endParaRPr/>
          </a:p>
          <a:p>
            <a:pPr indent="-355600" lvl="0" marL="457200" rtl="0" algn="l">
              <a:spcBef>
                <a:spcPts val="600"/>
              </a:spcBef>
              <a:spcAft>
                <a:spcPts val="0"/>
              </a:spcAft>
              <a:buSzPts val="2000"/>
              <a:buChar char="●"/>
            </a:pPr>
            <a:r>
              <a:rPr lang="en"/>
              <a:t>Read and (mostly) understand the spec.</a:t>
            </a:r>
            <a:endParaRPr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/>
              <a:t>Write entire program.</a:t>
            </a:r>
            <a:endParaRPr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/>
              <a:t>Compile. Fix all compilation errors.</a:t>
            </a:r>
            <a:endParaRPr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/>
              <a:t>Send to autograder. Get many errors.</a:t>
            </a:r>
            <a:endParaRPr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/>
              <a:t>Until correct, repeat randomly</a:t>
            </a:r>
            <a:r>
              <a:rPr lang="en"/>
              <a:t>:</a:t>
            </a:r>
            <a:endParaRPr/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n"/>
              <a:t>Run autograder.</a:t>
            </a:r>
            <a:endParaRPr/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n"/>
              <a:t>Add print statements to zero in on the bug.</a:t>
            </a:r>
            <a:endParaRPr/>
          </a:p>
        </p:txBody>
      </p:sp>
      <p:sp>
        <p:nvSpPr>
          <p:cNvPr id="388" name="Google Shape;388;p37"/>
          <p:cNvSpPr txBox="1"/>
          <p:nvPr/>
        </p:nvSpPr>
        <p:spPr>
          <a:xfrm>
            <a:off x="231325" y="4660300"/>
            <a:ext cx="8017500" cy="41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Note: Print statements are not inherently evil. While they are a weak tool, they are very easy to use.</a:t>
            </a:r>
            <a:endParaRPr/>
          </a:p>
        </p:txBody>
      </p:sp>
      <p:sp>
        <p:nvSpPr>
          <p:cNvPr id="389" name="Google Shape;389;p37"/>
          <p:cNvSpPr txBox="1"/>
          <p:nvPr/>
        </p:nvSpPr>
        <p:spPr>
          <a:xfrm>
            <a:off x="5795675" y="936025"/>
            <a:ext cx="3234300" cy="2609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600">
                <a:solidFill>
                  <a:srgbClr val="FFFFFF"/>
                </a:solidFill>
                <a:highlight>
                  <a:srgbClr val="000000"/>
                </a:highlight>
                <a:latin typeface="Consolas"/>
                <a:ea typeface="Consolas"/>
                <a:cs typeface="Consolas"/>
                <a:sym typeface="Consolas"/>
              </a:rPr>
              <a:t>[63, 12, 91, 5, 0]</a:t>
            </a:r>
            <a:endParaRPr sz="1600">
              <a:solidFill>
                <a:srgbClr val="FFFFFF"/>
              </a:solidFill>
              <a:highlight>
                <a:srgbClr val="000000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600">
                <a:solidFill>
                  <a:srgbClr val="FFFFFF"/>
                </a:solidFill>
                <a:highlight>
                  <a:srgbClr val="000000"/>
                </a:highlight>
                <a:latin typeface="Consolas"/>
                <a:ea typeface="Consolas"/>
                <a:cs typeface="Consolas"/>
                <a:sym typeface="Consolas"/>
              </a:rPr>
              <a:t>got to this spot, lt is: 1</a:t>
            </a:r>
            <a:endParaRPr sz="1600">
              <a:solidFill>
                <a:srgbClr val="FFFFFF"/>
              </a:solidFill>
              <a:highlight>
                <a:srgbClr val="000000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600">
                <a:solidFill>
                  <a:srgbClr val="FFFFFF"/>
                </a:solidFill>
                <a:highlight>
                  <a:srgbClr val="000000"/>
                </a:highlight>
                <a:latin typeface="Consolas"/>
                <a:ea typeface="Consolas"/>
                <a:cs typeface="Consolas"/>
                <a:sym typeface="Consolas"/>
              </a:rPr>
              <a:t>got to this spot, lt is: 2</a:t>
            </a:r>
            <a:endParaRPr sz="1600">
              <a:solidFill>
                <a:srgbClr val="FFFFFF"/>
              </a:solidFill>
              <a:highlight>
                <a:srgbClr val="000000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600">
                <a:solidFill>
                  <a:srgbClr val="FFFFFF"/>
                </a:solidFill>
                <a:highlight>
                  <a:srgbClr val="000000"/>
                </a:highlight>
                <a:latin typeface="Consolas"/>
                <a:ea typeface="Consolas"/>
                <a:cs typeface="Consolas"/>
                <a:sym typeface="Consolas"/>
              </a:rPr>
              <a:t>got here!</a:t>
            </a:r>
            <a:endParaRPr sz="1600">
              <a:solidFill>
                <a:srgbClr val="FFFFFF"/>
              </a:solidFill>
              <a:highlight>
                <a:srgbClr val="000000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600">
                <a:solidFill>
                  <a:srgbClr val="FFFFFF"/>
                </a:solidFill>
                <a:highlight>
                  <a:srgbClr val="000000"/>
                </a:highlight>
                <a:latin typeface="Consolas"/>
                <a:ea typeface="Consolas"/>
                <a:cs typeface="Consolas"/>
                <a:sym typeface="Consolas"/>
              </a:rPr>
              <a:t>[63, 12, 0, 5, 91]</a:t>
            </a:r>
            <a:endParaRPr sz="1600">
              <a:solidFill>
                <a:srgbClr val="FFFFFF"/>
              </a:solidFill>
              <a:highlight>
                <a:srgbClr val="000000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lt1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got to this spot, lt is: 3</a:t>
            </a:r>
            <a:endParaRPr sz="1600">
              <a:solidFill>
                <a:schemeClr val="lt1"/>
              </a:solidFill>
              <a:highlight>
                <a:schemeClr val="dk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lt1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got to this spot, lt is: 4</a:t>
            </a:r>
            <a:endParaRPr sz="1600">
              <a:solidFill>
                <a:schemeClr val="lt1"/>
              </a:solidFill>
              <a:highlight>
                <a:schemeClr val="dk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lt1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got here!</a:t>
            </a:r>
            <a:endParaRPr sz="1600">
              <a:solidFill>
                <a:schemeClr val="lt1"/>
              </a:solidFill>
              <a:highlight>
                <a:schemeClr val="dk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lt1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[5, 12, 0, 63, 91]</a:t>
            </a:r>
            <a:endParaRPr sz="1600">
              <a:solidFill>
                <a:schemeClr val="lt1"/>
              </a:solidFill>
              <a:highlight>
                <a:schemeClr val="dk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600">
                <a:solidFill>
                  <a:srgbClr val="FFFFFF"/>
                </a:solidFill>
                <a:highlight>
                  <a:srgbClr val="000000"/>
                </a:highlight>
                <a:latin typeface="Consolas"/>
                <a:ea typeface="Consolas"/>
                <a:cs typeface="Consolas"/>
                <a:sym typeface="Consolas"/>
              </a:rPr>
              <a:t>Test Failed. Expected: ...  </a:t>
            </a:r>
            <a:endParaRPr sz="1600">
              <a:solidFill>
                <a:srgbClr val="FFFFFF"/>
              </a:solidFill>
              <a:highlight>
                <a:srgbClr val="000000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sz="1600">
              <a:solidFill>
                <a:srgbClr val="FFFFFF"/>
              </a:solidFill>
              <a:highlight>
                <a:srgbClr val="000000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90" name="Google Shape;390;p37"/>
          <p:cNvSpPr txBox="1"/>
          <p:nvPr>
            <p:ph idx="1" type="body"/>
          </p:nvPr>
        </p:nvSpPr>
        <p:spPr>
          <a:xfrm>
            <a:off x="243000" y="3081033"/>
            <a:ext cx="8822700" cy="125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1" marL="914400" rtl="0" algn="l">
              <a:spcBef>
                <a:spcPts val="480"/>
              </a:spcBef>
              <a:spcAft>
                <a:spcPts val="0"/>
              </a:spcAft>
              <a:buSzPts val="2000"/>
              <a:buChar char="○"/>
            </a:pPr>
            <a:r>
              <a:rPr lang="en"/>
              <a:t>Make changes to code to try to fix bug.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This workflow is slow and unsafe!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7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7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7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7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p38"/>
          <p:cNvSpPr txBox="1"/>
          <p:nvPr>
            <p:ph idx="1" type="body"/>
          </p:nvPr>
        </p:nvSpPr>
        <p:spPr>
          <a:xfrm>
            <a:off x="243000" y="556500"/>
            <a:ext cx="4644600" cy="434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Idea: Write tests for every “unit”.</a:t>
            </a:r>
            <a:endParaRPr/>
          </a:p>
          <a:p>
            <a:pPr indent="-355600" lvl="0" marL="457200" rtl="0" algn="l">
              <a:spcBef>
                <a:spcPts val="600"/>
              </a:spcBef>
              <a:spcAft>
                <a:spcPts val="0"/>
              </a:spcAft>
              <a:buSzPts val="2000"/>
              <a:buChar char="●"/>
            </a:pPr>
            <a:r>
              <a:rPr lang="en"/>
              <a:t>JUnit makes this easy!</a:t>
            </a:r>
            <a:endParaRPr/>
          </a:p>
        </p:txBody>
      </p:sp>
      <p:sp>
        <p:nvSpPr>
          <p:cNvPr id="396" name="Google Shape;396;p38"/>
          <p:cNvSpPr txBox="1"/>
          <p:nvPr>
            <p:ph type="title"/>
          </p:nvPr>
        </p:nvSpPr>
        <p:spPr>
          <a:xfrm>
            <a:off x="166800" y="92501"/>
            <a:ext cx="8229600" cy="495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Correctness Tool #2: Unit Tests</a:t>
            </a:r>
            <a:endParaRPr/>
          </a:p>
        </p:txBody>
      </p:sp>
      <p:sp>
        <p:nvSpPr>
          <p:cNvPr id="397" name="Google Shape;397;p38"/>
          <p:cNvSpPr/>
          <p:nvPr/>
        </p:nvSpPr>
        <p:spPr>
          <a:xfrm>
            <a:off x="6396100" y="1872900"/>
            <a:ext cx="1123800" cy="378300"/>
          </a:xfrm>
          <a:prstGeom prst="roundRect">
            <a:avLst>
              <a:gd fmla="val 16667" name="adj"/>
            </a:avLst>
          </a:prstGeom>
          <a:solidFill>
            <a:srgbClr val="C9DAF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Ubuntu Mono"/>
                <a:ea typeface="Ubuntu Mono"/>
                <a:cs typeface="Ubuntu Mono"/>
                <a:sym typeface="Ubuntu Mono"/>
              </a:rPr>
              <a:t>sort</a:t>
            </a:r>
            <a:endParaRPr sz="1800">
              <a:latin typeface="Ubuntu Mono"/>
              <a:ea typeface="Ubuntu Mono"/>
              <a:cs typeface="Ubuntu Mono"/>
              <a:sym typeface="Ubuntu Mono"/>
            </a:endParaRPr>
          </a:p>
        </p:txBody>
      </p:sp>
      <p:sp>
        <p:nvSpPr>
          <p:cNvPr id="398" name="Google Shape;398;p38"/>
          <p:cNvSpPr/>
          <p:nvPr/>
        </p:nvSpPr>
        <p:spPr>
          <a:xfrm>
            <a:off x="4762521" y="1442763"/>
            <a:ext cx="1347600" cy="3783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Ubuntu Mono"/>
                <a:ea typeface="Ubuntu Mono"/>
                <a:cs typeface="Ubuntu Mono"/>
                <a:sym typeface="Ubuntu Mono"/>
              </a:rPr>
              <a:t>testSort</a:t>
            </a:r>
            <a:endParaRPr sz="1800">
              <a:latin typeface="Ubuntu Mono"/>
              <a:ea typeface="Ubuntu Mono"/>
              <a:cs typeface="Ubuntu Mono"/>
              <a:sym typeface="Ubuntu Mono"/>
            </a:endParaRPr>
          </a:p>
        </p:txBody>
      </p:sp>
      <p:sp>
        <p:nvSpPr>
          <p:cNvPr id="399" name="Google Shape;399;p38"/>
          <p:cNvSpPr txBox="1"/>
          <p:nvPr/>
        </p:nvSpPr>
        <p:spPr>
          <a:xfrm>
            <a:off x="243000" y="1532650"/>
            <a:ext cx="4909800" cy="325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Why?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5600" lvl="0" marL="45720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●"/>
            </a:pPr>
            <a:r>
              <a:rPr lang="en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Build confidence in basic modules.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●"/>
            </a:pPr>
            <a:r>
              <a:rPr lang="en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Decrease debugging time.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●"/>
            </a:pPr>
            <a:r>
              <a:rPr lang="en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Clarify the task.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Why not?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5600" lvl="0" marL="45720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●"/>
            </a:pPr>
            <a:r>
              <a:rPr lang="en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Building tests takes time.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●"/>
            </a:pPr>
            <a:r>
              <a:rPr lang="en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May provide false confidence.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●"/>
            </a:pPr>
            <a:r>
              <a:rPr lang="en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Hard to test units that rely on others.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○"/>
            </a:pPr>
            <a:r>
              <a:rPr lang="en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e.g. how do you test </a:t>
            </a:r>
            <a:r>
              <a:rPr lang="en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addFirst</a:t>
            </a:r>
            <a:r>
              <a:rPr lang="en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?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0" name="Google Shape;400;p38"/>
          <p:cNvSpPr/>
          <p:nvPr/>
        </p:nvSpPr>
        <p:spPr>
          <a:xfrm>
            <a:off x="5481800" y="2829750"/>
            <a:ext cx="1123800" cy="378300"/>
          </a:xfrm>
          <a:prstGeom prst="roundRect">
            <a:avLst>
              <a:gd fmla="val 16667" name="adj"/>
            </a:avLst>
          </a:prstGeom>
          <a:solidFill>
            <a:srgbClr val="C9DAF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Ubuntu Mono"/>
                <a:ea typeface="Ubuntu Mono"/>
                <a:cs typeface="Ubuntu Mono"/>
                <a:sym typeface="Ubuntu Mono"/>
              </a:rPr>
              <a:t>swap</a:t>
            </a:r>
            <a:endParaRPr sz="1800">
              <a:latin typeface="Ubuntu Mono"/>
              <a:ea typeface="Ubuntu Mono"/>
              <a:cs typeface="Ubuntu Mono"/>
              <a:sym typeface="Ubuntu Mono"/>
            </a:endParaRPr>
          </a:p>
        </p:txBody>
      </p:sp>
      <p:sp>
        <p:nvSpPr>
          <p:cNvPr id="401" name="Google Shape;401;p38"/>
          <p:cNvSpPr/>
          <p:nvPr/>
        </p:nvSpPr>
        <p:spPr>
          <a:xfrm>
            <a:off x="7199800" y="2829750"/>
            <a:ext cx="1761000" cy="378300"/>
          </a:xfrm>
          <a:prstGeom prst="roundRect">
            <a:avLst>
              <a:gd fmla="val 16667" name="adj"/>
            </a:avLst>
          </a:prstGeom>
          <a:solidFill>
            <a:srgbClr val="C9DAF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Ubuntu Mono"/>
                <a:ea typeface="Ubuntu Mono"/>
                <a:cs typeface="Ubuntu Mono"/>
                <a:sym typeface="Ubuntu Mono"/>
              </a:rPr>
              <a:t>findSmallest</a:t>
            </a:r>
            <a:endParaRPr sz="1800">
              <a:latin typeface="Ubuntu Mono"/>
              <a:ea typeface="Ubuntu Mono"/>
              <a:cs typeface="Ubuntu Mono"/>
              <a:sym typeface="Ubuntu Mono"/>
            </a:endParaRPr>
          </a:p>
        </p:txBody>
      </p:sp>
      <p:cxnSp>
        <p:nvCxnSpPr>
          <p:cNvPr id="402" name="Google Shape;402;p38"/>
          <p:cNvCxnSpPr>
            <a:stCxn id="397" idx="2"/>
            <a:endCxn id="400" idx="0"/>
          </p:cNvCxnSpPr>
          <p:nvPr/>
        </p:nvCxnSpPr>
        <p:spPr>
          <a:xfrm flipH="1">
            <a:off x="6043600" y="2251200"/>
            <a:ext cx="914400" cy="578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03" name="Google Shape;403;p38"/>
          <p:cNvCxnSpPr>
            <a:stCxn id="397" idx="2"/>
            <a:endCxn id="401" idx="0"/>
          </p:cNvCxnSpPr>
          <p:nvPr/>
        </p:nvCxnSpPr>
        <p:spPr>
          <a:xfrm>
            <a:off x="6958000" y="2251200"/>
            <a:ext cx="1122300" cy="578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04" name="Google Shape;404;p38"/>
          <p:cNvSpPr/>
          <p:nvPr/>
        </p:nvSpPr>
        <p:spPr>
          <a:xfrm>
            <a:off x="4456371" y="3525088"/>
            <a:ext cx="1347600" cy="3783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Ubuntu Mono"/>
                <a:ea typeface="Ubuntu Mono"/>
                <a:cs typeface="Ubuntu Mono"/>
                <a:sym typeface="Ubuntu Mono"/>
              </a:rPr>
              <a:t>testSwap</a:t>
            </a:r>
            <a:endParaRPr sz="1800">
              <a:latin typeface="Ubuntu Mono"/>
              <a:ea typeface="Ubuntu Mono"/>
              <a:cs typeface="Ubuntu Mono"/>
              <a:sym typeface="Ubuntu Mono"/>
            </a:endParaRPr>
          </a:p>
        </p:txBody>
      </p:sp>
      <p:sp>
        <p:nvSpPr>
          <p:cNvPr id="405" name="Google Shape;405;p38"/>
          <p:cNvSpPr/>
          <p:nvPr/>
        </p:nvSpPr>
        <p:spPr>
          <a:xfrm>
            <a:off x="6603203" y="3806800"/>
            <a:ext cx="2214000" cy="3783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Ubuntu Mono"/>
                <a:ea typeface="Ubuntu Mono"/>
                <a:cs typeface="Ubuntu Mono"/>
                <a:sym typeface="Ubuntu Mono"/>
              </a:rPr>
              <a:t>testFindSmallest</a:t>
            </a:r>
            <a:endParaRPr sz="1800">
              <a:latin typeface="Ubuntu Mono"/>
              <a:ea typeface="Ubuntu Mono"/>
              <a:cs typeface="Ubuntu Mono"/>
              <a:sym typeface="Ubuntu Mono"/>
            </a:endParaRPr>
          </a:p>
        </p:txBody>
      </p:sp>
      <p:cxnSp>
        <p:nvCxnSpPr>
          <p:cNvPr id="406" name="Google Shape;406;p38"/>
          <p:cNvCxnSpPr>
            <a:stCxn id="398" idx="2"/>
            <a:endCxn id="397" idx="1"/>
          </p:cNvCxnSpPr>
          <p:nvPr/>
        </p:nvCxnSpPr>
        <p:spPr>
          <a:xfrm flipH="1" rot="-5400000">
            <a:off x="5795721" y="1461663"/>
            <a:ext cx="240900" cy="959700"/>
          </a:xfrm>
          <a:prstGeom prst="bentConnector2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07" name="Google Shape;407;p38"/>
          <p:cNvCxnSpPr>
            <a:stCxn id="404" idx="0"/>
            <a:endCxn id="400" idx="1"/>
          </p:cNvCxnSpPr>
          <p:nvPr/>
        </p:nvCxnSpPr>
        <p:spPr>
          <a:xfrm rot="-5400000">
            <a:off x="5052921" y="3096238"/>
            <a:ext cx="506100" cy="351600"/>
          </a:xfrm>
          <a:prstGeom prst="bentConnector2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08" name="Google Shape;408;p38"/>
          <p:cNvSpPr txBox="1"/>
          <p:nvPr/>
        </p:nvSpPr>
        <p:spPr>
          <a:xfrm>
            <a:off x="6765025" y="3815068"/>
            <a:ext cx="279000" cy="18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09" name="Google Shape;409;p38"/>
          <p:cNvCxnSpPr>
            <a:stCxn id="408" idx="0"/>
            <a:endCxn id="401" idx="1"/>
          </p:cNvCxnSpPr>
          <p:nvPr/>
        </p:nvCxnSpPr>
        <p:spPr>
          <a:xfrm rot="-5400000">
            <a:off x="6654025" y="3269368"/>
            <a:ext cx="796200" cy="295200"/>
          </a:xfrm>
          <a:prstGeom prst="bentConnector2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3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p39"/>
          <p:cNvSpPr txBox="1"/>
          <p:nvPr>
            <p:ph type="title"/>
          </p:nvPr>
        </p:nvSpPr>
        <p:spPr>
          <a:xfrm>
            <a:off x="166800" y="92501"/>
            <a:ext cx="8229600" cy="495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Test-Driven Development (TDD)</a:t>
            </a:r>
            <a:endParaRPr/>
          </a:p>
        </p:txBody>
      </p:sp>
      <p:sp>
        <p:nvSpPr>
          <p:cNvPr id="415" name="Google Shape;415;p39"/>
          <p:cNvSpPr txBox="1"/>
          <p:nvPr>
            <p:ph idx="1" type="body"/>
          </p:nvPr>
        </p:nvSpPr>
        <p:spPr>
          <a:xfrm>
            <a:off x="243000" y="556500"/>
            <a:ext cx="8443800" cy="184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Steps to developing according to TDD:</a:t>
            </a:r>
            <a:endParaRPr/>
          </a:p>
          <a:p>
            <a:pPr indent="-355600" lvl="0" marL="457200" rtl="0" algn="l">
              <a:spcBef>
                <a:spcPts val="600"/>
              </a:spcBef>
              <a:spcAft>
                <a:spcPts val="0"/>
              </a:spcAft>
              <a:buSzPts val="2000"/>
              <a:buChar char="●"/>
            </a:pPr>
            <a:r>
              <a:rPr lang="en"/>
              <a:t>Identify a new feature.</a:t>
            </a:r>
            <a:endParaRPr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/>
              <a:t>Write a unit test for that feature.</a:t>
            </a:r>
            <a:endParaRPr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/>
              <a:t>Run the test. It should fail. </a:t>
            </a:r>
            <a:r>
              <a:rPr lang="en">
                <a:solidFill>
                  <a:srgbClr val="FF0000"/>
                </a:solidFill>
              </a:rPr>
              <a:t>(RED)</a:t>
            </a:r>
            <a:endParaRPr>
              <a:solidFill>
                <a:srgbClr val="FF0000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/>
              <a:t>Write code that passes test. </a:t>
            </a:r>
            <a:r>
              <a:rPr lang="en">
                <a:solidFill>
                  <a:srgbClr val="6AA84F"/>
                </a:solidFill>
              </a:rPr>
              <a:t>(GREEN)</a:t>
            </a:r>
            <a:endParaRPr>
              <a:solidFill>
                <a:srgbClr val="6AA84F"/>
              </a:solidFill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br>
              <a:rPr lang="en"/>
            </a:br>
            <a:endParaRPr/>
          </a:p>
        </p:txBody>
      </p:sp>
      <p:pic>
        <p:nvPicPr>
          <p:cNvPr id="416" name="Google Shape;416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14200" y="0"/>
            <a:ext cx="2729800" cy="2689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17" name="Google Shape;417;p3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682777" y="2613375"/>
            <a:ext cx="2399546" cy="2453925"/>
          </a:xfrm>
          <a:prstGeom prst="rect">
            <a:avLst/>
          </a:prstGeom>
          <a:noFill/>
          <a:ln>
            <a:noFill/>
          </a:ln>
        </p:spPr>
      </p:pic>
      <p:sp>
        <p:nvSpPr>
          <p:cNvPr id="418" name="Google Shape;418;p39"/>
          <p:cNvSpPr txBox="1"/>
          <p:nvPr/>
        </p:nvSpPr>
        <p:spPr>
          <a:xfrm>
            <a:off x="243343" y="2047945"/>
            <a:ext cx="67839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55600" lvl="1" marL="9144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○"/>
            </a:pPr>
            <a:r>
              <a:rPr lang="en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Implementation is certifiably good!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●"/>
            </a:pPr>
            <a:r>
              <a:rPr lang="en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Optional: Refactor code to make it faster, cleaner, etc.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Not required in 61B. You might hate this!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5600" lvl="0" marL="45720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●"/>
            </a:pPr>
            <a:r>
              <a:rPr lang="en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But testing is a good idea.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Interesting perspective: </a:t>
            </a:r>
            <a:r>
              <a:rPr lang="en" sz="20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5"/>
              </a:rPr>
              <a:t>Red-Shirt, Red, Green, Refactor</a:t>
            </a:r>
            <a:r>
              <a:rPr lang="en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41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41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41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41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5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415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5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415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4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41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41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41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41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8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418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8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418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8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418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2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p40"/>
          <p:cNvSpPr txBox="1"/>
          <p:nvPr>
            <p:ph type="title"/>
          </p:nvPr>
        </p:nvSpPr>
        <p:spPr>
          <a:xfrm>
            <a:off x="166800" y="92501"/>
            <a:ext cx="8229600" cy="495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 Tale of Two Workflows</a:t>
            </a:r>
            <a:endParaRPr/>
          </a:p>
        </p:txBody>
      </p:sp>
      <p:pic>
        <p:nvPicPr>
          <p:cNvPr id="424" name="Google Shape;424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64425" y="1727800"/>
            <a:ext cx="2981850" cy="2937900"/>
          </a:xfrm>
          <a:prstGeom prst="rect">
            <a:avLst/>
          </a:prstGeom>
          <a:noFill/>
          <a:ln>
            <a:noFill/>
          </a:ln>
        </p:spPr>
      </p:pic>
      <p:sp>
        <p:nvSpPr>
          <p:cNvPr id="425" name="Google Shape;425;p40"/>
          <p:cNvSpPr txBox="1"/>
          <p:nvPr>
            <p:ph idx="1" type="body"/>
          </p:nvPr>
        </p:nvSpPr>
        <p:spPr>
          <a:xfrm>
            <a:off x="243000" y="556500"/>
            <a:ext cx="8443800" cy="415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TDD is an extreme departure from the naive workflow.</a:t>
            </a:r>
            <a:endParaRPr/>
          </a:p>
          <a:p>
            <a:pPr indent="-355600" lvl="0" marL="457200" rtl="0" algn="l">
              <a:spcBef>
                <a:spcPts val="600"/>
              </a:spcBef>
              <a:spcAft>
                <a:spcPts val="0"/>
              </a:spcAft>
              <a:buSzPts val="2000"/>
              <a:buChar char="●"/>
            </a:pPr>
            <a:r>
              <a:rPr lang="en"/>
              <a:t>What’s best for you is probably in the middle.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6" name="Google Shape;426;p40"/>
          <p:cNvSpPr txBox="1"/>
          <p:nvPr/>
        </p:nvSpPr>
        <p:spPr>
          <a:xfrm>
            <a:off x="243000" y="1892050"/>
            <a:ext cx="3234300" cy="2609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93C47D"/>
                </a:solidFill>
                <a:highlight>
                  <a:srgbClr val="000000"/>
                </a:highlight>
                <a:latin typeface="Consolas"/>
                <a:ea typeface="Consolas"/>
                <a:cs typeface="Consolas"/>
                <a:sym typeface="Consolas"/>
              </a:rPr>
              <a:t>$</a:t>
            </a:r>
            <a:r>
              <a:rPr lang="en" sz="1600">
                <a:solidFill>
                  <a:srgbClr val="FFFFFF"/>
                </a:solidFill>
                <a:highlight>
                  <a:srgbClr val="000000"/>
                </a:highlight>
                <a:latin typeface="Consolas"/>
                <a:ea typeface="Consolas"/>
                <a:cs typeface="Consolas"/>
                <a:sym typeface="Consolas"/>
              </a:rPr>
              <a:t> python sort.py</a:t>
            </a:r>
            <a:endParaRPr sz="1600">
              <a:solidFill>
                <a:srgbClr val="FFFFFF"/>
              </a:solidFill>
              <a:highlight>
                <a:srgbClr val="000000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600">
                <a:solidFill>
                  <a:srgbClr val="FFFFFF"/>
                </a:solidFill>
                <a:highlight>
                  <a:srgbClr val="000000"/>
                </a:highlight>
                <a:latin typeface="Consolas"/>
                <a:ea typeface="Consolas"/>
                <a:cs typeface="Consolas"/>
                <a:sym typeface="Consolas"/>
              </a:rPr>
              <a:t>[63, 12, 91, 5, 0]</a:t>
            </a:r>
            <a:endParaRPr sz="1600">
              <a:solidFill>
                <a:srgbClr val="FFFFFF"/>
              </a:solidFill>
              <a:highlight>
                <a:srgbClr val="000000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600">
                <a:solidFill>
                  <a:srgbClr val="FFFFFF"/>
                </a:solidFill>
                <a:highlight>
                  <a:srgbClr val="000000"/>
                </a:highlight>
                <a:latin typeface="Consolas"/>
                <a:ea typeface="Consolas"/>
                <a:cs typeface="Consolas"/>
                <a:sym typeface="Consolas"/>
              </a:rPr>
              <a:t>got to this spot, lt is: 1</a:t>
            </a:r>
            <a:endParaRPr sz="1600">
              <a:solidFill>
                <a:srgbClr val="FFFFFF"/>
              </a:solidFill>
              <a:highlight>
                <a:srgbClr val="000000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600">
                <a:solidFill>
                  <a:srgbClr val="FFFFFF"/>
                </a:solidFill>
                <a:highlight>
                  <a:srgbClr val="000000"/>
                </a:highlight>
                <a:latin typeface="Consolas"/>
                <a:ea typeface="Consolas"/>
                <a:cs typeface="Consolas"/>
                <a:sym typeface="Consolas"/>
              </a:rPr>
              <a:t>got to this spot, lt is: 2</a:t>
            </a:r>
            <a:endParaRPr sz="1600">
              <a:solidFill>
                <a:srgbClr val="FFFFFF"/>
              </a:solidFill>
              <a:highlight>
                <a:srgbClr val="000000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600">
                <a:solidFill>
                  <a:srgbClr val="FFFFFF"/>
                </a:solidFill>
                <a:highlight>
                  <a:srgbClr val="000000"/>
                </a:highlight>
                <a:latin typeface="Consolas"/>
                <a:ea typeface="Consolas"/>
                <a:cs typeface="Consolas"/>
                <a:sym typeface="Consolas"/>
              </a:rPr>
              <a:t>got here!</a:t>
            </a:r>
            <a:endParaRPr sz="1600">
              <a:solidFill>
                <a:srgbClr val="FFFFFF"/>
              </a:solidFill>
              <a:highlight>
                <a:srgbClr val="000000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600">
                <a:solidFill>
                  <a:srgbClr val="FFFFFF"/>
                </a:solidFill>
                <a:highlight>
                  <a:srgbClr val="000000"/>
                </a:highlight>
                <a:latin typeface="Consolas"/>
                <a:ea typeface="Consolas"/>
                <a:cs typeface="Consolas"/>
                <a:sym typeface="Consolas"/>
              </a:rPr>
              <a:t>[63, 12, 0, 5, 91]</a:t>
            </a:r>
            <a:endParaRPr sz="1600">
              <a:solidFill>
                <a:srgbClr val="FFFFFF"/>
              </a:solidFill>
              <a:highlight>
                <a:srgbClr val="000000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lt1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got to this spot, lt is: 3</a:t>
            </a:r>
            <a:endParaRPr sz="1600">
              <a:solidFill>
                <a:schemeClr val="lt1"/>
              </a:solidFill>
              <a:highlight>
                <a:schemeClr val="dk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lt1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got to this spot, lt is: 4</a:t>
            </a:r>
            <a:endParaRPr sz="1600">
              <a:solidFill>
                <a:schemeClr val="lt1"/>
              </a:solidFill>
              <a:highlight>
                <a:schemeClr val="dk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lt1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got here!</a:t>
            </a:r>
            <a:endParaRPr sz="1600">
              <a:solidFill>
                <a:schemeClr val="lt1"/>
              </a:solidFill>
              <a:highlight>
                <a:schemeClr val="dk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lt1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[5, 12, 0, 63, 91]</a:t>
            </a:r>
            <a:endParaRPr sz="1600">
              <a:solidFill>
                <a:schemeClr val="lt1"/>
              </a:solidFill>
              <a:highlight>
                <a:schemeClr val="dk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sz="1600">
              <a:solidFill>
                <a:srgbClr val="FFFFFF"/>
              </a:solidFill>
              <a:highlight>
                <a:srgbClr val="000000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sz="1600">
              <a:solidFill>
                <a:srgbClr val="FFFFFF"/>
              </a:solidFill>
              <a:highlight>
                <a:srgbClr val="000000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0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p41"/>
          <p:cNvSpPr/>
          <p:nvPr/>
        </p:nvSpPr>
        <p:spPr>
          <a:xfrm>
            <a:off x="5217800" y="960588"/>
            <a:ext cx="3390900" cy="1621800"/>
          </a:xfrm>
          <a:prstGeom prst="rect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2" name="Google Shape;432;p41"/>
          <p:cNvSpPr txBox="1"/>
          <p:nvPr>
            <p:ph idx="1" type="body"/>
          </p:nvPr>
        </p:nvSpPr>
        <p:spPr>
          <a:xfrm>
            <a:off x="243000" y="556500"/>
            <a:ext cx="8443800" cy="434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Idea: Tests cover many units at once.</a:t>
            </a:r>
            <a:endParaRPr/>
          </a:p>
          <a:p>
            <a:pPr indent="-355600" lvl="0" marL="457200" rtl="0" algn="l">
              <a:spcBef>
                <a:spcPts val="600"/>
              </a:spcBef>
              <a:spcAft>
                <a:spcPts val="0"/>
              </a:spcAft>
              <a:buSzPts val="2000"/>
              <a:buChar char="●"/>
            </a:pPr>
            <a:r>
              <a:rPr lang="en"/>
              <a:t>Not JUnit’s focus, but JUnit can do this.</a:t>
            </a:r>
            <a:endParaRPr/>
          </a:p>
        </p:txBody>
      </p:sp>
      <p:sp>
        <p:nvSpPr>
          <p:cNvPr id="433" name="Google Shape;433;p41"/>
          <p:cNvSpPr txBox="1"/>
          <p:nvPr>
            <p:ph type="title"/>
          </p:nvPr>
        </p:nvSpPr>
        <p:spPr>
          <a:xfrm>
            <a:off x="166800" y="92500"/>
            <a:ext cx="8600700" cy="495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Correctness Tool #3: Integration Testing</a:t>
            </a:r>
            <a:endParaRPr/>
          </a:p>
        </p:txBody>
      </p:sp>
      <p:sp>
        <p:nvSpPr>
          <p:cNvPr id="434" name="Google Shape;434;p41"/>
          <p:cNvSpPr/>
          <p:nvPr/>
        </p:nvSpPr>
        <p:spPr>
          <a:xfrm>
            <a:off x="4824175" y="3139425"/>
            <a:ext cx="2020800" cy="1421700"/>
          </a:xfrm>
          <a:prstGeom prst="rect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5" name="Google Shape;435;p41"/>
          <p:cNvSpPr/>
          <p:nvPr/>
        </p:nvSpPr>
        <p:spPr>
          <a:xfrm>
            <a:off x="5443575" y="1057450"/>
            <a:ext cx="1170600" cy="378300"/>
          </a:xfrm>
          <a:prstGeom prst="roundRect">
            <a:avLst>
              <a:gd fmla="val 16667" name="adj"/>
            </a:avLst>
          </a:prstGeom>
          <a:solidFill>
            <a:srgbClr val="C9DAF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Ubuntu Mono"/>
                <a:ea typeface="Ubuntu Mono"/>
                <a:cs typeface="Ubuntu Mono"/>
                <a:sym typeface="Ubuntu Mono"/>
              </a:rPr>
              <a:t>addFirst</a:t>
            </a:r>
            <a:endParaRPr sz="1800">
              <a:latin typeface="Ubuntu Mono"/>
              <a:ea typeface="Ubuntu Mono"/>
              <a:cs typeface="Ubuntu Mono"/>
              <a:sym typeface="Ubuntu Mono"/>
            </a:endParaRPr>
          </a:p>
        </p:txBody>
      </p:sp>
      <p:sp>
        <p:nvSpPr>
          <p:cNvPr id="436" name="Google Shape;436;p41"/>
          <p:cNvSpPr/>
          <p:nvPr/>
        </p:nvSpPr>
        <p:spPr>
          <a:xfrm>
            <a:off x="7165600" y="1055561"/>
            <a:ext cx="1123800" cy="378300"/>
          </a:xfrm>
          <a:prstGeom prst="roundRect">
            <a:avLst>
              <a:gd fmla="val 16667" name="adj"/>
            </a:avLst>
          </a:prstGeom>
          <a:solidFill>
            <a:srgbClr val="C9DAF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Ubuntu Mono"/>
                <a:ea typeface="Ubuntu Mono"/>
                <a:cs typeface="Ubuntu Mono"/>
                <a:sym typeface="Ubuntu Mono"/>
              </a:rPr>
              <a:t>addLast</a:t>
            </a:r>
            <a:endParaRPr sz="1800">
              <a:latin typeface="Ubuntu Mono"/>
              <a:ea typeface="Ubuntu Mono"/>
              <a:cs typeface="Ubuntu Mono"/>
              <a:sym typeface="Ubuntu Mono"/>
            </a:endParaRPr>
          </a:p>
        </p:txBody>
      </p:sp>
      <p:sp>
        <p:nvSpPr>
          <p:cNvPr id="437" name="Google Shape;437;p41"/>
          <p:cNvSpPr/>
          <p:nvPr/>
        </p:nvSpPr>
        <p:spPr>
          <a:xfrm>
            <a:off x="4979925" y="3308400"/>
            <a:ext cx="1730100" cy="11043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Ubuntu Mono"/>
                <a:ea typeface="Ubuntu Mono"/>
                <a:cs typeface="Ubuntu Mono"/>
                <a:sym typeface="Ubuntu Mono"/>
              </a:rPr>
              <a:t>Some sort of script in Java, Python, etc. </a:t>
            </a:r>
            <a:endParaRPr sz="1800">
              <a:latin typeface="Ubuntu Mono"/>
              <a:ea typeface="Ubuntu Mono"/>
              <a:cs typeface="Ubuntu Mono"/>
              <a:sym typeface="Ubuntu Mono"/>
            </a:endParaRPr>
          </a:p>
        </p:txBody>
      </p:sp>
      <p:cxnSp>
        <p:nvCxnSpPr>
          <p:cNvPr id="438" name="Google Shape;438;p41"/>
          <p:cNvCxnSpPr>
            <a:stCxn id="437" idx="0"/>
          </p:cNvCxnSpPr>
          <p:nvPr/>
        </p:nvCxnSpPr>
        <p:spPr>
          <a:xfrm rot="10800000">
            <a:off x="5844975" y="2949300"/>
            <a:ext cx="0" cy="359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39" name="Google Shape;439;p41"/>
          <p:cNvSpPr txBox="1"/>
          <p:nvPr/>
        </p:nvSpPr>
        <p:spPr>
          <a:xfrm>
            <a:off x="6215300" y="2282975"/>
            <a:ext cx="1344000" cy="34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</a:rPr>
              <a:t>ArrayDeque</a:t>
            </a:r>
            <a:endParaRPr>
              <a:solidFill>
                <a:schemeClr val="accent2"/>
              </a:solidFill>
            </a:endParaRPr>
          </a:p>
        </p:txBody>
      </p:sp>
      <p:sp>
        <p:nvSpPr>
          <p:cNvPr id="440" name="Google Shape;440;p41"/>
          <p:cNvSpPr txBox="1"/>
          <p:nvPr/>
        </p:nvSpPr>
        <p:spPr>
          <a:xfrm>
            <a:off x="243000" y="1532650"/>
            <a:ext cx="4644600" cy="325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Why?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5600" lvl="0" marL="45720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●"/>
            </a:pPr>
            <a:r>
              <a:rPr lang="en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Unit testing is not enough to ensure modules interact properly or that system works as expected.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Why not?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5600" lvl="0" marL="45720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●"/>
            </a:pPr>
            <a:r>
              <a:rPr lang="en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Can be tedious to do manually.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●"/>
            </a:pPr>
            <a:r>
              <a:rPr lang="en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Can be challenging to automate.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●"/>
            </a:pPr>
            <a:r>
              <a:rPr lang="en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Testing at highest level of abstraction may miss subtle or rare errors.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41" name="Google Shape;441;p41"/>
          <p:cNvCxnSpPr>
            <a:endCxn id="439" idx="2"/>
          </p:cNvCxnSpPr>
          <p:nvPr/>
        </p:nvCxnSpPr>
        <p:spPr>
          <a:xfrm rot="10800000">
            <a:off x="6887300" y="2631575"/>
            <a:ext cx="0" cy="328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id="442" name="Google Shape;442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30255" y="3298125"/>
            <a:ext cx="1660595" cy="1104300"/>
          </a:xfrm>
          <a:prstGeom prst="rect">
            <a:avLst/>
          </a:prstGeom>
          <a:noFill/>
          <a:ln>
            <a:noFill/>
          </a:ln>
        </p:spPr>
      </p:pic>
      <p:sp>
        <p:nvSpPr>
          <p:cNvPr id="443" name="Google Shape;443;p41"/>
          <p:cNvSpPr txBox="1"/>
          <p:nvPr/>
        </p:nvSpPr>
        <p:spPr>
          <a:xfrm>
            <a:off x="5362953" y="4539197"/>
            <a:ext cx="1320300" cy="34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Automatic</a:t>
            </a:r>
            <a:endParaRPr/>
          </a:p>
        </p:txBody>
      </p:sp>
      <p:sp>
        <p:nvSpPr>
          <p:cNvPr id="444" name="Google Shape;444;p41"/>
          <p:cNvSpPr txBox="1"/>
          <p:nvPr/>
        </p:nvSpPr>
        <p:spPr>
          <a:xfrm>
            <a:off x="7630050" y="4539200"/>
            <a:ext cx="861000" cy="34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4"/>
              </a:rPr>
              <a:t>Manual</a:t>
            </a:r>
            <a:endParaRPr/>
          </a:p>
        </p:txBody>
      </p:sp>
      <p:cxnSp>
        <p:nvCxnSpPr>
          <p:cNvPr id="445" name="Google Shape;445;p41"/>
          <p:cNvCxnSpPr>
            <a:stCxn id="442" idx="0"/>
          </p:cNvCxnSpPr>
          <p:nvPr/>
        </p:nvCxnSpPr>
        <p:spPr>
          <a:xfrm rot="10800000">
            <a:off x="8060553" y="2971125"/>
            <a:ext cx="0" cy="327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46" name="Google Shape;446;p41"/>
          <p:cNvCxnSpPr/>
          <p:nvPr/>
        </p:nvCxnSpPr>
        <p:spPr>
          <a:xfrm>
            <a:off x="5843825" y="2959200"/>
            <a:ext cx="2225700" cy="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47" name="Google Shape;447;p41"/>
          <p:cNvSpPr/>
          <p:nvPr/>
        </p:nvSpPr>
        <p:spPr>
          <a:xfrm>
            <a:off x="5437800" y="1649500"/>
            <a:ext cx="1170600" cy="378300"/>
          </a:xfrm>
          <a:prstGeom prst="roundRect">
            <a:avLst>
              <a:gd fmla="val 16667" name="adj"/>
            </a:avLst>
          </a:prstGeom>
          <a:solidFill>
            <a:srgbClr val="C9DAF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Ubuntu Mono"/>
                <a:ea typeface="Ubuntu Mono"/>
                <a:cs typeface="Ubuntu Mono"/>
                <a:sym typeface="Ubuntu Mono"/>
              </a:rPr>
              <a:t>size</a:t>
            </a:r>
            <a:endParaRPr sz="1800">
              <a:latin typeface="Ubuntu Mono"/>
              <a:ea typeface="Ubuntu Mono"/>
              <a:cs typeface="Ubuntu Mono"/>
              <a:sym typeface="Ubuntu Mono"/>
            </a:endParaRPr>
          </a:p>
        </p:txBody>
      </p:sp>
      <p:sp>
        <p:nvSpPr>
          <p:cNvPr id="448" name="Google Shape;448;p41"/>
          <p:cNvSpPr/>
          <p:nvPr/>
        </p:nvSpPr>
        <p:spPr>
          <a:xfrm>
            <a:off x="7158600" y="1669263"/>
            <a:ext cx="1170600" cy="378300"/>
          </a:xfrm>
          <a:prstGeom prst="roundRect">
            <a:avLst>
              <a:gd fmla="val 16667" name="adj"/>
            </a:avLst>
          </a:prstGeom>
          <a:solidFill>
            <a:srgbClr val="C9DAF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  <a:latin typeface="Ubuntu Mono"/>
                <a:ea typeface="Ubuntu Mono"/>
                <a:cs typeface="Ubuntu Mono"/>
                <a:sym typeface="Ubuntu Mono"/>
              </a:rPr>
              <a:t>isEmpty</a:t>
            </a:r>
            <a:endParaRPr sz="1800">
              <a:latin typeface="Ubuntu Mono"/>
              <a:ea typeface="Ubuntu Mono"/>
              <a:cs typeface="Ubuntu Mono"/>
              <a:sym typeface="Ubuntu Mono"/>
            </a:endParaRPr>
          </a:p>
        </p:txBody>
      </p:sp>
      <p:sp>
        <p:nvSpPr>
          <p:cNvPr id="449" name="Google Shape;449;p41"/>
          <p:cNvSpPr txBox="1"/>
          <p:nvPr/>
        </p:nvSpPr>
        <p:spPr>
          <a:xfrm>
            <a:off x="5713425" y="1951600"/>
            <a:ext cx="630900" cy="5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Consolas"/>
                <a:ea typeface="Consolas"/>
                <a:cs typeface="Consolas"/>
                <a:sym typeface="Consolas"/>
              </a:rPr>
              <a:t>...</a:t>
            </a:r>
            <a:endParaRPr sz="20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50" name="Google Shape;450;p41"/>
          <p:cNvSpPr txBox="1"/>
          <p:nvPr/>
        </p:nvSpPr>
        <p:spPr>
          <a:xfrm>
            <a:off x="7412050" y="1956323"/>
            <a:ext cx="630900" cy="5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Consolas"/>
                <a:ea typeface="Consolas"/>
                <a:cs typeface="Consolas"/>
                <a:sym typeface="Consolas"/>
              </a:rPr>
              <a:t>...</a:t>
            </a:r>
            <a:endParaRPr sz="2000"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4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p42"/>
          <p:cNvSpPr txBox="1"/>
          <p:nvPr>
            <p:ph type="title"/>
          </p:nvPr>
        </p:nvSpPr>
        <p:spPr>
          <a:xfrm>
            <a:off x="166800" y="92501"/>
            <a:ext cx="8229600" cy="495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Parting Thoughts</a:t>
            </a:r>
            <a:endParaRPr/>
          </a:p>
        </p:txBody>
      </p:sp>
      <p:sp>
        <p:nvSpPr>
          <p:cNvPr id="456" name="Google Shape;456;p42"/>
          <p:cNvSpPr txBox="1"/>
          <p:nvPr>
            <p:ph idx="1" type="body"/>
          </p:nvPr>
        </p:nvSpPr>
        <p:spPr>
          <a:xfrm>
            <a:off x="243000" y="556500"/>
            <a:ext cx="8443800" cy="415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l">
              <a:spcBef>
                <a:spcPts val="600"/>
              </a:spcBef>
              <a:spcAft>
                <a:spcPts val="0"/>
              </a:spcAft>
              <a:buSzPts val="2000"/>
              <a:buChar char="●"/>
            </a:pPr>
            <a:r>
              <a:rPr lang="en"/>
              <a:t>JUnit makes testing easy.</a:t>
            </a:r>
            <a:endParaRPr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/>
              <a:t>You should write tests.</a:t>
            </a:r>
            <a:endParaRPr/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n"/>
              <a:t>But not too many.</a:t>
            </a:r>
            <a:endParaRPr/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n"/>
              <a:t>Only when they might be useful!</a:t>
            </a:r>
            <a:endParaRPr/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n"/>
              <a:t>Write tests first when it feels appropriate [I do this a lot].</a:t>
            </a:r>
            <a:endParaRPr/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n"/>
              <a:t>Lab 3, Project 1B, and Project 2 will give you practice!</a:t>
            </a:r>
            <a:endParaRPr/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n"/>
              <a:t>Most of the class won’t require writing lots of tests (to save you time).</a:t>
            </a:r>
            <a:endParaRPr/>
          </a:p>
          <a:p>
            <a:pPr indent="0" lvl="0" marL="45720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55600" lvl="0" marL="457200" rtl="0" algn="l">
              <a:spcBef>
                <a:spcPts val="600"/>
              </a:spcBef>
              <a:spcAft>
                <a:spcPts val="0"/>
              </a:spcAft>
              <a:buSzPts val="2000"/>
              <a:buChar char="●"/>
            </a:pPr>
            <a:r>
              <a:rPr lang="en"/>
              <a:t>Some people really like TDD. Feel free to use it in 61B.</a:t>
            </a:r>
            <a:endParaRPr/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n"/>
              <a:t>See today’s optional reading for thoughts from the creator of Ruby on Rails and others.</a:t>
            </a:r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9EAD3"/>
        </a:solidFill>
      </p:bgPr>
    </p:bg>
    <p:spTree>
      <p:nvGrpSpPr>
        <p:cNvPr id="460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p43"/>
          <p:cNvSpPr txBox="1"/>
          <p:nvPr>
            <p:ph type="title"/>
          </p:nvPr>
        </p:nvSpPr>
        <p:spPr>
          <a:xfrm>
            <a:off x="928950" y="2144100"/>
            <a:ext cx="7286100" cy="855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/>
              <a:t>More On JUnit (Extra)</a:t>
            </a:r>
            <a:endParaRPr sz="480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5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p44"/>
          <p:cNvSpPr txBox="1"/>
          <p:nvPr>
            <p:ph type="title"/>
          </p:nvPr>
        </p:nvSpPr>
        <p:spPr>
          <a:xfrm>
            <a:off x="166800" y="92501"/>
            <a:ext cx="8229600" cy="495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Bonus Slide: What is an Annotation?</a:t>
            </a:r>
            <a:endParaRPr/>
          </a:p>
        </p:txBody>
      </p:sp>
      <p:sp>
        <p:nvSpPr>
          <p:cNvPr id="467" name="Google Shape;467;p44"/>
          <p:cNvSpPr txBox="1"/>
          <p:nvPr>
            <p:ph idx="1" type="body"/>
          </p:nvPr>
        </p:nvSpPr>
        <p:spPr>
          <a:xfrm>
            <a:off x="243000" y="556500"/>
            <a:ext cx="8676900" cy="458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Annotations (like org.junit.Test) don’t do anything on their own. 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Runner uses reflections library to iterate through all methods with “Test” annotation. Pseudocode on next slide.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8" name="Google Shape;468;p44"/>
          <p:cNvSpPr txBox="1"/>
          <p:nvPr/>
        </p:nvSpPr>
        <p:spPr>
          <a:xfrm>
            <a:off x="726600" y="1090800"/>
            <a:ext cx="7690800" cy="13356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900">
                <a:solidFill>
                  <a:srgbClr val="0000FF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@Test</a:t>
            </a:r>
            <a:endParaRPr sz="1900">
              <a:solidFill>
                <a:srgbClr val="0000FF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9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public</a:t>
            </a:r>
            <a:r>
              <a:rPr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900">
                <a:solidFill>
                  <a:srgbClr val="208920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void</a:t>
            </a:r>
            <a:r>
              <a:rPr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testSort() {</a:t>
            </a:r>
            <a:endParaRPr sz="19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...</a:t>
            </a:r>
            <a:endParaRPr sz="19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}</a:t>
            </a:r>
            <a:endParaRPr b="1" sz="1900">
              <a:solidFill>
                <a:srgbClr val="9C20EE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2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Google Shape;473;p45"/>
          <p:cNvSpPr txBox="1"/>
          <p:nvPr>
            <p:ph type="title"/>
          </p:nvPr>
        </p:nvSpPr>
        <p:spPr>
          <a:xfrm>
            <a:off x="166800" y="92501"/>
            <a:ext cx="8229600" cy="495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Sample Runner Pseudocode</a:t>
            </a:r>
            <a:endParaRPr/>
          </a:p>
        </p:txBody>
      </p:sp>
      <p:sp>
        <p:nvSpPr>
          <p:cNvPr id="474" name="Google Shape;474;p45"/>
          <p:cNvSpPr txBox="1"/>
          <p:nvPr/>
        </p:nvSpPr>
        <p:spPr>
          <a:xfrm>
            <a:off x="166800" y="1938800"/>
            <a:ext cx="8818200" cy="32046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List&lt;Method&gt; L = getMethodsWithAnnotation(</a:t>
            </a:r>
            <a:r>
              <a:rPr lang="en" sz="1900">
                <a:solidFill>
                  <a:srgbClr val="9900FF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TestSort.class</a:t>
            </a:r>
            <a:r>
              <a:rPr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,      </a:t>
            </a:r>
            <a:endParaRPr sz="19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                                         </a:t>
            </a:r>
            <a:r>
              <a:rPr lang="en" sz="1900">
                <a:solidFill>
                  <a:srgbClr val="9900FF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org.junit.Test</a:t>
            </a:r>
            <a:r>
              <a:rPr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);</a:t>
            </a:r>
            <a:endParaRPr sz="19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rgbClr val="208920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numTests = L.size();</a:t>
            </a:r>
            <a:endParaRPr sz="19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rgbClr val="208920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numPassed = 0;</a:t>
            </a:r>
            <a:endParaRPr sz="19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for</a:t>
            </a:r>
            <a:r>
              <a:rPr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(Method m : L) {</a:t>
            </a:r>
            <a:endParaRPr sz="19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 result r = m.execute();</a:t>
            </a:r>
            <a:endParaRPr sz="19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b="1" lang="en" sz="19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if</a:t>
            </a:r>
            <a:r>
              <a:rPr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(r.passed == true) { numPassed += 1; }</a:t>
            </a:r>
            <a:endParaRPr sz="19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b="1" lang="en" sz="19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if</a:t>
            </a:r>
            <a:r>
              <a:rPr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(r.passed == false) { System.out.println(r.message); }</a:t>
            </a:r>
            <a:endParaRPr sz="19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9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System.out.println(numPassed + “/” + numTests + “ passed!”);</a:t>
            </a:r>
            <a:endParaRPr sz="1100">
              <a:solidFill>
                <a:schemeClr val="dk1"/>
              </a:solidFill>
              <a:highlight>
                <a:srgbClr val="EFEFE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75" name="Google Shape;475;p45"/>
          <p:cNvSpPr txBox="1"/>
          <p:nvPr>
            <p:ph idx="1" type="body"/>
          </p:nvPr>
        </p:nvSpPr>
        <p:spPr>
          <a:xfrm>
            <a:off x="243000" y="556500"/>
            <a:ext cx="8676900" cy="90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Runner uses reflections library to iterate through all methods with “Test” annotation.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9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p46"/>
          <p:cNvSpPr txBox="1"/>
          <p:nvPr>
            <p:ph type="title"/>
          </p:nvPr>
        </p:nvSpPr>
        <p:spPr>
          <a:xfrm>
            <a:off x="166800" y="92501"/>
            <a:ext cx="8229600" cy="495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Citations</a:t>
            </a:r>
            <a:endParaRPr/>
          </a:p>
        </p:txBody>
      </p:sp>
      <p:sp>
        <p:nvSpPr>
          <p:cNvPr id="481" name="Google Shape;481;p46"/>
          <p:cNvSpPr txBox="1"/>
          <p:nvPr>
            <p:ph idx="1" type="body"/>
          </p:nvPr>
        </p:nvSpPr>
        <p:spPr>
          <a:xfrm>
            <a:off x="243000" y="556500"/>
            <a:ext cx="8443800" cy="415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Training montage: Wet Hot American Summer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Creepy hand picture (title slide): </a:t>
            </a:r>
            <a:r>
              <a:rPr lang="en" u="sng">
                <a:solidFill>
                  <a:schemeClr val="hlink"/>
                </a:solidFill>
                <a:hlinkClick r:id="rId3"/>
              </a:rPr>
              <a:t>http://www.automatedtestinginstitute.com/home/images/stories/Functional.jpg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Red-Green-Refactor image courtesy of a guy who has had issues with TDD: </a:t>
            </a:r>
            <a:r>
              <a:rPr lang="en" u="sng">
                <a:solidFill>
                  <a:schemeClr val="hlink"/>
                </a:solidFill>
                <a:hlinkClick r:id="rId4"/>
              </a:rPr>
              <a:t>http://ryantablada.com/post/red-green-refactor---a-tdd-fairytale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5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Google Shape;486;p47"/>
          <p:cNvSpPr txBox="1"/>
          <p:nvPr>
            <p:ph type="title"/>
          </p:nvPr>
        </p:nvSpPr>
        <p:spPr>
          <a:xfrm>
            <a:off x="166800" y="92501"/>
            <a:ext cx="8229600" cy="495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It Usually Goes...</a:t>
            </a:r>
            <a:endParaRPr/>
          </a:p>
        </p:txBody>
      </p:sp>
      <p:pic>
        <p:nvPicPr>
          <p:cNvPr id="487" name="Google Shape;487;p4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3425" y="740201"/>
            <a:ext cx="7557152" cy="4250898"/>
          </a:xfrm>
          <a:prstGeom prst="rect">
            <a:avLst/>
          </a:prstGeom>
          <a:noFill/>
          <a:ln>
            <a:noFill/>
          </a:ln>
        </p:spPr>
      </p:pic>
      <p:sp>
        <p:nvSpPr>
          <p:cNvPr id="488" name="Google Shape;488;p47"/>
          <p:cNvSpPr/>
          <p:nvPr/>
        </p:nvSpPr>
        <p:spPr>
          <a:xfrm>
            <a:off x="2494500" y="2928500"/>
            <a:ext cx="3574200" cy="930900"/>
          </a:xfrm>
          <a:prstGeom prst="rect">
            <a:avLst/>
          </a:prstGeom>
          <a:solidFill>
            <a:srgbClr val="C9DAF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public static void sort(String[] inputs)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89" name="Google Shape;489;p47"/>
          <p:cNvSpPr/>
          <p:nvPr/>
        </p:nvSpPr>
        <p:spPr>
          <a:xfrm>
            <a:off x="6685400" y="1207175"/>
            <a:ext cx="1533600" cy="568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Autograder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490" name="Google Shape;490;p4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306291" y="-152400"/>
            <a:ext cx="5320067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4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00"/>
                                        <p:tgtEl>
                                          <p:spTgt spid="4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300"/>
                            </p:stCondLst>
                            <p:childTnLst>
                              <p:par>
                                <p:cTn fill="hold" nodeType="after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300"/>
                                        <p:tgtEl>
                                          <p:spTgt spid="48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300"/>
                                          </p:stCondLst>
                                        </p:cTn>
                                        <p:tgtEl>
                                          <p:spTgt spid="4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600"/>
                            </p:stCondLst>
                            <p:childTnLst>
                              <p:par>
                                <p:cTn fill="hold" nodeType="after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300"/>
                                        <p:tgtEl>
                                          <p:spTgt spid="48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300"/>
                                          </p:stCondLst>
                                        </p:cTn>
                                        <p:tgtEl>
                                          <p:spTgt spid="4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23" presetSubtype="32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dur="800"/>
                                        <p:tgtEl>
                                          <p:spTgt spid="48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w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800"/>
                                        <p:tgtEl>
                                          <p:spTgt spid="48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h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dur="1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4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Custom">
  <a:themeElements>
    <a:clrScheme name="Custom 347">
      <a:dk1>
        <a:srgbClr val="000000"/>
      </a:dk1>
      <a:lt1>
        <a:srgbClr val="FFFFFF"/>
      </a:lt1>
      <a:dk2>
        <a:srgbClr val="666666"/>
      </a:dk2>
      <a:lt2>
        <a:srgbClr val="CCCCCC"/>
      </a:lt2>
      <a:accent1>
        <a:srgbClr val="3A81BA"/>
      </a:accent1>
      <a:accent2>
        <a:srgbClr val="D89F39"/>
      </a:accent2>
      <a:accent3>
        <a:srgbClr val="8BAB42"/>
      </a:accent3>
      <a:accent4>
        <a:srgbClr val="57A7B5"/>
      </a:accent4>
      <a:accent5>
        <a:srgbClr val="8B81D2"/>
      </a:accent5>
      <a:accent6>
        <a:srgbClr val="963334"/>
      </a:accent6>
      <a:hlink>
        <a:srgbClr val="1155CC"/>
      </a:hlink>
      <a:folHlink>
        <a:srgbClr val="6611C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